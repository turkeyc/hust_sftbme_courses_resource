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theme/theme3.xml" ContentType="application/vnd.openxmlformats-officedocument.theme+xml"/>
  <Override PartName="/ppt/slideLayouts/slideLayout22.xml" ContentType="application/vnd.openxmlformats-officedocument.presentationml.slideLayout+xml"/>
  <Override PartName="/ppt/theme/theme4.xml" ContentType="application/vnd.openxmlformats-officedocument.theme+xml"/>
  <Override PartName="/ppt/slideLayouts/slideLayout2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3">
  <p:sldMasterIdLst>
    <p:sldMasterId id="2147483689" r:id="rId1"/>
    <p:sldMasterId id="2147483668" r:id="rId2"/>
    <p:sldMasterId id="2147483678" r:id="rId3"/>
    <p:sldMasterId id="2147483687" r:id="rId4"/>
    <p:sldMasterId id="2147483716" r:id="rId5"/>
  </p:sldMasterIdLst>
  <p:notesMasterIdLst>
    <p:notesMasterId r:id="rId73"/>
  </p:notesMasterIdLst>
  <p:handoutMasterIdLst>
    <p:handoutMasterId r:id="rId74"/>
  </p:handoutMasterIdLst>
  <p:sldIdLst>
    <p:sldId id="380" r:id="rId6"/>
    <p:sldId id="830" r:id="rId7"/>
    <p:sldId id="831" r:id="rId8"/>
    <p:sldId id="697" r:id="rId9"/>
    <p:sldId id="479" r:id="rId10"/>
    <p:sldId id="650" r:id="rId11"/>
    <p:sldId id="744" r:id="rId12"/>
    <p:sldId id="745" r:id="rId13"/>
    <p:sldId id="746" r:id="rId14"/>
    <p:sldId id="845" r:id="rId15"/>
    <p:sldId id="846" r:id="rId16"/>
    <p:sldId id="837" r:id="rId17"/>
    <p:sldId id="847" r:id="rId18"/>
    <p:sldId id="748" r:id="rId19"/>
    <p:sldId id="843" r:id="rId20"/>
    <p:sldId id="844" r:id="rId21"/>
    <p:sldId id="812" r:id="rId22"/>
    <p:sldId id="814" r:id="rId23"/>
    <p:sldId id="815" r:id="rId24"/>
    <p:sldId id="816" r:id="rId25"/>
    <p:sldId id="801" r:id="rId26"/>
    <p:sldId id="851" r:id="rId27"/>
    <p:sldId id="848" r:id="rId28"/>
    <p:sldId id="849" r:id="rId29"/>
    <p:sldId id="759" r:id="rId30"/>
    <p:sldId id="760" r:id="rId31"/>
    <p:sldId id="850" r:id="rId32"/>
    <p:sldId id="762" r:id="rId33"/>
    <p:sldId id="774" r:id="rId34"/>
    <p:sldId id="852" r:id="rId35"/>
    <p:sldId id="853" r:id="rId36"/>
    <p:sldId id="854" r:id="rId37"/>
    <p:sldId id="855" r:id="rId38"/>
    <p:sldId id="856" r:id="rId39"/>
    <p:sldId id="857" r:id="rId40"/>
    <p:sldId id="858" r:id="rId41"/>
    <p:sldId id="859" r:id="rId42"/>
    <p:sldId id="860" r:id="rId43"/>
    <p:sldId id="861" r:id="rId44"/>
    <p:sldId id="862" r:id="rId45"/>
    <p:sldId id="863" r:id="rId46"/>
    <p:sldId id="466" r:id="rId47"/>
    <p:sldId id="911" r:id="rId48"/>
    <p:sldId id="912" r:id="rId49"/>
    <p:sldId id="913" r:id="rId50"/>
    <p:sldId id="890" r:id="rId51"/>
    <p:sldId id="891" r:id="rId52"/>
    <p:sldId id="892" r:id="rId53"/>
    <p:sldId id="864" r:id="rId54"/>
    <p:sldId id="893" r:id="rId55"/>
    <p:sldId id="894" r:id="rId56"/>
    <p:sldId id="895" r:id="rId57"/>
    <p:sldId id="896" r:id="rId58"/>
    <p:sldId id="897" r:id="rId59"/>
    <p:sldId id="898" r:id="rId60"/>
    <p:sldId id="899" r:id="rId61"/>
    <p:sldId id="914" r:id="rId62"/>
    <p:sldId id="916" r:id="rId63"/>
    <p:sldId id="915" r:id="rId64"/>
    <p:sldId id="906" r:id="rId65"/>
    <p:sldId id="907" r:id="rId66"/>
    <p:sldId id="908" r:id="rId67"/>
    <p:sldId id="909" r:id="rId68"/>
    <p:sldId id="910" r:id="rId69"/>
    <p:sldId id="820" r:id="rId70"/>
    <p:sldId id="460" r:id="rId71"/>
    <p:sldId id="381" r:id="rId7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0B0E882-EAC0-A24E-A5AD-A108694B6DAE}">
          <p14:sldIdLst>
            <p14:sldId id="380"/>
            <p14:sldId id="830"/>
            <p14:sldId id="831"/>
            <p14:sldId id="697"/>
            <p14:sldId id="479"/>
            <p14:sldId id="650"/>
            <p14:sldId id="744"/>
            <p14:sldId id="745"/>
            <p14:sldId id="746"/>
            <p14:sldId id="845"/>
            <p14:sldId id="846"/>
            <p14:sldId id="837"/>
            <p14:sldId id="847"/>
            <p14:sldId id="748"/>
            <p14:sldId id="843"/>
            <p14:sldId id="844"/>
            <p14:sldId id="812"/>
            <p14:sldId id="814"/>
            <p14:sldId id="815"/>
            <p14:sldId id="816"/>
            <p14:sldId id="801"/>
            <p14:sldId id="851"/>
            <p14:sldId id="848"/>
            <p14:sldId id="849"/>
            <p14:sldId id="759"/>
            <p14:sldId id="760"/>
            <p14:sldId id="850"/>
            <p14:sldId id="762"/>
            <p14:sldId id="774"/>
            <p14:sldId id="852"/>
            <p14:sldId id="853"/>
            <p14:sldId id="854"/>
            <p14:sldId id="855"/>
            <p14:sldId id="856"/>
            <p14:sldId id="857"/>
            <p14:sldId id="858"/>
            <p14:sldId id="859"/>
            <p14:sldId id="860"/>
            <p14:sldId id="861"/>
            <p14:sldId id="862"/>
            <p14:sldId id="863"/>
            <p14:sldId id="466"/>
            <p14:sldId id="911"/>
            <p14:sldId id="912"/>
            <p14:sldId id="913"/>
            <p14:sldId id="890"/>
            <p14:sldId id="891"/>
            <p14:sldId id="892"/>
            <p14:sldId id="864"/>
            <p14:sldId id="893"/>
            <p14:sldId id="894"/>
            <p14:sldId id="895"/>
            <p14:sldId id="896"/>
            <p14:sldId id="897"/>
            <p14:sldId id="898"/>
            <p14:sldId id="899"/>
            <p14:sldId id="914"/>
            <p14:sldId id="916"/>
            <p14:sldId id="915"/>
            <p14:sldId id="906"/>
            <p14:sldId id="907"/>
            <p14:sldId id="908"/>
            <p14:sldId id="909"/>
            <p14:sldId id="910"/>
            <p14:sldId id="820"/>
            <p14:sldId id="460"/>
            <p14:sldId id="381"/>
          </p14:sldIdLst>
        </p14:section>
      </p14:sectionLst>
    </p:ext>
    <p:ext uri="{EFAFB233-063F-42B5-8137-9DF3F51BA10A}">
      <p15:sldGuideLst xmlns:p15="http://schemas.microsoft.com/office/powerpoint/2012/main">
        <p15:guide id="1" orient="horz" pos="3997" userDrawn="1">
          <p15:clr>
            <a:srgbClr val="A4A3A4"/>
          </p15:clr>
        </p15:guide>
        <p15:guide id="2" pos="3840" userDrawn="1">
          <p15:clr>
            <a:srgbClr val="A4A3A4"/>
          </p15:clr>
        </p15:guide>
        <p15:guide id="3" orient="horz" pos="797">
          <p15:clr>
            <a:srgbClr val="A4A3A4"/>
          </p15:clr>
        </p15:guide>
        <p15:guide id="4" orient="horz" pos="1031">
          <p15:clr>
            <a:srgbClr val="A4A3A4"/>
          </p15:clr>
        </p15:guide>
        <p15:guide id="5" orient="horz" pos="575">
          <p15:clr>
            <a:srgbClr val="A4A3A4"/>
          </p15:clr>
        </p15:guide>
        <p15:guide id="6" orient="horz" pos="3974">
          <p15:clr>
            <a:srgbClr val="A4A3A4"/>
          </p15:clr>
        </p15:guide>
        <p15:guide id="7" pos="384">
          <p15:clr>
            <a:srgbClr val="A4A3A4"/>
          </p15:clr>
        </p15:guide>
        <p15:guide id="8" pos="7302">
          <p15:clr>
            <a:srgbClr val="A4A3A4"/>
          </p15:clr>
        </p15:guide>
        <p15:guide id="9" orient="horz" pos="103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a:srgbClr val="FF66FF"/>
    <a:srgbClr val="FF00FF"/>
    <a:srgbClr val="00C8C8"/>
    <a:srgbClr val="49494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512" autoAdjust="0"/>
    <p:restoredTop sz="98914" autoAdjust="0"/>
  </p:normalViewPr>
  <p:slideViewPr>
    <p:cSldViewPr snapToGrid="0" snapToObjects="1">
      <p:cViewPr varScale="1">
        <p:scale>
          <a:sx n="64" d="100"/>
          <a:sy n="64" d="100"/>
        </p:scale>
        <p:origin x="38" y="41"/>
      </p:cViewPr>
      <p:guideLst>
        <p:guide orient="horz" pos="3997"/>
        <p:guide pos="3840"/>
        <p:guide orient="horz" pos="797"/>
        <p:guide orient="horz" pos="1031"/>
        <p:guide orient="horz" pos="575"/>
        <p:guide orient="horz" pos="3974"/>
        <p:guide pos="384"/>
        <p:guide pos="7302"/>
        <p:guide orient="horz" pos="1037"/>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60" d="100"/>
          <a:sy n="60" d="100"/>
        </p:scale>
        <p:origin x="2824" y="18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handoutMaster" Target="handoutMasters/handoutMaster1.xml"/><Relationship Id="rId5" Type="http://schemas.openxmlformats.org/officeDocument/2006/relationships/slideMaster" Target="slideMasters/slideMaster5.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viewProps" Target="viewProps.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slideMaster" Target="slideMasters/slideMaster2.xml"/><Relationship Id="rId29" Type="http://schemas.openxmlformats.org/officeDocument/2006/relationships/slide" Target="slides/slide2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5E9A369-7165-584F-8945-D9E2EF615A6A}" type="slidenum">
              <a:rPr lang="en-US" smtClean="0"/>
              <a:pPr/>
              <a:t>‹#›</a:t>
            </a:fld>
            <a:endParaRPr lang="en-US"/>
          </a:p>
        </p:txBody>
      </p:sp>
      <p:sp>
        <p:nvSpPr>
          <p:cNvPr id="6" name="Date Placeholder 5"/>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F685B82-964F-AA4E-B805-783EE59DB7FB}" type="datetimeFigureOut">
              <a:rPr lang="en-US" smtClean="0"/>
              <a:pPr/>
              <a:t>3/13/2025</a:t>
            </a:fld>
            <a:endParaRPr lang="en-US"/>
          </a:p>
        </p:txBody>
      </p:sp>
    </p:spTree>
    <p:extLst>
      <p:ext uri="{BB962C8B-B14F-4D97-AF65-F5344CB8AC3E}">
        <p14:creationId xmlns:p14="http://schemas.microsoft.com/office/powerpoint/2010/main" val="1519355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F35A5D-3B7F-284D-AA60-E5FFD8194386}" type="datetimeFigureOut">
              <a:rPr lang="en-US" smtClean="0"/>
              <a:pPr/>
              <a:t>3/13/2025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4F2CAE-7A1D-E143-A062-42FAF3F147E4}" type="slidenum">
              <a:rPr lang="en-US" smtClean="0"/>
              <a:pPr/>
              <a:t>‹#›</a:t>
            </a:fld>
            <a:endParaRPr lang="en-US"/>
          </a:p>
        </p:txBody>
      </p:sp>
    </p:spTree>
    <p:extLst>
      <p:ext uri="{BB962C8B-B14F-4D97-AF65-F5344CB8AC3E}">
        <p14:creationId xmlns:p14="http://schemas.microsoft.com/office/powerpoint/2010/main" val="1503194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a:t>
            </a:fld>
            <a:endParaRPr lang="zh-CN" altLang="en-US" dirty="0"/>
          </a:p>
        </p:txBody>
      </p:sp>
    </p:spTree>
    <p:extLst>
      <p:ext uri="{BB962C8B-B14F-4D97-AF65-F5344CB8AC3E}">
        <p14:creationId xmlns:p14="http://schemas.microsoft.com/office/powerpoint/2010/main" val="332177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a:t>
            </a:fld>
            <a:endParaRPr lang="zh-CN" altLang="en-US" dirty="0"/>
          </a:p>
        </p:txBody>
      </p:sp>
    </p:spTree>
    <p:extLst>
      <p:ext uri="{BB962C8B-B14F-4D97-AF65-F5344CB8AC3E}">
        <p14:creationId xmlns:p14="http://schemas.microsoft.com/office/powerpoint/2010/main" val="8555048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3</a:t>
            </a:fld>
            <a:endParaRPr lang="zh-CN" altLang="en-US" dirty="0"/>
          </a:p>
        </p:txBody>
      </p:sp>
    </p:spTree>
    <p:extLst>
      <p:ext uri="{BB962C8B-B14F-4D97-AF65-F5344CB8AC3E}">
        <p14:creationId xmlns:p14="http://schemas.microsoft.com/office/powerpoint/2010/main" val="20324364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4</a:t>
            </a:fld>
            <a:endParaRPr lang="zh-CN" altLang="en-US" dirty="0"/>
          </a:p>
        </p:txBody>
      </p:sp>
    </p:spTree>
    <p:extLst>
      <p:ext uri="{BB962C8B-B14F-4D97-AF65-F5344CB8AC3E}">
        <p14:creationId xmlns:p14="http://schemas.microsoft.com/office/powerpoint/2010/main" val="279336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5</a:t>
            </a:fld>
            <a:endParaRPr lang="zh-CN" altLang="en-US" dirty="0"/>
          </a:p>
        </p:txBody>
      </p:sp>
    </p:spTree>
    <p:extLst>
      <p:ext uri="{BB962C8B-B14F-4D97-AF65-F5344CB8AC3E}">
        <p14:creationId xmlns:p14="http://schemas.microsoft.com/office/powerpoint/2010/main" val="15136946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7</a:t>
            </a:fld>
            <a:endParaRPr lang="zh-CN" altLang="en-US" dirty="0"/>
          </a:p>
        </p:txBody>
      </p:sp>
    </p:spTree>
    <p:extLst>
      <p:ext uri="{BB962C8B-B14F-4D97-AF65-F5344CB8AC3E}">
        <p14:creationId xmlns:p14="http://schemas.microsoft.com/office/powerpoint/2010/main" val="19863903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8</a:t>
            </a:fld>
            <a:endParaRPr lang="zh-CN" altLang="en-US" dirty="0"/>
          </a:p>
        </p:txBody>
      </p:sp>
    </p:spTree>
    <p:extLst>
      <p:ext uri="{BB962C8B-B14F-4D97-AF65-F5344CB8AC3E}">
        <p14:creationId xmlns:p14="http://schemas.microsoft.com/office/powerpoint/2010/main" val="14635324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9</a:t>
            </a:fld>
            <a:endParaRPr lang="zh-CN" altLang="en-US" dirty="0"/>
          </a:p>
        </p:txBody>
      </p:sp>
    </p:spTree>
    <p:extLst>
      <p:ext uri="{BB962C8B-B14F-4D97-AF65-F5344CB8AC3E}">
        <p14:creationId xmlns:p14="http://schemas.microsoft.com/office/powerpoint/2010/main" val="7509133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10</a:t>
            </a:fld>
            <a:endParaRPr lang="zh-CN" altLang="en-US" dirty="0"/>
          </a:p>
        </p:txBody>
      </p:sp>
    </p:spTree>
    <p:extLst>
      <p:ext uri="{BB962C8B-B14F-4D97-AF65-F5344CB8AC3E}">
        <p14:creationId xmlns:p14="http://schemas.microsoft.com/office/powerpoint/2010/main" val="27843987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11</a:t>
            </a:fld>
            <a:endParaRPr lang="zh-CN" altLang="en-US" dirty="0"/>
          </a:p>
        </p:txBody>
      </p:sp>
    </p:spTree>
    <p:extLst>
      <p:ext uri="{BB962C8B-B14F-4D97-AF65-F5344CB8AC3E}">
        <p14:creationId xmlns:p14="http://schemas.microsoft.com/office/powerpoint/2010/main" val="22917846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12</a:t>
            </a:fld>
            <a:endParaRPr lang="zh-CN" altLang="en-US" dirty="0"/>
          </a:p>
        </p:txBody>
      </p:sp>
    </p:spTree>
    <p:extLst>
      <p:ext uri="{BB962C8B-B14F-4D97-AF65-F5344CB8AC3E}">
        <p14:creationId xmlns:p14="http://schemas.microsoft.com/office/powerpoint/2010/main" val="2797175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13</a:t>
            </a:fld>
            <a:endParaRPr lang="zh-CN" altLang="en-US" dirty="0"/>
          </a:p>
        </p:txBody>
      </p:sp>
    </p:spTree>
    <p:extLst>
      <p:ext uri="{BB962C8B-B14F-4D97-AF65-F5344CB8AC3E}">
        <p14:creationId xmlns:p14="http://schemas.microsoft.com/office/powerpoint/2010/main" val="22873983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14</a:t>
            </a:fld>
            <a:endParaRPr lang="zh-CN" altLang="en-US" dirty="0"/>
          </a:p>
        </p:txBody>
      </p:sp>
    </p:spTree>
    <p:extLst>
      <p:ext uri="{BB962C8B-B14F-4D97-AF65-F5344CB8AC3E}">
        <p14:creationId xmlns:p14="http://schemas.microsoft.com/office/powerpoint/2010/main" val="24690286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15</a:t>
            </a:fld>
            <a:endParaRPr lang="zh-CN" altLang="en-US" dirty="0"/>
          </a:p>
        </p:txBody>
      </p:sp>
    </p:spTree>
    <p:extLst>
      <p:ext uri="{BB962C8B-B14F-4D97-AF65-F5344CB8AC3E}">
        <p14:creationId xmlns:p14="http://schemas.microsoft.com/office/powerpoint/2010/main" val="10886370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16</a:t>
            </a:fld>
            <a:endParaRPr lang="zh-CN" altLang="en-US" dirty="0"/>
          </a:p>
        </p:txBody>
      </p:sp>
    </p:spTree>
    <p:extLst>
      <p:ext uri="{BB962C8B-B14F-4D97-AF65-F5344CB8AC3E}">
        <p14:creationId xmlns:p14="http://schemas.microsoft.com/office/powerpoint/2010/main" val="1183436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17</a:t>
            </a:fld>
            <a:endParaRPr lang="zh-CN" altLang="en-US" dirty="0"/>
          </a:p>
        </p:txBody>
      </p:sp>
    </p:spTree>
    <p:extLst>
      <p:ext uri="{BB962C8B-B14F-4D97-AF65-F5344CB8AC3E}">
        <p14:creationId xmlns:p14="http://schemas.microsoft.com/office/powerpoint/2010/main" val="10987889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18</a:t>
            </a:fld>
            <a:endParaRPr lang="zh-CN" altLang="en-US" dirty="0"/>
          </a:p>
        </p:txBody>
      </p:sp>
    </p:spTree>
    <p:extLst>
      <p:ext uri="{BB962C8B-B14F-4D97-AF65-F5344CB8AC3E}">
        <p14:creationId xmlns:p14="http://schemas.microsoft.com/office/powerpoint/2010/main" val="7907480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19</a:t>
            </a:fld>
            <a:endParaRPr lang="zh-CN" altLang="en-US" dirty="0"/>
          </a:p>
        </p:txBody>
      </p:sp>
    </p:spTree>
    <p:extLst>
      <p:ext uri="{BB962C8B-B14F-4D97-AF65-F5344CB8AC3E}">
        <p14:creationId xmlns:p14="http://schemas.microsoft.com/office/powerpoint/2010/main" val="8760249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20</a:t>
            </a:fld>
            <a:endParaRPr lang="zh-CN" altLang="en-US" dirty="0"/>
          </a:p>
        </p:txBody>
      </p:sp>
    </p:spTree>
    <p:extLst>
      <p:ext uri="{BB962C8B-B14F-4D97-AF65-F5344CB8AC3E}">
        <p14:creationId xmlns:p14="http://schemas.microsoft.com/office/powerpoint/2010/main" val="23786666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21</a:t>
            </a:fld>
            <a:endParaRPr lang="zh-CN" altLang="en-US" dirty="0"/>
          </a:p>
        </p:txBody>
      </p:sp>
    </p:spTree>
    <p:extLst>
      <p:ext uri="{BB962C8B-B14F-4D97-AF65-F5344CB8AC3E}">
        <p14:creationId xmlns:p14="http://schemas.microsoft.com/office/powerpoint/2010/main" val="12630258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22</a:t>
            </a:fld>
            <a:endParaRPr lang="zh-CN" altLang="en-US" dirty="0"/>
          </a:p>
        </p:txBody>
      </p:sp>
    </p:spTree>
    <p:extLst>
      <p:ext uri="{BB962C8B-B14F-4D97-AF65-F5344CB8AC3E}">
        <p14:creationId xmlns:p14="http://schemas.microsoft.com/office/powerpoint/2010/main" val="42918632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23</a:t>
            </a:fld>
            <a:endParaRPr lang="zh-CN" altLang="en-US" dirty="0"/>
          </a:p>
        </p:txBody>
      </p:sp>
    </p:spTree>
    <p:extLst>
      <p:ext uri="{BB962C8B-B14F-4D97-AF65-F5344CB8AC3E}">
        <p14:creationId xmlns:p14="http://schemas.microsoft.com/office/powerpoint/2010/main" val="9484805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24</a:t>
            </a:fld>
            <a:endParaRPr lang="zh-CN" altLang="en-US" dirty="0"/>
          </a:p>
        </p:txBody>
      </p:sp>
    </p:spTree>
    <p:extLst>
      <p:ext uri="{BB962C8B-B14F-4D97-AF65-F5344CB8AC3E}">
        <p14:creationId xmlns:p14="http://schemas.microsoft.com/office/powerpoint/2010/main" val="2013968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25</a:t>
            </a:fld>
            <a:endParaRPr lang="zh-CN" altLang="en-US" dirty="0"/>
          </a:p>
        </p:txBody>
      </p:sp>
    </p:spTree>
    <p:extLst>
      <p:ext uri="{BB962C8B-B14F-4D97-AF65-F5344CB8AC3E}">
        <p14:creationId xmlns:p14="http://schemas.microsoft.com/office/powerpoint/2010/main" val="10147605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26</a:t>
            </a:fld>
            <a:endParaRPr lang="zh-CN" altLang="en-US" dirty="0"/>
          </a:p>
        </p:txBody>
      </p:sp>
    </p:spTree>
    <p:extLst>
      <p:ext uri="{BB962C8B-B14F-4D97-AF65-F5344CB8AC3E}">
        <p14:creationId xmlns:p14="http://schemas.microsoft.com/office/powerpoint/2010/main" val="32793225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27</a:t>
            </a:fld>
            <a:endParaRPr lang="zh-CN" altLang="en-US" dirty="0"/>
          </a:p>
        </p:txBody>
      </p:sp>
    </p:spTree>
    <p:extLst>
      <p:ext uri="{BB962C8B-B14F-4D97-AF65-F5344CB8AC3E}">
        <p14:creationId xmlns:p14="http://schemas.microsoft.com/office/powerpoint/2010/main" val="22972121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28</a:t>
            </a:fld>
            <a:endParaRPr lang="zh-CN" altLang="en-US" dirty="0"/>
          </a:p>
        </p:txBody>
      </p:sp>
    </p:spTree>
    <p:extLst>
      <p:ext uri="{BB962C8B-B14F-4D97-AF65-F5344CB8AC3E}">
        <p14:creationId xmlns:p14="http://schemas.microsoft.com/office/powerpoint/2010/main" val="24310868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30</a:t>
            </a:fld>
            <a:endParaRPr lang="zh-CN" altLang="en-US" dirty="0"/>
          </a:p>
        </p:txBody>
      </p:sp>
    </p:spTree>
    <p:extLst>
      <p:ext uri="{BB962C8B-B14F-4D97-AF65-F5344CB8AC3E}">
        <p14:creationId xmlns:p14="http://schemas.microsoft.com/office/powerpoint/2010/main" val="42926296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31</a:t>
            </a:fld>
            <a:endParaRPr lang="zh-CN" altLang="en-US" dirty="0"/>
          </a:p>
        </p:txBody>
      </p:sp>
    </p:spTree>
    <p:extLst>
      <p:ext uri="{BB962C8B-B14F-4D97-AF65-F5344CB8AC3E}">
        <p14:creationId xmlns:p14="http://schemas.microsoft.com/office/powerpoint/2010/main" val="37734993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32</a:t>
            </a:fld>
            <a:endParaRPr lang="zh-CN" altLang="en-US" dirty="0"/>
          </a:p>
        </p:txBody>
      </p:sp>
    </p:spTree>
    <p:extLst>
      <p:ext uri="{BB962C8B-B14F-4D97-AF65-F5344CB8AC3E}">
        <p14:creationId xmlns:p14="http://schemas.microsoft.com/office/powerpoint/2010/main" val="28799994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33</a:t>
            </a:fld>
            <a:endParaRPr lang="zh-CN" altLang="en-US" dirty="0"/>
          </a:p>
        </p:txBody>
      </p:sp>
    </p:spTree>
    <p:extLst>
      <p:ext uri="{BB962C8B-B14F-4D97-AF65-F5344CB8AC3E}">
        <p14:creationId xmlns:p14="http://schemas.microsoft.com/office/powerpoint/2010/main" val="9241298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34</a:t>
            </a:fld>
            <a:endParaRPr lang="zh-CN" altLang="en-US" dirty="0"/>
          </a:p>
        </p:txBody>
      </p:sp>
    </p:spTree>
    <p:extLst>
      <p:ext uri="{BB962C8B-B14F-4D97-AF65-F5344CB8AC3E}">
        <p14:creationId xmlns:p14="http://schemas.microsoft.com/office/powerpoint/2010/main" val="25157092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35</a:t>
            </a:fld>
            <a:endParaRPr lang="zh-CN" altLang="en-US" dirty="0"/>
          </a:p>
        </p:txBody>
      </p:sp>
    </p:spTree>
    <p:extLst>
      <p:ext uri="{BB962C8B-B14F-4D97-AF65-F5344CB8AC3E}">
        <p14:creationId xmlns:p14="http://schemas.microsoft.com/office/powerpoint/2010/main" val="10996115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36</a:t>
            </a:fld>
            <a:endParaRPr lang="zh-CN" altLang="en-US" dirty="0"/>
          </a:p>
        </p:txBody>
      </p:sp>
    </p:spTree>
    <p:extLst>
      <p:ext uri="{BB962C8B-B14F-4D97-AF65-F5344CB8AC3E}">
        <p14:creationId xmlns:p14="http://schemas.microsoft.com/office/powerpoint/2010/main" val="13940435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37</a:t>
            </a:fld>
            <a:endParaRPr lang="zh-CN" altLang="en-US" dirty="0"/>
          </a:p>
        </p:txBody>
      </p:sp>
    </p:spTree>
    <p:extLst>
      <p:ext uri="{BB962C8B-B14F-4D97-AF65-F5344CB8AC3E}">
        <p14:creationId xmlns:p14="http://schemas.microsoft.com/office/powerpoint/2010/main" val="296369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38</a:t>
            </a:fld>
            <a:endParaRPr lang="zh-CN" altLang="en-US" dirty="0"/>
          </a:p>
        </p:txBody>
      </p:sp>
    </p:spTree>
    <p:extLst>
      <p:ext uri="{BB962C8B-B14F-4D97-AF65-F5344CB8AC3E}">
        <p14:creationId xmlns:p14="http://schemas.microsoft.com/office/powerpoint/2010/main" val="7132365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39</a:t>
            </a:fld>
            <a:endParaRPr lang="zh-CN" altLang="en-US" dirty="0"/>
          </a:p>
        </p:txBody>
      </p:sp>
    </p:spTree>
    <p:extLst>
      <p:ext uri="{BB962C8B-B14F-4D97-AF65-F5344CB8AC3E}">
        <p14:creationId xmlns:p14="http://schemas.microsoft.com/office/powerpoint/2010/main" val="33823095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40</a:t>
            </a:fld>
            <a:endParaRPr lang="zh-CN" altLang="en-US" dirty="0"/>
          </a:p>
        </p:txBody>
      </p:sp>
    </p:spTree>
    <p:extLst>
      <p:ext uri="{BB962C8B-B14F-4D97-AF65-F5344CB8AC3E}">
        <p14:creationId xmlns:p14="http://schemas.microsoft.com/office/powerpoint/2010/main" val="2584413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41</a:t>
            </a:fld>
            <a:endParaRPr lang="zh-CN" altLang="en-US" dirty="0"/>
          </a:p>
        </p:txBody>
      </p:sp>
    </p:spTree>
    <p:extLst>
      <p:ext uri="{BB962C8B-B14F-4D97-AF65-F5344CB8AC3E}">
        <p14:creationId xmlns:p14="http://schemas.microsoft.com/office/powerpoint/2010/main" val="4154724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43</a:t>
            </a:fld>
            <a:endParaRPr lang="zh-CN" altLang="en-US" dirty="0"/>
          </a:p>
        </p:txBody>
      </p:sp>
    </p:spTree>
    <p:extLst>
      <p:ext uri="{BB962C8B-B14F-4D97-AF65-F5344CB8AC3E}">
        <p14:creationId xmlns:p14="http://schemas.microsoft.com/office/powerpoint/2010/main" val="39338606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44</a:t>
            </a:fld>
            <a:endParaRPr lang="zh-CN" altLang="en-US" dirty="0"/>
          </a:p>
        </p:txBody>
      </p:sp>
    </p:spTree>
    <p:extLst>
      <p:ext uri="{BB962C8B-B14F-4D97-AF65-F5344CB8AC3E}">
        <p14:creationId xmlns:p14="http://schemas.microsoft.com/office/powerpoint/2010/main" val="28887173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45</a:t>
            </a:fld>
            <a:endParaRPr lang="zh-CN" altLang="en-US" dirty="0"/>
          </a:p>
        </p:txBody>
      </p:sp>
    </p:spTree>
    <p:extLst>
      <p:ext uri="{BB962C8B-B14F-4D97-AF65-F5344CB8AC3E}">
        <p14:creationId xmlns:p14="http://schemas.microsoft.com/office/powerpoint/2010/main" val="80464173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73DE1-8289-DD9A-2797-F63176814E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73FF903-7408-8A0E-0A1C-B87C47F1C6D1}"/>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402411E1-EBD8-4024-7368-163DD50AFEA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17CB725-C7FF-38E2-0606-7C5B1276519E}"/>
              </a:ext>
            </a:extLst>
          </p:cNvPr>
          <p:cNvSpPr>
            <a:spLocks noGrp="1"/>
          </p:cNvSpPr>
          <p:nvPr>
            <p:ph type="sldNum" sz="quarter" idx="10"/>
          </p:nvPr>
        </p:nvSpPr>
        <p:spPr/>
        <p:txBody>
          <a:bodyPr/>
          <a:lstStyle/>
          <a:p>
            <a:fld id="{A11FC198-2D83-4DFC-8CDD-7D23AF44D411}" type="slidenum">
              <a:rPr lang="zh-CN" altLang="en-US" smtClean="0"/>
              <a:pPr/>
              <a:t>46</a:t>
            </a:fld>
            <a:endParaRPr lang="zh-CN" altLang="en-US" dirty="0"/>
          </a:p>
        </p:txBody>
      </p:sp>
    </p:spTree>
    <p:extLst>
      <p:ext uri="{BB962C8B-B14F-4D97-AF65-F5344CB8AC3E}">
        <p14:creationId xmlns:p14="http://schemas.microsoft.com/office/powerpoint/2010/main" val="38725920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47</a:t>
            </a:fld>
            <a:endParaRPr lang="zh-CN" altLang="en-US" dirty="0"/>
          </a:p>
        </p:txBody>
      </p:sp>
    </p:spTree>
    <p:extLst>
      <p:ext uri="{BB962C8B-B14F-4D97-AF65-F5344CB8AC3E}">
        <p14:creationId xmlns:p14="http://schemas.microsoft.com/office/powerpoint/2010/main" val="285909770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48</a:t>
            </a:fld>
            <a:endParaRPr lang="zh-CN" altLang="en-US" dirty="0"/>
          </a:p>
        </p:txBody>
      </p:sp>
    </p:spTree>
    <p:extLst>
      <p:ext uri="{BB962C8B-B14F-4D97-AF65-F5344CB8AC3E}">
        <p14:creationId xmlns:p14="http://schemas.microsoft.com/office/powerpoint/2010/main" val="47268882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49</a:t>
            </a:fld>
            <a:endParaRPr lang="zh-CN" altLang="en-US" dirty="0"/>
          </a:p>
        </p:txBody>
      </p:sp>
    </p:spTree>
    <p:extLst>
      <p:ext uri="{BB962C8B-B14F-4D97-AF65-F5344CB8AC3E}">
        <p14:creationId xmlns:p14="http://schemas.microsoft.com/office/powerpoint/2010/main" val="41963627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pPr marL="0" lvl="1" algn="ctr"/>
            <a:r>
              <a:rPr lang="zh-CN" altLang="en-US" b="1" dirty="0">
                <a:solidFill>
                  <a:srgbClr val="FFC000"/>
                </a:solidFill>
                <a:latin typeface="+mn-ea"/>
                <a:sym typeface="+mn-ea"/>
              </a:rPr>
              <a:t>问题意识</a:t>
            </a:r>
            <a:r>
              <a:rPr lang="en-US" altLang="zh-CN" b="1" dirty="0">
                <a:solidFill>
                  <a:srgbClr val="FFC000"/>
                </a:solidFill>
                <a:latin typeface="+mn-ea"/>
                <a:sym typeface="+mn-ea"/>
              </a:rPr>
              <a:t>-</a:t>
            </a:r>
            <a:r>
              <a:rPr lang="zh-CN" altLang="zh-CN" b="1" dirty="0">
                <a:solidFill>
                  <a:srgbClr val="FFC000"/>
                </a:solidFill>
                <a:latin typeface="+mn-ea"/>
                <a:sym typeface="+mn-ea"/>
              </a:rPr>
              <a:t>思维方式</a:t>
            </a:r>
          </a:p>
          <a:p>
            <a:pPr marL="0" lvl="1" algn="ctr"/>
            <a:endParaRPr lang="zh-CN" altLang="en-US" b="1" dirty="0">
              <a:solidFill>
                <a:schemeClr val="bg1"/>
              </a:solidFill>
              <a:sym typeface="+mn-ea"/>
            </a:endParaRPr>
          </a:p>
          <a:p>
            <a:pPr marL="0" lvl="1" algn="l"/>
            <a:r>
              <a:rPr lang="zh-CN" altLang="en-US" b="1" dirty="0">
                <a:solidFill>
                  <a:schemeClr val="bg1"/>
                </a:solidFill>
                <a:sym typeface="+mn-ea"/>
              </a:rPr>
              <a:t>“知识导向”</a:t>
            </a:r>
            <a:r>
              <a:rPr lang="en-US" altLang="zh-CN" b="1" dirty="0">
                <a:solidFill>
                  <a:schemeClr val="bg1"/>
                </a:solidFill>
                <a:sym typeface="Wingdings" panose="05000000000000000000" pitchFamily="2" charset="2"/>
              </a:rPr>
              <a:t></a:t>
            </a:r>
            <a:r>
              <a:rPr lang="zh-CN" altLang="en-US" b="1" dirty="0">
                <a:solidFill>
                  <a:schemeClr val="bg1"/>
                </a:solidFill>
                <a:sym typeface="Wingdings" panose="05000000000000000000" pitchFamily="2" charset="2"/>
              </a:rPr>
              <a:t>“问题导向”</a:t>
            </a:r>
            <a:endParaRPr lang="en-US" altLang="zh-CN" dirty="0">
              <a:solidFill>
                <a:srgbClr val="FFFF00"/>
              </a:solidFill>
            </a:endParaRPr>
          </a:p>
          <a:p>
            <a:pPr marL="0" indent="0">
              <a:buFont typeface="Wingdings" panose="05000000000000000000" charset="0"/>
              <a:buChar char="l"/>
            </a:pPr>
            <a:r>
              <a:rPr lang="zh-CN" altLang="en-US" dirty="0">
                <a:solidFill>
                  <a:schemeClr val="bg1"/>
                </a:solidFill>
                <a:sym typeface="+mn-ea"/>
              </a:rPr>
              <a:t>传统</a:t>
            </a:r>
            <a:r>
              <a:rPr lang="zh-CN" altLang="en-US" b="1" dirty="0">
                <a:solidFill>
                  <a:srgbClr val="FFFF00"/>
                </a:solidFill>
                <a:sym typeface="+mn-ea"/>
              </a:rPr>
              <a:t>“</a:t>
            </a:r>
            <a:r>
              <a:rPr lang="zh-CN" altLang="zh-CN" b="1" dirty="0">
                <a:solidFill>
                  <a:srgbClr val="FFFF00"/>
                </a:solidFill>
                <a:sym typeface="+mn-ea"/>
              </a:rPr>
              <a:t>知识导向</a:t>
            </a:r>
            <a:r>
              <a:rPr lang="zh-CN" altLang="en-US" b="1" dirty="0">
                <a:solidFill>
                  <a:srgbClr val="FFFF00"/>
                </a:solidFill>
                <a:sym typeface="+mn-ea"/>
              </a:rPr>
              <a:t>”</a:t>
            </a:r>
            <a:r>
              <a:rPr lang="zh-CN" altLang="zh-CN" b="1" dirty="0">
                <a:solidFill>
                  <a:schemeClr val="bg1"/>
                </a:solidFill>
                <a:sym typeface="+mn-ea"/>
              </a:rPr>
              <a:t> </a:t>
            </a:r>
            <a:r>
              <a:rPr lang="zh-CN" altLang="zh-CN" dirty="0">
                <a:solidFill>
                  <a:schemeClr val="bg1"/>
                </a:solidFill>
                <a:sym typeface="+mn-ea"/>
              </a:rPr>
              <a:t>的教育所培养的学生，其思维方式容易显现为</a:t>
            </a:r>
            <a:r>
              <a:rPr lang="zh-CN" altLang="zh-CN" b="1" dirty="0">
                <a:solidFill>
                  <a:srgbClr val="FFFF00"/>
                </a:solidFill>
                <a:sym typeface="+mn-ea"/>
              </a:rPr>
              <a:t>收敛式、集中式</a:t>
            </a:r>
            <a:r>
              <a:rPr lang="zh-CN" altLang="zh-CN" dirty="0">
                <a:solidFill>
                  <a:schemeClr val="bg1"/>
                </a:solidFill>
                <a:sym typeface="+mn-ea"/>
              </a:rPr>
              <a:t>。</a:t>
            </a:r>
            <a:r>
              <a:rPr lang="zh-CN" altLang="zh-CN" b="1" dirty="0">
                <a:solidFill>
                  <a:schemeClr val="bg1"/>
                </a:solidFill>
                <a:sym typeface="+mn-ea"/>
              </a:rPr>
              <a:t>按照既有的知识、逻辑，沿袭固有的途径，解决既定的问题</a:t>
            </a:r>
            <a:r>
              <a:rPr lang="zh-CN" altLang="zh-CN" dirty="0">
                <a:solidFill>
                  <a:schemeClr val="bg1"/>
                </a:solidFill>
                <a:sym typeface="+mn-ea"/>
              </a:rPr>
              <a:t>。这种方式对于处理一般问题是有效的。</a:t>
            </a:r>
            <a:endParaRPr lang="en-US" altLang="zh-CN" dirty="0">
              <a:solidFill>
                <a:schemeClr val="bg1"/>
              </a:solidFill>
            </a:endParaRPr>
          </a:p>
          <a:p>
            <a:pPr marL="0" indent="0">
              <a:buFont typeface="Wingdings" panose="05000000000000000000" charset="0"/>
              <a:buChar char="l"/>
            </a:pPr>
            <a:r>
              <a:rPr lang="zh-CN" altLang="zh-CN" dirty="0">
                <a:solidFill>
                  <a:schemeClr val="bg1"/>
                </a:solidFill>
                <a:sym typeface="+mn-ea"/>
              </a:rPr>
              <a:t>这种思维所形成的意识流显然不利于创新，尤其是原始创新。</a:t>
            </a:r>
            <a:endParaRPr lang="en-US" altLang="zh-CN" dirty="0">
              <a:solidFill>
                <a:schemeClr val="bg1"/>
              </a:solidFill>
            </a:endParaRPr>
          </a:p>
          <a:p>
            <a:pPr marL="0" indent="0">
              <a:buFont typeface="Wingdings" panose="05000000000000000000" charset="0"/>
              <a:buChar char="l"/>
            </a:pPr>
            <a:r>
              <a:rPr lang="zh-CN" altLang="zh-CN" b="1" dirty="0">
                <a:solidFill>
                  <a:srgbClr val="FFC000"/>
                </a:solidFill>
                <a:sym typeface="+mn-ea"/>
              </a:rPr>
              <a:t>发散思维</a:t>
            </a:r>
            <a:r>
              <a:rPr lang="zh-CN" altLang="zh-CN" b="1" dirty="0">
                <a:solidFill>
                  <a:schemeClr val="bg1"/>
                </a:solidFill>
                <a:sym typeface="+mn-ea"/>
              </a:rPr>
              <a:t>却是创造性思维的重要内容，它是扩散的、求异的</a:t>
            </a:r>
            <a:endParaRPr lang="en-US" altLang="zh-CN" b="1" dirty="0">
              <a:solidFill>
                <a:schemeClr val="bg1"/>
              </a:solidFill>
            </a:endParaRPr>
          </a:p>
          <a:p>
            <a:pPr marL="0" indent="0">
              <a:buFont typeface="Wingdings" panose="05000000000000000000" charset="0"/>
              <a:buChar char="l"/>
            </a:pPr>
            <a:r>
              <a:rPr lang="zh-CN" altLang="en-US" b="1" dirty="0">
                <a:solidFill>
                  <a:srgbClr val="FFC000"/>
                </a:solidFill>
                <a:sym typeface="+mn-ea"/>
              </a:rPr>
              <a:t>“问题导向”</a:t>
            </a:r>
            <a:r>
              <a:rPr lang="zh-CN" altLang="en-US" b="1" dirty="0">
                <a:solidFill>
                  <a:schemeClr val="bg1"/>
                </a:solidFill>
                <a:sym typeface="+mn-ea"/>
              </a:rPr>
              <a:t> 有利于形成</a:t>
            </a:r>
            <a:r>
              <a:rPr lang="zh-CN" altLang="en-US" b="1" dirty="0">
                <a:solidFill>
                  <a:schemeClr val="bg1"/>
                </a:solidFill>
                <a:sym typeface="Wingdings" panose="05000000000000000000" pitchFamily="2" charset="2"/>
              </a:rPr>
              <a:t>发散思维</a:t>
            </a:r>
            <a:endParaRPr lang="zh-CN" altLang="zh-CN" b="1" dirty="0">
              <a:solidFill>
                <a:schemeClr val="bg1"/>
              </a:solidFill>
            </a:endParaRPr>
          </a:p>
          <a:p>
            <a:endParaRPr lang="zh-CN" altLang="en-US"/>
          </a:p>
        </p:txBody>
      </p:sp>
    </p:spTree>
    <p:extLst>
      <p:ext uri="{BB962C8B-B14F-4D97-AF65-F5344CB8AC3E}">
        <p14:creationId xmlns:p14="http://schemas.microsoft.com/office/powerpoint/2010/main" val="15860920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51</a:t>
            </a:fld>
            <a:endParaRPr lang="zh-CN" altLang="en-US" dirty="0"/>
          </a:p>
        </p:txBody>
      </p:sp>
    </p:spTree>
    <p:extLst>
      <p:ext uri="{BB962C8B-B14F-4D97-AF65-F5344CB8AC3E}">
        <p14:creationId xmlns:p14="http://schemas.microsoft.com/office/powerpoint/2010/main" val="3525156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53</a:t>
            </a:fld>
            <a:endParaRPr lang="zh-CN" altLang="en-US" dirty="0"/>
          </a:p>
        </p:txBody>
      </p:sp>
    </p:spTree>
    <p:extLst>
      <p:ext uri="{BB962C8B-B14F-4D97-AF65-F5344CB8AC3E}">
        <p14:creationId xmlns:p14="http://schemas.microsoft.com/office/powerpoint/2010/main" val="313227715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54</a:t>
            </a:fld>
            <a:endParaRPr lang="zh-CN" altLang="en-US" dirty="0"/>
          </a:p>
        </p:txBody>
      </p:sp>
    </p:spTree>
    <p:extLst>
      <p:ext uri="{BB962C8B-B14F-4D97-AF65-F5344CB8AC3E}">
        <p14:creationId xmlns:p14="http://schemas.microsoft.com/office/powerpoint/2010/main" val="266432403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55</a:t>
            </a:fld>
            <a:endParaRPr lang="zh-CN" altLang="en-US" dirty="0"/>
          </a:p>
        </p:txBody>
      </p:sp>
    </p:spTree>
    <p:extLst>
      <p:ext uri="{BB962C8B-B14F-4D97-AF65-F5344CB8AC3E}">
        <p14:creationId xmlns:p14="http://schemas.microsoft.com/office/powerpoint/2010/main" val="294527203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56</a:t>
            </a:fld>
            <a:endParaRPr lang="zh-CN" altLang="en-US" dirty="0"/>
          </a:p>
        </p:txBody>
      </p:sp>
    </p:spTree>
    <p:extLst>
      <p:ext uri="{BB962C8B-B14F-4D97-AF65-F5344CB8AC3E}">
        <p14:creationId xmlns:p14="http://schemas.microsoft.com/office/powerpoint/2010/main" val="175264141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57</a:t>
            </a:fld>
            <a:endParaRPr lang="zh-CN" altLang="en-US" dirty="0"/>
          </a:p>
        </p:txBody>
      </p:sp>
    </p:spTree>
    <p:extLst>
      <p:ext uri="{BB962C8B-B14F-4D97-AF65-F5344CB8AC3E}">
        <p14:creationId xmlns:p14="http://schemas.microsoft.com/office/powerpoint/2010/main" val="328632529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58</a:t>
            </a:fld>
            <a:endParaRPr lang="zh-CN" altLang="en-US" dirty="0"/>
          </a:p>
        </p:txBody>
      </p:sp>
    </p:spTree>
    <p:extLst>
      <p:ext uri="{BB962C8B-B14F-4D97-AF65-F5344CB8AC3E}">
        <p14:creationId xmlns:p14="http://schemas.microsoft.com/office/powerpoint/2010/main" val="152480930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59</a:t>
            </a:fld>
            <a:endParaRPr lang="zh-CN" altLang="en-US" dirty="0"/>
          </a:p>
        </p:txBody>
      </p:sp>
    </p:spTree>
    <p:extLst>
      <p:ext uri="{BB962C8B-B14F-4D97-AF65-F5344CB8AC3E}">
        <p14:creationId xmlns:p14="http://schemas.microsoft.com/office/powerpoint/2010/main" val="142033253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60</a:t>
            </a:fld>
            <a:endParaRPr lang="zh-CN" altLang="en-US" dirty="0"/>
          </a:p>
        </p:txBody>
      </p:sp>
    </p:spTree>
    <p:extLst>
      <p:ext uri="{BB962C8B-B14F-4D97-AF65-F5344CB8AC3E}">
        <p14:creationId xmlns:p14="http://schemas.microsoft.com/office/powerpoint/2010/main" val="348357191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61</a:t>
            </a:fld>
            <a:endParaRPr lang="zh-CN" altLang="en-US" dirty="0"/>
          </a:p>
        </p:txBody>
      </p:sp>
    </p:spTree>
    <p:extLst>
      <p:ext uri="{BB962C8B-B14F-4D97-AF65-F5344CB8AC3E}">
        <p14:creationId xmlns:p14="http://schemas.microsoft.com/office/powerpoint/2010/main" val="365876729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62</a:t>
            </a:fld>
            <a:endParaRPr lang="zh-CN" altLang="en-US" dirty="0"/>
          </a:p>
        </p:txBody>
      </p:sp>
    </p:spTree>
    <p:extLst>
      <p:ext uri="{BB962C8B-B14F-4D97-AF65-F5344CB8AC3E}">
        <p14:creationId xmlns:p14="http://schemas.microsoft.com/office/powerpoint/2010/main" val="318834569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63</a:t>
            </a:fld>
            <a:endParaRPr lang="zh-CN" altLang="en-US" dirty="0"/>
          </a:p>
        </p:txBody>
      </p:sp>
    </p:spTree>
    <p:extLst>
      <p:ext uri="{BB962C8B-B14F-4D97-AF65-F5344CB8AC3E}">
        <p14:creationId xmlns:p14="http://schemas.microsoft.com/office/powerpoint/2010/main" val="57130059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64</a:t>
            </a:fld>
            <a:endParaRPr lang="zh-CN" altLang="en-US" dirty="0"/>
          </a:p>
        </p:txBody>
      </p:sp>
    </p:spTree>
    <p:extLst>
      <p:ext uri="{BB962C8B-B14F-4D97-AF65-F5344CB8AC3E}">
        <p14:creationId xmlns:p14="http://schemas.microsoft.com/office/powerpoint/2010/main" val="279610581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65</a:t>
            </a:fld>
            <a:endParaRPr lang="zh-CN" altLang="en-US" dirty="0"/>
          </a:p>
        </p:txBody>
      </p:sp>
    </p:spTree>
    <p:extLst>
      <p:ext uri="{BB962C8B-B14F-4D97-AF65-F5344CB8AC3E}">
        <p14:creationId xmlns:p14="http://schemas.microsoft.com/office/powerpoint/2010/main" val="222202394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66</a:t>
            </a:fld>
            <a:endParaRPr lang="zh-CN" altLang="en-US" dirty="0"/>
          </a:p>
        </p:txBody>
      </p:sp>
    </p:spTree>
    <p:extLst>
      <p:ext uri="{BB962C8B-B14F-4D97-AF65-F5344CB8AC3E}">
        <p14:creationId xmlns:p14="http://schemas.microsoft.com/office/powerpoint/2010/main" val="317804221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67</a:t>
            </a:fld>
            <a:endParaRPr lang="zh-CN" altLang="en-US" dirty="0"/>
          </a:p>
        </p:txBody>
      </p:sp>
    </p:spTree>
    <p:extLst>
      <p:ext uri="{BB962C8B-B14F-4D97-AF65-F5344CB8AC3E}">
        <p14:creationId xmlns:p14="http://schemas.microsoft.com/office/powerpoint/2010/main" val="32589170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8297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809110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8A7116A-5237-2C4B-B56A-BCC53A5BF3E7}" type="datetime1">
              <a:rPr lang="en-US" smtClean="0"/>
              <a:pPr/>
              <a:t>3/13/2025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765DCCE-BDC2-B440-B035-A5056E73E593}" type="slidenum">
              <a:rPr lang="en-US" smtClean="0"/>
              <a:pPr/>
              <a:t>‹#›</a:t>
            </a:fld>
            <a:endParaRPr lang="en-US"/>
          </a:p>
        </p:txBody>
      </p:sp>
    </p:spTree>
    <p:extLst>
      <p:ext uri="{BB962C8B-B14F-4D97-AF65-F5344CB8AC3E}">
        <p14:creationId xmlns:p14="http://schemas.microsoft.com/office/powerpoint/2010/main" val="856090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539999" y="468000"/>
            <a:ext cx="11109075" cy="523220"/>
          </a:xfrm>
          <a:prstGeom prst="rect">
            <a:avLst/>
          </a:prstGeom>
          <a:noFill/>
        </p:spPr>
        <p:txBody>
          <a:bodyPr wrap="square" rtlCol="0">
            <a:spAutoFit/>
          </a:bodyPr>
          <a:lstStyle>
            <a:lvl1pPr>
              <a:defRPr lang="zh-CN" altLang="en-US" sz="2800" b="1">
                <a:solidFill>
                  <a:schemeClr val="bg1"/>
                </a:solidFill>
                <a:latin typeface="+mn-lt"/>
                <a:ea typeface="+mn-ea"/>
                <a:cs typeface="Times New Roman" panose="02020603050405020304" pitchFamily="18" charset="0"/>
              </a:defRPr>
            </a:lvl1pPr>
          </a:lstStyle>
          <a:p>
            <a:pPr marL="0" marR="0" lvl="0" indent="0" fontAlgn="auto">
              <a:lnSpc>
                <a:spcPct val="100000"/>
              </a:lnSpc>
              <a:spcBef>
                <a:spcPts val="0"/>
              </a:spcBef>
              <a:spcAft>
                <a:spcPts val="0"/>
              </a:spcAft>
              <a:buClrTx/>
              <a:buSzTx/>
              <a:buFontTx/>
              <a:tabLst/>
            </a:pPr>
            <a:r>
              <a:rPr lang="zh-CN" altLang="en-US" dirty="0" smtClean="0"/>
              <a:t>单击此处编辑母版标题样式</a:t>
            </a:r>
            <a:endParaRPr lang="zh-CN" altLang="en-US" dirty="0"/>
          </a:p>
        </p:txBody>
      </p:sp>
    </p:spTree>
    <p:extLst>
      <p:ext uri="{BB962C8B-B14F-4D97-AF65-F5344CB8AC3E}">
        <p14:creationId xmlns:p14="http://schemas.microsoft.com/office/powerpoint/2010/main" val="1520162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5539827-7119-4FFE-A24B-4FC55F475B1D}"/>
              </a:ext>
            </a:extLst>
          </p:cNvPr>
          <p:cNvSpPr>
            <a:spLocks noGrp="1"/>
          </p:cNvSpPr>
          <p:nvPr>
            <p:ph type="dt" sz="half" idx="10"/>
          </p:nvPr>
        </p:nvSpPr>
        <p:spPr>
          <a:xfrm>
            <a:off x="838200" y="6356350"/>
            <a:ext cx="2743200" cy="365125"/>
          </a:xfrm>
          <a:prstGeom prst="rect">
            <a:avLst/>
          </a:prstGeom>
        </p:spPr>
        <p:txBody>
          <a:bodyPr/>
          <a:lstStyle/>
          <a:p>
            <a:fld id="{FC989F92-97BF-4FE1-9520-C3C846BFF91E}" type="datetimeFigureOut">
              <a:rPr lang="zh-CN" altLang="en-US" smtClean="0"/>
              <a:t>2025/3/13</a:t>
            </a:fld>
            <a:endParaRPr lang="zh-CN" altLang="en-US"/>
          </a:p>
        </p:txBody>
      </p:sp>
      <p:sp>
        <p:nvSpPr>
          <p:cNvPr id="3" name="页脚占位符 2">
            <a:extLst>
              <a:ext uri="{FF2B5EF4-FFF2-40B4-BE49-F238E27FC236}">
                <a16:creationId xmlns:a16="http://schemas.microsoft.com/office/drawing/2014/main" id="{FA7CE4F1-566C-4CAE-9D1D-E085C6CD889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E24EDB76-28EE-4336-93A8-D4BA482EEFBE}"/>
              </a:ext>
            </a:extLst>
          </p:cNvPr>
          <p:cNvSpPr>
            <a:spLocks noGrp="1"/>
          </p:cNvSpPr>
          <p:nvPr>
            <p:ph type="sldNum" sz="quarter" idx="12"/>
          </p:nvPr>
        </p:nvSpPr>
        <p:spPr>
          <a:xfrm>
            <a:off x="8610600" y="6356350"/>
            <a:ext cx="2743200" cy="365125"/>
          </a:xfrm>
          <a:prstGeom prst="rect">
            <a:avLst/>
          </a:prstGeom>
        </p:spPr>
        <p:txBody>
          <a:bodyPr/>
          <a:lstStyle/>
          <a:p>
            <a:fld id="{D9C7592C-4FC0-4FCC-8DC4-437830C2C4C9}" type="slidenum">
              <a:rPr lang="zh-CN" altLang="en-US" smtClean="0"/>
              <a:t>‹#›</a:t>
            </a:fld>
            <a:endParaRPr lang="zh-CN" altLang="en-US"/>
          </a:p>
        </p:txBody>
      </p:sp>
    </p:spTree>
    <p:extLst>
      <p:ext uri="{BB962C8B-B14F-4D97-AF65-F5344CB8AC3E}">
        <p14:creationId xmlns:p14="http://schemas.microsoft.com/office/powerpoint/2010/main" val="3635585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E55DEA-2ACF-404C-8D92-3C64E2EE1F60}"/>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1863976-4D85-446D-AAC2-D97817DDC781}"/>
              </a:ext>
            </a:extLst>
          </p:cNvPr>
          <p:cNvSpPr>
            <a:spLocks noGrp="1"/>
          </p:cNvSpPr>
          <p:nvPr>
            <p:ph type="dt" sz="half" idx="10"/>
          </p:nvPr>
        </p:nvSpPr>
        <p:spPr>
          <a:xfrm>
            <a:off x="838200" y="6356350"/>
            <a:ext cx="2743200" cy="365125"/>
          </a:xfrm>
          <a:prstGeom prst="rect">
            <a:avLst/>
          </a:prstGeom>
        </p:spPr>
        <p:txBody>
          <a:bodyPr/>
          <a:lstStyle/>
          <a:p>
            <a:fld id="{FC989F92-97BF-4FE1-9520-C3C846BFF91E}" type="datetimeFigureOut">
              <a:rPr lang="zh-CN" altLang="en-US" smtClean="0"/>
              <a:t>2025/3/13</a:t>
            </a:fld>
            <a:endParaRPr lang="zh-CN" altLang="en-US"/>
          </a:p>
        </p:txBody>
      </p:sp>
      <p:sp>
        <p:nvSpPr>
          <p:cNvPr id="4" name="页脚占位符 3">
            <a:extLst>
              <a:ext uri="{FF2B5EF4-FFF2-40B4-BE49-F238E27FC236}">
                <a16:creationId xmlns:a16="http://schemas.microsoft.com/office/drawing/2014/main" id="{231BB273-95AA-4D96-8FEF-27A0D2901CAC}"/>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69B84042-E9AD-4F2C-AF6B-EA3ACF6BA787}"/>
              </a:ext>
            </a:extLst>
          </p:cNvPr>
          <p:cNvSpPr>
            <a:spLocks noGrp="1"/>
          </p:cNvSpPr>
          <p:nvPr>
            <p:ph type="sldNum" sz="quarter" idx="12"/>
          </p:nvPr>
        </p:nvSpPr>
        <p:spPr>
          <a:xfrm>
            <a:off x="8610600" y="6356350"/>
            <a:ext cx="2743200" cy="365125"/>
          </a:xfrm>
          <a:prstGeom prst="rect">
            <a:avLst/>
          </a:prstGeom>
        </p:spPr>
        <p:txBody>
          <a:bodyPr/>
          <a:lstStyle/>
          <a:p>
            <a:fld id="{D9C7592C-4FC0-4FCC-8DC4-437830C2C4C9}" type="slidenum">
              <a:rPr lang="zh-CN" altLang="en-US" smtClean="0"/>
              <a:t>‹#›</a:t>
            </a:fld>
            <a:endParaRPr lang="zh-CN" altLang="en-US"/>
          </a:p>
        </p:txBody>
      </p:sp>
    </p:spTree>
    <p:extLst>
      <p:ext uri="{BB962C8B-B14F-4D97-AF65-F5344CB8AC3E}">
        <p14:creationId xmlns:p14="http://schemas.microsoft.com/office/powerpoint/2010/main" val="382389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2993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96" y="5493"/>
            <a:ext cx="12188811" cy="6847021"/>
          </a:xfrm>
          <a:prstGeom prst="rect">
            <a:avLst/>
          </a:prstGeom>
        </p:spPr>
      </p:pic>
      <p:pic>
        <p:nvPicPr>
          <p:cNvPr id="2" name="图片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38649" y="83378"/>
            <a:ext cx="1253182" cy="955892"/>
          </a:xfrm>
          <a:prstGeom prst="rect">
            <a:avLst/>
          </a:prstGeom>
        </p:spPr>
      </p:pic>
    </p:spTree>
    <p:extLst>
      <p:ext uri="{BB962C8B-B14F-4D97-AF65-F5344CB8AC3E}">
        <p14:creationId xmlns:p14="http://schemas.microsoft.com/office/powerpoint/2010/main" val="320958277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96" y="5493"/>
            <a:ext cx="12188811" cy="6847021"/>
          </a:xfrm>
          <a:prstGeom prst="rect">
            <a:avLst/>
          </a:prstGeom>
        </p:spPr>
      </p:pic>
      <p:pic>
        <p:nvPicPr>
          <p:cNvPr id="2" name="图片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38649" y="83378"/>
            <a:ext cx="1253182" cy="955892"/>
          </a:xfrm>
          <a:prstGeom prst="rect">
            <a:avLst/>
          </a:prstGeom>
        </p:spPr>
      </p:pic>
    </p:spTree>
    <p:extLst>
      <p:ext uri="{BB962C8B-B14F-4D97-AF65-F5344CB8AC3E}">
        <p14:creationId xmlns:p14="http://schemas.microsoft.com/office/powerpoint/2010/main" val="320958277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0_标题和内容">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96" y="5493"/>
            <a:ext cx="12188811" cy="6847021"/>
          </a:xfrm>
          <a:prstGeom prst="rect">
            <a:avLst/>
          </a:prstGeom>
        </p:spPr>
      </p:pic>
      <p:pic>
        <p:nvPicPr>
          <p:cNvPr id="2" name="图片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38649" y="83378"/>
            <a:ext cx="1253182" cy="955892"/>
          </a:xfrm>
          <a:prstGeom prst="rect">
            <a:avLst/>
          </a:prstGeom>
        </p:spPr>
      </p:pic>
    </p:spTree>
    <p:extLst>
      <p:ext uri="{BB962C8B-B14F-4D97-AF65-F5344CB8AC3E}">
        <p14:creationId xmlns:p14="http://schemas.microsoft.com/office/powerpoint/2010/main" val="320958277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1_标题和内容">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96" y="5493"/>
            <a:ext cx="12188811" cy="6847021"/>
          </a:xfrm>
          <a:prstGeom prst="rect">
            <a:avLst/>
          </a:prstGeom>
        </p:spPr>
      </p:pic>
      <p:pic>
        <p:nvPicPr>
          <p:cNvPr id="2" name="图片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38649" y="83378"/>
            <a:ext cx="1253182" cy="955892"/>
          </a:xfrm>
          <a:prstGeom prst="rect">
            <a:avLst/>
          </a:prstGeom>
        </p:spPr>
      </p:pic>
    </p:spTree>
    <p:extLst>
      <p:ext uri="{BB962C8B-B14F-4D97-AF65-F5344CB8AC3E}">
        <p14:creationId xmlns:p14="http://schemas.microsoft.com/office/powerpoint/2010/main" val="320958277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2_标题和内容">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96" y="5493"/>
            <a:ext cx="12188811" cy="6847021"/>
          </a:xfrm>
          <a:prstGeom prst="rect">
            <a:avLst/>
          </a:prstGeom>
        </p:spPr>
      </p:pic>
      <p:pic>
        <p:nvPicPr>
          <p:cNvPr id="2" name="图片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38649" y="83378"/>
            <a:ext cx="1253182" cy="955892"/>
          </a:xfrm>
          <a:prstGeom prst="rect">
            <a:avLst/>
          </a:prstGeom>
        </p:spPr>
      </p:pic>
    </p:spTree>
    <p:extLst>
      <p:ext uri="{BB962C8B-B14F-4D97-AF65-F5344CB8AC3E}">
        <p14:creationId xmlns:p14="http://schemas.microsoft.com/office/powerpoint/2010/main" val="320958277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3_标题和内容">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96" y="5493"/>
            <a:ext cx="12188811" cy="6847021"/>
          </a:xfrm>
          <a:prstGeom prst="rect">
            <a:avLst/>
          </a:prstGeom>
        </p:spPr>
      </p:pic>
      <p:pic>
        <p:nvPicPr>
          <p:cNvPr id="2" name="图片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38649" y="83378"/>
            <a:ext cx="1253182" cy="955892"/>
          </a:xfrm>
          <a:prstGeom prst="rect">
            <a:avLst/>
          </a:prstGeom>
        </p:spPr>
      </p:pic>
    </p:spTree>
    <p:extLst>
      <p:ext uri="{BB962C8B-B14F-4D97-AF65-F5344CB8AC3E}">
        <p14:creationId xmlns:p14="http://schemas.microsoft.com/office/powerpoint/2010/main" val="320958277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4_标题和内容">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96" y="5493"/>
            <a:ext cx="12188811" cy="6847021"/>
          </a:xfrm>
          <a:prstGeom prst="rect">
            <a:avLst/>
          </a:prstGeom>
        </p:spPr>
      </p:pic>
      <p:pic>
        <p:nvPicPr>
          <p:cNvPr id="2" name="图片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38649" y="83378"/>
            <a:ext cx="1253182" cy="955892"/>
          </a:xfrm>
          <a:prstGeom prst="rect">
            <a:avLst/>
          </a:prstGeom>
        </p:spPr>
      </p:pic>
    </p:spTree>
    <p:extLst>
      <p:ext uri="{BB962C8B-B14F-4D97-AF65-F5344CB8AC3E}">
        <p14:creationId xmlns:p14="http://schemas.microsoft.com/office/powerpoint/2010/main" val="320958277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5_标题和内容">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96" y="5493"/>
            <a:ext cx="12188811" cy="6847021"/>
          </a:xfrm>
          <a:prstGeom prst="rect">
            <a:avLst/>
          </a:prstGeom>
        </p:spPr>
      </p:pic>
      <p:pic>
        <p:nvPicPr>
          <p:cNvPr id="2" name="图片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38649" y="83378"/>
            <a:ext cx="1253182" cy="955892"/>
          </a:xfrm>
          <a:prstGeom prst="rect">
            <a:avLst/>
          </a:prstGeom>
        </p:spPr>
      </p:pic>
    </p:spTree>
    <p:extLst>
      <p:ext uri="{BB962C8B-B14F-4D97-AF65-F5344CB8AC3E}">
        <p14:creationId xmlns:p14="http://schemas.microsoft.com/office/powerpoint/2010/main" val="320958277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6_标题和内容">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96" y="5493"/>
            <a:ext cx="12188811" cy="6847021"/>
          </a:xfrm>
          <a:prstGeom prst="rect">
            <a:avLst/>
          </a:prstGeom>
        </p:spPr>
      </p:pic>
      <p:pic>
        <p:nvPicPr>
          <p:cNvPr id="2" name="图片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38649" y="83378"/>
            <a:ext cx="1253182" cy="955892"/>
          </a:xfrm>
          <a:prstGeom prst="rect">
            <a:avLst/>
          </a:prstGeom>
        </p:spPr>
      </p:pic>
    </p:spTree>
    <p:extLst>
      <p:ext uri="{BB962C8B-B14F-4D97-AF65-F5344CB8AC3E}">
        <p14:creationId xmlns:p14="http://schemas.microsoft.com/office/powerpoint/2010/main" val="320958277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7_标题和内容">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96" y="5493"/>
            <a:ext cx="12188811" cy="6847021"/>
          </a:xfrm>
          <a:prstGeom prst="rect">
            <a:avLst/>
          </a:prstGeom>
        </p:spPr>
      </p:pic>
      <p:pic>
        <p:nvPicPr>
          <p:cNvPr id="2" name="图片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38649" y="83378"/>
            <a:ext cx="1253182" cy="955892"/>
          </a:xfrm>
          <a:prstGeom prst="rect">
            <a:avLst/>
          </a:prstGeom>
        </p:spPr>
      </p:pic>
    </p:spTree>
    <p:extLst>
      <p:ext uri="{BB962C8B-B14F-4D97-AF65-F5344CB8AC3E}">
        <p14:creationId xmlns:p14="http://schemas.microsoft.com/office/powerpoint/2010/main" val="320958277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8_标题和内容">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96" y="5493"/>
            <a:ext cx="12188811" cy="6847021"/>
          </a:xfrm>
          <a:prstGeom prst="rect">
            <a:avLst/>
          </a:prstGeom>
        </p:spPr>
      </p:pic>
      <p:pic>
        <p:nvPicPr>
          <p:cNvPr id="2" name="图片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38649" y="83378"/>
            <a:ext cx="1253182" cy="955892"/>
          </a:xfrm>
          <a:prstGeom prst="rect">
            <a:avLst/>
          </a:prstGeom>
        </p:spPr>
      </p:pic>
    </p:spTree>
    <p:extLst>
      <p:ext uri="{BB962C8B-B14F-4D97-AF65-F5344CB8AC3E}">
        <p14:creationId xmlns:p14="http://schemas.microsoft.com/office/powerpoint/2010/main" val="320958277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cSld name="标题">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3806515741"/>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BAFDA3-74F1-42CF-B4C8-E51A6520E896}"/>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B719AEB-1E82-404F-941F-FAD0CBB91C3F}"/>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5F8C995-28E8-4C32-A728-46A8298BFE69}"/>
              </a:ext>
            </a:extLst>
          </p:cNvPr>
          <p:cNvSpPr>
            <a:spLocks noGrp="1"/>
          </p:cNvSpPr>
          <p:nvPr>
            <p:ph type="dt" sz="half" idx="10"/>
          </p:nvPr>
        </p:nvSpPr>
        <p:spPr>
          <a:xfrm>
            <a:off x="838200" y="6356350"/>
            <a:ext cx="2743200" cy="365125"/>
          </a:xfrm>
          <a:prstGeom prst="rect">
            <a:avLst/>
          </a:prstGeom>
        </p:spPr>
        <p:txBody>
          <a:bodyPr/>
          <a:lstStyle/>
          <a:p>
            <a:fld id="{FC989F92-97BF-4FE1-9520-C3C846BFF91E}" type="datetimeFigureOut">
              <a:rPr lang="zh-CN" altLang="en-US" smtClean="0"/>
              <a:t>2025/3/13</a:t>
            </a:fld>
            <a:endParaRPr lang="zh-CN" altLang="en-US"/>
          </a:p>
        </p:txBody>
      </p:sp>
      <p:sp>
        <p:nvSpPr>
          <p:cNvPr id="5" name="页脚占位符 4">
            <a:extLst>
              <a:ext uri="{FF2B5EF4-FFF2-40B4-BE49-F238E27FC236}">
                <a16:creationId xmlns:a16="http://schemas.microsoft.com/office/drawing/2014/main" id="{2E02E461-55E1-4E85-AC2D-C6240DE242E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57280904-7D1A-4610-A639-084A66A18175}"/>
              </a:ext>
            </a:extLst>
          </p:cNvPr>
          <p:cNvSpPr>
            <a:spLocks noGrp="1"/>
          </p:cNvSpPr>
          <p:nvPr>
            <p:ph type="sldNum" sz="quarter" idx="12"/>
          </p:nvPr>
        </p:nvSpPr>
        <p:spPr>
          <a:xfrm>
            <a:off x="8610600" y="6356350"/>
            <a:ext cx="2743200" cy="365125"/>
          </a:xfrm>
          <a:prstGeom prst="rect">
            <a:avLst/>
          </a:prstGeom>
        </p:spPr>
        <p:txBody>
          <a:bodyPr/>
          <a:lstStyle/>
          <a:p>
            <a:fld id="{D9C7592C-4FC0-4FCC-8DC4-437830C2C4C9}" type="slidenum">
              <a:rPr lang="zh-CN" altLang="en-US" smtClean="0"/>
              <a:t>‹#›</a:t>
            </a:fld>
            <a:endParaRPr lang="zh-CN" altLang="en-US"/>
          </a:p>
        </p:txBody>
      </p:sp>
    </p:spTree>
    <p:extLst>
      <p:ext uri="{BB962C8B-B14F-4D97-AF65-F5344CB8AC3E}">
        <p14:creationId xmlns:p14="http://schemas.microsoft.com/office/powerpoint/2010/main" val="229704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nd page">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nd page">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325783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14095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slideLayout" Target="../slideLayouts/slideLayout19.xml"/><Relationship Id="rId3" Type="http://schemas.openxmlformats.org/officeDocument/2006/relationships/slideLayout" Target="../slideLayouts/slideLayout4.xml"/><Relationship Id="rId21" Type="http://schemas.openxmlformats.org/officeDocument/2006/relationships/image" Target="../media/image5.jpeg"/><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19" Type="http://schemas.openxmlformats.org/officeDocument/2006/relationships/slideLayout" Target="../slideLayouts/slideLayout20.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theme" Target="../theme/theme3.xml"/><Relationship Id="rId1"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theme" Target="../theme/theme4.xml"/><Relationship Id="rId1" Type="http://schemas.openxmlformats.org/officeDocument/2006/relationships/slideLayout" Target="../slideLayouts/slideLayout22.xml"/><Relationship Id="rId5" Type="http://schemas.openxmlformats.org/officeDocument/2006/relationships/image" Target="../media/image9.png"/><Relationship Id="rId4" Type="http://schemas.openxmlformats.org/officeDocument/2006/relationships/image" Target="../media/image8.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theme" Target="../theme/theme5.xml"/><Relationship Id="rId1" Type="http://schemas.openxmlformats.org/officeDocument/2006/relationships/slideLayout" Target="../slideLayouts/slideLayout23.xml"/><Relationship Id="rId5" Type="http://schemas.openxmlformats.org/officeDocument/2006/relationships/image" Target="../media/image9.png"/><Relationship Id="rId4" Type="http://schemas.openxmlformats.org/officeDocument/2006/relationships/image" Target="../media/image8.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图片 3" descr="海上有许多云&#10;&#10;描述已自动生成">
            <a:extLst>
              <a:ext uri="{FF2B5EF4-FFF2-40B4-BE49-F238E27FC236}">
                <a16:creationId xmlns:a16="http://schemas.microsoft.com/office/drawing/2014/main" id="{FAF15B90-140A-4A6C-A27A-3436F39733EE}"/>
              </a:ext>
            </a:extLst>
          </p:cNvPr>
          <p:cNvPicPr>
            <a:picLocks noChangeAspect="1"/>
          </p:cNvPicPr>
          <p:nvPr userDrawn="1"/>
        </p:nvPicPr>
        <p:blipFill>
          <a:blip r:embed="rId3"/>
          <a:stretch>
            <a:fillRect/>
          </a:stretch>
        </p:blipFill>
        <p:spPr>
          <a:xfrm>
            <a:off x="0" y="0"/>
            <a:ext cx="12192000" cy="6858000"/>
          </a:xfrm>
          <a:prstGeom prst="rect">
            <a:avLst/>
          </a:prstGeom>
        </p:spPr>
      </p:pic>
      <p:pic>
        <p:nvPicPr>
          <p:cNvPr id="3" name="图片 2" descr="海上有许多云&#10;&#10;描述已自动生成">
            <a:extLst>
              <a:ext uri="{FF2B5EF4-FFF2-40B4-BE49-F238E27FC236}">
                <a16:creationId xmlns:a16="http://schemas.microsoft.com/office/drawing/2014/main" id="{FAF15B90-140A-4A6C-A27A-3436F39733EE}"/>
              </a:ext>
            </a:extLst>
          </p:cNvPr>
          <p:cNvPicPr>
            <a:picLocks noChangeAspect="1"/>
          </p:cNvPicPr>
          <p:nvPr userDrawn="1"/>
        </p:nvPicPr>
        <p:blipFill>
          <a:blip r:embed="rId3"/>
          <a:stretch>
            <a:fillRect/>
          </a:stretch>
        </p:blipFill>
        <p:spPr>
          <a:xfrm>
            <a:off x="0" y="0"/>
            <a:ext cx="12192000" cy="6858000"/>
          </a:xfrm>
          <a:prstGeom prst="rect">
            <a:avLst/>
          </a:prstGeom>
        </p:spPr>
      </p:pic>
      <p:pic>
        <p:nvPicPr>
          <p:cNvPr id="5" name="图片 4" descr="图片包含 游戏机, 花&#10;&#10;描述已自动生成">
            <a:extLst>
              <a:ext uri="{FF2B5EF4-FFF2-40B4-BE49-F238E27FC236}">
                <a16:creationId xmlns:a16="http://schemas.microsoft.com/office/drawing/2014/main" id="{C0E51D79-63E4-4D16-A57C-30D28E9E155E}"/>
              </a:ext>
            </a:extLst>
          </p:cNvPr>
          <p:cNvPicPr>
            <a:picLocks noChangeAspect="1"/>
          </p:cNvPicPr>
          <p:nvPr userDrawn="1"/>
        </p:nvPicPr>
        <p:blipFill>
          <a:blip r:embed="rId4"/>
          <a:stretch>
            <a:fillRect/>
          </a:stretch>
        </p:blipFill>
        <p:spPr>
          <a:xfrm>
            <a:off x="51934" y="0"/>
            <a:ext cx="12088132" cy="6858000"/>
          </a:xfrm>
          <a:prstGeom prst="rect">
            <a:avLst/>
          </a:prstGeom>
        </p:spPr>
      </p:pic>
      <p:pic>
        <p:nvPicPr>
          <p:cNvPr id="6" name="图片 5"/>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724017" y="347760"/>
            <a:ext cx="2022496" cy="509490"/>
          </a:xfrm>
          <a:prstGeom prst="rect">
            <a:avLst/>
          </a:prstGeom>
        </p:spPr>
      </p:pic>
      <p:pic>
        <p:nvPicPr>
          <p:cNvPr id="7" name="图片 6" descr="图片包含 游戏机&#10;&#10;描述已自动生成">
            <a:extLst>
              <a:ext uri="{FF2B5EF4-FFF2-40B4-BE49-F238E27FC236}">
                <a16:creationId xmlns:a16="http://schemas.microsoft.com/office/drawing/2014/main" id="{1B508C2F-FB7A-4AE7-8745-B663ED0258C4}"/>
              </a:ext>
            </a:extLst>
          </p:cNvPr>
          <p:cNvPicPr>
            <a:picLocks noChangeAspect="1"/>
          </p:cNvPicPr>
          <p:nvPr userDrawn="1"/>
        </p:nvPicPr>
        <p:blipFill>
          <a:blip r:embed="rId6"/>
          <a:stretch>
            <a:fillRect/>
          </a:stretch>
        </p:blipFill>
        <p:spPr>
          <a:xfrm>
            <a:off x="588963" y="6080052"/>
            <a:ext cx="2458166" cy="339797"/>
          </a:xfrm>
          <a:prstGeom prst="rect">
            <a:avLst/>
          </a:prstGeom>
        </p:spPr>
      </p:pic>
    </p:spTree>
    <p:extLst>
      <p:ext uri="{BB962C8B-B14F-4D97-AF65-F5344CB8AC3E}">
        <p14:creationId xmlns:p14="http://schemas.microsoft.com/office/powerpoint/2010/main" val="3648401630"/>
      </p:ext>
    </p:extLst>
  </p:cSld>
  <p:clrMap bg1="lt1" tx1="dk1" bg2="lt2" tx2="dk2" accent1="accent1" accent2="accent2" accent3="accent3" accent4="accent4" accent5="accent5" accent6="accent6" hlink="hlink" folHlink="folHlink"/>
  <p:sldLayoutIdLst>
    <p:sldLayoutId id="2147483691" r:id="rId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图片 7" descr="夜晚的月亮&#10;&#10;描述已自动生成">
            <a:extLst>
              <a:ext uri="{FF2B5EF4-FFF2-40B4-BE49-F238E27FC236}">
                <a16:creationId xmlns:a16="http://schemas.microsoft.com/office/drawing/2014/main" id="{4EAD8C23-4DCA-471B-8282-99F335CEA589}"/>
              </a:ext>
            </a:extLst>
          </p:cNvPr>
          <p:cNvPicPr>
            <a:picLocks noChangeAspect="1"/>
          </p:cNvPicPr>
          <p:nvPr userDrawn="1"/>
        </p:nvPicPr>
        <p:blipFill>
          <a:blip r:embed="rId21"/>
          <a:stretch>
            <a:fillRect/>
          </a:stretch>
        </p:blipFill>
        <p:spPr>
          <a:xfrm>
            <a:off x="0" y="0"/>
            <a:ext cx="12192000" cy="6858000"/>
          </a:xfrm>
          <a:prstGeom prst="rect">
            <a:avLst/>
          </a:prstGeom>
        </p:spPr>
      </p:pic>
    </p:spTree>
    <p:extLst>
      <p:ext uri="{BB962C8B-B14F-4D97-AF65-F5344CB8AC3E}">
        <p14:creationId xmlns:p14="http://schemas.microsoft.com/office/powerpoint/2010/main" val="1729256555"/>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80" r:id="rId3"/>
    <p:sldLayoutId id="2147483692" r:id="rId4"/>
    <p:sldLayoutId id="2147483693" r:id="rId5"/>
    <p:sldLayoutId id="214748369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8" r:id="rId18"/>
    <p:sldLayoutId id="2147483719" r:id="rId19"/>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12" name="图片 11" descr="夜晚的月亮&#10;&#10;描述已自动生成">
            <a:extLst>
              <a:ext uri="{FF2B5EF4-FFF2-40B4-BE49-F238E27FC236}">
                <a16:creationId xmlns:a16="http://schemas.microsoft.com/office/drawing/2014/main" id="{68E2BADB-847E-644A-BEC2-C428259FC8AA}"/>
              </a:ext>
            </a:extLst>
          </p:cNvPr>
          <p:cNvPicPr>
            <a:picLocks noChangeAspect="1"/>
          </p:cNvPicPr>
          <p:nvPr userDrawn="1"/>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570826917"/>
      </p:ext>
    </p:extLst>
  </p:cSld>
  <p:clrMap bg1="lt1" tx1="dk1" bg2="lt2" tx2="dk2" accent1="accent1" accent2="accent2" accent3="accent3" accent4="accent4" accent5="accent5" accent6="accent6" hlink="hlink" folHlink="folHlink"/>
  <p:sldLayoutIdLst>
    <p:sldLayoutId id="2147483679" r:id="rId1"/>
  </p:sldLayoutIdLst>
  <p:hf hdr="0" ftr="0" dt="0"/>
  <p:txStyles>
    <p:titleStyle>
      <a:lvl1pPr algn="l" defTabSz="1187323" rtl="0" eaLnBrk="1" latinLnBrk="0" hangingPunct="1">
        <a:lnSpc>
          <a:spcPct val="90000"/>
        </a:lnSpc>
        <a:spcBef>
          <a:spcPct val="0"/>
        </a:spcBef>
        <a:buNone/>
        <a:defRPr sz="4998" b="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1">
          <p15:clr>
            <a:srgbClr val="F26B43"/>
          </p15:clr>
        </p15:guide>
        <p15:guide id="2" pos="3842">
          <p15:clr>
            <a:srgbClr val="F26B43"/>
          </p15:clr>
        </p15:guide>
        <p15:guide id="3" pos="458">
          <p15:clr>
            <a:srgbClr val="F26B43"/>
          </p15:clr>
        </p15:guide>
        <p15:guide id="4" pos="721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12" name="图片 11" descr="夜晚的月亮&#10;&#10;描述已自动生成">
            <a:extLst>
              <a:ext uri="{FF2B5EF4-FFF2-40B4-BE49-F238E27FC236}">
                <a16:creationId xmlns:a16="http://schemas.microsoft.com/office/drawing/2014/main" id="{68E2BADB-847E-644A-BEC2-C428259FC8AA}"/>
              </a:ext>
            </a:extLst>
          </p:cNvPr>
          <p:cNvPicPr>
            <a:picLocks noChangeAspect="1"/>
          </p:cNvPicPr>
          <p:nvPr userDrawn="1"/>
        </p:nvPicPr>
        <p:blipFill>
          <a:blip r:embed="rId3"/>
          <a:stretch>
            <a:fillRect/>
          </a:stretch>
        </p:blipFill>
        <p:spPr>
          <a:xfrm>
            <a:off x="0" y="0"/>
            <a:ext cx="12192000" cy="6858000"/>
          </a:xfrm>
          <a:prstGeom prst="rect">
            <a:avLst/>
          </a:prstGeom>
        </p:spPr>
      </p:pic>
      <p:pic>
        <p:nvPicPr>
          <p:cNvPr id="4" name="图片 3" descr="图片包含 游戏机&#10;&#10;描述已自动生成">
            <a:extLst>
              <a:ext uri="{FF2B5EF4-FFF2-40B4-BE49-F238E27FC236}">
                <a16:creationId xmlns:a16="http://schemas.microsoft.com/office/drawing/2014/main" id="{8FCD2FDA-C2C5-D344-8C3F-01FFC0D96B12}"/>
              </a:ext>
            </a:extLst>
          </p:cNvPr>
          <p:cNvPicPr>
            <a:picLocks noChangeAspect="1"/>
          </p:cNvPicPr>
          <p:nvPr userDrawn="1"/>
        </p:nvPicPr>
        <p:blipFill>
          <a:blip r:embed="rId4"/>
          <a:stretch>
            <a:fillRect/>
          </a:stretch>
        </p:blipFill>
        <p:spPr>
          <a:xfrm>
            <a:off x="10828" y="0"/>
            <a:ext cx="12181172" cy="6858000"/>
          </a:xfrm>
          <a:prstGeom prst="rect">
            <a:avLst/>
          </a:prstGeom>
        </p:spPr>
      </p:pic>
      <p:pic>
        <p:nvPicPr>
          <p:cNvPr id="6" name="图片 5" descr="手机屏幕截图&#10;&#10;描述已自动生成">
            <a:extLst>
              <a:ext uri="{FF2B5EF4-FFF2-40B4-BE49-F238E27FC236}">
                <a16:creationId xmlns:a16="http://schemas.microsoft.com/office/drawing/2014/main" id="{1894D9F2-08E4-CE4E-8BEC-2D36DA8C4A94}"/>
              </a:ext>
            </a:extLst>
          </p:cNvPr>
          <p:cNvPicPr>
            <a:picLocks noChangeAspect="1"/>
          </p:cNvPicPr>
          <p:nvPr userDrawn="1"/>
        </p:nvPicPr>
        <p:blipFill>
          <a:blip r:embed="rId5"/>
          <a:stretch>
            <a:fillRect/>
          </a:stretch>
        </p:blipFill>
        <p:spPr>
          <a:xfrm>
            <a:off x="5414" y="0"/>
            <a:ext cx="12181172" cy="6858000"/>
          </a:xfrm>
          <a:prstGeom prst="rect">
            <a:avLst/>
          </a:prstGeom>
        </p:spPr>
      </p:pic>
    </p:spTree>
    <p:extLst>
      <p:ext uri="{BB962C8B-B14F-4D97-AF65-F5344CB8AC3E}">
        <p14:creationId xmlns:p14="http://schemas.microsoft.com/office/powerpoint/2010/main" val="361255649"/>
      </p:ext>
    </p:extLst>
  </p:cSld>
  <p:clrMap bg1="lt1" tx1="dk1" bg2="lt2" tx2="dk2" accent1="accent1" accent2="accent2" accent3="accent3" accent4="accent4" accent5="accent5" accent6="accent6" hlink="hlink" folHlink="folHlink"/>
  <p:sldLayoutIdLst>
    <p:sldLayoutId id="2147483688" r:id="rId1"/>
  </p:sldLayoutIdLst>
  <p:hf hdr="0" ftr="0" dt="0"/>
  <p:txStyles>
    <p:titleStyle>
      <a:lvl1pPr algn="l" defTabSz="1187323" rtl="0" eaLnBrk="1" latinLnBrk="0" hangingPunct="1">
        <a:lnSpc>
          <a:spcPct val="90000"/>
        </a:lnSpc>
        <a:spcBef>
          <a:spcPct val="0"/>
        </a:spcBef>
        <a:buNone/>
        <a:defRPr sz="4998" b="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58">
          <p15:clr>
            <a:srgbClr val="F26B43"/>
          </p15:clr>
        </p15:guide>
        <p15:guide id="4" pos="721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12" name="图片 11" descr="夜晚的月亮&#10;&#10;描述已自动生成">
            <a:extLst>
              <a:ext uri="{FF2B5EF4-FFF2-40B4-BE49-F238E27FC236}">
                <a16:creationId xmlns:a16="http://schemas.microsoft.com/office/drawing/2014/main" id="{68E2BADB-847E-644A-BEC2-C428259FC8AA}"/>
              </a:ext>
            </a:extLst>
          </p:cNvPr>
          <p:cNvPicPr>
            <a:picLocks noChangeAspect="1"/>
          </p:cNvPicPr>
          <p:nvPr userDrawn="1"/>
        </p:nvPicPr>
        <p:blipFill>
          <a:blip r:embed="rId3"/>
          <a:stretch>
            <a:fillRect/>
          </a:stretch>
        </p:blipFill>
        <p:spPr>
          <a:xfrm>
            <a:off x="0" y="0"/>
            <a:ext cx="12192000" cy="6858000"/>
          </a:xfrm>
          <a:prstGeom prst="rect">
            <a:avLst/>
          </a:prstGeom>
        </p:spPr>
      </p:pic>
      <p:pic>
        <p:nvPicPr>
          <p:cNvPr id="4" name="图片 3" descr="图片包含 游戏机&#10;&#10;描述已自动生成">
            <a:extLst>
              <a:ext uri="{FF2B5EF4-FFF2-40B4-BE49-F238E27FC236}">
                <a16:creationId xmlns:a16="http://schemas.microsoft.com/office/drawing/2014/main" id="{8FCD2FDA-C2C5-D344-8C3F-01FFC0D96B12}"/>
              </a:ext>
            </a:extLst>
          </p:cNvPr>
          <p:cNvPicPr>
            <a:picLocks noChangeAspect="1"/>
          </p:cNvPicPr>
          <p:nvPr userDrawn="1"/>
        </p:nvPicPr>
        <p:blipFill>
          <a:blip r:embed="rId4"/>
          <a:stretch>
            <a:fillRect/>
          </a:stretch>
        </p:blipFill>
        <p:spPr>
          <a:xfrm>
            <a:off x="10828" y="0"/>
            <a:ext cx="12181172" cy="6858000"/>
          </a:xfrm>
          <a:prstGeom prst="rect">
            <a:avLst/>
          </a:prstGeom>
        </p:spPr>
      </p:pic>
      <p:pic>
        <p:nvPicPr>
          <p:cNvPr id="6" name="图片 5" descr="手机屏幕截图&#10;&#10;描述已自动生成">
            <a:extLst>
              <a:ext uri="{FF2B5EF4-FFF2-40B4-BE49-F238E27FC236}">
                <a16:creationId xmlns:a16="http://schemas.microsoft.com/office/drawing/2014/main" id="{1894D9F2-08E4-CE4E-8BEC-2D36DA8C4A94}"/>
              </a:ext>
            </a:extLst>
          </p:cNvPr>
          <p:cNvPicPr>
            <a:picLocks noChangeAspect="1"/>
          </p:cNvPicPr>
          <p:nvPr userDrawn="1"/>
        </p:nvPicPr>
        <p:blipFill>
          <a:blip r:embed="rId5"/>
          <a:stretch>
            <a:fillRect/>
          </a:stretch>
        </p:blipFill>
        <p:spPr>
          <a:xfrm>
            <a:off x="5414" y="0"/>
            <a:ext cx="12181172" cy="6858000"/>
          </a:xfrm>
          <a:prstGeom prst="rect">
            <a:avLst/>
          </a:prstGeom>
        </p:spPr>
      </p:pic>
    </p:spTree>
    <p:extLst>
      <p:ext uri="{BB962C8B-B14F-4D97-AF65-F5344CB8AC3E}">
        <p14:creationId xmlns:p14="http://schemas.microsoft.com/office/powerpoint/2010/main" val="3343526158"/>
      </p:ext>
    </p:extLst>
  </p:cSld>
  <p:clrMap bg1="lt1" tx1="dk1" bg2="lt2" tx2="dk2" accent1="accent1" accent2="accent2" accent3="accent3" accent4="accent4" accent5="accent5" accent6="accent6" hlink="hlink" folHlink="folHlink"/>
  <p:sldLayoutIdLst>
    <p:sldLayoutId id="2147483717" r:id="rId1"/>
  </p:sldLayoutIdLst>
  <p:hf hdr="0" ftr="0" dt="0"/>
  <p:txStyles>
    <p:titleStyle>
      <a:lvl1pPr algn="l" defTabSz="1187323" rtl="0" eaLnBrk="1" latinLnBrk="0" hangingPunct="1">
        <a:lnSpc>
          <a:spcPct val="90000"/>
        </a:lnSpc>
        <a:spcBef>
          <a:spcPct val="0"/>
        </a:spcBef>
        <a:buNone/>
        <a:defRPr sz="4998" b="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58">
          <p15:clr>
            <a:srgbClr val="F26B43"/>
          </p15:clr>
        </p15:guide>
        <p15:guide id="4" pos="72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4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4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7.xml"/><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0.xml"/></Relationships>
</file>

<file path=ppt/slides/_rels/slide5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685800" y="925286"/>
            <a:ext cx="10963274" cy="1856013"/>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r>
              <a:rPr lang="zh-CN" altLang="en-US" sz="4800" dirty="0" smtClean="0"/>
              <a:t>工程导论</a:t>
            </a:r>
            <a:r>
              <a:rPr lang="en-US" altLang="zh-CN" sz="4800" dirty="0" smtClean="0"/>
              <a:t>-</a:t>
            </a:r>
            <a:r>
              <a:rPr lang="zh-CN" altLang="en-US" sz="4800" dirty="0" smtClean="0">
                <a:solidFill>
                  <a:srgbClr val="FFFF00"/>
                </a:solidFill>
              </a:rPr>
              <a:t>引言</a:t>
            </a:r>
            <a:endParaRPr lang="zh-CN" altLang="en-US" sz="4800" dirty="0">
              <a:solidFill>
                <a:srgbClr val="FFFF00"/>
              </a:solidFill>
            </a:endParaRPr>
          </a:p>
        </p:txBody>
      </p:sp>
      <p:sp>
        <p:nvSpPr>
          <p:cNvPr id="2" name="矩形 1"/>
          <p:cNvSpPr/>
          <p:nvPr/>
        </p:nvSpPr>
        <p:spPr>
          <a:xfrm>
            <a:off x="1420586" y="3483429"/>
            <a:ext cx="9416144" cy="1626423"/>
          </a:xfrm>
          <a:prstGeom prst="rect">
            <a:avLst/>
          </a:prstGeom>
        </p:spPr>
        <p:txBody>
          <a:bodyPr wrap="square" lIns="86694" tIns="43347" rIns="86694" bIns="43347">
            <a:spAutoFit/>
          </a:bodyPr>
          <a:lstStyle/>
          <a:p>
            <a:pPr algn="ctr" defTabSz="685148">
              <a:lnSpc>
                <a:spcPct val="150000"/>
              </a:lnSpc>
            </a:pPr>
            <a:r>
              <a:rPr lang="zh-CN" altLang="en-US" sz="4000" b="1" dirty="0">
                <a:solidFill>
                  <a:schemeClr val="bg1"/>
                </a:solidFill>
                <a:latin typeface="微软雅黑" pitchFamily="34" charset="-122"/>
                <a:ea typeface="微软雅黑" pitchFamily="34" charset="-122"/>
                <a:sym typeface="Calibri" pitchFamily="34" charset="0"/>
              </a:rPr>
              <a:t>李培</a:t>
            </a:r>
            <a:r>
              <a:rPr lang="zh-CN" altLang="en-US" sz="4000" b="1" dirty="0" smtClean="0">
                <a:solidFill>
                  <a:schemeClr val="bg1"/>
                </a:solidFill>
                <a:latin typeface="微软雅黑" pitchFamily="34" charset="-122"/>
                <a:ea typeface="微软雅黑" pitchFamily="34" charset="-122"/>
                <a:sym typeface="Calibri" pitchFamily="34" charset="0"/>
              </a:rPr>
              <a:t>根</a:t>
            </a:r>
            <a:endParaRPr lang="en-US" altLang="zh-CN" sz="4000" b="1" dirty="0">
              <a:solidFill>
                <a:schemeClr val="bg1"/>
              </a:solidFill>
              <a:latin typeface="微软雅黑" pitchFamily="34" charset="-122"/>
              <a:ea typeface="微软雅黑" pitchFamily="34" charset="-122"/>
              <a:sym typeface="Calibri" pitchFamily="34" charset="0"/>
            </a:endParaRPr>
          </a:p>
          <a:p>
            <a:pPr algn="ctr" defTabSz="685148"/>
            <a:r>
              <a:rPr lang="en-US" altLang="zh-CN" sz="4000" b="1" dirty="0" smtClean="0">
                <a:solidFill>
                  <a:schemeClr val="bg1"/>
                </a:solidFill>
                <a:latin typeface="微软雅黑" pitchFamily="34" charset="-122"/>
                <a:ea typeface="微软雅黑" pitchFamily="34" charset="-122"/>
                <a:sym typeface="Calibri" pitchFamily="34" charset="0"/>
              </a:rPr>
              <a:t>2025</a:t>
            </a:r>
            <a:r>
              <a:rPr lang="zh-CN" altLang="en-US" sz="4000" b="1" dirty="0" smtClean="0">
                <a:solidFill>
                  <a:schemeClr val="bg1"/>
                </a:solidFill>
                <a:latin typeface="微软雅黑" pitchFamily="34" charset="-122"/>
                <a:ea typeface="微软雅黑" pitchFamily="34" charset="-122"/>
                <a:sym typeface="Calibri" pitchFamily="34" charset="0"/>
              </a:rPr>
              <a:t>年</a:t>
            </a:r>
            <a:r>
              <a:rPr lang="en-US" altLang="zh-CN" sz="4000" b="1" dirty="0">
                <a:solidFill>
                  <a:schemeClr val="bg1"/>
                </a:solidFill>
                <a:latin typeface="微软雅黑" pitchFamily="34" charset="-122"/>
                <a:ea typeface="微软雅黑" pitchFamily="34" charset="-122"/>
                <a:sym typeface="Calibri" pitchFamily="34" charset="0"/>
              </a:rPr>
              <a:t>3</a:t>
            </a:r>
            <a:r>
              <a:rPr lang="zh-CN" altLang="en-US" sz="4000" b="1" dirty="0" smtClean="0">
                <a:solidFill>
                  <a:schemeClr val="bg1"/>
                </a:solidFill>
                <a:latin typeface="微软雅黑" pitchFamily="34" charset="-122"/>
                <a:ea typeface="微软雅黑" pitchFamily="34" charset="-122"/>
                <a:sym typeface="Calibri" pitchFamily="34" charset="0"/>
              </a:rPr>
              <a:t>月</a:t>
            </a:r>
            <a:r>
              <a:rPr lang="en-US" altLang="zh-CN" sz="4000" b="1" dirty="0" smtClean="0">
                <a:solidFill>
                  <a:schemeClr val="bg1"/>
                </a:solidFill>
                <a:latin typeface="微软雅黑" pitchFamily="34" charset="-122"/>
                <a:ea typeface="微软雅黑" pitchFamily="34" charset="-122"/>
                <a:sym typeface="Calibri" pitchFamily="34" charset="0"/>
              </a:rPr>
              <a:t>21</a:t>
            </a:r>
            <a:r>
              <a:rPr lang="zh-CN" altLang="en-US" sz="4000" b="1" dirty="0" smtClean="0">
                <a:solidFill>
                  <a:schemeClr val="bg1"/>
                </a:solidFill>
                <a:latin typeface="微软雅黑" pitchFamily="34" charset="-122"/>
                <a:ea typeface="微软雅黑" pitchFamily="34" charset="-122"/>
                <a:sym typeface="Calibri" pitchFamily="34" charset="0"/>
              </a:rPr>
              <a:t>日</a:t>
            </a:r>
            <a:endParaRPr lang="en-US" altLang="zh-CN" sz="4000" b="1" dirty="0">
              <a:solidFill>
                <a:schemeClr val="bg1"/>
              </a:solidFill>
              <a:latin typeface="微软雅黑" pitchFamily="34" charset="-122"/>
              <a:ea typeface="微软雅黑" pitchFamily="34" charset="-122"/>
              <a:sym typeface="Calibri" pitchFamily="34" charset="0"/>
            </a:endParaRPr>
          </a:p>
        </p:txBody>
      </p:sp>
    </p:spTree>
    <p:extLst>
      <p:ext uri="{BB962C8B-B14F-4D97-AF65-F5344CB8AC3E}">
        <p14:creationId xmlns:p14="http://schemas.microsoft.com/office/powerpoint/2010/main" val="12171465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1213758" y="402772"/>
            <a:ext cx="9568542" cy="849086"/>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r>
              <a:rPr lang="zh-CN" altLang="en-US" sz="3200" dirty="0" smtClean="0"/>
              <a:t>课程的意图</a:t>
            </a:r>
            <a:endParaRPr lang="en-US" altLang="zh-CN" sz="3200" dirty="0">
              <a:solidFill>
                <a:srgbClr val="FFFF00"/>
              </a:solidFill>
            </a:endParaRPr>
          </a:p>
        </p:txBody>
      </p:sp>
      <p:sp>
        <p:nvSpPr>
          <p:cNvPr id="5" name="文本框 4"/>
          <p:cNvSpPr txBox="1"/>
          <p:nvPr/>
        </p:nvSpPr>
        <p:spPr>
          <a:xfrm>
            <a:off x="905894" y="1698171"/>
            <a:ext cx="10676506" cy="4524315"/>
          </a:xfrm>
          <a:prstGeom prst="rect">
            <a:avLst/>
          </a:prstGeom>
          <a:noFill/>
        </p:spPr>
        <p:txBody>
          <a:bodyPr wrap="square" rtlCol="0">
            <a:spAutoFit/>
          </a:bodyPr>
          <a:lstStyle/>
          <a:p>
            <a:pPr marL="914400" lvl="1" indent="-457200">
              <a:buFont typeface="Wingdings" panose="05000000000000000000" pitchFamily="2" charset="2"/>
              <a:buChar char="n"/>
            </a:pPr>
            <a:r>
              <a:rPr lang="zh-CN" altLang="en-US" sz="3200" dirty="0">
                <a:solidFill>
                  <a:schemeClr val="bg1"/>
                </a:solidFill>
                <a:latin typeface="微软雅黑" panose="020B0503020204020204" pitchFamily="34" charset="-122"/>
                <a:ea typeface="微软雅黑" panose="020B0503020204020204" pitchFamily="34" charset="-122"/>
              </a:rPr>
              <a:t>对工程与技术的兴趣</a:t>
            </a:r>
            <a:endParaRPr lang="en-US" altLang="zh-CN" sz="3200" dirty="0">
              <a:solidFill>
                <a:schemeClr val="bg1"/>
              </a:solidFill>
              <a:latin typeface="微软雅黑" panose="020B0503020204020204" pitchFamily="34" charset="-122"/>
              <a:ea typeface="微软雅黑" panose="020B0503020204020204" pitchFamily="34" charset="-122"/>
            </a:endParaRPr>
          </a:p>
          <a:p>
            <a:pPr marL="914400" lvl="1" indent="-457200">
              <a:buFont typeface="Wingdings" panose="05000000000000000000" pitchFamily="2" charset="2"/>
              <a:buChar char="n"/>
            </a:pPr>
            <a:r>
              <a:rPr lang="zh-CN" altLang="zh-CN" sz="3200" dirty="0">
                <a:solidFill>
                  <a:schemeClr val="bg1"/>
                </a:solidFill>
                <a:latin typeface="微软雅黑" panose="020B0503020204020204" pitchFamily="34" charset="-122"/>
                <a:ea typeface="微软雅黑" panose="020B0503020204020204" pitchFamily="34" charset="-122"/>
              </a:rPr>
              <a:t>从历史的视野了解技术演进及发明创新</a:t>
            </a:r>
          </a:p>
          <a:p>
            <a:pPr marL="914400" lvl="1" indent="-457200">
              <a:buFont typeface="Wingdings" panose="05000000000000000000" pitchFamily="2" charset="2"/>
              <a:buChar char="n"/>
            </a:pPr>
            <a:r>
              <a:rPr lang="zh-CN" altLang="zh-CN" sz="3200" dirty="0">
                <a:solidFill>
                  <a:schemeClr val="bg1"/>
                </a:solidFill>
                <a:latin typeface="微软雅黑" panose="020B0503020204020204" pitchFamily="34" charset="-122"/>
                <a:ea typeface="微软雅黑" panose="020B0503020204020204" pitchFamily="34" charset="-122"/>
              </a:rPr>
              <a:t>从未来工程视野了解对工程人才的</a:t>
            </a:r>
            <a:r>
              <a:rPr lang="zh-CN" altLang="zh-CN" sz="3200" dirty="0" smtClean="0">
                <a:solidFill>
                  <a:schemeClr val="bg1"/>
                </a:solidFill>
                <a:latin typeface="微软雅黑" panose="020B0503020204020204" pitchFamily="34" charset="-122"/>
                <a:ea typeface="微软雅黑" panose="020B0503020204020204" pitchFamily="34" charset="-122"/>
              </a:rPr>
              <a:t>挑战</a:t>
            </a:r>
            <a:endParaRPr lang="en-US" altLang="zh-CN" sz="3200" dirty="0" smtClean="0">
              <a:solidFill>
                <a:schemeClr val="bg1"/>
              </a:solidFill>
              <a:latin typeface="微软雅黑" panose="020B0503020204020204" pitchFamily="34" charset="-122"/>
              <a:ea typeface="微软雅黑" panose="020B0503020204020204" pitchFamily="34" charset="-122"/>
            </a:endParaRPr>
          </a:p>
          <a:p>
            <a:pPr marL="914400" lvl="1" indent="-457200">
              <a:buFont typeface="Wingdings" panose="05000000000000000000" pitchFamily="2" charset="2"/>
              <a:buChar char="n"/>
            </a:pPr>
            <a:r>
              <a:rPr lang="zh-CN" altLang="en-US" sz="3200" dirty="0" smtClean="0">
                <a:solidFill>
                  <a:schemeClr val="bg1"/>
                </a:solidFill>
                <a:latin typeface="微软雅黑" panose="020B0503020204020204" pitchFamily="34" charset="-122"/>
                <a:ea typeface="微软雅黑" panose="020B0503020204020204" pitchFamily="34" charset="-122"/>
              </a:rPr>
              <a:t>数字</a:t>
            </a:r>
            <a:r>
              <a:rPr lang="en-US" altLang="zh-CN" sz="3200" dirty="0" smtClean="0">
                <a:solidFill>
                  <a:schemeClr val="bg1"/>
                </a:solidFill>
                <a:latin typeface="微软雅黑" panose="020B0503020204020204" pitchFamily="34" charset="-122"/>
                <a:ea typeface="微软雅黑" panose="020B0503020204020204" pitchFamily="34" charset="-122"/>
              </a:rPr>
              <a:t>-</a:t>
            </a:r>
            <a:r>
              <a:rPr lang="zh-CN" altLang="en-US" sz="3200" dirty="0" smtClean="0">
                <a:solidFill>
                  <a:schemeClr val="bg1"/>
                </a:solidFill>
                <a:latin typeface="微软雅黑" panose="020B0503020204020204" pitchFamily="34" charset="-122"/>
                <a:ea typeface="微软雅黑" panose="020B0503020204020204" pitchFamily="34" charset="-122"/>
              </a:rPr>
              <a:t>智能技术的影响</a:t>
            </a:r>
            <a:endParaRPr lang="zh-CN" altLang="zh-CN" sz="3200" dirty="0">
              <a:solidFill>
                <a:schemeClr val="bg1"/>
              </a:solidFill>
              <a:latin typeface="微软雅黑" panose="020B0503020204020204" pitchFamily="34" charset="-122"/>
              <a:ea typeface="微软雅黑" panose="020B0503020204020204" pitchFamily="34" charset="-122"/>
            </a:endParaRPr>
          </a:p>
          <a:p>
            <a:pPr marL="914400" lvl="1" indent="-457200">
              <a:buFont typeface="Wingdings" panose="05000000000000000000" pitchFamily="2" charset="2"/>
              <a:buChar char="n"/>
            </a:pPr>
            <a:r>
              <a:rPr lang="zh-CN" altLang="zh-CN" sz="3200" dirty="0">
                <a:solidFill>
                  <a:schemeClr val="bg1"/>
                </a:solidFill>
                <a:latin typeface="微软雅黑" panose="020B0503020204020204" pitchFamily="34" charset="-122"/>
                <a:ea typeface="微软雅黑" panose="020B0503020204020204" pitchFamily="34" charset="-122"/>
              </a:rPr>
              <a:t>复杂工程问题意识</a:t>
            </a:r>
            <a:r>
              <a:rPr lang="zh-CN" altLang="zh-CN" sz="3200" dirty="0" smtClean="0">
                <a:solidFill>
                  <a:schemeClr val="bg1"/>
                </a:solidFill>
                <a:latin typeface="微软雅黑" panose="020B0503020204020204" pitchFamily="34" charset="-122"/>
                <a:ea typeface="微软雅黑" panose="020B0503020204020204" pitchFamily="34" charset="-122"/>
              </a:rPr>
              <a:t>（大</a:t>
            </a:r>
            <a:r>
              <a:rPr lang="zh-CN" altLang="zh-CN" sz="3200" dirty="0">
                <a:solidFill>
                  <a:schemeClr val="bg1"/>
                </a:solidFill>
                <a:latin typeface="微软雅黑" panose="020B0503020204020204" pitchFamily="34" charset="-122"/>
                <a:ea typeface="微软雅黑" panose="020B0503020204020204" pitchFamily="34" charset="-122"/>
              </a:rPr>
              <a:t>工程观</a:t>
            </a:r>
            <a:r>
              <a:rPr lang="zh-CN" altLang="en-US" sz="3200" dirty="0" smtClean="0">
                <a:solidFill>
                  <a:schemeClr val="bg1"/>
                </a:solidFill>
                <a:latin typeface="微软雅黑" panose="020B0503020204020204" pitchFamily="34" charset="-122"/>
                <a:ea typeface="微软雅黑" panose="020B0503020204020204" pitchFamily="34" charset="-122"/>
              </a:rPr>
              <a:t>，多学科物理、复杂</a:t>
            </a:r>
            <a:r>
              <a:rPr lang="zh-CN" altLang="zh-CN" sz="3200" dirty="0" smtClean="0">
                <a:solidFill>
                  <a:schemeClr val="bg1"/>
                </a:solidFill>
                <a:latin typeface="微软雅黑" panose="020B0503020204020204" pitchFamily="34" charset="-122"/>
                <a:ea typeface="微软雅黑" panose="020B0503020204020204" pitchFamily="34" charset="-122"/>
              </a:rPr>
              <a:t>关联</a:t>
            </a:r>
            <a:r>
              <a:rPr lang="zh-CN" altLang="zh-CN" sz="3200" dirty="0">
                <a:solidFill>
                  <a:schemeClr val="bg1"/>
                </a:solidFill>
                <a:latin typeface="微软雅黑" panose="020B0503020204020204" pitchFamily="34" charset="-122"/>
                <a:ea typeface="微软雅黑" panose="020B0503020204020204" pitchFamily="34" charset="-122"/>
              </a:rPr>
              <a:t>等）</a:t>
            </a:r>
          </a:p>
          <a:p>
            <a:pPr marL="914400" lvl="1" indent="-457200">
              <a:buFont typeface="Wingdings" panose="05000000000000000000" pitchFamily="2" charset="2"/>
              <a:buChar char="n"/>
            </a:pPr>
            <a:r>
              <a:rPr lang="zh-CN" altLang="zh-CN" sz="3200" dirty="0">
                <a:solidFill>
                  <a:schemeClr val="bg1"/>
                </a:solidFill>
                <a:latin typeface="微软雅黑" panose="020B0503020204020204" pitchFamily="34" charset="-122"/>
                <a:ea typeface="微软雅黑" panose="020B0503020204020204" pitchFamily="34" charset="-122"/>
              </a:rPr>
              <a:t>工程综合素养（包括人文情怀、工程伦理、工程哲学等）的培养</a:t>
            </a:r>
            <a:endParaRPr lang="en-US" altLang="zh-CN" sz="3200" dirty="0">
              <a:solidFill>
                <a:schemeClr val="bg1"/>
              </a:solidFill>
              <a:latin typeface="微软雅黑" panose="020B0503020204020204" pitchFamily="34" charset="-122"/>
              <a:ea typeface="微软雅黑" panose="020B0503020204020204" pitchFamily="34" charset="-122"/>
            </a:endParaRPr>
          </a:p>
          <a:p>
            <a:pPr marL="914400" lvl="1" indent="-457200">
              <a:buFont typeface="Wingdings" panose="05000000000000000000" pitchFamily="2" charset="2"/>
              <a:buChar char="n"/>
            </a:pPr>
            <a:r>
              <a:rPr lang="zh-CN" altLang="en-US" sz="3200" dirty="0" smtClean="0">
                <a:solidFill>
                  <a:schemeClr val="bg1"/>
                </a:solidFill>
                <a:latin typeface="微软雅黑" panose="020B0503020204020204" pitchFamily="34" charset="-122"/>
                <a:ea typeface="微软雅黑" panose="020B0503020204020204" pitchFamily="34" charset="-122"/>
              </a:rPr>
              <a:t>教与学的变革（尤其是学习方式的自觉改变）</a:t>
            </a:r>
            <a:endParaRPr lang="zh-CN" altLang="zh-CN" sz="32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737543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1336565" y="315687"/>
            <a:ext cx="9000000" cy="947056"/>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r>
              <a:rPr lang="zh-CN" altLang="en-US" sz="3200" dirty="0" smtClean="0">
                <a:solidFill>
                  <a:schemeClr val="bg1"/>
                </a:solidFill>
              </a:rPr>
              <a:t>课程架构</a:t>
            </a:r>
            <a:endParaRPr lang="zh-CN" altLang="en-US" sz="3200" dirty="0">
              <a:solidFill>
                <a:schemeClr val="bg1"/>
              </a:solidFill>
            </a:endParaRPr>
          </a:p>
        </p:txBody>
      </p:sp>
      <p:sp>
        <p:nvSpPr>
          <p:cNvPr id="5" name="文本框 4"/>
          <p:cNvSpPr txBox="1"/>
          <p:nvPr/>
        </p:nvSpPr>
        <p:spPr>
          <a:xfrm>
            <a:off x="1186593" y="1828799"/>
            <a:ext cx="10591749" cy="3539430"/>
          </a:xfrm>
          <a:prstGeom prst="rect">
            <a:avLst/>
          </a:prstGeom>
          <a:noFill/>
        </p:spPr>
        <p:txBody>
          <a:bodyPr wrap="square" rtlCol="0">
            <a:spAutoFit/>
          </a:bodyPr>
          <a:lstStyle/>
          <a:p>
            <a:pPr marL="742950" indent="-742950">
              <a:buFont typeface="Wingdings" panose="05000000000000000000" pitchFamily="2" charset="2"/>
              <a:buChar char="n"/>
            </a:pPr>
            <a:r>
              <a:rPr lang="zh-CN" altLang="en-US" sz="3200" b="1" dirty="0" smtClean="0">
                <a:solidFill>
                  <a:schemeClr val="bg1"/>
                </a:solidFill>
                <a:latin typeface="微软雅黑" panose="020B0503020204020204" pitchFamily="34" charset="-122"/>
                <a:ea typeface="微软雅黑" panose="020B0503020204020204" pitchFamily="34" charset="-122"/>
              </a:rPr>
              <a:t>引言</a:t>
            </a:r>
            <a:endParaRPr lang="en-US" altLang="zh-CN" sz="3200" b="1" dirty="0" smtClean="0">
              <a:solidFill>
                <a:schemeClr val="bg1"/>
              </a:solidFill>
              <a:latin typeface="微软雅黑" panose="020B0503020204020204" pitchFamily="34" charset="-122"/>
              <a:ea typeface="微软雅黑" panose="020B0503020204020204" pitchFamily="34" charset="-122"/>
            </a:endParaRPr>
          </a:p>
          <a:p>
            <a:pPr marL="742950" indent="-742950">
              <a:buFont typeface="Wingdings" panose="05000000000000000000" pitchFamily="2" charset="2"/>
              <a:buChar char="n"/>
            </a:pPr>
            <a:r>
              <a:rPr lang="zh-CN" altLang="zh-CN" sz="3200" dirty="0" smtClean="0">
                <a:solidFill>
                  <a:schemeClr val="bg1"/>
                </a:solidFill>
                <a:latin typeface="微软雅黑" panose="020B0503020204020204" pitchFamily="34" charset="-122"/>
                <a:ea typeface="微软雅黑" panose="020B0503020204020204" pitchFamily="34" charset="-122"/>
              </a:rPr>
              <a:t>工程</a:t>
            </a:r>
            <a:r>
              <a:rPr lang="zh-CN" altLang="zh-CN" sz="3200" dirty="0">
                <a:solidFill>
                  <a:schemeClr val="bg1"/>
                </a:solidFill>
                <a:latin typeface="微软雅黑" panose="020B0503020204020204" pitchFamily="34" charset="-122"/>
                <a:ea typeface="微软雅黑" panose="020B0503020204020204" pitchFamily="34" charset="-122"/>
              </a:rPr>
              <a:t>与技术的演进</a:t>
            </a:r>
            <a:endParaRPr lang="en-US" altLang="zh-CN" sz="3200" dirty="0">
              <a:solidFill>
                <a:schemeClr val="bg1"/>
              </a:solidFill>
              <a:latin typeface="微软雅黑" panose="020B0503020204020204" pitchFamily="34" charset="-122"/>
              <a:ea typeface="微软雅黑" panose="020B0503020204020204" pitchFamily="34" charset="-122"/>
            </a:endParaRPr>
          </a:p>
          <a:p>
            <a:pPr marL="742950" indent="-742950">
              <a:buFont typeface="Wingdings" panose="05000000000000000000" pitchFamily="2" charset="2"/>
              <a:buChar char="n"/>
            </a:pPr>
            <a:r>
              <a:rPr lang="zh-CN" altLang="zh-CN" sz="3200" dirty="0">
                <a:solidFill>
                  <a:schemeClr val="bg1"/>
                </a:solidFill>
                <a:latin typeface="微软雅黑" panose="020B0503020204020204" pitchFamily="34" charset="-122"/>
                <a:ea typeface="微软雅黑" panose="020B0503020204020204" pitchFamily="34" charset="-122"/>
              </a:rPr>
              <a:t>工程技术与科学的相互作用及技术创新</a:t>
            </a:r>
            <a:endParaRPr lang="en-US" altLang="zh-CN" sz="3200" dirty="0">
              <a:solidFill>
                <a:schemeClr val="bg1"/>
              </a:solidFill>
              <a:latin typeface="微软雅黑" panose="020B0503020204020204" pitchFamily="34" charset="-122"/>
              <a:ea typeface="微软雅黑" panose="020B0503020204020204" pitchFamily="34" charset="-122"/>
            </a:endParaRPr>
          </a:p>
          <a:p>
            <a:pPr marL="742950" indent="-742950">
              <a:buFont typeface="Wingdings" panose="05000000000000000000" pitchFamily="2" charset="2"/>
              <a:buChar char="n"/>
            </a:pPr>
            <a:r>
              <a:rPr lang="zh-CN" altLang="zh-CN" sz="3200" dirty="0">
                <a:solidFill>
                  <a:schemeClr val="bg1"/>
                </a:solidFill>
                <a:latin typeface="微软雅黑" panose="020B0503020204020204" pitchFamily="34" charset="-122"/>
                <a:ea typeface="微软雅黑" panose="020B0503020204020204" pitchFamily="34" charset="-122"/>
              </a:rPr>
              <a:t>工程</a:t>
            </a:r>
            <a:r>
              <a:rPr lang="zh-CN" altLang="en-US" sz="3200" dirty="0">
                <a:solidFill>
                  <a:schemeClr val="bg1"/>
                </a:solidFill>
                <a:latin typeface="微软雅黑" panose="020B0503020204020204" pitchFamily="34" charset="-122"/>
                <a:ea typeface="微软雅黑" panose="020B0503020204020204" pitchFamily="34" charset="-122"/>
              </a:rPr>
              <a:t>与人</a:t>
            </a:r>
            <a:endParaRPr lang="en-US" altLang="zh-CN" sz="3200" dirty="0">
              <a:solidFill>
                <a:schemeClr val="bg1"/>
              </a:solidFill>
              <a:latin typeface="微软雅黑" panose="020B0503020204020204" pitchFamily="34" charset="-122"/>
              <a:ea typeface="微软雅黑" panose="020B0503020204020204" pitchFamily="34" charset="-122"/>
            </a:endParaRPr>
          </a:p>
          <a:p>
            <a:pPr marL="742950" indent="-742950">
              <a:buFont typeface="Wingdings" panose="05000000000000000000" pitchFamily="2" charset="2"/>
              <a:buChar char="n"/>
            </a:pPr>
            <a:r>
              <a:rPr lang="zh-CN" altLang="zh-CN" sz="3200" dirty="0">
                <a:solidFill>
                  <a:schemeClr val="bg1"/>
                </a:solidFill>
                <a:latin typeface="微软雅黑" panose="020B0503020204020204" pitchFamily="34" charset="-122"/>
                <a:ea typeface="微软雅黑" panose="020B0503020204020204" pitchFamily="34" charset="-122"/>
              </a:rPr>
              <a:t>重大工程问题与未来技术畅想</a:t>
            </a:r>
            <a:endParaRPr lang="en-US" altLang="zh-CN" sz="3200" dirty="0">
              <a:solidFill>
                <a:schemeClr val="bg1"/>
              </a:solidFill>
              <a:latin typeface="微软雅黑" panose="020B0503020204020204" pitchFamily="34" charset="-122"/>
              <a:ea typeface="微软雅黑" panose="020B0503020204020204" pitchFamily="34" charset="-122"/>
            </a:endParaRPr>
          </a:p>
          <a:p>
            <a:pPr marL="742950" indent="-742950">
              <a:buFont typeface="Wingdings" panose="05000000000000000000" pitchFamily="2" charset="2"/>
              <a:buChar char="n"/>
            </a:pPr>
            <a:r>
              <a:rPr lang="zh-CN" altLang="zh-CN" sz="3200" dirty="0">
                <a:solidFill>
                  <a:schemeClr val="bg1"/>
                </a:solidFill>
                <a:latin typeface="微软雅黑" panose="020B0503020204020204" pitchFamily="34" charset="-122"/>
                <a:ea typeface="微软雅黑" panose="020B0503020204020204" pitchFamily="34" charset="-122"/>
              </a:rPr>
              <a:t>工程与美学</a:t>
            </a:r>
            <a:endParaRPr lang="en-US" altLang="zh-CN" sz="3200" dirty="0">
              <a:solidFill>
                <a:schemeClr val="bg1"/>
              </a:solidFill>
              <a:latin typeface="微软雅黑" panose="020B0503020204020204" pitchFamily="34" charset="-122"/>
              <a:ea typeface="微软雅黑" panose="020B0503020204020204" pitchFamily="34" charset="-122"/>
            </a:endParaRPr>
          </a:p>
          <a:p>
            <a:pPr marL="742950" indent="-742950">
              <a:buFont typeface="Wingdings" panose="05000000000000000000" pitchFamily="2" charset="2"/>
              <a:buChar char="n"/>
            </a:pPr>
            <a:r>
              <a:rPr lang="zh-CN" altLang="zh-CN" sz="3200" b="1" dirty="0">
                <a:solidFill>
                  <a:schemeClr val="bg1"/>
                </a:solidFill>
                <a:latin typeface="微软雅黑" panose="020B0503020204020204" pitchFamily="34" charset="-122"/>
                <a:ea typeface="微软雅黑" panose="020B0503020204020204" pitchFamily="34" charset="-122"/>
              </a:rPr>
              <a:t>工程</a:t>
            </a:r>
            <a:r>
              <a:rPr lang="zh-CN" altLang="en-US" sz="3200" b="1" dirty="0">
                <a:solidFill>
                  <a:schemeClr val="bg1"/>
                </a:solidFill>
                <a:latin typeface="微软雅黑" panose="020B0503020204020204" pitchFamily="34" charset="-122"/>
                <a:ea typeface="微软雅黑" panose="020B0503020204020204" pitchFamily="34" charset="-122"/>
              </a:rPr>
              <a:t>与</a:t>
            </a:r>
            <a:r>
              <a:rPr lang="zh-CN" altLang="zh-CN" sz="3200" b="1" dirty="0">
                <a:solidFill>
                  <a:schemeClr val="bg1"/>
                </a:solidFill>
                <a:latin typeface="微软雅黑" panose="020B0503020204020204" pitchFamily="34" charset="-122"/>
                <a:ea typeface="微软雅黑" panose="020B0503020204020204" pitchFamily="34" charset="-122"/>
              </a:rPr>
              <a:t>技术</a:t>
            </a:r>
            <a:r>
              <a:rPr lang="zh-CN" altLang="en-US" sz="3200" b="1" dirty="0">
                <a:solidFill>
                  <a:schemeClr val="bg1"/>
                </a:solidFill>
                <a:latin typeface="微软雅黑" panose="020B0503020204020204" pitchFamily="34" charset="-122"/>
                <a:ea typeface="微软雅黑" panose="020B0503020204020204" pitchFamily="34" charset="-122"/>
              </a:rPr>
              <a:t>的哲思</a:t>
            </a:r>
            <a:endParaRPr kumimoji="1" lang="zh-CN" altLang="en-US" sz="32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063308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1213758" y="402772"/>
            <a:ext cx="9568542" cy="849086"/>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r>
              <a:rPr lang="zh-CN" altLang="en-US" sz="3200" dirty="0"/>
              <a:t>急剧变化的</a:t>
            </a:r>
            <a:r>
              <a:rPr lang="zh-CN" altLang="en-US" sz="3200" dirty="0" smtClean="0"/>
              <a:t>年代需要</a:t>
            </a:r>
            <a:r>
              <a:rPr lang="zh-CN" altLang="en-US" sz="3200" dirty="0" smtClean="0">
                <a:sym typeface="Wingdings" panose="05000000000000000000" pitchFamily="2" charset="2"/>
              </a:rPr>
              <a:t>审视、思考</a:t>
            </a:r>
            <a:endParaRPr lang="en-US" altLang="zh-CN" sz="3200" dirty="0">
              <a:solidFill>
                <a:srgbClr val="FFFF00"/>
              </a:solidFill>
            </a:endParaRPr>
          </a:p>
        </p:txBody>
      </p:sp>
      <p:sp>
        <p:nvSpPr>
          <p:cNvPr id="5" name="文本框 4"/>
          <p:cNvSpPr txBox="1"/>
          <p:nvPr/>
        </p:nvSpPr>
        <p:spPr>
          <a:xfrm>
            <a:off x="905894" y="1698171"/>
            <a:ext cx="10676506" cy="3170099"/>
          </a:xfrm>
          <a:prstGeom prst="rect">
            <a:avLst/>
          </a:prstGeom>
          <a:noFill/>
        </p:spPr>
        <p:txBody>
          <a:bodyPr wrap="square" rtlCol="0">
            <a:spAutoFit/>
          </a:bodyPr>
          <a:lstStyle/>
          <a:p>
            <a:pPr marL="457200" indent="-457200">
              <a:buFont typeface="Wingdings" panose="05000000000000000000" pitchFamily="2" charset="2"/>
              <a:buChar char="n"/>
            </a:pPr>
            <a:r>
              <a:rPr lang="zh-CN" altLang="en-US" sz="4000" dirty="0" smtClean="0">
                <a:solidFill>
                  <a:schemeClr val="bg1"/>
                </a:solidFill>
                <a:latin typeface="微软雅黑" panose="020B0503020204020204" pitchFamily="34" charset="-122"/>
                <a:ea typeface="微软雅黑" panose="020B0503020204020204" pitchFamily="34" charset="-122"/>
              </a:rPr>
              <a:t>洞察技术的急剧变化</a:t>
            </a:r>
            <a:endParaRPr lang="en-US" altLang="zh-CN" sz="4000" dirty="0">
              <a:solidFill>
                <a:schemeClr val="bg1"/>
              </a:solidFill>
              <a:latin typeface="微软雅黑" panose="020B0503020204020204" pitchFamily="34" charset="-122"/>
              <a:ea typeface="微软雅黑" panose="020B0503020204020204" pitchFamily="34" charset="-122"/>
            </a:endParaRPr>
          </a:p>
          <a:p>
            <a:pPr marL="457200" indent="-457200">
              <a:buFont typeface="Wingdings" panose="05000000000000000000" pitchFamily="2" charset="2"/>
              <a:buChar char="n"/>
            </a:pPr>
            <a:r>
              <a:rPr lang="zh-CN" altLang="en-US" sz="4000" dirty="0" smtClean="0">
                <a:solidFill>
                  <a:schemeClr val="bg1"/>
                </a:solidFill>
                <a:latin typeface="微软雅黑" panose="020B0503020204020204" pitchFamily="34" charset="-122"/>
                <a:ea typeface="微软雅黑" panose="020B0503020204020204" pitchFamily="34" charset="-122"/>
              </a:rPr>
              <a:t>学习方式是否应该改变？</a:t>
            </a:r>
            <a:endParaRPr lang="en-US" altLang="zh-CN" sz="4000" dirty="0" smtClean="0">
              <a:solidFill>
                <a:schemeClr val="bg1"/>
              </a:solidFill>
              <a:latin typeface="微软雅黑" panose="020B0503020204020204" pitchFamily="34" charset="-122"/>
              <a:ea typeface="微软雅黑" panose="020B0503020204020204" pitchFamily="34" charset="-122"/>
            </a:endParaRPr>
          </a:p>
          <a:p>
            <a:pPr marL="457200" indent="-457200">
              <a:buFont typeface="Wingdings" panose="05000000000000000000" pitchFamily="2" charset="2"/>
              <a:buChar char="n"/>
            </a:pPr>
            <a:r>
              <a:rPr lang="zh-CN" altLang="en-US" sz="4000" dirty="0">
                <a:solidFill>
                  <a:schemeClr val="bg1"/>
                </a:solidFill>
                <a:latin typeface="微软雅黑" panose="020B0503020204020204" pitchFamily="34" charset="-122"/>
                <a:ea typeface="微软雅黑" panose="020B0503020204020204" pitchFamily="34" charset="-122"/>
              </a:rPr>
              <a:t>未来</a:t>
            </a:r>
            <a:r>
              <a:rPr lang="zh-CN" altLang="en-US" sz="4000" dirty="0" smtClean="0">
                <a:solidFill>
                  <a:schemeClr val="bg1"/>
                </a:solidFill>
                <a:latin typeface="微软雅黑" panose="020B0503020204020204" pitchFamily="34" charset="-122"/>
                <a:ea typeface="微软雅黑" panose="020B0503020204020204" pitchFamily="34" charset="-122"/>
              </a:rPr>
              <a:t>的创新者应该具有什么样的思维方式？</a:t>
            </a:r>
            <a:endParaRPr lang="en-US" altLang="zh-CN" sz="4000" dirty="0" smtClean="0">
              <a:solidFill>
                <a:schemeClr val="bg1"/>
              </a:solidFill>
              <a:latin typeface="微软雅黑" panose="020B0503020204020204" pitchFamily="34" charset="-122"/>
              <a:ea typeface="微软雅黑" panose="020B0503020204020204" pitchFamily="34" charset="-122"/>
            </a:endParaRPr>
          </a:p>
          <a:p>
            <a:endParaRPr lang="en-US" altLang="zh-CN" sz="4000" dirty="0" smtClean="0">
              <a:solidFill>
                <a:schemeClr val="bg1"/>
              </a:solidFill>
              <a:latin typeface="微软雅黑" panose="020B0503020204020204" pitchFamily="34" charset="-122"/>
              <a:ea typeface="微软雅黑" panose="020B0503020204020204" pitchFamily="34" charset="-122"/>
            </a:endParaRPr>
          </a:p>
          <a:p>
            <a:r>
              <a:rPr lang="zh-CN" altLang="en-US" sz="4000" dirty="0" smtClean="0">
                <a:solidFill>
                  <a:schemeClr val="bg1"/>
                </a:solidFill>
                <a:latin typeface="微软雅黑" panose="020B0503020204020204" pitchFamily="34" charset="-122"/>
                <a:ea typeface="微软雅黑" panose="020B0503020204020204" pitchFamily="34" charset="-122"/>
              </a:rPr>
              <a:t>这些</a:t>
            </a:r>
            <a:r>
              <a:rPr lang="zh-CN" altLang="en-US" sz="4000" dirty="0">
                <a:solidFill>
                  <a:schemeClr val="bg1"/>
                </a:solidFill>
                <a:latin typeface="微软雅黑" panose="020B0503020204020204" pitchFamily="34" charset="-122"/>
                <a:ea typeface="微软雅黑" panose="020B0503020204020204" pitchFamily="34" charset="-122"/>
              </a:rPr>
              <a:t>比技术本身更重要！</a:t>
            </a:r>
            <a:endParaRPr lang="en-US" altLang="zh-CN" sz="40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801991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1596000" y="1265237"/>
            <a:ext cx="9000000" cy="732291"/>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r>
              <a:rPr lang="zh-CN" altLang="en-US" sz="3200" dirty="0" smtClean="0">
                <a:solidFill>
                  <a:srgbClr val="FFFF00"/>
                </a:solidFill>
              </a:rPr>
              <a:t>主要内容</a:t>
            </a:r>
            <a:endParaRPr lang="zh-CN" altLang="en-US" sz="3200" dirty="0">
              <a:solidFill>
                <a:srgbClr val="FFFF00"/>
              </a:solidFill>
            </a:endParaRPr>
          </a:p>
        </p:txBody>
      </p:sp>
      <p:sp>
        <p:nvSpPr>
          <p:cNvPr id="15" name="文本框 14"/>
          <p:cNvSpPr txBox="1"/>
          <p:nvPr/>
        </p:nvSpPr>
        <p:spPr>
          <a:xfrm>
            <a:off x="8475161" y="4114803"/>
            <a:ext cx="2374295" cy="584775"/>
          </a:xfrm>
          <a:prstGeom prst="rect">
            <a:avLst/>
          </a:prstGeom>
          <a:noFill/>
        </p:spPr>
        <p:txBody>
          <a:bodyPr wrap="square" rtlCol="0">
            <a:spAutoFit/>
          </a:bodyPr>
          <a:lstStyle/>
          <a:p>
            <a:pPr algn="ctr"/>
            <a:r>
              <a:rPr lang="zh-CN" altLang="en-US" sz="3200" b="1" dirty="0" smtClean="0">
                <a:solidFill>
                  <a:schemeClr val="bg1"/>
                </a:solidFill>
                <a:latin typeface="微软雅黑" panose="020B0503020204020204" pitchFamily="34" charset="-122"/>
                <a:ea typeface="微软雅黑" panose="020B0503020204020204" pitchFamily="34" charset="-122"/>
              </a:rPr>
              <a:t>思维方式</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6" name="椭圆 15"/>
          <p:cNvSpPr/>
          <p:nvPr/>
        </p:nvSpPr>
        <p:spPr>
          <a:xfrm>
            <a:off x="8983225" y="2771538"/>
            <a:ext cx="1210087" cy="1210087"/>
          </a:xfrm>
          <a:prstGeom prst="ellipse">
            <a:avLst/>
          </a:prstGeom>
          <a:noFill/>
          <a:ln>
            <a:solidFill>
              <a:srgbClr val="D5493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HK" sz="4219" b="1" dirty="0" smtClean="0">
                <a:solidFill>
                  <a:schemeClr val="accent2"/>
                </a:solidFill>
                <a:latin typeface="微软雅黑" panose="020B0503020204020204" pitchFamily="34" charset="-122"/>
                <a:ea typeface="微软雅黑" panose="020B0503020204020204" pitchFamily="34" charset="-122"/>
              </a:rPr>
              <a:t>0</a:t>
            </a:r>
            <a:r>
              <a:rPr lang="en-US" altLang="zh-HK" sz="4219" b="1" dirty="0">
                <a:solidFill>
                  <a:schemeClr val="accent2"/>
                </a:solidFill>
                <a:latin typeface="微软雅黑" panose="020B0503020204020204" pitchFamily="34" charset="-122"/>
                <a:ea typeface="微软雅黑" panose="020B0503020204020204" pitchFamily="34" charset="-122"/>
              </a:rPr>
              <a:t>3</a:t>
            </a:r>
            <a:endParaRPr lang="zh-HK" altLang="en-US" sz="4219" b="1" dirty="0">
              <a:solidFill>
                <a:schemeClr val="accent2"/>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1437060" y="4114803"/>
            <a:ext cx="2087066" cy="584775"/>
          </a:xfrm>
          <a:prstGeom prst="rect">
            <a:avLst/>
          </a:prstGeom>
          <a:noFill/>
        </p:spPr>
        <p:txBody>
          <a:bodyPr wrap="square" rtlCol="0">
            <a:spAutoFit/>
          </a:bodyPr>
          <a:lstStyle/>
          <a:p>
            <a:pPr algn="ctr"/>
            <a:r>
              <a:rPr lang="zh-CN" altLang="en-US" sz="3200" b="1" dirty="0" smtClean="0">
                <a:solidFill>
                  <a:schemeClr val="bg1"/>
                </a:solidFill>
                <a:latin typeface="微软雅黑" panose="020B0503020204020204" pitchFamily="34" charset="-122"/>
                <a:ea typeface="微软雅黑" panose="020B0503020204020204" pitchFamily="34" charset="-122"/>
              </a:rPr>
              <a:t>洞察变化</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20" name="椭圆 19"/>
          <p:cNvSpPr/>
          <p:nvPr/>
        </p:nvSpPr>
        <p:spPr>
          <a:xfrm>
            <a:off x="1912324" y="2771538"/>
            <a:ext cx="1210087" cy="1210087"/>
          </a:xfrm>
          <a:prstGeom prst="ellipse">
            <a:avLst/>
          </a:prstGeom>
          <a:noFill/>
          <a:ln>
            <a:solidFill>
              <a:srgbClr val="D5493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HK" sz="4219" b="1" dirty="0" smtClean="0">
                <a:solidFill>
                  <a:schemeClr val="accent2"/>
                </a:solidFill>
                <a:latin typeface="微软雅黑" panose="020B0503020204020204" pitchFamily="34" charset="-122"/>
                <a:ea typeface="微软雅黑" panose="020B0503020204020204" pitchFamily="34" charset="-122"/>
              </a:rPr>
              <a:t>0</a:t>
            </a:r>
            <a:r>
              <a:rPr lang="en-US" altLang="zh-CN" sz="4219" b="1" dirty="0">
                <a:solidFill>
                  <a:schemeClr val="accent2"/>
                </a:solidFill>
                <a:latin typeface="微软雅黑" panose="020B0503020204020204" pitchFamily="34" charset="-122"/>
                <a:ea typeface="微软雅黑" panose="020B0503020204020204" pitchFamily="34" charset="-122"/>
              </a:rPr>
              <a:t>1</a:t>
            </a:r>
            <a:endParaRPr lang="zh-HK" altLang="en-US" sz="4219" b="1" dirty="0">
              <a:solidFill>
                <a:schemeClr val="accent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4899483" y="4120245"/>
            <a:ext cx="1956603" cy="584775"/>
          </a:xfrm>
          <a:prstGeom prst="rect">
            <a:avLst/>
          </a:prstGeom>
          <a:noFill/>
        </p:spPr>
        <p:txBody>
          <a:bodyPr wrap="square" rtlCol="0">
            <a:spAutoFit/>
          </a:bodyPr>
          <a:lstStyle/>
          <a:p>
            <a:pPr algn="ctr"/>
            <a:r>
              <a:rPr lang="zh-CN" altLang="en-US" sz="3200" b="1" dirty="0" smtClean="0">
                <a:solidFill>
                  <a:schemeClr val="bg1"/>
                </a:solidFill>
                <a:latin typeface="微软雅黑" panose="020B0503020204020204" pitchFamily="34" charset="-122"/>
                <a:ea typeface="微软雅黑" panose="020B0503020204020204" pitchFamily="34" charset="-122"/>
              </a:rPr>
              <a:t>问题导向</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1" name="椭圆 10"/>
          <p:cNvSpPr/>
          <p:nvPr/>
        </p:nvSpPr>
        <p:spPr>
          <a:xfrm>
            <a:off x="5326113" y="2776980"/>
            <a:ext cx="1210087" cy="1210087"/>
          </a:xfrm>
          <a:prstGeom prst="ellipse">
            <a:avLst/>
          </a:prstGeom>
          <a:noFill/>
          <a:ln>
            <a:solidFill>
              <a:srgbClr val="D5493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HK" sz="4219" b="1" dirty="0" smtClean="0">
                <a:solidFill>
                  <a:schemeClr val="accent2"/>
                </a:solidFill>
                <a:latin typeface="微软雅黑" panose="020B0503020204020204" pitchFamily="34" charset="-122"/>
                <a:ea typeface="微软雅黑" panose="020B0503020204020204" pitchFamily="34" charset="-122"/>
              </a:rPr>
              <a:t>0</a:t>
            </a:r>
            <a:r>
              <a:rPr lang="en-US" altLang="zh-CN" sz="4219" b="1" dirty="0">
                <a:solidFill>
                  <a:schemeClr val="accent2"/>
                </a:solidFill>
                <a:latin typeface="微软雅黑" panose="020B0503020204020204" pitchFamily="34" charset="-122"/>
                <a:ea typeface="微软雅黑" panose="020B0503020204020204" pitchFamily="34" charset="-122"/>
              </a:rPr>
              <a:t>2</a:t>
            </a:r>
            <a:endParaRPr lang="zh-HK" altLang="en-US" sz="4219" b="1" dirty="0">
              <a:solidFill>
                <a:schemeClr val="accent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177954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AutoShape 4"/>
          <p:cNvSpPr>
            <a:spLocks noChangeArrowheads="1"/>
          </p:cNvSpPr>
          <p:nvPr/>
        </p:nvSpPr>
        <p:spPr bwMode="ltGray">
          <a:xfrm>
            <a:off x="2355849" y="8532886"/>
            <a:ext cx="4844449" cy="528638"/>
          </a:xfrm>
          <a:prstGeom prst="roundRect">
            <a:avLst>
              <a:gd name="adj" fmla="val 50000"/>
            </a:avLst>
          </a:prstGeom>
          <a:no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
                <a:srgbClr val="CC9900"/>
              </a:buClr>
              <a:buFont typeface="Wingdings" pitchFamily="2" charset="2"/>
              <a:buChar char="n"/>
            </a:pPr>
            <a:endParaRPr lang="zh-CN" altLang="zh-CN" b="1">
              <a:solidFill>
                <a:srgbClr val="000000"/>
              </a:solidFill>
              <a:latin typeface="华文细黑"/>
              <a:ea typeface="华文细黑"/>
            </a:endParaRPr>
          </a:p>
        </p:txBody>
      </p:sp>
      <p:sp>
        <p:nvSpPr>
          <p:cNvPr id="90" name="AutoShape 18"/>
          <p:cNvSpPr>
            <a:spLocks noChangeArrowheads="1"/>
          </p:cNvSpPr>
          <p:nvPr/>
        </p:nvSpPr>
        <p:spPr bwMode="ltGray">
          <a:xfrm>
            <a:off x="1865311" y="6665752"/>
            <a:ext cx="5084129" cy="703173"/>
          </a:xfrm>
          <a:prstGeom prst="roundRect">
            <a:avLst>
              <a:gd name="adj" fmla="val 50000"/>
            </a:avLst>
          </a:prstGeom>
          <a:no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
                <a:srgbClr val="CC9900"/>
              </a:buClr>
              <a:buFont typeface="Wingdings" pitchFamily="2" charset="2"/>
              <a:buChar char="n"/>
            </a:pPr>
            <a:endParaRPr lang="zh-CN" altLang="zh-CN" b="1">
              <a:solidFill>
                <a:schemeClr val="tx2"/>
              </a:solidFill>
              <a:latin typeface="华文细黑"/>
              <a:ea typeface="华文细黑"/>
            </a:endParaRPr>
          </a:p>
        </p:txBody>
      </p:sp>
      <p:sp>
        <p:nvSpPr>
          <p:cNvPr id="91" name="AutoShape 25"/>
          <p:cNvSpPr>
            <a:spLocks noChangeArrowheads="1"/>
          </p:cNvSpPr>
          <p:nvPr/>
        </p:nvSpPr>
        <p:spPr bwMode="ltGray">
          <a:xfrm>
            <a:off x="1874850" y="9457648"/>
            <a:ext cx="5074590" cy="716042"/>
          </a:xfrm>
          <a:prstGeom prst="roundRect">
            <a:avLst>
              <a:gd name="adj" fmla="val 50000"/>
            </a:avLst>
          </a:prstGeom>
          <a:no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
                <a:srgbClr val="CC9900"/>
              </a:buClr>
              <a:buFont typeface="Wingdings" pitchFamily="2" charset="2"/>
              <a:buChar char="n"/>
            </a:pPr>
            <a:endParaRPr lang="zh-CN" altLang="zh-CN" b="1">
              <a:solidFill>
                <a:srgbClr val="000000"/>
              </a:solidFill>
              <a:latin typeface="华文细黑"/>
              <a:ea typeface="华文细黑"/>
            </a:endParaRPr>
          </a:p>
        </p:txBody>
      </p:sp>
      <p:grpSp>
        <p:nvGrpSpPr>
          <p:cNvPr id="4" name="组合 3"/>
          <p:cNvGrpSpPr/>
          <p:nvPr/>
        </p:nvGrpSpPr>
        <p:grpSpPr>
          <a:xfrm>
            <a:off x="4996544" y="1224643"/>
            <a:ext cx="3211286" cy="2672953"/>
            <a:chOff x="5802528" y="1991076"/>
            <a:chExt cx="3402346" cy="2078780"/>
          </a:xfrm>
        </p:grpSpPr>
        <p:sp>
          <p:nvSpPr>
            <p:cNvPr id="24" name="TextBox 48"/>
            <p:cNvSpPr txBox="1"/>
            <p:nvPr/>
          </p:nvSpPr>
          <p:spPr>
            <a:xfrm>
              <a:off x="5802528" y="3591135"/>
              <a:ext cx="3402346" cy="478721"/>
            </a:xfrm>
            <a:prstGeom prst="rect">
              <a:avLst/>
            </a:prstGeom>
            <a:noFill/>
          </p:spPr>
          <p:txBody>
            <a:bodyPr wrap="square" lIns="0" tIns="0" rIns="0" bIns="0" rtlCol="0">
              <a:spAutoFit/>
            </a:bodyPr>
            <a:lstStyle/>
            <a:p>
              <a:pPr algn="ctr"/>
              <a:r>
                <a:rPr lang="zh-CN" altLang="en-US" sz="4000" b="1" dirty="0" smtClean="0">
                  <a:solidFill>
                    <a:srgbClr val="FFC000"/>
                  </a:solidFill>
                  <a:ea typeface="微软雅黑" panose="020B0503020204020204" pitchFamily="34" charset="-122"/>
                </a:rPr>
                <a:t>洞察变化</a:t>
              </a:r>
              <a:endParaRPr lang="zh-CN" altLang="en-US" sz="4000" b="1" dirty="0">
                <a:solidFill>
                  <a:srgbClr val="FFC000"/>
                </a:solidFill>
                <a:ea typeface="微软雅黑" panose="020B0503020204020204" pitchFamily="34" charset="-122"/>
              </a:endParaRPr>
            </a:p>
          </p:txBody>
        </p:sp>
        <p:sp>
          <p:nvSpPr>
            <p:cNvPr id="25" name="TextBox 48"/>
            <p:cNvSpPr txBox="1"/>
            <p:nvPr/>
          </p:nvSpPr>
          <p:spPr>
            <a:xfrm>
              <a:off x="6633900" y="1991076"/>
              <a:ext cx="1485867" cy="1231106"/>
            </a:xfrm>
            <a:prstGeom prst="rect">
              <a:avLst/>
            </a:prstGeom>
            <a:noFill/>
          </p:spPr>
          <p:txBody>
            <a:bodyPr wrap="square" lIns="0" tIns="0" rIns="0" bIns="0" rtlCol="0">
              <a:spAutoFit/>
            </a:bodyPr>
            <a:lstStyle/>
            <a:p>
              <a:pPr algn="ctr"/>
              <a:r>
                <a:rPr lang="en-US" altLang="zh-CN" sz="8000" b="1" dirty="0" smtClean="0">
                  <a:solidFill>
                    <a:schemeClr val="bg1"/>
                  </a:solidFill>
                  <a:latin typeface="微软雅黑" pitchFamily="34" charset="-122"/>
                  <a:ea typeface="微软雅黑" pitchFamily="34" charset="-122"/>
                  <a:cs typeface="+mn-ea"/>
                  <a:sym typeface="+mn-lt"/>
                </a:rPr>
                <a:t>01</a:t>
              </a:r>
              <a:endParaRPr lang="en-GB" altLang="zh-CN" sz="8000" b="1" dirty="0">
                <a:solidFill>
                  <a:schemeClr val="bg1"/>
                </a:solidFill>
                <a:latin typeface="微软雅黑" pitchFamily="34" charset="-122"/>
                <a:ea typeface="微软雅黑" pitchFamily="34" charset="-122"/>
                <a:cs typeface="+mn-ea"/>
                <a:sym typeface="+mn-lt"/>
              </a:endParaRPr>
            </a:p>
          </p:txBody>
        </p:sp>
      </p:grpSp>
      <p:sp>
        <p:nvSpPr>
          <p:cNvPr id="26" name="等腰三角形 25"/>
          <p:cNvSpPr/>
          <p:nvPr/>
        </p:nvSpPr>
        <p:spPr>
          <a:xfrm rot="16200000" flipH="1">
            <a:off x="3630423" y="3187360"/>
            <a:ext cx="972011" cy="880157"/>
          </a:xfrm>
          <a:prstGeom prst="triangle">
            <a:avLst/>
          </a:prstGeom>
          <a:solidFill>
            <a:srgbClr val="00B0F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cxnSp>
        <p:nvCxnSpPr>
          <p:cNvPr id="27" name="直接连接符 26"/>
          <p:cNvCxnSpPr/>
          <p:nvPr/>
        </p:nvCxnSpPr>
        <p:spPr>
          <a:xfrm flipV="1">
            <a:off x="2801275" y="4337528"/>
            <a:ext cx="2026674" cy="1045855"/>
          </a:xfrm>
          <a:prstGeom prst="line">
            <a:avLst/>
          </a:prstGeom>
          <a:gradFill>
            <a:gsLst>
              <a:gs pos="40000">
                <a:srgbClr val="0194EF">
                  <a:alpha val="14902"/>
                </a:srgbClr>
              </a:gs>
              <a:gs pos="100000">
                <a:srgbClr val="0194EF">
                  <a:alpha val="0"/>
                </a:srgbClr>
              </a:gs>
            </a:gsLst>
            <a:lin ang="5400000" scaled="0"/>
          </a:gradFill>
          <a:ln>
            <a:gradFill>
              <a:gsLst>
                <a:gs pos="11000">
                  <a:srgbClr val="00FFFF"/>
                </a:gs>
                <a:gs pos="60000">
                  <a:srgbClr val="00B0F0"/>
                </a:gs>
                <a:gs pos="100000">
                  <a:srgbClr val="00B0F0">
                    <a:alpha val="0"/>
                  </a:srgbClr>
                </a:gs>
              </a:gsLst>
              <a:lin ang="5400000" scaled="0"/>
            </a:gradFill>
          </a:ln>
        </p:spPr>
      </p:cxnSp>
      <p:cxnSp>
        <p:nvCxnSpPr>
          <p:cNvPr id="28" name="直接连接符 27"/>
          <p:cNvCxnSpPr/>
          <p:nvPr/>
        </p:nvCxnSpPr>
        <p:spPr>
          <a:xfrm flipV="1">
            <a:off x="2308331" y="4792694"/>
            <a:ext cx="2026674" cy="1045855"/>
          </a:xfrm>
          <a:prstGeom prst="line">
            <a:avLst/>
          </a:prstGeom>
          <a:gradFill>
            <a:gsLst>
              <a:gs pos="40000">
                <a:srgbClr val="0194EF">
                  <a:alpha val="14902"/>
                </a:srgbClr>
              </a:gs>
              <a:gs pos="100000">
                <a:srgbClr val="0194EF">
                  <a:alpha val="0"/>
                </a:srgbClr>
              </a:gs>
            </a:gsLst>
            <a:lin ang="5400000" scaled="0"/>
          </a:gradFill>
          <a:ln>
            <a:gradFill>
              <a:gsLst>
                <a:gs pos="11000">
                  <a:srgbClr val="00FFFF"/>
                </a:gs>
                <a:gs pos="60000">
                  <a:srgbClr val="00B0F0"/>
                </a:gs>
                <a:gs pos="100000">
                  <a:srgbClr val="00B0F0">
                    <a:alpha val="0"/>
                  </a:srgbClr>
                </a:gs>
              </a:gsLst>
              <a:lin ang="5400000" scaled="0"/>
            </a:gradFill>
          </a:ln>
        </p:spPr>
      </p:cxnSp>
      <p:cxnSp>
        <p:nvCxnSpPr>
          <p:cNvPr id="29" name="直接连接符 28"/>
          <p:cNvCxnSpPr/>
          <p:nvPr/>
        </p:nvCxnSpPr>
        <p:spPr>
          <a:xfrm flipV="1">
            <a:off x="7602793" y="1716118"/>
            <a:ext cx="2026673" cy="1045856"/>
          </a:xfrm>
          <a:prstGeom prst="line">
            <a:avLst/>
          </a:prstGeom>
          <a:gradFill>
            <a:gsLst>
              <a:gs pos="40000">
                <a:srgbClr val="0194EF">
                  <a:alpha val="14902"/>
                </a:srgbClr>
              </a:gs>
              <a:gs pos="100000">
                <a:srgbClr val="0194EF">
                  <a:alpha val="0"/>
                </a:srgbClr>
              </a:gs>
            </a:gsLst>
            <a:lin ang="5400000" scaled="0"/>
          </a:gradFill>
          <a:ln>
            <a:gradFill>
              <a:gsLst>
                <a:gs pos="11000">
                  <a:srgbClr val="00FFFF"/>
                </a:gs>
                <a:gs pos="60000">
                  <a:srgbClr val="00B0F0"/>
                </a:gs>
                <a:gs pos="100000">
                  <a:srgbClr val="00B0F0">
                    <a:alpha val="0"/>
                  </a:srgbClr>
                </a:gs>
              </a:gsLst>
              <a:lin ang="5400000" scaled="0"/>
            </a:gradFill>
          </a:ln>
        </p:spPr>
      </p:cxnSp>
      <p:cxnSp>
        <p:nvCxnSpPr>
          <p:cNvPr id="30" name="直接连接符 29"/>
          <p:cNvCxnSpPr/>
          <p:nvPr/>
        </p:nvCxnSpPr>
        <p:spPr>
          <a:xfrm flipV="1">
            <a:off x="7900801" y="1351570"/>
            <a:ext cx="2026673" cy="1045856"/>
          </a:xfrm>
          <a:prstGeom prst="line">
            <a:avLst/>
          </a:prstGeom>
          <a:gradFill>
            <a:gsLst>
              <a:gs pos="40000">
                <a:srgbClr val="0194EF">
                  <a:alpha val="14902"/>
                </a:srgbClr>
              </a:gs>
              <a:gs pos="100000">
                <a:srgbClr val="0194EF">
                  <a:alpha val="0"/>
                </a:srgbClr>
              </a:gs>
            </a:gsLst>
            <a:lin ang="5400000" scaled="0"/>
          </a:gradFill>
          <a:ln>
            <a:gradFill>
              <a:gsLst>
                <a:gs pos="11000">
                  <a:srgbClr val="00FFFF"/>
                </a:gs>
                <a:gs pos="60000">
                  <a:srgbClr val="00B0F0"/>
                </a:gs>
                <a:gs pos="100000">
                  <a:srgbClr val="00B0F0">
                    <a:alpha val="0"/>
                  </a:srgbClr>
                </a:gs>
              </a:gsLst>
              <a:lin ang="5400000" scaled="0"/>
            </a:gradFill>
          </a:ln>
        </p:spPr>
      </p:cxnSp>
      <p:sp>
        <p:nvSpPr>
          <p:cNvPr id="31" name="等腰三角形 5"/>
          <p:cNvSpPr/>
          <p:nvPr/>
        </p:nvSpPr>
        <p:spPr>
          <a:xfrm rot="5556605">
            <a:off x="1263577" y="820064"/>
            <a:ext cx="2519741" cy="3074402"/>
          </a:xfrm>
          <a:custGeom>
            <a:avLst/>
            <a:gdLst>
              <a:gd name="connsiteX0" fmla="*/ 0 w 3505200"/>
              <a:gd name="connsiteY0" fmla="*/ 3352800 h 3352800"/>
              <a:gd name="connsiteX1" fmla="*/ 1752600 w 3505200"/>
              <a:gd name="connsiteY1" fmla="*/ 0 h 3352800"/>
              <a:gd name="connsiteX2" fmla="*/ 3505200 w 3505200"/>
              <a:gd name="connsiteY2" fmla="*/ 3352800 h 3352800"/>
              <a:gd name="connsiteX3" fmla="*/ 0 w 3505200"/>
              <a:gd name="connsiteY3" fmla="*/ 3352800 h 3352800"/>
              <a:gd name="connsiteX0-1" fmla="*/ 0 w 4025900"/>
              <a:gd name="connsiteY0-2" fmla="*/ 1625600 h 3352800"/>
              <a:gd name="connsiteX1-3" fmla="*/ 2273300 w 4025900"/>
              <a:gd name="connsiteY1-4" fmla="*/ 0 h 3352800"/>
              <a:gd name="connsiteX2-5" fmla="*/ 4025900 w 4025900"/>
              <a:gd name="connsiteY2-6" fmla="*/ 3352800 h 3352800"/>
              <a:gd name="connsiteX3-7" fmla="*/ 0 w 4025900"/>
              <a:gd name="connsiteY3-8" fmla="*/ 1625600 h 3352800"/>
              <a:gd name="connsiteX0-9" fmla="*/ 0 w 4025900"/>
              <a:gd name="connsiteY0-10" fmla="*/ 1879600 h 3606800"/>
              <a:gd name="connsiteX1-11" fmla="*/ 3746500 w 4025900"/>
              <a:gd name="connsiteY1-12" fmla="*/ 0 h 3606800"/>
              <a:gd name="connsiteX2-13" fmla="*/ 4025900 w 4025900"/>
              <a:gd name="connsiteY2-14" fmla="*/ 3606800 h 3606800"/>
              <a:gd name="connsiteX3-15" fmla="*/ 0 w 4025900"/>
              <a:gd name="connsiteY3-16" fmla="*/ 1879600 h 3606800"/>
              <a:gd name="connsiteX0-17" fmla="*/ 0 w 4508500"/>
              <a:gd name="connsiteY0-18" fmla="*/ 1879600 h 3657600"/>
              <a:gd name="connsiteX1-19" fmla="*/ 3746500 w 4508500"/>
              <a:gd name="connsiteY1-20" fmla="*/ 0 h 3657600"/>
              <a:gd name="connsiteX2-21" fmla="*/ 4508500 w 4508500"/>
              <a:gd name="connsiteY2-22" fmla="*/ 3657600 h 3657600"/>
              <a:gd name="connsiteX3-23" fmla="*/ 0 w 4508500"/>
              <a:gd name="connsiteY3-24" fmla="*/ 1879600 h 3657600"/>
              <a:gd name="connsiteX0-25" fmla="*/ 0 w 4508500"/>
              <a:gd name="connsiteY0-26" fmla="*/ 480291 h 2258291"/>
              <a:gd name="connsiteX1-27" fmla="*/ 2319481 w 4508500"/>
              <a:gd name="connsiteY1-28" fmla="*/ 0 h 2258291"/>
              <a:gd name="connsiteX2-29" fmla="*/ 4508500 w 4508500"/>
              <a:gd name="connsiteY2-30" fmla="*/ 2258291 h 2258291"/>
              <a:gd name="connsiteX3-31" fmla="*/ 0 w 4508500"/>
              <a:gd name="connsiteY3-32" fmla="*/ 480291 h 2258291"/>
              <a:gd name="connsiteX0-33" fmla="*/ 0 w 4508500"/>
              <a:gd name="connsiteY0-34" fmla="*/ 1006764 h 2784764"/>
              <a:gd name="connsiteX1-35" fmla="*/ 1959263 w 4508500"/>
              <a:gd name="connsiteY1-36" fmla="*/ 0 h 2784764"/>
              <a:gd name="connsiteX2-37" fmla="*/ 4508500 w 4508500"/>
              <a:gd name="connsiteY2-38" fmla="*/ 2784764 h 2784764"/>
              <a:gd name="connsiteX3-39" fmla="*/ 0 w 4508500"/>
              <a:gd name="connsiteY3-40" fmla="*/ 1006764 h 2784764"/>
              <a:gd name="connsiteX0-41" fmla="*/ 0 w 1959263"/>
              <a:gd name="connsiteY0-42" fmla="*/ 4608946 h 4608946"/>
              <a:gd name="connsiteX1-43" fmla="*/ 1959263 w 1959263"/>
              <a:gd name="connsiteY1-44" fmla="*/ 3602182 h 4608946"/>
              <a:gd name="connsiteX2-45" fmla="*/ 1141845 w 1959263"/>
              <a:gd name="connsiteY2-46" fmla="*/ 0 h 4608946"/>
              <a:gd name="connsiteX3-47" fmla="*/ 0 w 1959263"/>
              <a:gd name="connsiteY3-48" fmla="*/ 4608946 h 4608946"/>
              <a:gd name="connsiteX0-49" fmla="*/ 0 w 1959263"/>
              <a:gd name="connsiteY0-50" fmla="*/ 4719783 h 4719783"/>
              <a:gd name="connsiteX1-51" fmla="*/ 1959263 w 1959263"/>
              <a:gd name="connsiteY1-52" fmla="*/ 3713019 h 4719783"/>
              <a:gd name="connsiteX2-53" fmla="*/ 1127991 w 1959263"/>
              <a:gd name="connsiteY2-54" fmla="*/ 0 h 4719783"/>
              <a:gd name="connsiteX3-55" fmla="*/ 0 w 1959263"/>
              <a:gd name="connsiteY3-56" fmla="*/ 4719783 h 4719783"/>
              <a:gd name="connsiteX0-57" fmla="*/ 0 w 885205"/>
              <a:gd name="connsiteY0-58" fmla="*/ 6359897 h 6359897"/>
              <a:gd name="connsiteX1-59" fmla="*/ 885205 w 885205"/>
              <a:gd name="connsiteY1-60" fmla="*/ 3713019 h 6359897"/>
              <a:gd name="connsiteX2-61" fmla="*/ 53933 w 885205"/>
              <a:gd name="connsiteY2-62" fmla="*/ 0 h 6359897"/>
              <a:gd name="connsiteX3-63" fmla="*/ 0 w 885205"/>
              <a:gd name="connsiteY3-64" fmla="*/ 6359897 h 6359897"/>
              <a:gd name="connsiteX0-65" fmla="*/ 2776353 w 3661558"/>
              <a:gd name="connsiteY0-66" fmla="*/ 4095668 h 4095668"/>
              <a:gd name="connsiteX1-67" fmla="*/ 3661558 w 3661558"/>
              <a:gd name="connsiteY1-68" fmla="*/ 1448790 h 4095668"/>
              <a:gd name="connsiteX2-69" fmla="*/ 0 w 3661558"/>
              <a:gd name="connsiteY2-70" fmla="*/ 0 h 4095668"/>
              <a:gd name="connsiteX3-71" fmla="*/ 2776353 w 3661558"/>
              <a:gd name="connsiteY3-72" fmla="*/ 4095668 h 4095668"/>
              <a:gd name="connsiteX0-73" fmla="*/ 2776353 w 2993901"/>
              <a:gd name="connsiteY0-74" fmla="*/ 4095668 h 4095668"/>
              <a:gd name="connsiteX1-75" fmla="*/ 2993901 w 2993901"/>
              <a:gd name="connsiteY1-76" fmla="*/ 2305133 h 4095668"/>
              <a:gd name="connsiteX2-77" fmla="*/ 0 w 2993901"/>
              <a:gd name="connsiteY2-78" fmla="*/ 0 h 4095668"/>
              <a:gd name="connsiteX3-79" fmla="*/ 2776353 w 2993901"/>
              <a:gd name="connsiteY3-80" fmla="*/ 4095668 h 4095668"/>
              <a:gd name="connsiteX0-81" fmla="*/ 2776353 w 3356758"/>
              <a:gd name="connsiteY0-82" fmla="*/ 4095668 h 4095668"/>
              <a:gd name="connsiteX1-83" fmla="*/ 3356758 w 3356758"/>
              <a:gd name="connsiteY1-84" fmla="*/ 1971304 h 4095668"/>
              <a:gd name="connsiteX2-85" fmla="*/ 0 w 3356758"/>
              <a:gd name="connsiteY2-86" fmla="*/ 0 h 4095668"/>
              <a:gd name="connsiteX3-87" fmla="*/ 2776353 w 3356758"/>
              <a:gd name="connsiteY3-88" fmla="*/ 4095668 h 4095668"/>
            </a:gdLst>
            <a:ahLst/>
            <a:cxnLst>
              <a:cxn ang="0">
                <a:pos x="connsiteX0-81" y="connsiteY0-82"/>
              </a:cxn>
              <a:cxn ang="0">
                <a:pos x="connsiteX1-83" y="connsiteY1-84"/>
              </a:cxn>
              <a:cxn ang="0">
                <a:pos x="connsiteX2-85" y="connsiteY2-86"/>
              </a:cxn>
              <a:cxn ang="0">
                <a:pos x="connsiteX3-87" y="connsiteY3-88"/>
              </a:cxn>
            </a:cxnLst>
            <a:rect l="l" t="t" r="r" b="b"/>
            <a:pathLst>
              <a:path w="3356758" h="4095668">
                <a:moveTo>
                  <a:pt x="2776353" y="4095668"/>
                </a:moveTo>
                <a:lnTo>
                  <a:pt x="3356758" y="1971304"/>
                </a:lnTo>
                <a:lnTo>
                  <a:pt x="0" y="0"/>
                </a:lnTo>
                <a:lnTo>
                  <a:pt x="2776353" y="4095668"/>
                </a:lnTo>
                <a:close/>
              </a:path>
            </a:pathLst>
          </a:custGeom>
          <a:gradFill>
            <a:gsLst>
              <a:gs pos="40000">
                <a:srgbClr val="0194EF">
                  <a:alpha val="14902"/>
                </a:srgbClr>
              </a:gs>
              <a:gs pos="100000">
                <a:srgbClr val="0194EF">
                  <a:alpha val="0"/>
                </a:srgbClr>
              </a:gs>
            </a:gsLst>
            <a:lin ang="5400000" scaled="0"/>
          </a:gradFill>
          <a:ln>
            <a:gradFill>
              <a:gsLst>
                <a:gs pos="11000">
                  <a:srgbClr val="00FFFF">
                    <a:alpha val="57000"/>
                  </a:srgbClr>
                </a:gs>
                <a:gs pos="60000">
                  <a:srgbClr val="00B0F0">
                    <a:alpha val="36000"/>
                  </a:srgbClr>
                </a:gs>
                <a:gs pos="100000">
                  <a:srgbClr val="00B0F0">
                    <a:alpha val="0"/>
                  </a:srgbClr>
                </a:gs>
              </a:gsLst>
              <a:lin ang="5400000" scaled="0"/>
            </a:gra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Arial" pitchFamily="34" charset="0"/>
              <a:cs typeface="Arial" pitchFamily="34" charset="0"/>
            </a:endParaRPr>
          </a:p>
        </p:txBody>
      </p:sp>
      <p:sp>
        <p:nvSpPr>
          <p:cNvPr id="32" name="等腰三角形 5"/>
          <p:cNvSpPr/>
          <p:nvPr/>
        </p:nvSpPr>
        <p:spPr>
          <a:xfrm rot="10800000">
            <a:off x="7255815" y="4705741"/>
            <a:ext cx="835827" cy="797324"/>
          </a:xfrm>
          <a:custGeom>
            <a:avLst/>
            <a:gdLst>
              <a:gd name="connsiteX0" fmla="*/ 0 w 3505200"/>
              <a:gd name="connsiteY0" fmla="*/ 3352800 h 3352800"/>
              <a:gd name="connsiteX1" fmla="*/ 1752600 w 3505200"/>
              <a:gd name="connsiteY1" fmla="*/ 0 h 3352800"/>
              <a:gd name="connsiteX2" fmla="*/ 3505200 w 3505200"/>
              <a:gd name="connsiteY2" fmla="*/ 3352800 h 3352800"/>
              <a:gd name="connsiteX3" fmla="*/ 0 w 3505200"/>
              <a:gd name="connsiteY3" fmla="*/ 3352800 h 3352800"/>
              <a:gd name="connsiteX0-1" fmla="*/ 0 w 4025900"/>
              <a:gd name="connsiteY0-2" fmla="*/ 1625600 h 3352800"/>
              <a:gd name="connsiteX1-3" fmla="*/ 2273300 w 4025900"/>
              <a:gd name="connsiteY1-4" fmla="*/ 0 h 3352800"/>
              <a:gd name="connsiteX2-5" fmla="*/ 4025900 w 4025900"/>
              <a:gd name="connsiteY2-6" fmla="*/ 3352800 h 3352800"/>
              <a:gd name="connsiteX3-7" fmla="*/ 0 w 4025900"/>
              <a:gd name="connsiteY3-8" fmla="*/ 1625600 h 3352800"/>
              <a:gd name="connsiteX0-9" fmla="*/ 0 w 4025900"/>
              <a:gd name="connsiteY0-10" fmla="*/ 1879600 h 3606800"/>
              <a:gd name="connsiteX1-11" fmla="*/ 3746500 w 4025900"/>
              <a:gd name="connsiteY1-12" fmla="*/ 0 h 3606800"/>
              <a:gd name="connsiteX2-13" fmla="*/ 4025900 w 4025900"/>
              <a:gd name="connsiteY2-14" fmla="*/ 3606800 h 3606800"/>
              <a:gd name="connsiteX3-15" fmla="*/ 0 w 4025900"/>
              <a:gd name="connsiteY3-16" fmla="*/ 1879600 h 3606800"/>
              <a:gd name="connsiteX0-17" fmla="*/ 0 w 4508500"/>
              <a:gd name="connsiteY0-18" fmla="*/ 1879600 h 3657600"/>
              <a:gd name="connsiteX1-19" fmla="*/ 3746500 w 4508500"/>
              <a:gd name="connsiteY1-20" fmla="*/ 0 h 3657600"/>
              <a:gd name="connsiteX2-21" fmla="*/ 4508500 w 4508500"/>
              <a:gd name="connsiteY2-22" fmla="*/ 3657600 h 3657600"/>
              <a:gd name="connsiteX3-23" fmla="*/ 0 w 4508500"/>
              <a:gd name="connsiteY3-24" fmla="*/ 1879600 h 3657600"/>
              <a:gd name="connsiteX0-25" fmla="*/ 0 w 4508500"/>
              <a:gd name="connsiteY0-26" fmla="*/ 480291 h 2258291"/>
              <a:gd name="connsiteX1-27" fmla="*/ 2319481 w 4508500"/>
              <a:gd name="connsiteY1-28" fmla="*/ 0 h 2258291"/>
              <a:gd name="connsiteX2-29" fmla="*/ 4508500 w 4508500"/>
              <a:gd name="connsiteY2-30" fmla="*/ 2258291 h 2258291"/>
              <a:gd name="connsiteX3-31" fmla="*/ 0 w 4508500"/>
              <a:gd name="connsiteY3-32" fmla="*/ 480291 h 2258291"/>
              <a:gd name="connsiteX0-33" fmla="*/ 0 w 4508500"/>
              <a:gd name="connsiteY0-34" fmla="*/ 1006764 h 2784764"/>
              <a:gd name="connsiteX1-35" fmla="*/ 1959263 w 4508500"/>
              <a:gd name="connsiteY1-36" fmla="*/ 0 h 2784764"/>
              <a:gd name="connsiteX2-37" fmla="*/ 4508500 w 4508500"/>
              <a:gd name="connsiteY2-38" fmla="*/ 2784764 h 2784764"/>
              <a:gd name="connsiteX3-39" fmla="*/ 0 w 4508500"/>
              <a:gd name="connsiteY3-40" fmla="*/ 1006764 h 2784764"/>
              <a:gd name="connsiteX0-41" fmla="*/ 0 w 1959263"/>
              <a:gd name="connsiteY0-42" fmla="*/ 4608946 h 4608946"/>
              <a:gd name="connsiteX1-43" fmla="*/ 1959263 w 1959263"/>
              <a:gd name="connsiteY1-44" fmla="*/ 3602182 h 4608946"/>
              <a:gd name="connsiteX2-45" fmla="*/ 1141845 w 1959263"/>
              <a:gd name="connsiteY2-46" fmla="*/ 0 h 4608946"/>
              <a:gd name="connsiteX3-47" fmla="*/ 0 w 1959263"/>
              <a:gd name="connsiteY3-48" fmla="*/ 4608946 h 4608946"/>
              <a:gd name="connsiteX0-49" fmla="*/ 0 w 1959263"/>
              <a:gd name="connsiteY0-50" fmla="*/ 4719783 h 4719783"/>
              <a:gd name="connsiteX1-51" fmla="*/ 1959263 w 1959263"/>
              <a:gd name="connsiteY1-52" fmla="*/ 3713019 h 4719783"/>
              <a:gd name="connsiteX2-53" fmla="*/ 1127991 w 1959263"/>
              <a:gd name="connsiteY2-54" fmla="*/ 0 h 4719783"/>
              <a:gd name="connsiteX3-55" fmla="*/ 0 w 1959263"/>
              <a:gd name="connsiteY3-56" fmla="*/ 4719783 h 4719783"/>
              <a:gd name="connsiteX0-57" fmla="*/ 0 w 885205"/>
              <a:gd name="connsiteY0-58" fmla="*/ 6359897 h 6359897"/>
              <a:gd name="connsiteX1-59" fmla="*/ 885205 w 885205"/>
              <a:gd name="connsiteY1-60" fmla="*/ 3713019 h 6359897"/>
              <a:gd name="connsiteX2-61" fmla="*/ 53933 w 885205"/>
              <a:gd name="connsiteY2-62" fmla="*/ 0 h 6359897"/>
              <a:gd name="connsiteX3-63" fmla="*/ 0 w 885205"/>
              <a:gd name="connsiteY3-64" fmla="*/ 6359897 h 6359897"/>
              <a:gd name="connsiteX0-65" fmla="*/ 2776353 w 3661558"/>
              <a:gd name="connsiteY0-66" fmla="*/ 4095668 h 4095668"/>
              <a:gd name="connsiteX1-67" fmla="*/ 3661558 w 3661558"/>
              <a:gd name="connsiteY1-68" fmla="*/ 1448790 h 4095668"/>
              <a:gd name="connsiteX2-69" fmla="*/ 0 w 3661558"/>
              <a:gd name="connsiteY2-70" fmla="*/ 0 h 4095668"/>
              <a:gd name="connsiteX3-71" fmla="*/ 2776353 w 3661558"/>
              <a:gd name="connsiteY3-72" fmla="*/ 4095668 h 4095668"/>
              <a:gd name="connsiteX0-73" fmla="*/ 2776353 w 2993901"/>
              <a:gd name="connsiteY0-74" fmla="*/ 4095668 h 4095668"/>
              <a:gd name="connsiteX1-75" fmla="*/ 2993901 w 2993901"/>
              <a:gd name="connsiteY1-76" fmla="*/ 2305133 h 4095668"/>
              <a:gd name="connsiteX2-77" fmla="*/ 0 w 2993901"/>
              <a:gd name="connsiteY2-78" fmla="*/ 0 h 4095668"/>
              <a:gd name="connsiteX3-79" fmla="*/ 2776353 w 2993901"/>
              <a:gd name="connsiteY3-80" fmla="*/ 4095668 h 4095668"/>
              <a:gd name="connsiteX0-81" fmla="*/ 2776353 w 3356758"/>
              <a:gd name="connsiteY0-82" fmla="*/ 4095668 h 4095668"/>
              <a:gd name="connsiteX1-83" fmla="*/ 3356758 w 3356758"/>
              <a:gd name="connsiteY1-84" fmla="*/ 1971304 h 4095668"/>
              <a:gd name="connsiteX2-85" fmla="*/ 0 w 3356758"/>
              <a:gd name="connsiteY2-86" fmla="*/ 0 h 4095668"/>
              <a:gd name="connsiteX3-87" fmla="*/ 2776353 w 3356758"/>
              <a:gd name="connsiteY3-88" fmla="*/ 4095668 h 4095668"/>
              <a:gd name="connsiteX0-89" fmla="*/ 0 w 1113475"/>
              <a:gd name="connsiteY0-90" fmla="*/ 2124364 h 2426525"/>
              <a:gd name="connsiteX1-91" fmla="*/ 580405 w 1113475"/>
              <a:gd name="connsiteY1-92" fmla="*/ 0 h 2426525"/>
              <a:gd name="connsiteX2-93" fmla="*/ 1113475 w 1113475"/>
              <a:gd name="connsiteY2-94" fmla="*/ 2426525 h 2426525"/>
              <a:gd name="connsiteX3-95" fmla="*/ 0 w 1113475"/>
              <a:gd name="connsiteY3-96" fmla="*/ 2124364 h 2426525"/>
              <a:gd name="connsiteX0-97" fmla="*/ 0 w 1113475"/>
              <a:gd name="connsiteY0-98" fmla="*/ 760021 h 1062182"/>
              <a:gd name="connsiteX1-99" fmla="*/ 28862 w 1113475"/>
              <a:gd name="connsiteY1-100" fmla="*/ 0 h 1062182"/>
              <a:gd name="connsiteX2-101" fmla="*/ 1113475 w 1113475"/>
              <a:gd name="connsiteY2-102" fmla="*/ 1062182 h 1062182"/>
              <a:gd name="connsiteX3-103" fmla="*/ 0 w 1113475"/>
              <a:gd name="connsiteY3-104" fmla="*/ 760021 h 1062182"/>
            </a:gdLst>
            <a:ahLst/>
            <a:cxnLst>
              <a:cxn ang="0">
                <a:pos x="connsiteX0-97" y="connsiteY0-98"/>
              </a:cxn>
              <a:cxn ang="0">
                <a:pos x="connsiteX1-99" y="connsiteY1-100"/>
              </a:cxn>
              <a:cxn ang="0">
                <a:pos x="connsiteX2-101" y="connsiteY2-102"/>
              </a:cxn>
              <a:cxn ang="0">
                <a:pos x="connsiteX3-103" y="connsiteY3-104"/>
              </a:cxn>
            </a:cxnLst>
            <a:rect l="l" t="t" r="r" b="b"/>
            <a:pathLst>
              <a:path w="1113475" h="1062182">
                <a:moveTo>
                  <a:pt x="0" y="760021"/>
                </a:moveTo>
                <a:lnTo>
                  <a:pt x="28862" y="0"/>
                </a:lnTo>
                <a:lnTo>
                  <a:pt x="1113475" y="1062182"/>
                </a:lnTo>
                <a:lnTo>
                  <a:pt x="0" y="760021"/>
                </a:lnTo>
                <a:close/>
              </a:path>
            </a:pathLst>
          </a:custGeom>
          <a:gradFill>
            <a:gsLst>
              <a:gs pos="40000">
                <a:srgbClr val="0194EF">
                  <a:alpha val="14902"/>
                </a:srgbClr>
              </a:gs>
              <a:gs pos="100000">
                <a:srgbClr val="0194EF">
                  <a:alpha val="0"/>
                </a:srgbClr>
              </a:gs>
            </a:gsLst>
            <a:lin ang="5400000" scaled="0"/>
          </a:gradFill>
          <a:ln>
            <a:gradFill>
              <a:gsLst>
                <a:gs pos="11000">
                  <a:srgbClr val="00FFFF"/>
                </a:gs>
                <a:gs pos="60000">
                  <a:srgbClr val="00B0F0"/>
                </a:gs>
                <a:gs pos="100000">
                  <a:srgbClr val="00B0F0">
                    <a:alpha val="0"/>
                  </a:srgbClr>
                </a:gs>
              </a:gsLst>
              <a:lin ang="5400000" scaled="0"/>
            </a:gra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315341652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1596000" y="200390"/>
            <a:ext cx="9000000" cy="997039"/>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r>
              <a:rPr lang="zh-CN" altLang="en-US" sz="3200" dirty="0" smtClean="0"/>
              <a:t>变与化</a:t>
            </a:r>
            <a:endParaRPr lang="zh-CN" altLang="zh-CN" sz="2000" dirty="0"/>
          </a:p>
        </p:txBody>
      </p:sp>
      <p:sp>
        <p:nvSpPr>
          <p:cNvPr id="2" name="矩形 1"/>
          <p:cNvSpPr/>
          <p:nvPr/>
        </p:nvSpPr>
        <p:spPr>
          <a:xfrm>
            <a:off x="656750" y="1773229"/>
            <a:ext cx="10816191" cy="4396412"/>
          </a:xfrm>
          <a:prstGeom prst="rect">
            <a:avLst/>
          </a:prstGeom>
        </p:spPr>
        <p:txBody>
          <a:bodyPr wrap="square" lIns="86694" tIns="43347" rIns="86694" bIns="43347">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黄帝内经</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“生 、 化、极、 变” </a:t>
            </a:r>
            <a:endParaRPr lang="en-US" altLang="zh-CN" sz="2800" b="1" dirty="0" smtClean="0">
              <a:solidFill>
                <a:schemeClr val="bg1"/>
              </a:solidFill>
              <a:latin typeface="微软雅黑" panose="020B0503020204020204" pitchFamily="34" charset="-122"/>
              <a:ea typeface="微软雅黑" panose="020B0503020204020204" pitchFamily="34" charset="-122"/>
            </a:endParaRPr>
          </a:p>
          <a:p>
            <a:endParaRPr lang="en-US" altLang="zh-CN" sz="2800" b="1" dirty="0">
              <a:solidFill>
                <a:schemeClr val="bg1"/>
              </a:solidFill>
              <a:latin typeface="微软雅黑" panose="020B0503020204020204" pitchFamily="34" charset="-122"/>
              <a:ea typeface="微软雅黑" panose="020B0503020204020204" pitchFamily="34" charset="-122"/>
            </a:endParaRPr>
          </a:p>
          <a:p>
            <a:pPr marL="457200" indent="-457200">
              <a:buFont typeface="Wingdings" panose="05000000000000000000" pitchFamily="2" charset="2"/>
              <a:buChar char="n"/>
            </a:pPr>
            <a:r>
              <a:rPr lang="zh-CN" altLang="en-US" sz="2800" dirty="0">
                <a:solidFill>
                  <a:schemeClr val="bg1"/>
                </a:solidFill>
                <a:latin typeface="微软雅黑" panose="020B0503020204020204" pitchFamily="34" charset="-122"/>
                <a:ea typeface="微软雅黑" panose="020B0503020204020204" pitchFamily="34" charset="-122"/>
              </a:rPr>
              <a:t>“物生谓之化，物极谓之变”</a:t>
            </a:r>
            <a:r>
              <a:rPr lang="en-US" altLang="zh-CN" sz="2000" dirty="0">
                <a:solidFill>
                  <a:schemeClr val="bg1"/>
                </a:solidFill>
                <a:latin typeface="微软雅黑" panose="020B0503020204020204" pitchFamily="34" charset="-122"/>
                <a:ea typeface="微软雅黑" panose="020B0503020204020204" pitchFamily="34" charset="-122"/>
              </a:rPr>
              <a:t>( 《</a:t>
            </a:r>
            <a:r>
              <a:rPr lang="zh-CN" altLang="en-US" sz="2000" dirty="0">
                <a:solidFill>
                  <a:schemeClr val="bg1"/>
                </a:solidFill>
                <a:latin typeface="微软雅黑" panose="020B0503020204020204" pitchFamily="34" charset="-122"/>
                <a:ea typeface="微软雅黑" panose="020B0503020204020204" pitchFamily="34" charset="-122"/>
              </a:rPr>
              <a:t>素问</a:t>
            </a:r>
            <a:r>
              <a:rPr lang="en-US" altLang="zh-CN" sz="2000" dirty="0">
                <a:solidFill>
                  <a:schemeClr val="bg1"/>
                </a:solidFill>
                <a:latin typeface="微软雅黑" panose="020B0503020204020204" pitchFamily="34" charset="-122"/>
                <a:ea typeface="微软雅黑" panose="020B0503020204020204" pitchFamily="34" charset="-122"/>
              </a:rPr>
              <a:t>·</a:t>
            </a:r>
            <a:r>
              <a:rPr lang="zh-CN" altLang="en-US" sz="2000" dirty="0">
                <a:solidFill>
                  <a:schemeClr val="bg1"/>
                </a:solidFill>
                <a:latin typeface="微软雅黑" panose="020B0503020204020204" pitchFamily="34" charset="-122"/>
                <a:ea typeface="微软雅黑" panose="020B0503020204020204" pitchFamily="34" charset="-122"/>
              </a:rPr>
              <a:t>天元纪大论</a:t>
            </a:r>
            <a:r>
              <a:rPr lang="en-US" altLang="zh-CN" sz="2000" dirty="0">
                <a:solidFill>
                  <a:schemeClr val="bg1"/>
                </a:solidFill>
                <a:latin typeface="微软雅黑" panose="020B0503020204020204" pitchFamily="34" charset="-122"/>
                <a:ea typeface="微软雅黑" panose="020B0503020204020204" pitchFamily="34" charset="-122"/>
              </a:rPr>
              <a:t>》) </a:t>
            </a:r>
          </a:p>
          <a:p>
            <a:pPr marL="457200" indent="-457200">
              <a:buFont typeface="Wingdings" panose="05000000000000000000" pitchFamily="2" charset="2"/>
              <a:buChar char="n"/>
            </a:pPr>
            <a:r>
              <a:rPr lang="zh-CN" altLang="en-US" sz="2800" dirty="0">
                <a:solidFill>
                  <a:schemeClr val="bg1"/>
                </a:solidFill>
                <a:latin typeface="微软雅黑" panose="020B0503020204020204" pitchFamily="34" charset="-122"/>
                <a:ea typeface="微软雅黑" panose="020B0503020204020204" pitchFamily="34" charset="-122"/>
              </a:rPr>
              <a:t>“夫物之生从于化，物之极由乎变”</a:t>
            </a:r>
            <a:r>
              <a:rPr lang="en-US" altLang="zh-CN" sz="2000" dirty="0">
                <a:solidFill>
                  <a:schemeClr val="bg1"/>
                </a:solidFill>
                <a:latin typeface="微软雅黑" panose="020B0503020204020204" pitchFamily="34" charset="-122"/>
                <a:ea typeface="微软雅黑" panose="020B0503020204020204" pitchFamily="34" charset="-122"/>
              </a:rPr>
              <a:t>( 《</a:t>
            </a:r>
            <a:r>
              <a:rPr lang="zh-CN" altLang="en-US" sz="2000" dirty="0">
                <a:solidFill>
                  <a:schemeClr val="bg1"/>
                </a:solidFill>
                <a:latin typeface="微软雅黑" panose="020B0503020204020204" pitchFamily="34" charset="-122"/>
                <a:ea typeface="微软雅黑" panose="020B0503020204020204" pitchFamily="34" charset="-122"/>
              </a:rPr>
              <a:t>素问</a:t>
            </a:r>
            <a:r>
              <a:rPr lang="en-US" altLang="zh-CN" sz="2000" dirty="0">
                <a:solidFill>
                  <a:schemeClr val="bg1"/>
                </a:solidFill>
                <a:latin typeface="微软雅黑" panose="020B0503020204020204" pitchFamily="34" charset="-122"/>
                <a:ea typeface="微软雅黑" panose="020B0503020204020204" pitchFamily="34" charset="-122"/>
              </a:rPr>
              <a:t>·</a:t>
            </a:r>
            <a:r>
              <a:rPr lang="zh-CN" altLang="en-US" sz="2000" dirty="0">
                <a:solidFill>
                  <a:schemeClr val="bg1"/>
                </a:solidFill>
                <a:latin typeface="微软雅黑" panose="020B0503020204020204" pitchFamily="34" charset="-122"/>
                <a:ea typeface="微软雅黑" panose="020B0503020204020204" pitchFamily="34" charset="-122"/>
              </a:rPr>
              <a:t>六微旨大论</a:t>
            </a:r>
            <a:r>
              <a:rPr lang="en-US" altLang="zh-CN" sz="2000" dirty="0">
                <a:solidFill>
                  <a:schemeClr val="bg1"/>
                </a:solidFill>
                <a:latin typeface="微软雅黑" panose="020B0503020204020204" pitchFamily="34" charset="-122"/>
                <a:ea typeface="微软雅黑" panose="020B0503020204020204" pitchFamily="34" charset="-122"/>
              </a:rPr>
              <a:t>》) </a:t>
            </a:r>
          </a:p>
          <a:p>
            <a:pPr marL="457200" indent="-457200">
              <a:buFont typeface="Wingdings" panose="05000000000000000000" pitchFamily="2" charset="2"/>
              <a:buChar char="n"/>
            </a:pPr>
            <a:r>
              <a:rPr lang="zh-CN" altLang="en-US"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rgbClr val="FFFF00"/>
                </a:solidFill>
                <a:latin typeface="微软雅黑" panose="020B0503020204020204" pitchFamily="34" charset="-122"/>
                <a:ea typeface="微软雅黑" panose="020B0503020204020204" pitchFamily="34" charset="-122"/>
              </a:rPr>
              <a:t>其微也，为物之化；其甚也，为物之变</a:t>
            </a:r>
            <a:r>
              <a:rPr lang="zh-CN" altLang="en-US" sz="2800" b="1" dirty="0">
                <a:solidFill>
                  <a:schemeClr val="bg1"/>
                </a:solidFill>
                <a:latin typeface="微软雅黑" panose="020B0503020204020204" pitchFamily="34" charset="-122"/>
                <a:ea typeface="微软雅黑" panose="020B0503020204020204" pitchFamily="34" charset="-122"/>
              </a:rPr>
              <a:t>。 ”</a:t>
            </a:r>
            <a:r>
              <a:rPr lang="en-US" altLang="zh-CN" sz="2000" dirty="0">
                <a:solidFill>
                  <a:schemeClr val="bg1"/>
                </a:solidFill>
                <a:latin typeface="微软雅黑" panose="020B0503020204020204" pitchFamily="34" charset="-122"/>
                <a:ea typeface="微软雅黑" panose="020B0503020204020204" pitchFamily="34" charset="-122"/>
              </a:rPr>
              <a:t>(</a:t>
            </a:r>
            <a:r>
              <a:rPr lang="zh-CN" altLang="en-US" sz="2000" dirty="0">
                <a:solidFill>
                  <a:schemeClr val="bg1"/>
                </a:solidFill>
                <a:latin typeface="微软雅黑" panose="020B0503020204020204" pitchFamily="34" charset="-122"/>
                <a:ea typeface="微软雅黑" panose="020B0503020204020204" pitchFamily="34" charset="-122"/>
              </a:rPr>
              <a:t>王冰，</a:t>
            </a:r>
            <a:r>
              <a:rPr lang="en-US" altLang="zh-CN" sz="2000" dirty="0">
                <a:solidFill>
                  <a:schemeClr val="bg1"/>
                </a:solidFill>
                <a:latin typeface="微软雅黑" panose="020B0503020204020204" pitchFamily="34" charset="-122"/>
                <a:ea typeface="微软雅黑" panose="020B0503020204020204" pitchFamily="34" charset="-122"/>
              </a:rPr>
              <a:t>《</a:t>
            </a:r>
            <a:r>
              <a:rPr lang="zh-CN" altLang="en-US" sz="2000" dirty="0">
                <a:solidFill>
                  <a:schemeClr val="bg1"/>
                </a:solidFill>
                <a:latin typeface="微软雅黑" panose="020B0503020204020204" pitchFamily="34" charset="-122"/>
                <a:ea typeface="微软雅黑" panose="020B0503020204020204" pitchFamily="34" charset="-122"/>
              </a:rPr>
              <a:t>素问</a:t>
            </a:r>
            <a:r>
              <a:rPr lang="en-US" altLang="zh-CN" sz="2000" dirty="0">
                <a:solidFill>
                  <a:schemeClr val="bg1"/>
                </a:solidFill>
                <a:latin typeface="微软雅黑" panose="020B0503020204020204" pitchFamily="34" charset="-122"/>
                <a:ea typeface="微软雅黑" panose="020B0503020204020204" pitchFamily="34" charset="-122"/>
              </a:rPr>
              <a:t>·</a:t>
            </a:r>
            <a:r>
              <a:rPr lang="zh-CN" altLang="en-US" sz="2000" dirty="0">
                <a:solidFill>
                  <a:schemeClr val="bg1"/>
                </a:solidFill>
                <a:latin typeface="微软雅黑" panose="020B0503020204020204" pitchFamily="34" charset="-122"/>
                <a:ea typeface="微软雅黑" panose="020B0503020204020204" pitchFamily="34" charset="-122"/>
              </a:rPr>
              <a:t>六微旨大论</a:t>
            </a:r>
            <a:r>
              <a:rPr lang="en-US" altLang="zh-CN" sz="2000" dirty="0">
                <a:solidFill>
                  <a:schemeClr val="bg1"/>
                </a:solidFill>
                <a:latin typeface="微软雅黑" panose="020B0503020204020204" pitchFamily="34" charset="-122"/>
                <a:ea typeface="微软雅黑" panose="020B0503020204020204" pitchFamily="34" charset="-122"/>
              </a:rPr>
              <a:t>》</a:t>
            </a:r>
            <a:r>
              <a:rPr lang="zh-CN" altLang="en-US" sz="2000" dirty="0">
                <a:solidFill>
                  <a:schemeClr val="bg1"/>
                </a:solidFill>
                <a:latin typeface="微软雅黑" panose="020B0503020204020204" pitchFamily="34" charset="-122"/>
                <a:ea typeface="微软雅黑" panose="020B0503020204020204" pitchFamily="34" charset="-122"/>
              </a:rPr>
              <a:t>注</a:t>
            </a:r>
            <a:r>
              <a:rPr lang="en-US" altLang="zh-CN" sz="20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 </a:t>
            </a:r>
            <a:endParaRPr lang="en-US" altLang="zh-CN" sz="2800" dirty="0">
              <a:solidFill>
                <a:schemeClr val="bg1"/>
              </a:solidFill>
              <a:latin typeface="微软雅黑" panose="020B0503020204020204" pitchFamily="34" charset="-122"/>
              <a:ea typeface="微软雅黑" panose="020B0503020204020204" pitchFamily="34" charset="-122"/>
            </a:endParaRPr>
          </a:p>
          <a:p>
            <a:pPr marL="457200" indent="-457200">
              <a:buFont typeface="Wingdings" panose="05000000000000000000" pitchFamily="2" charset="2"/>
              <a:buChar char="n"/>
            </a:pPr>
            <a:r>
              <a:rPr lang="zh-CN" altLang="en-US" sz="2800" b="1" dirty="0">
                <a:solidFill>
                  <a:schemeClr val="bg1"/>
                </a:solidFill>
                <a:latin typeface="微软雅黑" panose="020B0503020204020204" pitchFamily="34" charset="-122"/>
                <a:ea typeface="微软雅黑" panose="020B0503020204020204" pitchFamily="34" charset="-122"/>
              </a:rPr>
              <a:t>朱子曰：</a:t>
            </a:r>
            <a:r>
              <a:rPr lang="zh-CN" altLang="en-US" sz="2800" b="1" dirty="0">
                <a:solidFill>
                  <a:srgbClr val="FFC000"/>
                </a:solidFill>
                <a:latin typeface="微软雅黑" panose="020B0503020204020204" pitchFamily="34" charset="-122"/>
                <a:ea typeface="微软雅黑" panose="020B0503020204020204" pitchFamily="34" charset="-122"/>
              </a:rPr>
              <a:t>变者，化之渐；化者，变之成</a:t>
            </a:r>
            <a:r>
              <a:rPr lang="zh-CN" altLang="en-US" sz="2800" b="1" dirty="0">
                <a:solidFill>
                  <a:schemeClr val="bg1"/>
                </a:solidFill>
                <a:latin typeface="微软雅黑" panose="020B0503020204020204" pitchFamily="34" charset="-122"/>
                <a:ea typeface="微软雅黑" panose="020B0503020204020204" pitchFamily="34" charset="-122"/>
              </a:rPr>
              <a:t>。 </a:t>
            </a:r>
            <a:endParaRPr lang="en-US" altLang="zh-CN" sz="2800" b="1" dirty="0" smtClean="0">
              <a:solidFill>
                <a:schemeClr val="bg1"/>
              </a:solidFill>
              <a:latin typeface="微软雅黑" panose="020B0503020204020204" pitchFamily="34" charset="-122"/>
              <a:ea typeface="微软雅黑" panose="020B0503020204020204" pitchFamily="34" charset="-122"/>
            </a:endParaRPr>
          </a:p>
          <a:p>
            <a:pPr marL="457200" indent="-457200">
              <a:buFont typeface="Wingdings" panose="05000000000000000000" pitchFamily="2" charset="2"/>
              <a:buChar char="n"/>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457200" indent="-457200">
              <a:buFont typeface="Wingdings" panose="05000000000000000000" pitchFamily="2" charset="2"/>
              <a:buChar char="ü"/>
            </a:pPr>
            <a:r>
              <a:rPr lang="zh-CN" altLang="en-US" sz="2800" b="1" dirty="0" smtClean="0">
                <a:solidFill>
                  <a:srgbClr val="FFC000"/>
                </a:solidFill>
                <a:latin typeface="微软雅黑" panose="020B0503020204020204" pitchFamily="34" charset="-122"/>
                <a:ea typeface="微软雅黑" panose="020B0503020204020204" pitchFamily="34" charset="-122"/>
              </a:rPr>
              <a:t>数字化、智能化</a:t>
            </a:r>
            <a:r>
              <a:rPr lang="en-US" altLang="zh-CN" sz="2800" b="1" dirty="0" smtClean="0">
                <a:solidFill>
                  <a:srgbClr val="FFC000"/>
                </a:solidFill>
                <a:latin typeface="微软雅黑" panose="020B0503020204020204" pitchFamily="34" charset="-122"/>
                <a:ea typeface="微软雅黑" panose="020B0503020204020204" pitchFamily="34" charset="-122"/>
              </a:rPr>
              <a:t>……</a:t>
            </a:r>
          </a:p>
          <a:p>
            <a:pPr marL="457200" indent="-457200">
              <a:buFont typeface="Wingdings" panose="05000000000000000000" pitchFamily="2" charset="2"/>
              <a:buChar char="ü"/>
            </a:pPr>
            <a:r>
              <a:rPr lang="zh-CN" altLang="en-US" sz="2800" b="1" dirty="0" smtClean="0">
                <a:solidFill>
                  <a:srgbClr val="FFC000"/>
                </a:solidFill>
                <a:latin typeface="微软雅黑" panose="020B0503020204020204" pitchFamily="34" charset="-122"/>
                <a:ea typeface="微软雅黑" panose="020B0503020204020204" pitchFamily="34" charset="-122"/>
              </a:rPr>
              <a:t>未来之变？</a:t>
            </a:r>
            <a:endParaRPr lang="zh-CN" altLang="en-US" sz="2800" b="1" dirty="0">
              <a:solidFill>
                <a:srgbClr val="FFC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15949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250371" y="446315"/>
            <a:ext cx="11500758" cy="887186"/>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r>
              <a:rPr lang="zh-CN" altLang="en-US" sz="3200" dirty="0" smtClean="0"/>
              <a:t>学科内容的变与化</a:t>
            </a:r>
            <a:r>
              <a:rPr lang="en-US" altLang="zh-CN" sz="3200" dirty="0" smtClean="0"/>
              <a:t>-</a:t>
            </a:r>
            <a:r>
              <a:rPr lang="zh-CN" altLang="en-US" sz="3200" dirty="0" smtClean="0">
                <a:solidFill>
                  <a:srgbClr val="FFFF00"/>
                </a:solidFill>
              </a:rPr>
              <a:t>例，精</a:t>
            </a:r>
            <a:r>
              <a:rPr lang="zh-CN" altLang="en-US" sz="3200" dirty="0">
                <a:solidFill>
                  <a:srgbClr val="FFFF00"/>
                </a:solidFill>
              </a:rPr>
              <a:t>准</a:t>
            </a:r>
            <a:r>
              <a:rPr lang="zh-CN" altLang="en-US" sz="3200" dirty="0" smtClean="0">
                <a:solidFill>
                  <a:srgbClr val="FFFF00"/>
                </a:solidFill>
              </a:rPr>
              <a:t>医疗</a:t>
            </a:r>
            <a:endParaRPr lang="zh-CN" altLang="en-US" sz="3200" dirty="0">
              <a:solidFill>
                <a:srgbClr val="FFFF00"/>
              </a:solidFill>
            </a:endParaRPr>
          </a:p>
        </p:txBody>
      </p:sp>
      <p:sp>
        <p:nvSpPr>
          <p:cNvPr id="2" name="文本框 1"/>
          <p:cNvSpPr txBox="1"/>
          <p:nvPr/>
        </p:nvSpPr>
        <p:spPr>
          <a:xfrm>
            <a:off x="72428" y="1560941"/>
            <a:ext cx="12023003" cy="5016758"/>
          </a:xfrm>
          <a:prstGeom prst="rect">
            <a:avLst/>
          </a:prstGeom>
          <a:noFill/>
        </p:spPr>
        <p:txBody>
          <a:bodyPr wrap="square" rtlCol="0">
            <a:spAutoFit/>
          </a:bodyPr>
          <a:lstStyle/>
          <a:p>
            <a:r>
              <a:rPr lang="zh-CN" altLang="zh-CN" sz="2800" b="1" dirty="0">
                <a:solidFill>
                  <a:srgbClr val="FFC000"/>
                </a:solidFill>
                <a:latin typeface="微软雅黑" panose="020B0503020204020204" pitchFamily="34" charset="-122"/>
                <a:ea typeface="微软雅黑" panose="020B0503020204020204" pitchFamily="34" charset="-122"/>
              </a:rPr>
              <a:t>分子诊断、大数据</a:t>
            </a:r>
            <a:r>
              <a:rPr lang="en-US" altLang="zh-CN" sz="2800" b="1" dirty="0">
                <a:solidFill>
                  <a:srgbClr val="FFC000"/>
                </a:solidFill>
                <a:latin typeface="微软雅黑" panose="020B0503020204020204" pitchFamily="34" charset="-122"/>
                <a:ea typeface="微软雅黑" panose="020B0503020204020204" pitchFamily="34" charset="-122"/>
              </a:rPr>
              <a:t>&amp;</a:t>
            </a:r>
            <a:r>
              <a:rPr lang="zh-CN" altLang="zh-CN" sz="2800" b="1" dirty="0">
                <a:solidFill>
                  <a:srgbClr val="FFC000"/>
                </a:solidFill>
                <a:latin typeface="微软雅黑" panose="020B0503020204020204" pitchFamily="34" charset="-122"/>
                <a:ea typeface="微软雅黑" panose="020B0503020204020204" pitchFamily="34" charset="-122"/>
              </a:rPr>
              <a:t>云计算与</a:t>
            </a:r>
            <a:r>
              <a:rPr lang="en-US" altLang="zh-CN" sz="2800" b="1" dirty="0">
                <a:solidFill>
                  <a:srgbClr val="FFC000"/>
                </a:solidFill>
                <a:latin typeface="微软雅黑" panose="020B0503020204020204" pitchFamily="34" charset="-122"/>
                <a:ea typeface="微软雅黑" panose="020B0503020204020204" pitchFamily="34" charset="-122"/>
              </a:rPr>
              <a:t>“</a:t>
            </a:r>
            <a:r>
              <a:rPr lang="zh-CN" altLang="zh-CN" sz="2800" b="1" dirty="0">
                <a:solidFill>
                  <a:srgbClr val="FFC000"/>
                </a:solidFill>
                <a:latin typeface="微软雅黑" panose="020B0503020204020204" pitchFamily="34" charset="-122"/>
                <a:ea typeface="微软雅黑" panose="020B0503020204020204" pitchFamily="34" charset="-122"/>
              </a:rPr>
              <a:t>量体裁药</a:t>
            </a:r>
            <a:r>
              <a:rPr lang="en-US" altLang="zh-CN" sz="2800" b="1" dirty="0">
                <a:solidFill>
                  <a:srgbClr val="FFC000"/>
                </a:solidFill>
                <a:latin typeface="微软雅黑" panose="020B0503020204020204" pitchFamily="34" charset="-122"/>
                <a:ea typeface="微软雅黑" panose="020B0503020204020204" pitchFamily="34" charset="-122"/>
              </a:rPr>
              <a:t>”</a:t>
            </a:r>
          </a:p>
          <a:p>
            <a:pPr marL="285750" indent="-285750">
              <a:buFont typeface="Wingdings" panose="05000000000000000000" pitchFamily="2" charset="2"/>
              <a:buChar char="n"/>
            </a:pPr>
            <a:r>
              <a:rPr lang="zh-CN" altLang="zh-CN" sz="2800" dirty="0">
                <a:solidFill>
                  <a:schemeClr val="bg1"/>
                </a:solidFill>
                <a:latin typeface="微软雅黑" panose="020B0503020204020204" pitchFamily="34" charset="-122"/>
                <a:ea typeface="微软雅黑" panose="020B0503020204020204" pitchFamily="34" charset="-122"/>
              </a:rPr>
              <a:t>以基因检测为基础，大数据分析为手段所得到的信息即可为个体化药物设计提供指导，实现</a:t>
            </a:r>
            <a:r>
              <a:rPr lang="en-US" altLang="zh-CN" sz="2800" dirty="0">
                <a:solidFill>
                  <a:schemeClr val="bg1"/>
                </a:solidFill>
                <a:latin typeface="微软雅黑" panose="020B0503020204020204" pitchFamily="34" charset="-122"/>
                <a:ea typeface="微软雅黑" panose="020B0503020204020204" pitchFamily="34" charset="-122"/>
              </a:rPr>
              <a:t>“</a:t>
            </a:r>
            <a:r>
              <a:rPr lang="zh-CN" altLang="zh-CN" sz="2800" b="1" dirty="0">
                <a:solidFill>
                  <a:schemeClr val="bg1"/>
                </a:solidFill>
                <a:latin typeface="微软雅黑" panose="020B0503020204020204" pitchFamily="34" charset="-122"/>
                <a:ea typeface="微软雅黑" panose="020B0503020204020204" pitchFamily="34" charset="-122"/>
              </a:rPr>
              <a:t>量体裁药</a:t>
            </a:r>
            <a:r>
              <a:rPr lang="en-US" altLang="zh-CN" sz="2800" dirty="0">
                <a:solidFill>
                  <a:schemeClr val="bg1"/>
                </a:solidFill>
                <a:latin typeface="微软雅黑" panose="020B0503020204020204" pitchFamily="34" charset="-122"/>
                <a:ea typeface="微软雅黑" panose="020B0503020204020204" pitchFamily="34" charset="-122"/>
              </a:rPr>
              <a:t>”</a:t>
            </a:r>
            <a:r>
              <a:rPr lang="zh-CN" altLang="zh-CN" sz="2800" dirty="0">
                <a:solidFill>
                  <a:schemeClr val="bg1"/>
                </a:solidFill>
                <a:latin typeface="微软雅黑" panose="020B0503020204020204" pitchFamily="34" charset="-122"/>
                <a:ea typeface="微软雅黑" panose="020B0503020204020204" pitchFamily="34" charset="-122"/>
              </a:rPr>
              <a:t>。</a:t>
            </a:r>
            <a:endParaRPr lang="en-US" altLang="zh-CN" sz="2800" dirty="0">
              <a:solidFill>
                <a:schemeClr val="bg1"/>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n"/>
            </a:pPr>
            <a:r>
              <a:rPr lang="zh-CN" altLang="zh-CN" sz="2800" dirty="0">
                <a:solidFill>
                  <a:schemeClr val="bg1"/>
                </a:solidFill>
                <a:latin typeface="微软雅黑" panose="020B0503020204020204" pitchFamily="34" charset="-122"/>
                <a:ea typeface="微软雅黑" panose="020B0503020204020204" pitchFamily="34" charset="-122"/>
              </a:rPr>
              <a:t>个体对药物反应的差异性、以及药物在</a:t>
            </a:r>
            <a:r>
              <a:rPr lang="zh-CN" altLang="zh-CN" sz="2800" dirty="0" smtClean="0">
                <a:solidFill>
                  <a:schemeClr val="bg1"/>
                </a:solidFill>
                <a:latin typeface="微软雅黑" panose="020B0503020204020204" pitchFamily="34" charset="-122"/>
                <a:ea typeface="微软雅黑" panose="020B0503020204020204" pitchFamily="34" charset="-122"/>
              </a:rPr>
              <a:t>体内代谢</a:t>
            </a:r>
            <a:r>
              <a:rPr lang="zh-CN" altLang="zh-CN" sz="2800" dirty="0">
                <a:solidFill>
                  <a:schemeClr val="bg1"/>
                </a:solidFill>
                <a:latin typeface="微软雅黑" panose="020B0503020204020204" pitchFamily="34" charset="-122"/>
                <a:ea typeface="微软雅黑" panose="020B0503020204020204" pitchFamily="34" charset="-122"/>
              </a:rPr>
              <a:t>与个人遗传因素密切相关</a:t>
            </a:r>
            <a:endParaRPr lang="en-US" altLang="zh-CN" sz="2800" dirty="0">
              <a:solidFill>
                <a:schemeClr val="bg1"/>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n"/>
            </a:pPr>
            <a:r>
              <a:rPr lang="zh-CN" altLang="zh-CN" sz="2800" dirty="0">
                <a:solidFill>
                  <a:schemeClr val="bg1"/>
                </a:solidFill>
                <a:latin typeface="微软雅黑" panose="020B0503020204020204" pitchFamily="34" charset="-122"/>
                <a:ea typeface="微软雅黑" panose="020B0503020204020204" pitchFamily="34" charset="-122"/>
              </a:rPr>
              <a:t>最具有实际应用意义的是</a:t>
            </a:r>
            <a:r>
              <a:rPr lang="en-US" altLang="zh-CN" sz="2800" dirty="0">
                <a:solidFill>
                  <a:schemeClr val="bg1"/>
                </a:solidFill>
                <a:latin typeface="微软雅黑" panose="020B0503020204020204" pitchFamily="34" charset="-122"/>
                <a:ea typeface="微软雅黑" panose="020B0503020204020204" pitchFamily="34" charset="-122"/>
              </a:rPr>
              <a:t>“</a:t>
            </a:r>
            <a:r>
              <a:rPr lang="zh-CN" altLang="zh-CN" sz="2800" b="1" dirty="0">
                <a:solidFill>
                  <a:schemeClr val="bg1"/>
                </a:solidFill>
                <a:latin typeface="微软雅黑" panose="020B0503020204020204" pitchFamily="34" charset="-122"/>
                <a:ea typeface="微软雅黑" panose="020B0503020204020204" pitchFamily="34" charset="-122"/>
              </a:rPr>
              <a:t>药物基因型检测</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zh-CN" sz="2800" b="1" dirty="0">
                <a:solidFill>
                  <a:schemeClr val="bg1"/>
                </a:solidFill>
                <a:latin typeface="微软雅黑" panose="020B0503020204020204" pitchFamily="34" charset="-122"/>
                <a:ea typeface="微软雅黑" panose="020B0503020204020204" pitchFamily="34" charset="-122"/>
              </a:rPr>
              <a:t>，针对人体发病基因片段设计</a:t>
            </a:r>
            <a:r>
              <a:rPr lang="zh-CN" altLang="zh-CN" sz="2800" b="1" dirty="0">
                <a:solidFill>
                  <a:srgbClr val="FFC000"/>
                </a:solidFill>
                <a:latin typeface="微软雅黑" panose="020B0503020204020204" pitchFamily="34" charset="-122"/>
                <a:ea typeface="微软雅黑" panose="020B0503020204020204" pitchFamily="34" charset="-122"/>
              </a:rPr>
              <a:t>靶向药物</a:t>
            </a:r>
            <a:r>
              <a:rPr lang="zh-CN" altLang="zh-CN" sz="2800" b="1" dirty="0">
                <a:solidFill>
                  <a:schemeClr val="bg1"/>
                </a:solidFill>
                <a:latin typeface="微软雅黑" panose="020B0503020204020204" pitchFamily="34" charset="-122"/>
                <a:ea typeface="微软雅黑" panose="020B0503020204020204" pitchFamily="34" charset="-122"/>
              </a:rPr>
              <a:t>，</a:t>
            </a:r>
            <a:r>
              <a:rPr lang="zh-CN" altLang="zh-CN" sz="2800" dirty="0">
                <a:solidFill>
                  <a:schemeClr val="bg1"/>
                </a:solidFill>
                <a:latin typeface="微软雅黑" panose="020B0503020204020204" pitchFamily="34" charset="-122"/>
                <a:ea typeface="微软雅黑" panose="020B0503020204020204" pitchFamily="34" charset="-122"/>
              </a:rPr>
              <a:t>大数据分析将要产生的反应、药效、敏感性以及副作用</a:t>
            </a:r>
            <a:r>
              <a:rPr lang="zh-CN" altLang="en-US" sz="2800" dirty="0">
                <a:solidFill>
                  <a:schemeClr val="bg1"/>
                </a:solidFill>
                <a:latin typeface="微软雅黑" panose="020B0503020204020204" pitchFamily="34" charset="-122"/>
                <a:ea typeface="微软雅黑" panose="020B0503020204020204" pitchFamily="34" charset="-122"/>
              </a:rPr>
              <a:t>等</a:t>
            </a:r>
            <a:r>
              <a:rPr lang="zh-CN" altLang="zh-CN" sz="2800" dirty="0">
                <a:solidFill>
                  <a:schemeClr val="bg1"/>
                </a:solidFill>
                <a:latin typeface="微软雅黑" panose="020B0503020204020204" pitchFamily="34" charset="-122"/>
                <a:ea typeface="微软雅黑" panose="020B0503020204020204" pitchFamily="34" charset="-122"/>
              </a:rPr>
              <a:t>，利用患者信息（遗传或生物学特征）和检测方法，</a:t>
            </a:r>
            <a:r>
              <a:rPr lang="zh-CN" altLang="zh-CN" sz="2800" b="1" dirty="0">
                <a:solidFill>
                  <a:schemeClr val="bg1"/>
                </a:solidFill>
                <a:latin typeface="微软雅黑" panose="020B0503020204020204" pitchFamily="34" charset="-122"/>
                <a:ea typeface="微软雅黑" panose="020B0503020204020204" pitchFamily="34" charset="-122"/>
              </a:rPr>
              <a:t>筛选最佳治疗方法和个体化的给药方案。</a:t>
            </a:r>
            <a:endParaRPr lang="en-US" altLang="zh-CN" sz="2800" b="1" dirty="0">
              <a:solidFill>
                <a:schemeClr val="bg1"/>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n"/>
            </a:pPr>
            <a:r>
              <a:rPr lang="en-US" altLang="zh-CN" sz="2800" dirty="0">
                <a:solidFill>
                  <a:schemeClr val="bg1"/>
                </a:solidFill>
                <a:latin typeface="微软雅黑" panose="020B0503020204020204" pitchFamily="34" charset="-122"/>
                <a:ea typeface="微软雅黑" panose="020B0503020204020204" pitchFamily="34" charset="-122"/>
              </a:rPr>
              <a:t>“</a:t>
            </a:r>
            <a:r>
              <a:rPr lang="zh-CN" altLang="zh-CN" sz="2800" dirty="0">
                <a:solidFill>
                  <a:schemeClr val="bg1"/>
                </a:solidFill>
                <a:latin typeface="微软雅黑" panose="020B0503020204020204" pitchFamily="34" charset="-122"/>
                <a:ea typeface="微软雅黑" panose="020B0503020204020204" pitchFamily="34" charset="-122"/>
              </a:rPr>
              <a:t>量体裁药</a:t>
            </a:r>
            <a:r>
              <a:rPr lang="en-US" altLang="zh-CN" sz="2800" dirty="0">
                <a:solidFill>
                  <a:schemeClr val="bg1"/>
                </a:solidFill>
                <a:latin typeface="微软雅黑" panose="020B0503020204020204" pitchFamily="34" charset="-122"/>
                <a:ea typeface="微软雅黑" panose="020B0503020204020204" pitchFamily="34" charset="-122"/>
              </a:rPr>
              <a:t>”</a:t>
            </a:r>
            <a:r>
              <a:rPr lang="zh-CN" altLang="zh-CN" sz="2800" dirty="0">
                <a:solidFill>
                  <a:schemeClr val="bg1"/>
                </a:solidFill>
                <a:latin typeface="微软雅黑" panose="020B0503020204020204" pitchFamily="34" charset="-122"/>
                <a:ea typeface="微软雅黑" panose="020B0503020204020204" pitchFamily="34" charset="-122"/>
              </a:rPr>
              <a:t>将在很大程度上减少临床用药不当，提高疗效与降低医疗费用，为未来医学指明方向</a:t>
            </a:r>
            <a:r>
              <a:rPr lang="zh-CN" altLang="zh-CN" sz="2800" dirty="0" smtClean="0">
                <a:solidFill>
                  <a:schemeClr val="bg1"/>
                </a:solidFill>
                <a:latin typeface="微软雅黑" panose="020B0503020204020204" pitchFamily="34" charset="-122"/>
                <a:ea typeface="微软雅黑" panose="020B0503020204020204" pitchFamily="34" charset="-122"/>
              </a:rPr>
              <a:t>。</a:t>
            </a:r>
            <a:endParaRPr lang="en-US" altLang="zh-CN" sz="2800" dirty="0" smtClean="0">
              <a:solidFill>
                <a:schemeClr val="bg1"/>
              </a:solidFill>
            </a:endParaRPr>
          </a:p>
          <a:p>
            <a:r>
              <a:rPr lang="zh-CN" altLang="zh-CN" sz="2000" dirty="0" smtClean="0">
                <a:solidFill>
                  <a:schemeClr val="bg1"/>
                </a:solidFill>
                <a:latin typeface="+mn-ea"/>
              </a:rPr>
              <a:t>关于</a:t>
            </a:r>
            <a:r>
              <a:rPr lang="zh-CN" altLang="zh-CN" sz="2000" dirty="0">
                <a:solidFill>
                  <a:schemeClr val="bg1"/>
                </a:solidFill>
                <a:latin typeface="+mn-ea"/>
              </a:rPr>
              <a:t>个性化医疗的全面解读</a:t>
            </a:r>
            <a:r>
              <a:rPr lang="zh-CN" altLang="en-US" sz="2000" dirty="0">
                <a:solidFill>
                  <a:schemeClr val="bg1"/>
                </a:solidFill>
                <a:latin typeface="+mn-ea"/>
              </a:rPr>
              <a:t>，</a:t>
            </a:r>
            <a:r>
              <a:rPr lang="en-US" altLang="zh-CN" sz="2000" u="sng" dirty="0">
                <a:solidFill>
                  <a:schemeClr val="bg1"/>
                </a:solidFill>
                <a:latin typeface="+mn-ea"/>
              </a:rPr>
              <a:t>http://</a:t>
            </a:r>
            <a:r>
              <a:rPr lang="en-US" altLang="zh-CN" sz="2000" u="sng" dirty="0" smtClean="0">
                <a:solidFill>
                  <a:schemeClr val="bg1"/>
                </a:solidFill>
                <a:latin typeface="+mn-ea"/>
              </a:rPr>
              <a:t>www.fuzhen.com/p/10297.html</a:t>
            </a:r>
            <a:endParaRPr lang="zh-CN" altLang="en-US" sz="2000" dirty="0">
              <a:solidFill>
                <a:schemeClr val="bg1"/>
              </a:solidFill>
              <a:latin typeface="+mn-ea"/>
            </a:endParaRPr>
          </a:p>
          <a:p>
            <a:pPr marL="285750" indent="-285750">
              <a:buFont typeface="Wingdings" panose="05000000000000000000" pitchFamily="2" charset="2"/>
              <a:buChar char="n"/>
            </a:pPr>
            <a:endParaRPr lang="zh-CN" altLang="zh-CN" sz="2000" dirty="0">
              <a:solidFill>
                <a:schemeClr val="bg1"/>
              </a:solidFill>
              <a:latin typeface="+mn-ea"/>
            </a:endParaRPr>
          </a:p>
        </p:txBody>
      </p:sp>
    </p:spTree>
    <p:extLst>
      <p:ext uri="{BB962C8B-B14F-4D97-AF65-F5344CB8AC3E}">
        <p14:creationId xmlns:p14="http://schemas.microsoft.com/office/powerpoint/2010/main" val="29231107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217233" y="200390"/>
            <a:ext cx="12409233" cy="1118165"/>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r>
              <a:rPr lang="zh-CN" altLang="zh-CN" sz="2800" dirty="0"/>
              <a:t>数字孪生与个性化药物治疗</a:t>
            </a:r>
            <a:endParaRPr lang="en-US" altLang="zh-CN" sz="2800" dirty="0"/>
          </a:p>
          <a:p>
            <a:r>
              <a:rPr lang="en-US" altLang="zh-CN" sz="2000" b="0" dirty="0" smtClean="0"/>
              <a:t>B. </a:t>
            </a:r>
            <a:r>
              <a:rPr lang="en-US" altLang="zh-CN" sz="2000" b="0" dirty="0" err="1"/>
              <a:t>Björnsson</a:t>
            </a:r>
            <a:r>
              <a:rPr lang="en-US" altLang="zh-CN" sz="2000" b="0" dirty="0"/>
              <a:t> et al. Digital twins to personalize medicine. Genome Medicine (2020) 12:4.</a:t>
            </a:r>
            <a:endParaRPr lang="zh-CN" altLang="en-US" sz="2000" b="0" dirty="0"/>
          </a:p>
        </p:txBody>
      </p:sp>
      <p:sp>
        <p:nvSpPr>
          <p:cNvPr id="2" name="文本框 1"/>
          <p:cNvSpPr txBox="1"/>
          <p:nvPr/>
        </p:nvSpPr>
        <p:spPr>
          <a:xfrm>
            <a:off x="191973" y="1566099"/>
            <a:ext cx="3066524" cy="5262979"/>
          </a:xfrm>
          <a:prstGeom prst="rect">
            <a:avLst/>
          </a:prstGeom>
          <a:solidFill>
            <a:srgbClr val="002060"/>
          </a:solidFill>
        </p:spPr>
        <p:txBody>
          <a:bodyPr wrap="square" rtlCol="0">
            <a:spAutoFit/>
          </a:bodyPr>
          <a:lstStyle/>
          <a:p>
            <a:pPr lvl="0" algn="just"/>
            <a:r>
              <a:rPr lang="zh-CN" altLang="zh-CN" sz="2400" dirty="0">
                <a:solidFill>
                  <a:schemeClr val="bg1"/>
                </a:solidFill>
                <a:latin typeface="+mn-ea"/>
              </a:rPr>
              <a:t>图</a:t>
            </a:r>
            <a:r>
              <a:rPr lang="en-US" altLang="zh-CN" sz="2400" dirty="0">
                <a:solidFill>
                  <a:schemeClr val="bg1"/>
                </a:solidFill>
                <a:latin typeface="+mn-ea"/>
              </a:rPr>
              <a:t>.  A. </a:t>
            </a:r>
            <a:r>
              <a:rPr lang="zh-CN" altLang="zh-CN" sz="2400" dirty="0">
                <a:solidFill>
                  <a:schemeClr val="bg1"/>
                </a:solidFill>
                <a:latin typeface="+mn-ea"/>
              </a:rPr>
              <a:t>个体病人有局部疾病迹象（红色）。</a:t>
            </a:r>
            <a:r>
              <a:rPr lang="en-US" altLang="zh-CN" sz="2400" dirty="0">
                <a:solidFill>
                  <a:schemeClr val="bg1"/>
                </a:solidFill>
                <a:latin typeface="+mn-ea"/>
              </a:rPr>
              <a:t>B. </a:t>
            </a:r>
            <a:r>
              <a:rPr lang="zh-CN" altLang="zh-CN" sz="2400" b="1" dirty="0">
                <a:solidFill>
                  <a:srgbClr val="FFC000"/>
                </a:solidFill>
                <a:latin typeface="+mn-ea"/>
              </a:rPr>
              <a:t>个体病人的数字孪生体是根据与疾病相关的数千个变量计算网络模型以无限拷贝的形式构建的</a:t>
            </a:r>
            <a:r>
              <a:rPr lang="zh-CN" altLang="zh-CN" sz="2400" dirty="0">
                <a:solidFill>
                  <a:srgbClr val="FFC000"/>
                </a:solidFill>
                <a:latin typeface="+mn-ea"/>
              </a:rPr>
              <a:t>。</a:t>
            </a:r>
            <a:r>
              <a:rPr lang="en-US" altLang="zh-CN" sz="2400" dirty="0">
                <a:solidFill>
                  <a:schemeClr val="bg1"/>
                </a:solidFill>
                <a:latin typeface="+mn-ea"/>
              </a:rPr>
              <a:t>C.</a:t>
            </a:r>
            <a:r>
              <a:rPr lang="zh-CN" altLang="zh-CN" sz="2400" dirty="0">
                <a:solidFill>
                  <a:schemeClr val="bg1"/>
                </a:solidFill>
                <a:latin typeface="+mn-ea"/>
              </a:rPr>
              <a:t>在计算上，每对孪生体都使用数千种药物中的一种或多种。这导致数字治愈一个病人（绿色）。</a:t>
            </a:r>
            <a:r>
              <a:rPr lang="en-US" altLang="zh-CN" sz="2400" dirty="0">
                <a:solidFill>
                  <a:schemeClr val="bg1"/>
                </a:solidFill>
                <a:latin typeface="+mn-ea"/>
              </a:rPr>
              <a:t>D. </a:t>
            </a:r>
            <a:r>
              <a:rPr lang="zh-CN" altLang="zh-CN" sz="2400" b="1" dirty="0">
                <a:solidFill>
                  <a:srgbClr val="FFFF00"/>
                </a:solidFill>
                <a:latin typeface="+mn-ea"/>
              </a:rPr>
              <a:t>选择对数字孪生体中效果最好的药物以治疗患者</a:t>
            </a:r>
            <a:endParaRPr lang="en-US" altLang="zh-CN" sz="2400" b="1" dirty="0">
              <a:solidFill>
                <a:srgbClr val="FFFF00"/>
              </a:solidFill>
              <a:latin typeface="+mn-ea"/>
            </a:endParaRPr>
          </a:p>
        </p:txBody>
      </p:sp>
      <p:sp>
        <p:nvSpPr>
          <p:cNvPr id="3" name="文本框 2"/>
          <p:cNvSpPr txBox="1"/>
          <p:nvPr/>
        </p:nvSpPr>
        <p:spPr>
          <a:xfrm>
            <a:off x="3258497" y="1566099"/>
            <a:ext cx="8669118" cy="5254011"/>
          </a:xfrm>
          <a:prstGeom prst="rect">
            <a:avLst/>
          </a:prstGeom>
          <a:solidFill>
            <a:schemeClr val="bg1"/>
          </a:solidFill>
        </p:spPr>
        <p:txBody>
          <a:bodyPr wrap="square" rtlCol="0">
            <a:spAutoFit/>
          </a:bodyPr>
          <a:lstStyle/>
          <a:p>
            <a:endParaRPr lang="zh-CN" altLang="en-US" dirty="0"/>
          </a:p>
        </p:txBody>
      </p:sp>
      <p:pic>
        <p:nvPicPr>
          <p:cNvPr id="7" name="图片 6" descr="http://files.cn-healthcare.com/upload/20210219/wximg/65651613690159699"/>
          <p:cNvPicPr/>
          <p:nvPr/>
        </p:nvPicPr>
        <p:blipFill>
          <a:blip r:embed="rId4">
            <a:extLst>
              <a:ext uri="{28A0092B-C50C-407E-A947-70E740481C1C}">
                <a14:useLocalDpi xmlns:a14="http://schemas.microsoft.com/office/drawing/2010/main" val="0"/>
              </a:ext>
            </a:extLst>
          </a:blip>
          <a:srcRect/>
          <a:stretch>
            <a:fillRect/>
          </a:stretch>
        </p:blipFill>
        <p:spPr bwMode="auto">
          <a:xfrm>
            <a:off x="3293861" y="1650182"/>
            <a:ext cx="8573296" cy="5132827"/>
          </a:xfrm>
          <a:prstGeom prst="rect">
            <a:avLst/>
          </a:prstGeom>
          <a:noFill/>
          <a:ln>
            <a:noFill/>
          </a:ln>
        </p:spPr>
      </p:pic>
    </p:spTree>
    <p:extLst>
      <p:ext uri="{BB962C8B-B14F-4D97-AF65-F5344CB8AC3E}">
        <p14:creationId xmlns:p14="http://schemas.microsoft.com/office/powerpoint/2010/main" val="21855662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511629" y="154676"/>
            <a:ext cx="10591800" cy="928046"/>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pPr marL="0" lvl="1" algn="ctr"/>
            <a:r>
              <a:rPr lang="en-US" altLang="zh-CN" sz="3200" b="1" dirty="0" smtClean="0">
                <a:solidFill>
                  <a:srgbClr val="FFC000"/>
                </a:solidFill>
                <a:latin typeface="+mn-ea"/>
              </a:rPr>
              <a:t>AI</a:t>
            </a:r>
            <a:r>
              <a:rPr lang="zh-CN" altLang="en-US" sz="3200" b="1" dirty="0" smtClean="0">
                <a:solidFill>
                  <a:srgbClr val="FFC000"/>
                </a:solidFill>
                <a:latin typeface="+mn-ea"/>
              </a:rPr>
              <a:t>加快</a:t>
            </a:r>
            <a:r>
              <a:rPr lang="zh-CN" altLang="en-US" sz="3200" b="1" dirty="0">
                <a:solidFill>
                  <a:srgbClr val="FFC000"/>
                </a:solidFill>
                <a:latin typeface="+mn-ea"/>
              </a:rPr>
              <a:t>了发现新材料的研究</a:t>
            </a:r>
            <a:r>
              <a:rPr lang="zh-CN" altLang="en-US" sz="3200" b="1" dirty="0" smtClean="0">
                <a:solidFill>
                  <a:srgbClr val="FFC000"/>
                </a:solidFill>
                <a:latin typeface="+mn-ea"/>
              </a:rPr>
              <a:t>速度</a:t>
            </a:r>
            <a:endParaRPr lang="zh-CN" altLang="en-US" sz="3200" b="1" dirty="0">
              <a:solidFill>
                <a:srgbClr val="FFC000"/>
              </a:solidFill>
              <a:latin typeface="+mn-ea"/>
            </a:endParaRPr>
          </a:p>
        </p:txBody>
      </p:sp>
      <p:sp>
        <p:nvSpPr>
          <p:cNvPr id="2" name="矩形 1"/>
          <p:cNvSpPr/>
          <p:nvPr/>
        </p:nvSpPr>
        <p:spPr>
          <a:xfrm>
            <a:off x="332097" y="1273792"/>
            <a:ext cx="4856592" cy="5011966"/>
          </a:xfrm>
          <a:prstGeom prst="rect">
            <a:avLst/>
          </a:prstGeom>
          <a:solidFill>
            <a:srgbClr val="002060"/>
          </a:solidFill>
        </p:spPr>
        <p:txBody>
          <a:bodyPr wrap="square" lIns="86694" tIns="43347" rIns="86694" bIns="43347">
            <a:spAutoFit/>
          </a:bodyPr>
          <a:lstStyle/>
          <a:p>
            <a:r>
              <a:rPr lang="en-US" altLang="zh-CN" sz="2800" dirty="0">
                <a:solidFill>
                  <a:schemeClr val="bg1"/>
                </a:solidFill>
                <a:latin typeface="+mn-ea"/>
              </a:rPr>
              <a:t>2023</a:t>
            </a:r>
            <a:r>
              <a:rPr lang="zh-CN" altLang="en-US" sz="2800" dirty="0">
                <a:solidFill>
                  <a:schemeClr val="bg1"/>
                </a:solidFill>
                <a:latin typeface="+mn-ea"/>
              </a:rPr>
              <a:t>年</a:t>
            </a:r>
            <a:r>
              <a:rPr lang="en-US" altLang="zh-CN" sz="2800" dirty="0">
                <a:solidFill>
                  <a:schemeClr val="bg1"/>
                </a:solidFill>
                <a:latin typeface="+mn-ea"/>
              </a:rPr>
              <a:t>11</a:t>
            </a:r>
            <a:r>
              <a:rPr lang="zh-CN" altLang="en-US" sz="2800" dirty="0">
                <a:solidFill>
                  <a:schemeClr val="bg1"/>
                </a:solidFill>
                <a:latin typeface="+mn-ea"/>
              </a:rPr>
              <a:t>月底</a:t>
            </a:r>
            <a:r>
              <a:rPr lang="zh-CN" altLang="en-US" sz="2800" dirty="0" smtClean="0">
                <a:solidFill>
                  <a:schemeClr val="bg1"/>
                </a:solidFill>
                <a:latin typeface="+mn-ea"/>
              </a:rPr>
              <a:t>，</a:t>
            </a:r>
            <a:r>
              <a:rPr lang="en-US" altLang="zh-CN" sz="2800" dirty="0" smtClean="0">
                <a:solidFill>
                  <a:schemeClr val="bg1"/>
                </a:solidFill>
                <a:latin typeface="+mn-ea"/>
              </a:rPr>
              <a:t>DeepMind</a:t>
            </a:r>
            <a:r>
              <a:rPr lang="zh-CN" altLang="en-US" sz="2800" dirty="0" smtClean="0">
                <a:solidFill>
                  <a:schemeClr val="bg1"/>
                </a:solidFill>
                <a:latin typeface="+mn-ea"/>
              </a:rPr>
              <a:t>开发</a:t>
            </a:r>
            <a:r>
              <a:rPr lang="zh-CN" altLang="en-US" sz="2800" dirty="0">
                <a:solidFill>
                  <a:schemeClr val="bg1"/>
                </a:solidFill>
                <a:latin typeface="+mn-ea"/>
              </a:rPr>
              <a:t>了用于材料科学的人工智能强化学习模型</a:t>
            </a:r>
            <a:r>
              <a:rPr lang="en-US" altLang="zh-CN" sz="2800" b="1" dirty="0">
                <a:solidFill>
                  <a:schemeClr val="bg1"/>
                </a:solidFill>
                <a:latin typeface="+mn-ea"/>
              </a:rPr>
              <a:t>Graph Networks for Materials Exploration </a:t>
            </a:r>
            <a:r>
              <a:rPr lang="zh-CN" altLang="en-US" sz="2800" b="1" dirty="0">
                <a:solidFill>
                  <a:schemeClr val="bg1"/>
                </a:solidFill>
                <a:latin typeface="+mn-ea"/>
              </a:rPr>
              <a:t>（</a:t>
            </a:r>
            <a:r>
              <a:rPr lang="en-US" altLang="zh-CN" sz="2800" b="1" dirty="0" err="1">
                <a:solidFill>
                  <a:schemeClr val="bg1"/>
                </a:solidFill>
                <a:latin typeface="+mn-ea"/>
              </a:rPr>
              <a:t>GNoME</a:t>
            </a:r>
            <a:r>
              <a:rPr lang="zh-CN" altLang="en-US" sz="2800" b="1" dirty="0">
                <a:solidFill>
                  <a:schemeClr val="bg1"/>
                </a:solidFill>
                <a:latin typeface="+mn-ea"/>
              </a:rPr>
              <a:t>），</a:t>
            </a:r>
            <a:r>
              <a:rPr lang="zh-CN" altLang="en-US" sz="2800" dirty="0">
                <a:solidFill>
                  <a:schemeClr val="bg1"/>
                </a:solidFill>
                <a:latin typeface="+mn-ea"/>
              </a:rPr>
              <a:t>并通过该模型和高通量第一性原理计算，</a:t>
            </a:r>
            <a:r>
              <a:rPr lang="zh-CN" altLang="en-US" sz="2800" b="1" dirty="0">
                <a:solidFill>
                  <a:schemeClr val="bg1"/>
                </a:solidFill>
                <a:latin typeface="+mn-ea"/>
              </a:rPr>
              <a:t>寻找到了</a:t>
            </a:r>
            <a:r>
              <a:rPr lang="en-US" altLang="zh-CN" sz="2800" b="1" dirty="0">
                <a:solidFill>
                  <a:schemeClr val="bg1"/>
                </a:solidFill>
                <a:latin typeface="+mn-ea"/>
              </a:rPr>
              <a:t>38</a:t>
            </a:r>
            <a:r>
              <a:rPr lang="zh-CN" altLang="en-US" sz="2800" b="1" dirty="0">
                <a:solidFill>
                  <a:schemeClr val="bg1"/>
                </a:solidFill>
                <a:latin typeface="+mn-ea"/>
              </a:rPr>
              <a:t>万余个热力学稳定的晶体材料，相当于“</a:t>
            </a:r>
            <a:r>
              <a:rPr lang="zh-CN" altLang="en-US" sz="2800" b="1" dirty="0">
                <a:solidFill>
                  <a:srgbClr val="FFC000"/>
                </a:solidFill>
                <a:latin typeface="+mn-ea"/>
              </a:rPr>
              <a:t>为人类增加了</a:t>
            </a:r>
            <a:r>
              <a:rPr lang="en-US" altLang="zh-CN" sz="2800" b="1" dirty="0">
                <a:solidFill>
                  <a:srgbClr val="FFC000"/>
                </a:solidFill>
                <a:latin typeface="+mn-ea"/>
              </a:rPr>
              <a:t>800</a:t>
            </a:r>
            <a:r>
              <a:rPr lang="zh-CN" altLang="en-US" sz="2800" b="1" dirty="0">
                <a:solidFill>
                  <a:srgbClr val="FFC000"/>
                </a:solidFill>
                <a:latin typeface="+mn-ea"/>
              </a:rPr>
              <a:t>年的智力积累</a:t>
            </a:r>
            <a:r>
              <a:rPr lang="zh-CN" altLang="en-US" sz="2800" dirty="0" smtClean="0">
                <a:solidFill>
                  <a:schemeClr val="bg1"/>
                </a:solidFill>
                <a:latin typeface="+mn-ea"/>
              </a:rPr>
              <a:t>”。</a:t>
            </a:r>
            <a:r>
              <a:rPr lang="zh-CN" altLang="en-US" sz="2000" dirty="0" smtClean="0">
                <a:solidFill>
                  <a:schemeClr val="bg1"/>
                </a:solidFill>
                <a:latin typeface="+mn-ea"/>
              </a:rPr>
              <a:t>刘淼</a:t>
            </a:r>
            <a:r>
              <a:rPr lang="zh-CN" altLang="en-US" sz="2000" dirty="0">
                <a:solidFill>
                  <a:schemeClr val="bg1"/>
                </a:solidFill>
                <a:latin typeface="+mn-ea"/>
              </a:rPr>
              <a:t>、孟胜</a:t>
            </a:r>
            <a:r>
              <a:rPr lang="en-US" altLang="zh-CN" sz="2000" dirty="0">
                <a:solidFill>
                  <a:schemeClr val="bg1"/>
                </a:solidFill>
                <a:latin typeface="+mn-ea"/>
              </a:rPr>
              <a:t>.AI</a:t>
            </a:r>
            <a:r>
              <a:rPr lang="zh-CN" altLang="en-US" sz="2000" dirty="0">
                <a:solidFill>
                  <a:schemeClr val="bg1"/>
                </a:solidFill>
                <a:latin typeface="+mn-ea"/>
              </a:rPr>
              <a:t>引发材料科学变革，有一场“硬仗”无法规避</a:t>
            </a:r>
            <a:r>
              <a:rPr lang="en-US" altLang="zh-CN" sz="2000" dirty="0">
                <a:solidFill>
                  <a:schemeClr val="bg1"/>
                </a:solidFill>
                <a:latin typeface="+mn-ea"/>
              </a:rPr>
              <a:t>.</a:t>
            </a:r>
            <a:r>
              <a:rPr lang="zh-CN" altLang="en-US" sz="2000" dirty="0">
                <a:solidFill>
                  <a:schemeClr val="bg1"/>
                </a:solidFill>
                <a:latin typeface="+mn-ea"/>
              </a:rPr>
              <a:t>中科院物理所</a:t>
            </a:r>
            <a:r>
              <a:rPr lang="en-US" altLang="zh-CN" sz="2000" dirty="0">
                <a:solidFill>
                  <a:schemeClr val="bg1"/>
                </a:solidFill>
                <a:latin typeface="+mn-ea"/>
              </a:rPr>
              <a:t>. 2024-03-06</a:t>
            </a:r>
          </a:p>
        </p:txBody>
      </p:sp>
      <p:pic>
        <p:nvPicPr>
          <p:cNvPr id="5" name="Picture 2" descr="https://pics1.baidu.com/feed/574e9258d109b3de0b7fd8989178c58c820a4c56.jpeg@f_auto?token=01af250cb10cad1e021449ebaf94efe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4099" y="1273792"/>
            <a:ext cx="6468847" cy="50119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975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996043" y="342900"/>
            <a:ext cx="10052957" cy="843643"/>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pPr marL="0" lvl="1" indent="0" algn="ctr"/>
            <a:r>
              <a:rPr lang="zh-CN" altLang="en-US" sz="3200" b="1" dirty="0" smtClean="0">
                <a:solidFill>
                  <a:srgbClr val="FFC000"/>
                </a:solidFill>
              </a:rPr>
              <a:t>超越人类思维</a:t>
            </a:r>
            <a:r>
              <a:rPr lang="en-US" altLang="zh-CN" sz="3200" b="1" dirty="0" smtClean="0">
                <a:solidFill>
                  <a:srgbClr val="FFFF00"/>
                </a:solidFill>
                <a:latin typeface="微软雅黑" panose="020B0503020204020204" pitchFamily="34" charset="-122"/>
                <a:ea typeface="微软雅黑" panose="020B0503020204020204" pitchFamily="34" charset="-122"/>
              </a:rPr>
              <a:t>-</a:t>
            </a:r>
            <a:r>
              <a:rPr lang="zh-CN" altLang="en-US" sz="3200" b="1" dirty="0">
                <a:solidFill>
                  <a:srgbClr val="FFFF00"/>
                </a:solidFill>
                <a:latin typeface="微软雅黑" panose="020B0503020204020204" pitchFamily="34" charset="-122"/>
                <a:ea typeface="微软雅黑" panose="020B0503020204020204" pitchFamily="34" charset="-122"/>
              </a:rPr>
              <a:t>设计</a:t>
            </a:r>
            <a:endParaRPr lang="en-US" altLang="zh-CN" sz="3200" b="1" dirty="0">
              <a:solidFill>
                <a:srgbClr val="FFFF00"/>
              </a:solidFill>
              <a:latin typeface="微软雅黑" panose="020B0503020204020204" pitchFamily="34" charset="-122"/>
              <a:ea typeface="微软雅黑" panose="020B0503020204020204" pitchFamily="34" charset="-122"/>
            </a:endParaRPr>
          </a:p>
        </p:txBody>
      </p:sp>
      <p:sp>
        <p:nvSpPr>
          <p:cNvPr id="6" name="矩形 5"/>
          <p:cNvSpPr/>
          <p:nvPr/>
        </p:nvSpPr>
        <p:spPr>
          <a:xfrm>
            <a:off x="642256" y="1507670"/>
            <a:ext cx="11059887" cy="4278094"/>
          </a:xfrm>
          <a:prstGeom prst="rect">
            <a:avLst/>
          </a:prstGeom>
          <a:solidFill>
            <a:srgbClr val="002060"/>
          </a:solidFill>
          <a:ln>
            <a:solidFill>
              <a:schemeClr val="bg1">
                <a:lumMod val="85000"/>
              </a:schemeClr>
            </a:solidFill>
          </a:ln>
        </p:spPr>
        <p:txBody>
          <a:bodyPr wrap="square">
            <a:spAutoFit/>
          </a:bodyPr>
          <a:lstStyle/>
          <a:p>
            <a:pPr marL="457200" indent="-457200">
              <a:buFont typeface="Wingdings" panose="05000000000000000000" pitchFamily="2" charset="2"/>
              <a:buChar char="n"/>
            </a:pPr>
            <a:r>
              <a:rPr lang="zh-CN" altLang="en-US" sz="2800" dirty="0">
                <a:solidFill>
                  <a:schemeClr val="bg1"/>
                </a:solidFill>
                <a:latin typeface="+mn-ea"/>
              </a:rPr>
              <a:t>谷歌和三星这两家领先的科技公司最近转向</a:t>
            </a:r>
            <a:r>
              <a:rPr lang="en-US" altLang="zh-CN" sz="2800" dirty="0">
                <a:solidFill>
                  <a:schemeClr val="bg1"/>
                </a:solidFill>
                <a:latin typeface="+mn-ea"/>
              </a:rPr>
              <a:t>AI</a:t>
            </a:r>
            <a:r>
              <a:rPr lang="zh-CN" altLang="en-US" sz="2800" dirty="0">
                <a:solidFill>
                  <a:schemeClr val="bg1"/>
                </a:solidFill>
                <a:latin typeface="+mn-ea"/>
              </a:rPr>
              <a:t>来规划其部分芯片的</a:t>
            </a:r>
            <a:r>
              <a:rPr lang="zh-CN" altLang="en-US" sz="2800" dirty="0" smtClean="0">
                <a:solidFill>
                  <a:schemeClr val="bg1"/>
                </a:solidFill>
                <a:latin typeface="+mn-ea"/>
              </a:rPr>
              <a:t>布局</a:t>
            </a:r>
            <a:endParaRPr lang="zh-CN" altLang="en-US" sz="2800" dirty="0">
              <a:solidFill>
                <a:schemeClr val="bg1"/>
              </a:solidFill>
              <a:latin typeface="+mn-ea"/>
            </a:endParaRPr>
          </a:p>
          <a:p>
            <a:pPr marL="457200" indent="-457200">
              <a:buFont typeface="Wingdings" panose="05000000000000000000" pitchFamily="2" charset="2"/>
              <a:buChar char="n"/>
            </a:pPr>
            <a:r>
              <a:rPr lang="zh-CN" altLang="en-US" sz="2800" b="1" dirty="0">
                <a:solidFill>
                  <a:schemeClr val="bg1"/>
                </a:solidFill>
                <a:latin typeface="+mn-ea"/>
              </a:rPr>
              <a:t>谷歌</a:t>
            </a:r>
            <a:r>
              <a:rPr lang="zh-CN" altLang="en-US" sz="2800" dirty="0">
                <a:solidFill>
                  <a:schemeClr val="bg1"/>
                </a:solidFill>
                <a:latin typeface="+mn-ea"/>
              </a:rPr>
              <a:t>得出的结论是，</a:t>
            </a:r>
            <a:r>
              <a:rPr lang="zh-CN" altLang="en-US" sz="2800" b="1" dirty="0">
                <a:solidFill>
                  <a:schemeClr val="bg1"/>
                </a:solidFill>
                <a:latin typeface="+mn-ea"/>
              </a:rPr>
              <a:t>人工智能设计的芯片“对于所有关键指标，包括功耗、性能和芯片面积，都优于或可与人类生产的芯片相媲美</a:t>
            </a:r>
            <a:r>
              <a:rPr lang="zh-CN" altLang="en-US" sz="2800" dirty="0">
                <a:solidFill>
                  <a:schemeClr val="bg1"/>
                </a:solidFill>
                <a:latin typeface="+mn-ea"/>
              </a:rPr>
              <a:t>”。更进一步，该公司使用</a:t>
            </a:r>
            <a:r>
              <a:rPr lang="en-US" altLang="zh-CN" sz="2800" dirty="0">
                <a:solidFill>
                  <a:schemeClr val="bg1"/>
                </a:solidFill>
                <a:latin typeface="+mn-ea"/>
              </a:rPr>
              <a:t>AI</a:t>
            </a:r>
            <a:r>
              <a:rPr lang="zh-CN" altLang="en-US" sz="2800" dirty="0">
                <a:solidFill>
                  <a:schemeClr val="bg1"/>
                </a:solidFill>
                <a:latin typeface="+mn-ea"/>
              </a:rPr>
              <a:t>来设计其下一代</a:t>
            </a:r>
            <a:r>
              <a:rPr lang="en-US" altLang="zh-CN" sz="2800" dirty="0">
                <a:solidFill>
                  <a:schemeClr val="bg1"/>
                </a:solidFill>
                <a:latin typeface="+mn-ea"/>
              </a:rPr>
              <a:t>AI</a:t>
            </a:r>
            <a:r>
              <a:rPr lang="zh-CN" altLang="en-US" sz="2800" dirty="0">
                <a:solidFill>
                  <a:schemeClr val="bg1"/>
                </a:solidFill>
                <a:latin typeface="+mn-ea"/>
              </a:rPr>
              <a:t>加速器（</a:t>
            </a:r>
            <a:r>
              <a:rPr lang="en-US" altLang="zh-CN" sz="2800" dirty="0" smtClean="0">
                <a:solidFill>
                  <a:schemeClr val="bg1"/>
                </a:solidFill>
                <a:latin typeface="+mn-ea"/>
              </a:rPr>
              <a:t>TPU</a:t>
            </a:r>
            <a:r>
              <a:rPr lang="zh-CN" altLang="en-US" sz="2800" dirty="0" smtClean="0">
                <a:solidFill>
                  <a:schemeClr val="bg1"/>
                </a:solidFill>
                <a:latin typeface="+mn-ea"/>
              </a:rPr>
              <a:t>（</a:t>
            </a:r>
            <a:r>
              <a:rPr lang="en-US" altLang="zh-CN" sz="2800" dirty="0" smtClean="0">
                <a:solidFill>
                  <a:schemeClr val="bg1"/>
                </a:solidFill>
                <a:latin typeface="+mn-ea"/>
              </a:rPr>
              <a:t>Tensor,</a:t>
            </a:r>
            <a:r>
              <a:rPr lang="zh-CN" altLang="en-US" sz="2800" dirty="0" smtClean="0">
                <a:solidFill>
                  <a:schemeClr val="bg1"/>
                </a:solidFill>
                <a:latin typeface="+mn-ea"/>
              </a:rPr>
              <a:t>张量处理器）是</a:t>
            </a:r>
            <a:r>
              <a:rPr lang="en-US" altLang="zh-CN" sz="2800" dirty="0">
                <a:solidFill>
                  <a:schemeClr val="bg1"/>
                </a:solidFill>
                <a:latin typeface="+mn-ea"/>
              </a:rPr>
              <a:t>AI</a:t>
            </a:r>
            <a:r>
              <a:rPr lang="zh-CN" altLang="en-US" sz="2800" dirty="0">
                <a:solidFill>
                  <a:schemeClr val="bg1"/>
                </a:solidFill>
                <a:latin typeface="+mn-ea"/>
              </a:rPr>
              <a:t>制造的芯片，而不是标准的</a:t>
            </a:r>
            <a:r>
              <a:rPr lang="en-US" altLang="zh-CN" sz="2800" dirty="0">
                <a:solidFill>
                  <a:schemeClr val="bg1"/>
                </a:solidFill>
                <a:latin typeface="+mn-ea"/>
              </a:rPr>
              <a:t>CPU</a:t>
            </a:r>
            <a:r>
              <a:rPr lang="zh-CN" altLang="en-US" sz="2800" dirty="0">
                <a:solidFill>
                  <a:schemeClr val="bg1"/>
                </a:solidFill>
                <a:latin typeface="+mn-ea"/>
              </a:rPr>
              <a:t>或</a:t>
            </a:r>
            <a:r>
              <a:rPr lang="en-US" altLang="zh-CN" sz="2800" dirty="0">
                <a:solidFill>
                  <a:schemeClr val="bg1"/>
                </a:solidFill>
                <a:latin typeface="+mn-ea"/>
              </a:rPr>
              <a:t>GPU</a:t>
            </a:r>
            <a:r>
              <a:rPr lang="zh-CN" altLang="en-US" sz="2800" dirty="0">
                <a:solidFill>
                  <a:schemeClr val="bg1"/>
                </a:solidFill>
                <a:latin typeface="+mn-ea"/>
              </a:rPr>
              <a:t>）。</a:t>
            </a:r>
          </a:p>
          <a:p>
            <a:pPr marL="457200" indent="-457200">
              <a:buFont typeface="Wingdings" panose="05000000000000000000" pitchFamily="2" charset="2"/>
              <a:buChar char="n"/>
            </a:pPr>
            <a:r>
              <a:rPr lang="zh-CN" altLang="en-US" sz="2800" b="1" dirty="0" smtClean="0">
                <a:solidFill>
                  <a:schemeClr val="bg1"/>
                </a:solidFill>
                <a:latin typeface="+mn-ea"/>
              </a:rPr>
              <a:t>三星</a:t>
            </a:r>
            <a:r>
              <a:rPr lang="zh-CN" altLang="en-US" sz="2800" dirty="0">
                <a:solidFill>
                  <a:schemeClr val="bg1"/>
                </a:solidFill>
                <a:latin typeface="+mn-ea"/>
              </a:rPr>
              <a:t>依靠</a:t>
            </a:r>
            <a:r>
              <a:rPr lang="en-US" altLang="zh-CN" sz="2800" dirty="0">
                <a:solidFill>
                  <a:schemeClr val="bg1"/>
                </a:solidFill>
                <a:latin typeface="+mn-ea"/>
              </a:rPr>
              <a:t>AI</a:t>
            </a:r>
            <a:r>
              <a:rPr lang="zh-CN" altLang="en-US" sz="2800" dirty="0">
                <a:solidFill>
                  <a:schemeClr val="bg1"/>
                </a:solidFill>
                <a:latin typeface="+mn-ea"/>
              </a:rPr>
              <a:t>芯片设计软件创建了</a:t>
            </a:r>
            <a:r>
              <a:rPr lang="en-US" altLang="zh-CN" sz="2800" dirty="0" err="1">
                <a:solidFill>
                  <a:schemeClr val="bg1"/>
                </a:solidFill>
                <a:latin typeface="+mn-ea"/>
              </a:rPr>
              <a:t>Exynos</a:t>
            </a:r>
            <a:r>
              <a:rPr lang="zh-CN" altLang="en-US" sz="2800" dirty="0">
                <a:solidFill>
                  <a:schemeClr val="bg1"/>
                </a:solidFill>
                <a:latin typeface="+mn-ea"/>
              </a:rPr>
              <a:t>，这是一种用于可穿戴产品和汽车的芯片。凭借其高保真模拟，</a:t>
            </a:r>
            <a:r>
              <a:rPr lang="en-US" altLang="zh-CN" sz="2800" dirty="0">
                <a:solidFill>
                  <a:schemeClr val="bg1"/>
                </a:solidFill>
                <a:latin typeface="+mn-ea"/>
              </a:rPr>
              <a:t>AI</a:t>
            </a:r>
            <a:r>
              <a:rPr lang="zh-CN" altLang="en-US" sz="2800" dirty="0">
                <a:solidFill>
                  <a:schemeClr val="bg1"/>
                </a:solidFill>
                <a:latin typeface="+mn-ea"/>
              </a:rPr>
              <a:t>为科学家们提供了一种强大的工具，正在彻底改变他们对自然世界进行建模和实验的方式</a:t>
            </a:r>
            <a:r>
              <a:rPr lang="zh-CN" altLang="en-US" sz="2800" dirty="0" smtClean="0">
                <a:solidFill>
                  <a:schemeClr val="bg1"/>
                </a:solidFill>
                <a:latin typeface="+mn-ea"/>
              </a:rPr>
              <a:t>。</a:t>
            </a:r>
            <a:endParaRPr lang="en-US" altLang="zh-CN" sz="2800" dirty="0" smtClean="0">
              <a:solidFill>
                <a:schemeClr val="bg1"/>
              </a:solidFill>
              <a:latin typeface="+mn-ea"/>
            </a:endParaRPr>
          </a:p>
          <a:p>
            <a:r>
              <a:rPr lang="en-US" altLang="zh-CN" sz="2000" dirty="0">
                <a:solidFill>
                  <a:schemeClr val="bg1"/>
                </a:solidFill>
                <a:latin typeface="+mn-ea"/>
              </a:rPr>
              <a:t>Bryan </a:t>
            </a:r>
            <a:r>
              <a:rPr lang="en-US" altLang="zh-CN" sz="2000" dirty="0" smtClean="0">
                <a:solidFill>
                  <a:schemeClr val="bg1"/>
                </a:solidFill>
                <a:latin typeface="+mn-ea"/>
              </a:rPr>
              <a:t>McMahon. AI </a:t>
            </a:r>
            <a:r>
              <a:rPr lang="zh-CN" altLang="en-US" sz="2000" dirty="0">
                <a:solidFill>
                  <a:schemeClr val="bg1"/>
                </a:solidFill>
                <a:latin typeface="+mn-ea"/>
              </a:rPr>
              <a:t>正在引领一场新型科学</a:t>
            </a:r>
            <a:r>
              <a:rPr lang="zh-CN" altLang="en-US" sz="2000" dirty="0" smtClean="0">
                <a:solidFill>
                  <a:schemeClr val="bg1"/>
                </a:solidFill>
                <a:latin typeface="+mn-ea"/>
              </a:rPr>
              <a:t>革命</a:t>
            </a:r>
            <a:r>
              <a:rPr lang="en-US" altLang="zh-CN" sz="2000" dirty="0" smtClean="0">
                <a:solidFill>
                  <a:schemeClr val="bg1"/>
                </a:solidFill>
                <a:latin typeface="+mn-ea"/>
              </a:rPr>
              <a:t>. AI</a:t>
            </a:r>
            <a:r>
              <a:rPr lang="zh-CN" altLang="en-US" sz="2000" dirty="0">
                <a:solidFill>
                  <a:schemeClr val="bg1"/>
                </a:solidFill>
                <a:latin typeface="+mn-ea"/>
              </a:rPr>
              <a:t>科技</a:t>
            </a:r>
            <a:r>
              <a:rPr lang="zh-CN" altLang="en-US" sz="2000" dirty="0" smtClean="0">
                <a:solidFill>
                  <a:schemeClr val="bg1"/>
                </a:solidFill>
                <a:latin typeface="+mn-ea"/>
              </a:rPr>
              <a:t>评论</a:t>
            </a:r>
            <a:r>
              <a:rPr lang="en-US" altLang="zh-CN" sz="2000" dirty="0" smtClean="0">
                <a:solidFill>
                  <a:schemeClr val="bg1"/>
                </a:solidFill>
                <a:latin typeface="+mn-ea"/>
              </a:rPr>
              <a:t>,</a:t>
            </a:r>
            <a:r>
              <a:rPr lang="zh-CN" altLang="en-US" sz="2000" dirty="0">
                <a:solidFill>
                  <a:schemeClr val="bg1"/>
                </a:solidFill>
                <a:latin typeface="+mn-ea"/>
              </a:rPr>
              <a:t> </a:t>
            </a:r>
            <a:r>
              <a:rPr lang="en-US" altLang="zh-CN" sz="2000" dirty="0" smtClean="0">
                <a:solidFill>
                  <a:schemeClr val="bg1"/>
                </a:solidFill>
                <a:latin typeface="+mn-ea"/>
              </a:rPr>
              <a:t>2022-06-19</a:t>
            </a:r>
            <a:endParaRPr lang="zh-CN" altLang="en-US" sz="2000" dirty="0">
              <a:solidFill>
                <a:schemeClr val="bg1"/>
              </a:solidFill>
              <a:latin typeface="+mn-ea"/>
            </a:endParaRPr>
          </a:p>
        </p:txBody>
      </p:sp>
    </p:spTree>
    <p:extLst>
      <p:ext uri="{BB962C8B-B14F-4D97-AF65-F5344CB8AC3E}">
        <p14:creationId xmlns:p14="http://schemas.microsoft.com/office/powerpoint/2010/main" val="35417025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1596000" y="200390"/>
            <a:ext cx="9000000" cy="909953"/>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r>
              <a:rPr lang="zh-CN" altLang="en-US" sz="3200" dirty="0"/>
              <a:t>生成</a:t>
            </a:r>
            <a:r>
              <a:rPr lang="zh-CN" altLang="en-US" sz="3200" dirty="0" smtClean="0"/>
              <a:t>式</a:t>
            </a:r>
            <a:r>
              <a:rPr lang="en-US" altLang="zh-CN" sz="3200" dirty="0" smtClean="0"/>
              <a:t>AI</a:t>
            </a:r>
            <a:endParaRPr lang="en-US" altLang="zh-CN" sz="3200" dirty="0"/>
          </a:p>
        </p:txBody>
      </p:sp>
      <p:sp>
        <p:nvSpPr>
          <p:cNvPr id="2" name="矩形 1"/>
          <p:cNvSpPr/>
          <p:nvPr/>
        </p:nvSpPr>
        <p:spPr>
          <a:xfrm>
            <a:off x="555171" y="1366156"/>
            <a:ext cx="11332029" cy="4273302"/>
          </a:xfrm>
          <a:prstGeom prst="rect">
            <a:avLst/>
          </a:prstGeom>
        </p:spPr>
        <p:txBody>
          <a:bodyPr wrap="square" lIns="86694" tIns="43347" rIns="86694" bIns="43347">
            <a:spAutoFit/>
          </a:bodyPr>
          <a:lstStyle/>
          <a:p>
            <a:r>
              <a:rPr lang="zh-CN" altLang="en-US" sz="2800" b="1" dirty="0">
                <a:solidFill>
                  <a:srgbClr val="FFC000"/>
                </a:solidFill>
                <a:latin typeface="+mn-ea"/>
              </a:rPr>
              <a:t>黄仁勋：</a:t>
            </a:r>
            <a:endParaRPr lang="en-US" altLang="zh-CN" sz="2800" b="1" dirty="0">
              <a:solidFill>
                <a:srgbClr val="FFC000"/>
              </a:solidFill>
              <a:latin typeface="+mn-ea"/>
            </a:endParaRPr>
          </a:p>
          <a:p>
            <a:pPr marL="457200" indent="-457200">
              <a:buFont typeface="Wingdings" panose="05000000000000000000" pitchFamily="2" charset="2"/>
              <a:buChar char="l"/>
            </a:pPr>
            <a:r>
              <a:rPr lang="zh-CN" altLang="en-US" sz="2800" dirty="0">
                <a:solidFill>
                  <a:schemeClr val="bg1"/>
                </a:solidFill>
                <a:latin typeface="+mn-ea"/>
              </a:rPr>
              <a:t>生成式</a:t>
            </a:r>
            <a:r>
              <a:rPr lang="en-US" altLang="zh-CN" sz="2800" dirty="0">
                <a:solidFill>
                  <a:schemeClr val="bg1"/>
                </a:solidFill>
                <a:latin typeface="+mn-ea"/>
              </a:rPr>
              <a:t>AI</a:t>
            </a:r>
            <a:r>
              <a:rPr lang="zh-CN" altLang="en-US" sz="2800" dirty="0">
                <a:solidFill>
                  <a:schemeClr val="bg1"/>
                </a:solidFill>
                <a:latin typeface="+mn-ea"/>
              </a:rPr>
              <a:t>的核心是“</a:t>
            </a:r>
            <a:r>
              <a:rPr lang="zh-CN" altLang="en-US" sz="2800" b="1" dirty="0">
                <a:solidFill>
                  <a:srgbClr val="FFC000"/>
                </a:solidFill>
                <a:latin typeface="+mn-ea"/>
              </a:rPr>
              <a:t>一个软件理解数据含义的能力</a:t>
            </a:r>
            <a:r>
              <a:rPr lang="zh-CN" altLang="en-US" sz="2800" dirty="0">
                <a:solidFill>
                  <a:schemeClr val="bg1"/>
                </a:solidFill>
                <a:latin typeface="+mn-ea"/>
              </a:rPr>
              <a:t>”。当然，你可以理解单词、字母、短语、句子和段落的含义，并找出其中的关系和使用模式。从大量的例子中，它可以找出并学习数据的表示方法，甚至理解其含义。</a:t>
            </a:r>
            <a:endParaRPr lang="en-US" altLang="zh-CN" sz="2800" dirty="0">
              <a:solidFill>
                <a:schemeClr val="bg1"/>
              </a:solidFill>
              <a:latin typeface="+mn-ea"/>
            </a:endParaRPr>
          </a:p>
          <a:p>
            <a:pPr marL="457200" indent="-457200">
              <a:buFont typeface="Wingdings" panose="05000000000000000000" pitchFamily="2" charset="2"/>
              <a:buChar char="l"/>
            </a:pPr>
            <a:r>
              <a:rPr lang="zh-CN" altLang="en-US" sz="2800" dirty="0">
                <a:solidFill>
                  <a:schemeClr val="bg1"/>
                </a:solidFill>
                <a:latin typeface="+mn-ea"/>
              </a:rPr>
              <a:t>我们正在</a:t>
            </a:r>
            <a:r>
              <a:rPr lang="zh-CN" altLang="en-US" sz="2800" b="1" dirty="0">
                <a:solidFill>
                  <a:schemeClr val="bg1"/>
                </a:solidFill>
                <a:latin typeface="+mn-ea"/>
              </a:rPr>
              <a:t>使用</a:t>
            </a:r>
            <a:r>
              <a:rPr lang="en-US" altLang="zh-CN" sz="2800" b="1" dirty="0">
                <a:solidFill>
                  <a:schemeClr val="bg1"/>
                </a:solidFill>
                <a:latin typeface="+mn-ea"/>
              </a:rPr>
              <a:t>AI</a:t>
            </a:r>
            <a:r>
              <a:rPr lang="zh-CN" altLang="en-US" sz="2800" b="1" dirty="0">
                <a:solidFill>
                  <a:schemeClr val="bg1"/>
                </a:solidFill>
                <a:latin typeface="+mn-ea"/>
              </a:rPr>
              <a:t>来设计芯片</a:t>
            </a:r>
            <a:r>
              <a:rPr lang="zh-CN" altLang="en-US" sz="2800" dirty="0">
                <a:solidFill>
                  <a:schemeClr val="bg1"/>
                </a:solidFill>
                <a:latin typeface="+mn-ea"/>
              </a:rPr>
              <a:t>。我们</a:t>
            </a:r>
            <a:r>
              <a:rPr lang="zh-CN" altLang="en-US" sz="2800" b="1" dirty="0">
                <a:solidFill>
                  <a:schemeClr val="bg1"/>
                </a:solidFill>
                <a:latin typeface="+mn-ea"/>
              </a:rPr>
              <a:t>用</a:t>
            </a:r>
            <a:r>
              <a:rPr lang="en-US" altLang="zh-CN" sz="2800" b="1" dirty="0">
                <a:solidFill>
                  <a:schemeClr val="bg1"/>
                </a:solidFill>
                <a:latin typeface="+mn-ea"/>
              </a:rPr>
              <a:t>AI</a:t>
            </a:r>
            <a:r>
              <a:rPr lang="zh-CN" altLang="en-US" sz="2800" b="1" dirty="0">
                <a:solidFill>
                  <a:schemeClr val="bg1"/>
                </a:solidFill>
                <a:latin typeface="+mn-ea"/>
              </a:rPr>
              <a:t>找到将晶体管连接到电路中的最佳位置</a:t>
            </a:r>
            <a:r>
              <a:rPr lang="zh-CN" altLang="en-US" sz="2800" dirty="0">
                <a:solidFill>
                  <a:schemeClr val="bg1"/>
                </a:solidFill>
                <a:latin typeface="+mn-ea"/>
              </a:rPr>
              <a:t>，帮助我们优化设计，而这在以前是不可能实现的。我们用</a:t>
            </a:r>
            <a:r>
              <a:rPr lang="en-US" altLang="zh-CN" sz="2800" dirty="0">
                <a:solidFill>
                  <a:schemeClr val="bg1"/>
                </a:solidFill>
                <a:latin typeface="+mn-ea"/>
              </a:rPr>
              <a:t>AI</a:t>
            </a:r>
            <a:r>
              <a:rPr lang="zh-CN" altLang="en-US" sz="2800" dirty="0">
                <a:solidFill>
                  <a:schemeClr val="bg1"/>
                </a:solidFill>
                <a:latin typeface="+mn-ea"/>
              </a:rPr>
              <a:t>排查故障，找到哪行代码出现了问题从而导致后续错误。从设计芯片、优化芯片到了解故障所在，我们都在使用生成式</a:t>
            </a:r>
            <a:r>
              <a:rPr lang="en-US" altLang="zh-CN" sz="2800" dirty="0">
                <a:solidFill>
                  <a:schemeClr val="bg1"/>
                </a:solidFill>
                <a:latin typeface="+mn-ea"/>
              </a:rPr>
              <a:t>AI</a:t>
            </a:r>
            <a:r>
              <a:rPr lang="zh-CN" altLang="en-US" sz="2800" dirty="0">
                <a:solidFill>
                  <a:schemeClr val="bg1"/>
                </a:solidFill>
                <a:latin typeface="+mn-ea"/>
              </a:rPr>
              <a:t>来辅助。</a:t>
            </a:r>
            <a:endParaRPr lang="en-US" altLang="zh-CN" sz="2800" dirty="0">
              <a:solidFill>
                <a:schemeClr val="bg1"/>
              </a:solidFill>
              <a:latin typeface="+mn-ea"/>
            </a:endParaRPr>
          </a:p>
          <a:p>
            <a:r>
              <a:rPr lang="zh-CN" altLang="en-US" sz="2000" dirty="0">
                <a:solidFill>
                  <a:schemeClr val="bg1"/>
                </a:solidFill>
                <a:latin typeface="+mn-ea"/>
              </a:rPr>
              <a:t>殷阿笛（</a:t>
            </a:r>
            <a:r>
              <a:rPr lang="en-US" altLang="zh-CN" sz="2000" dirty="0" err="1">
                <a:solidFill>
                  <a:schemeClr val="bg1"/>
                </a:solidFill>
                <a:latin typeface="+mn-ea"/>
              </a:rPr>
              <a:t>Adi</a:t>
            </a:r>
            <a:r>
              <a:rPr lang="en-US" altLang="zh-CN" sz="2000" dirty="0">
                <a:solidFill>
                  <a:schemeClr val="bg1"/>
                </a:solidFill>
                <a:latin typeface="+mn-ea"/>
              </a:rPr>
              <a:t> Ignatius</a:t>
            </a:r>
            <a:r>
              <a:rPr lang="zh-CN" altLang="en-US" sz="2000" dirty="0" smtClean="0">
                <a:solidFill>
                  <a:schemeClr val="bg1"/>
                </a:solidFill>
                <a:latin typeface="+mn-ea"/>
              </a:rPr>
              <a:t>）</a:t>
            </a:r>
            <a:r>
              <a:rPr lang="en-US" altLang="zh-CN" sz="2000" dirty="0" smtClean="0">
                <a:solidFill>
                  <a:schemeClr val="bg1"/>
                </a:solidFill>
                <a:latin typeface="+mn-ea"/>
              </a:rPr>
              <a:t>.</a:t>
            </a:r>
            <a:r>
              <a:rPr lang="zh-CN" altLang="en-US" sz="2000" dirty="0" smtClean="0">
                <a:solidFill>
                  <a:schemeClr val="bg1"/>
                </a:solidFill>
                <a:latin typeface="+mn-ea"/>
              </a:rPr>
              <a:t>英伟</a:t>
            </a:r>
            <a:r>
              <a:rPr lang="zh-CN" altLang="en-US" sz="2000" dirty="0">
                <a:solidFill>
                  <a:schemeClr val="bg1"/>
                </a:solidFill>
                <a:latin typeface="+mn-ea"/>
              </a:rPr>
              <a:t>达</a:t>
            </a:r>
            <a:r>
              <a:rPr lang="en-US" altLang="zh-CN" sz="2000" dirty="0">
                <a:solidFill>
                  <a:schemeClr val="bg1"/>
                </a:solidFill>
                <a:latin typeface="+mn-ea"/>
              </a:rPr>
              <a:t>CEO</a:t>
            </a:r>
            <a:r>
              <a:rPr lang="zh-CN" altLang="en-US" sz="2000" dirty="0">
                <a:solidFill>
                  <a:schemeClr val="bg1"/>
                </a:solidFill>
                <a:latin typeface="+mn-ea"/>
              </a:rPr>
              <a:t>谈</a:t>
            </a:r>
            <a:r>
              <a:rPr lang="en-US" altLang="zh-CN" sz="2000" dirty="0">
                <a:solidFill>
                  <a:schemeClr val="bg1"/>
                </a:solidFill>
                <a:latin typeface="+mn-ea"/>
              </a:rPr>
              <a:t>AI</a:t>
            </a:r>
            <a:r>
              <a:rPr lang="zh-CN" altLang="en-US" sz="2000" dirty="0">
                <a:solidFill>
                  <a:schemeClr val="bg1"/>
                </a:solidFill>
                <a:latin typeface="+mn-ea"/>
              </a:rPr>
              <a:t>公司的运营之道</a:t>
            </a:r>
            <a:r>
              <a:rPr lang="en-US" altLang="zh-CN" sz="2000" dirty="0" smtClean="0">
                <a:solidFill>
                  <a:schemeClr val="bg1"/>
                </a:solidFill>
                <a:latin typeface="+mn-ea"/>
              </a:rPr>
              <a:t>.</a:t>
            </a:r>
            <a:r>
              <a:rPr lang="zh-CN" altLang="en-US" sz="2000" dirty="0" smtClean="0">
                <a:solidFill>
                  <a:schemeClr val="bg1"/>
                </a:solidFill>
                <a:latin typeface="+mn-ea"/>
              </a:rPr>
              <a:t> 哈佛</a:t>
            </a:r>
            <a:r>
              <a:rPr lang="zh-CN" altLang="en-US" sz="2000" dirty="0">
                <a:solidFill>
                  <a:schemeClr val="bg1"/>
                </a:solidFill>
                <a:latin typeface="+mn-ea"/>
              </a:rPr>
              <a:t>商业评论</a:t>
            </a:r>
            <a:r>
              <a:rPr lang="en-US" altLang="zh-CN" sz="2000" dirty="0">
                <a:solidFill>
                  <a:schemeClr val="bg1"/>
                </a:solidFill>
                <a:latin typeface="+mn-ea"/>
              </a:rPr>
              <a:t>. 2024 </a:t>
            </a:r>
            <a:r>
              <a:rPr lang="zh-CN" altLang="en-US" sz="2000" dirty="0">
                <a:solidFill>
                  <a:schemeClr val="bg1"/>
                </a:solidFill>
                <a:latin typeface="+mn-ea"/>
              </a:rPr>
              <a:t>年 </a:t>
            </a:r>
            <a:r>
              <a:rPr lang="en-US" altLang="zh-CN" sz="2000" dirty="0">
                <a:solidFill>
                  <a:schemeClr val="bg1"/>
                </a:solidFill>
                <a:latin typeface="+mn-ea"/>
              </a:rPr>
              <a:t>01 </a:t>
            </a:r>
            <a:r>
              <a:rPr lang="zh-CN" altLang="en-US" sz="2000" dirty="0">
                <a:solidFill>
                  <a:schemeClr val="bg1"/>
                </a:solidFill>
                <a:latin typeface="+mn-ea"/>
              </a:rPr>
              <a:t>月 </a:t>
            </a:r>
            <a:r>
              <a:rPr lang="en-US" altLang="zh-CN" sz="2000" dirty="0">
                <a:solidFill>
                  <a:schemeClr val="bg1"/>
                </a:solidFill>
                <a:latin typeface="+mn-ea"/>
              </a:rPr>
              <a:t>14 </a:t>
            </a:r>
            <a:r>
              <a:rPr lang="zh-CN" altLang="en-US" sz="2000" dirty="0" smtClean="0">
                <a:solidFill>
                  <a:schemeClr val="bg1"/>
                </a:solidFill>
                <a:latin typeface="+mn-ea"/>
              </a:rPr>
              <a:t>日</a:t>
            </a:r>
            <a:endParaRPr lang="en-US" altLang="zh-CN" sz="2000" dirty="0">
              <a:solidFill>
                <a:schemeClr val="bg1"/>
              </a:solidFill>
              <a:latin typeface="+mn-ea"/>
            </a:endParaRPr>
          </a:p>
        </p:txBody>
      </p:sp>
    </p:spTree>
    <p:extLst>
      <p:ext uri="{BB962C8B-B14F-4D97-AF65-F5344CB8AC3E}">
        <p14:creationId xmlns:p14="http://schemas.microsoft.com/office/powerpoint/2010/main" val="10138939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511629" y="318976"/>
            <a:ext cx="10591800" cy="943767"/>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pPr marL="0" lvl="1" algn="ctr"/>
            <a:r>
              <a:rPr lang="en-US" altLang="zh-CN" b="1" dirty="0" smtClean="0">
                <a:solidFill>
                  <a:srgbClr val="FFC000"/>
                </a:solidFill>
              </a:rPr>
              <a:t>Al</a:t>
            </a:r>
            <a:r>
              <a:rPr lang="zh-CN" altLang="en-US" b="1" dirty="0" smtClean="0">
                <a:solidFill>
                  <a:srgbClr val="FFC000"/>
                </a:solidFill>
              </a:rPr>
              <a:t>有推理能力？</a:t>
            </a:r>
            <a:r>
              <a:rPr lang="zh-CN" altLang="en-US" b="1" dirty="0" smtClean="0">
                <a:solidFill>
                  <a:schemeClr val="bg1"/>
                </a:solidFill>
              </a:rPr>
              <a:t>（</a:t>
            </a:r>
            <a:r>
              <a:rPr lang="zh-CN" altLang="en-US" b="1" dirty="0">
                <a:solidFill>
                  <a:schemeClr val="bg1"/>
                </a:solidFill>
              </a:rPr>
              <a:t>夺奥数</a:t>
            </a:r>
            <a:r>
              <a:rPr lang="zh-CN" altLang="en-US" b="1" dirty="0" smtClean="0">
                <a:solidFill>
                  <a:schemeClr val="bg1"/>
                </a:solidFill>
              </a:rPr>
              <a:t>银牌）</a:t>
            </a:r>
            <a:endParaRPr lang="en-US" altLang="zh-CN" sz="3200" b="1" dirty="0">
              <a:solidFill>
                <a:schemeClr val="bg1"/>
              </a:solidFill>
              <a:latin typeface="微软雅黑" panose="020B0503020204020204" pitchFamily="34" charset="-122"/>
              <a:ea typeface="微软雅黑" panose="020B0503020204020204" pitchFamily="34" charset="-122"/>
            </a:endParaRPr>
          </a:p>
        </p:txBody>
      </p:sp>
      <p:sp>
        <p:nvSpPr>
          <p:cNvPr id="2" name="矩形 1"/>
          <p:cNvSpPr/>
          <p:nvPr/>
        </p:nvSpPr>
        <p:spPr>
          <a:xfrm>
            <a:off x="595424" y="1692703"/>
            <a:ext cx="5533183" cy="4519523"/>
          </a:xfrm>
          <a:prstGeom prst="rect">
            <a:avLst/>
          </a:prstGeom>
          <a:solidFill>
            <a:schemeClr val="accent5">
              <a:lumMod val="50000"/>
            </a:schemeClr>
          </a:solidFill>
        </p:spPr>
        <p:txBody>
          <a:bodyPr wrap="square" lIns="86694" tIns="43347" rIns="86694" bIns="43347">
            <a:spAutoFit/>
          </a:bodyPr>
          <a:lstStyle/>
          <a:p>
            <a:pPr fontAlgn="auto"/>
            <a:r>
              <a:rPr lang="en-US" altLang="zh-CN" sz="2400" dirty="0">
                <a:solidFill>
                  <a:schemeClr val="bg1"/>
                </a:solidFill>
                <a:latin typeface="+mn-ea"/>
              </a:rPr>
              <a:t>2024-7-25, </a:t>
            </a:r>
            <a:r>
              <a:rPr lang="en-US" altLang="zh-CN" sz="2400" dirty="0" smtClean="0">
                <a:solidFill>
                  <a:schemeClr val="bg1"/>
                </a:solidFill>
                <a:latin typeface="+mn-ea"/>
              </a:rPr>
              <a:t>DeepMind</a:t>
            </a:r>
            <a:r>
              <a:rPr lang="zh-CN" altLang="en-US" sz="2400" dirty="0" smtClean="0">
                <a:solidFill>
                  <a:schemeClr val="bg1"/>
                </a:solidFill>
                <a:latin typeface="+mn-ea"/>
              </a:rPr>
              <a:t>的</a:t>
            </a:r>
            <a:r>
              <a:rPr lang="en-US" altLang="zh-CN" sz="2400" dirty="0" err="1" smtClean="0">
                <a:solidFill>
                  <a:schemeClr val="bg1"/>
                </a:solidFill>
                <a:latin typeface="+mn-ea"/>
              </a:rPr>
              <a:t>AlphaProof</a:t>
            </a:r>
            <a:r>
              <a:rPr lang="zh-CN" altLang="en-US" sz="2400" dirty="0">
                <a:solidFill>
                  <a:schemeClr val="bg1"/>
                </a:solidFill>
                <a:latin typeface="+mn-ea"/>
              </a:rPr>
              <a:t>和</a:t>
            </a:r>
            <a:r>
              <a:rPr lang="en-US" altLang="zh-CN" sz="2400" dirty="0">
                <a:solidFill>
                  <a:schemeClr val="bg1"/>
                </a:solidFill>
                <a:latin typeface="+mn-ea"/>
              </a:rPr>
              <a:t>AlphaGeometry2</a:t>
            </a:r>
            <a:r>
              <a:rPr lang="zh-CN" altLang="en-US" sz="2400" dirty="0">
                <a:solidFill>
                  <a:schemeClr val="bg1"/>
                </a:solidFill>
                <a:latin typeface="+mn-ea"/>
              </a:rPr>
              <a:t>在国际数学奥林匹克竞赛</a:t>
            </a:r>
            <a:r>
              <a:rPr lang="en-US" altLang="zh-CN" sz="2400" dirty="0">
                <a:solidFill>
                  <a:schemeClr val="bg1"/>
                </a:solidFill>
                <a:latin typeface="+mn-ea"/>
              </a:rPr>
              <a:t>(IMO)</a:t>
            </a:r>
            <a:r>
              <a:rPr lang="zh-CN" altLang="en-US" sz="2400" dirty="0">
                <a:solidFill>
                  <a:schemeClr val="bg1"/>
                </a:solidFill>
                <a:latin typeface="+mn-ea"/>
              </a:rPr>
              <a:t>中夺得银牌，成功完成</a:t>
            </a:r>
            <a:r>
              <a:rPr lang="en-US" altLang="zh-CN" sz="2400" dirty="0">
                <a:solidFill>
                  <a:schemeClr val="bg1"/>
                </a:solidFill>
                <a:latin typeface="+mn-ea"/>
              </a:rPr>
              <a:t>4</a:t>
            </a:r>
            <a:r>
              <a:rPr lang="zh-CN" altLang="en-US" sz="2400" dirty="0">
                <a:solidFill>
                  <a:schemeClr val="bg1"/>
                </a:solidFill>
                <a:latin typeface="+mn-ea"/>
              </a:rPr>
              <a:t>道满分题，</a:t>
            </a:r>
            <a:r>
              <a:rPr lang="zh-CN" altLang="en-US" sz="2400" b="1" dirty="0">
                <a:solidFill>
                  <a:schemeClr val="bg1"/>
                </a:solidFill>
                <a:latin typeface="+mn-ea"/>
              </a:rPr>
              <a:t>其中</a:t>
            </a:r>
            <a:r>
              <a:rPr lang="en-US" altLang="zh-CN" sz="2400" b="1" dirty="0">
                <a:solidFill>
                  <a:schemeClr val="bg1"/>
                </a:solidFill>
                <a:latin typeface="+mn-ea"/>
              </a:rPr>
              <a:t>AlphaGeometry2</a:t>
            </a:r>
            <a:r>
              <a:rPr lang="zh-CN" altLang="en-US" sz="2400" b="1" dirty="0">
                <a:solidFill>
                  <a:schemeClr val="bg1"/>
                </a:solidFill>
                <a:latin typeface="+mn-ea"/>
              </a:rPr>
              <a:t>仅用时</a:t>
            </a:r>
            <a:r>
              <a:rPr lang="en-US" altLang="zh-CN" sz="2400" b="1" dirty="0">
                <a:solidFill>
                  <a:schemeClr val="bg1"/>
                </a:solidFill>
                <a:latin typeface="+mn-ea"/>
              </a:rPr>
              <a:t>19</a:t>
            </a:r>
            <a:r>
              <a:rPr lang="zh-CN" altLang="en-US" sz="2400" b="1" dirty="0" smtClean="0">
                <a:solidFill>
                  <a:schemeClr val="bg1"/>
                </a:solidFill>
                <a:latin typeface="+mn-ea"/>
              </a:rPr>
              <a:t>秒</a:t>
            </a:r>
            <a:r>
              <a:rPr lang="zh-CN" altLang="en-US" sz="2400" dirty="0" smtClean="0">
                <a:solidFill>
                  <a:schemeClr val="bg1"/>
                </a:solidFill>
                <a:latin typeface="+mn-ea"/>
              </a:rPr>
              <a:t>（</a:t>
            </a:r>
            <a:r>
              <a:rPr lang="zh-CN" altLang="en-US" sz="2400" dirty="0">
                <a:solidFill>
                  <a:schemeClr val="bg1"/>
                </a:solidFill>
                <a:latin typeface="+mn-ea"/>
              </a:rPr>
              <a:t>证明蓝色两个角的和</a:t>
            </a:r>
            <a:r>
              <a:rPr lang="en-US" altLang="zh-CN" sz="2400" dirty="0">
                <a:solidFill>
                  <a:schemeClr val="bg1"/>
                </a:solidFill>
                <a:latin typeface="+mn-ea"/>
              </a:rPr>
              <a:t>=180</a:t>
            </a:r>
            <a:r>
              <a:rPr lang="zh-CN" altLang="en-US" sz="2400" dirty="0">
                <a:solidFill>
                  <a:schemeClr val="bg1"/>
                </a:solidFill>
                <a:latin typeface="+mn-ea"/>
              </a:rPr>
              <a:t>）</a:t>
            </a:r>
            <a:r>
              <a:rPr lang="zh-CN" altLang="en-US" sz="2400" dirty="0" smtClean="0">
                <a:solidFill>
                  <a:schemeClr val="bg1"/>
                </a:solidFill>
                <a:latin typeface="+mn-ea"/>
              </a:rPr>
              <a:t>。</a:t>
            </a:r>
            <a:endParaRPr lang="en-US" altLang="zh-CN" sz="2400" dirty="0" smtClean="0">
              <a:solidFill>
                <a:schemeClr val="bg1"/>
              </a:solidFill>
              <a:latin typeface="+mn-ea"/>
            </a:endParaRPr>
          </a:p>
          <a:p>
            <a:pPr fontAlgn="auto"/>
            <a:r>
              <a:rPr lang="en-US" altLang="zh-CN" sz="2400" dirty="0" smtClean="0">
                <a:solidFill>
                  <a:schemeClr val="bg1"/>
                </a:solidFill>
                <a:latin typeface="+mn-ea"/>
              </a:rPr>
              <a:t>24</a:t>
            </a:r>
            <a:r>
              <a:rPr lang="zh-CN" altLang="en-US" sz="2400" dirty="0" smtClean="0">
                <a:solidFill>
                  <a:schemeClr val="bg1"/>
                </a:solidFill>
                <a:latin typeface="+mn-ea"/>
              </a:rPr>
              <a:t>年</a:t>
            </a:r>
            <a:r>
              <a:rPr lang="en-US" altLang="zh-CN" sz="2400" dirty="0">
                <a:solidFill>
                  <a:schemeClr val="bg1"/>
                </a:solidFill>
                <a:latin typeface="+mn-ea"/>
              </a:rPr>
              <a:t>1</a:t>
            </a:r>
            <a:r>
              <a:rPr lang="zh-CN" altLang="en-US" sz="2400" dirty="0">
                <a:solidFill>
                  <a:schemeClr val="bg1"/>
                </a:solidFill>
                <a:latin typeface="+mn-ea"/>
              </a:rPr>
              <a:t>月份，谷歌</a:t>
            </a:r>
            <a:r>
              <a:rPr lang="en-US" altLang="zh-CN" sz="2400" dirty="0">
                <a:solidFill>
                  <a:schemeClr val="bg1"/>
                </a:solidFill>
                <a:latin typeface="+mn-ea"/>
              </a:rPr>
              <a:t>DeepMind</a:t>
            </a:r>
            <a:r>
              <a:rPr lang="zh-CN" altLang="en-US" sz="2400" dirty="0">
                <a:solidFill>
                  <a:schemeClr val="bg1"/>
                </a:solidFill>
                <a:latin typeface="+mn-ea"/>
              </a:rPr>
              <a:t>的第一代</a:t>
            </a:r>
            <a:r>
              <a:rPr lang="en-US" altLang="zh-CN" sz="2400" dirty="0" err="1">
                <a:solidFill>
                  <a:schemeClr val="bg1"/>
                </a:solidFill>
                <a:latin typeface="+mn-ea"/>
              </a:rPr>
              <a:t>AlphaGeometry</a:t>
            </a:r>
            <a:r>
              <a:rPr lang="zh-CN" altLang="en-US" sz="2400" dirty="0">
                <a:solidFill>
                  <a:schemeClr val="bg1"/>
                </a:solidFill>
                <a:latin typeface="+mn-ea"/>
              </a:rPr>
              <a:t>就登上了</a:t>
            </a:r>
            <a:r>
              <a:rPr lang="en-US" altLang="zh-CN" sz="2400" dirty="0">
                <a:solidFill>
                  <a:schemeClr val="bg1"/>
                </a:solidFill>
                <a:latin typeface="+mn-ea"/>
              </a:rPr>
              <a:t>Nature</a:t>
            </a:r>
            <a:r>
              <a:rPr lang="zh-CN" altLang="en-US" sz="2400" dirty="0">
                <a:solidFill>
                  <a:schemeClr val="bg1"/>
                </a:solidFill>
                <a:latin typeface="+mn-ea"/>
              </a:rPr>
              <a:t>。当时，它</a:t>
            </a:r>
            <a:r>
              <a:rPr lang="zh-CN" altLang="en-US" sz="2400" b="1" dirty="0">
                <a:solidFill>
                  <a:schemeClr val="bg1"/>
                </a:solidFill>
                <a:latin typeface="+mn-ea"/>
              </a:rPr>
              <a:t>做出了</a:t>
            </a:r>
            <a:r>
              <a:rPr lang="en-US" altLang="zh-CN" sz="2400" b="1" dirty="0">
                <a:solidFill>
                  <a:schemeClr val="bg1"/>
                </a:solidFill>
                <a:latin typeface="+mn-ea"/>
              </a:rPr>
              <a:t>IMO 30</a:t>
            </a:r>
            <a:r>
              <a:rPr lang="zh-CN" altLang="en-US" sz="2400" b="1" dirty="0">
                <a:solidFill>
                  <a:schemeClr val="bg1"/>
                </a:solidFill>
                <a:latin typeface="+mn-ea"/>
              </a:rPr>
              <a:t>个几何题中的</a:t>
            </a:r>
            <a:r>
              <a:rPr lang="en-US" altLang="zh-CN" sz="2400" b="1" dirty="0">
                <a:solidFill>
                  <a:schemeClr val="bg1"/>
                </a:solidFill>
                <a:latin typeface="+mn-ea"/>
              </a:rPr>
              <a:t>25</a:t>
            </a:r>
            <a:r>
              <a:rPr lang="zh-CN" altLang="en-US" sz="2400" b="1" dirty="0">
                <a:solidFill>
                  <a:schemeClr val="bg1"/>
                </a:solidFill>
                <a:latin typeface="+mn-ea"/>
              </a:rPr>
              <a:t>道</a:t>
            </a:r>
            <a:r>
              <a:rPr lang="zh-CN" altLang="en-US" sz="2400" dirty="0">
                <a:solidFill>
                  <a:schemeClr val="bg1"/>
                </a:solidFill>
                <a:latin typeface="+mn-ea"/>
              </a:rPr>
              <a:t>。</a:t>
            </a:r>
            <a:endParaRPr lang="en-US" altLang="zh-CN" sz="2400" dirty="0">
              <a:solidFill>
                <a:schemeClr val="bg1"/>
              </a:solidFill>
              <a:latin typeface="+mn-ea"/>
            </a:endParaRPr>
          </a:p>
          <a:p>
            <a:pPr fontAlgn="auto"/>
            <a:r>
              <a:rPr lang="en-US" altLang="zh-CN" sz="2400" dirty="0" err="1">
                <a:solidFill>
                  <a:schemeClr val="bg1"/>
                </a:solidFill>
                <a:latin typeface="+mn-ea"/>
              </a:rPr>
              <a:t>AlphaProof</a:t>
            </a:r>
            <a:r>
              <a:rPr lang="zh-CN" altLang="en-US" sz="2400" dirty="0">
                <a:solidFill>
                  <a:schemeClr val="bg1"/>
                </a:solidFill>
                <a:latin typeface="+mn-ea"/>
              </a:rPr>
              <a:t>正确做出两个代数题和一个数论题，其中一个最难的问题，在今年</a:t>
            </a:r>
            <a:r>
              <a:rPr lang="en-US" altLang="zh-CN" sz="2400" dirty="0">
                <a:solidFill>
                  <a:schemeClr val="bg1"/>
                </a:solidFill>
                <a:latin typeface="+mn-ea"/>
              </a:rPr>
              <a:t>IMO</a:t>
            </a:r>
            <a:r>
              <a:rPr lang="zh-CN" altLang="en-US" sz="2400" dirty="0">
                <a:solidFill>
                  <a:schemeClr val="bg1"/>
                </a:solidFill>
                <a:latin typeface="+mn-ea"/>
              </a:rPr>
              <a:t>中只有</a:t>
            </a:r>
            <a:r>
              <a:rPr lang="en-US" altLang="zh-CN" sz="2400" dirty="0">
                <a:solidFill>
                  <a:schemeClr val="bg1"/>
                </a:solidFill>
                <a:latin typeface="+mn-ea"/>
              </a:rPr>
              <a:t>5</a:t>
            </a:r>
            <a:r>
              <a:rPr lang="zh-CN" altLang="en-US" sz="2400" dirty="0">
                <a:solidFill>
                  <a:schemeClr val="bg1"/>
                </a:solidFill>
                <a:latin typeface="+mn-ea"/>
              </a:rPr>
              <a:t>名人类参赛者做了出来</a:t>
            </a:r>
          </a:p>
        </p:txBody>
      </p:sp>
      <p:pic>
        <p:nvPicPr>
          <p:cNvPr id="5" name="Picture 2" descr="https://pics1.baidu.com/feed/00e93901213fb80e581f6fc6f69b4f20b83894a9.jpeg@f_auto?token=c2c78f1330f78fb41a2115ba664446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56198" y="1692462"/>
            <a:ext cx="5473640" cy="4534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65021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2" name="矩形 1"/>
          <p:cNvSpPr/>
          <p:nvPr/>
        </p:nvSpPr>
        <p:spPr>
          <a:xfrm>
            <a:off x="429555" y="1331196"/>
            <a:ext cx="11379267" cy="4304080"/>
          </a:xfrm>
          <a:prstGeom prst="rect">
            <a:avLst/>
          </a:prstGeom>
        </p:spPr>
        <p:txBody>
          <a:bodyPr wrap="square" lIns="86694" tIns="43347" rIns="86694" bIns="43347">
            <a:spAutoFit/>
          </a:bodyPr>
          <a:lstStyle/>
          <a:p>
            <a:pPr algn="ctr"/>
            <a:r>
              <a:rPr lang="zh-CN" altLang="en-US" sz="4400" b="1" dirty="0" smtClean="0">
                <a:solidFill>
                  <a:schemeClr val="bg1"/>
                </a:solidFill>
                <a:latin typeface="+mn-ea"/>
              </a:rPr>
              <a:t>科技发展导致</a:t>
            </a:r>
            <a:endParaRPr lang="en-US" altLang="zh-CN" sz="4400" b="1" dirty="0" smtClean="0">
              <a:solidFill>
                <a:schemeClr val="bg1"/>
              </a:solidFill>
              <a:latin typeface="+mn-ea"/>
            </a:endParaRPr>
          </a:p>
          <a:p>
            <a:pPr algn="ctr"/>
            <a:r>
              <a:rPr lang="zh-CN" altLang="en-US" sz="4400" b="1" dirty="0" smtClean="0">
                <a:solidFill>
                  <a:schemeClr val="bg1"/>
                </a:solidFill>
                <a:latin typeface="+mn-ea"/>
              </a:rPr>
              <a:t>未来部分职业会消失！</a:t>
            </a:r>
            <a:endParaRPr lang="en-US" altLang="zh-CN" sz="4400" b="1" dirty="0" smtClean="0">
              <a:solidFill>
                <a:schemeClr val="bg1"/>
              </a:solidFill>
              <a:latin typeface="+mn-ea"/>
            </a:endParaRPr>
          </a:p>
          <a:p>
            <a:pPr algn="ctr"/>
            <a:r>
              <a:rPr lang="zh-CN" altLang="en-US" sz="4400" b="1" dirty="0" smtClean="0">
                <a:solidFill>
                  <a:schemeClr val="bg1"/>
                </a:solidFill>
                <a:latin typeface="+mn-ea"/>
              </a:rPr>
              <a:t>职业的形态会发生改变！</a:t>
            </a:r>
            <a:endParaRPr lang="en-US" altLang="zh-CN" sz="4400" b="1" dirty="0" smtClean="0">
              <a:solidFill>
                <a:schemeClr val="bg1"/>
              </a:solidFill>
              <a:latin typeface="+mn-ea"/>
            </a:endParaRPr>
          </a:p>
          <a:p>
            <a:pPr algn="ctr"/>
            <a:endParaRPr lang="en-US" altLang="zh-CN" sz="4400" b="1" dirty="0" smtClean="0">
              <a:solidFill>
                <a:srgbClr val="00FFFF"/>
              </a:solidFill>
              <a:latin typeface="+mn-ea"/>
            </a:endParaRPr>
          </a:p>
          <a:p>
            <a:pPr algn="ctr"/>
            <a:r>
              <a:rPr lang="zh-CN" altLang="en-US" sz="4400" b="1" dirty="0" smtClean="0">
                <a:solidFill>
                  <a:srgbClr val="FFC000"/>
                </a:solidFill>
                <a:latin typeface="+mn-ea"/>
              </a:rPr>
              <a:t>工程教育不能仅满足产业现实需求，</a:t>
            </a:r>
            <a:endParaRPr lang="en-US" altLang="zh-CN" sz="4400" b="1" dirty="0" smtClean="0">
              <a:solidFill>
                <a:srgbClr val="FFC000"/>
              </a:solidFill>
              <a:latin typeface="+mn-ea"/>
            </a:endParaRPr>
          </a:p>
          <a:p>
            <a:pPr algn="ctr"/>
            <a:r>
              <a:rPr lang="zh-CN" altLang="en-US" sz="4400" b="1" dirty="0">
                <a:solidFill>
                  <a:schemeClr val="bg1"/>
                </a:solidFill>
                <a:latin typeface="+mn-ea"/>
              </a:rPr>
              <a:t>还</a:t>
            </a:r>
            <a:r>
              <a:rPr lang="zh-CN" altLang="en-US" sz="4400" b="1" dirty="0" smtClean="0">
                <a:solidFill>
                  <a:schemeClr val="bg1"/>
                </a:solidFill>
                <a:latin typeface="+mn-ea"/>
              </a:rPr>
              <a:t>要引领产业对未来人才需求！</a:t>
            </a:r>
            <a:endParaRPr lang="zh-CN" altLang="en-US" sz="4400" b="1" dirty="0">
              <a:solidFill>
                <a:schemeClr val="bg1"/>
              </a:solidFill>
              <a:latin typeface="+mn-ea"/>
            </a:endParaRPr>
          </a:p>
        </p:txBody>
      </p:sp>
    </p:spTree>
    <p:extLst>
      <p:ext uri="{BB962C8B-B14F-4D97-AF65-F5344CB8AC3E}">
        <p14:creationId xmlns:p14="http://schemas.microsoft.com/office/powerpoint/2010/main" val="41093007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511629" y="397330"/>
            <a:ext cx="10591800" cy="865414"/>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pPr marL="0" lvl="1" algn="ctr"/>
            <a:r>
              <a:rPr lang="zh-CN" altLang="en-US" sz="3200" b="1" dirty="0" smtClean="0">
                <a:solidFill>
                  <a:srgbClr val="FFC000"/>
                </a:solidFill>
                <a:latin typeface="微软雅黑" panose="020B0503020204020204" pitchFamily="34" charset="-122"/>
                <a:ea typeface="微软雅黑" panose="020B0503020204020204" pitchFamily="34" charset="-122"/>
              </a:rPr>
              <a:t>数字智能时代的职业变化</a:t>
            </a:r>
            <a:r>
              <a:rPr lang="en-US" altLang="zh-CN" sz="3200" b="1" dirty="0" smtClean="0">
                <a:solidFill>
                  <a:srgbClr val="FFC000"/>
                </a:solidFill>
                <a:latin typeface="微软雅黑" panose="020B0503020204020204" pitchFamily="34" charset="-122"/>
                <a:ea typeface="微软雅黑" panose="020B0503020204020204" pitchFamily="34" charset="-122"/>
              </a:rPr>
              <a:t>-AI</a:t>
            </a:r>
            <a:r>
              <a:rPr lang="zh-CN" altLang="en-US" sz="3200" b="1" dirty="0" smtClean="0">
                <a:solidFill>
                  <a:srgbClr val="FFC000"/>
                </a:solidFill>
                <a:latin typeface="微软雅黑" panose="020B0503020204020204" pitchFamily="34" charset="-122"/>
                <a:ea typeface="微软雅黑" panose="020B0503020204020204" pitchFamily="34" charset="-122"/>
              </a:rPr>
              <a:t>影响</a:t>
            </a:r>
            <a:endParaRPr lang="en-US" altLang="zh-CN" sz="3200" b="1" dirty="0">
              <a:solidFill>
                <a:srgbClr val="FFC000"/>
              </a:solidFill>
              <a:latin typeface="微软雅黑" panose="020B0503020204020204" pitchFamily="34" charset="-122"/>
              <a:ea typeface="微软雅黑" panose="020B0503020204020204" pitchFamily="34" charset="-122"/>
            </a:endParaRPr>
          </a:p>
        </p:txBody>
      </p:sp>
      <p:sp>
        <p:nvSpPr>
          <p:cNvPr id="2" name="矩形 1"/>
          <p:cNvSpPr/>
          <p:nvPr/>
        </p:nvSpPr>
        <p:spPr>
          <a:xfrm>
            <a:off x="865414" y="1464130"/>
            <a:ext cx="10716985" cy="5135076"/>
          </a:xfrm>
          <a:prstGeom prst="rect">
            <a:avLst/>
          </a:prstGeom>
          <a:noFill/>
        </p:spPr>
        <p:txBody>
          <a:bodyPr wrap="square" lIns="86694" tIns="43347" rIns="86694" bIns="43347">
            <a:spAutoFit/>
          </a:bodyPr>
          <a:lstStyle/>
          <a:p>
            <a:pPr marL="457200" indent="-457200">
              <a:buFont typeface="Wingdings" panose="05000000000000000000" pitchFamily="2" charset="2"/>
              <a:buChar char="n"/>
            </a:pPr>
            <a:r>
              <a:rPr lang="en-US" altLang="zh-CN" sz="3200" dirty="0">
                <a:solidFill>
                  <a:schemeClr val="bg1"/>
                </a:solidFill>
                <a:latin typeface="+mn-ea"/>
              </a:rPr>
              <a:t>IMF</a:t>
            </a:r>
            <a:r>
              <a:rPr lang="zh-CN" altLang="en-US" sz="3200" dirty="0">
                <a:solidFill>
                  <a:schemeClr val="bg1"/>
                </a:solidFill>
                <a:latin typeface="+mn-ea"/>
              </a:rPr>
              <a:t>报告显示，全球近</a:t>
            </a:r>
            <a:r>
              <a:rPr lang="en-US" altLang="zh-CN" sz="3200" dirty="0">
                <a:solidFill>
                  <a:schemeClr val="bg1"/>
                </a:solidFill>
                <a:latin typeface="+mn-ea"/>
              </a:rPr>
              <a:t>40%</a:t>
            </a:r>
            <a:r>
              <a:rPr lang="zh-CN" altLang="en-US" sz="3200" dirty="0">
                <a:solidFill>
                  <a:schemeClr val="bg1"/>
                </a:solidFill>
                <a:latin typeface="+mn-ea"/>
              </a:rPr>
              <a:t>的就业岗位会</a:t>
            </a:r>
            <a:r>
              <a:rPr lang="zh-CN" altLang="en-US" sz="3200" dirty="0" smtClean="0">
                <a:solidFill>
                  <a:schemeClr val="bg1"/>
                </a:solidFill>
                <a:latin typeface="+mn-ea"/>
              </a:rPr>
              <a:t>受到</a:t>
            </a:r>
            <a:r>
              <a:rPr lang="en-US" altLang="zh-CN" sz="3200" dirty="0" smtClean="0">
                <a:solidFill>
                  <a:schemeClr val="bg1"/>
                </a:solidFill>
                <a:latin typeface="+mn-ea"/>
              </a:rPr>
              <a:t>AI</a:t>
            </a:r>
            <a:r>
              <a:rPr lang="zh-CN" altLang="en-US" sz="3200" dirty="0" smtClean="0">
                <a:solidFill>
                  <a:schemeClr val="bg1"/>
                </a:solidFill>
                <a:latin typeface="+mn-ea"/>
              </a:rPr>
              <a:t>影响</a:t>
            </a:r>
            <a:endParaRPr lang="zh-CN" altLang="en-US" sz="3200" dirty="0">
              <a:solidFill>
                <a:schemeClr val="bg1"/>
              </a:solidFill>
              <a:latin typeface="+mn-ea"/>
            </a:endParaRPr>
          </a:p>
          <a:p>
            <a:pPr marL="457200" indent="-457200">
              <a:buFont typeface="Wingdings" panose="05000000000000000000" pitchFamily="2" charset="2"/>
              <a:buChar char="n"/>
            </a:pPr>
            <a:r>
              <a:rPr lang="zh-CN" altLang="en-US" sz="3200" dirty="0" smtClean="0">
                <a:solidFill>
                  <a:schemeClr val="bg1"/>
                </a:solidFill>
                <a:latin typeface="+mn-ea"/>
              </a:rPr>
              <a:t>人工智能</a:t>
            </a:r>
            <a:r>
              <a:rPr lang="zh-CN" altLang="en-US" sz="3200" dirty="0">
                <a:solidFill>
                  <a:schemeClr val="bg1"/>
                </a:solidFill>
                <a:latin typeface="+mn-ea"/>
              </a:rPr>
              <a:t>的一个独特之处是能够影响高技能岗位</a:t>
            </a:r>
            <a:r>
              <a:rPr lang="zh-CN" altLang="en-US" sz="3200" dirty="0" smtClean="0">
                <a:solidFill>
                  <a:schemeClr val="bg1"/>
                </a:solidFill>
                <a:latin typeface="+mn-ea"/>
              </a:rPr>
              <a:t>。</a:t>
            </a:r>
            <a:endParaRPr lang="en-US" altLang="zh-CN" sz="3200" dirty="0" smtClean="0">
              <a:solidFill>
                <a:schemeClr val="bg1"/>
              </a:solidFill>
              <a:latin typeface="+mn-ea"/>
            </a:endParaRPr>
          </a:p>
          <a:p>
            <a:pPr marL="457200" indent="-457200">
              <a:buFont typeface="Wingdings" panose="05000000000000000000" pitchFamily="2" charset="2"/>
              <a:buChar char="n"/>
            </a:pPr>
            <a:r>
              <a:rPr lang="zh-CN" altLang="en-US" sz="3200" dirty="0" smtClean="0">
                <a:solidFill>
                  <a:schemeClr val="bg1"/>
                </a:solidFill>
                <a:latin typeface="+mn-ea"/>
              </a:rPr>
              <a:t>在</a:t>
            </a:r>
            <a:r>
              <a:rPr lang="zh-CN" altLang="en-US" sz="3200" dirty="0">
                <a:solidFill>
                  <a:schemeClr val="bg1"/>
                </a:solidFill>
                <a:latin typeface="+mn-ea"/>
              </a:rPr>
              <a:t>发达经济体，由于以“认知任务为导向”的就业岗位更为盛行，</a:t>
            </a:r>
            <a:r>
              <a:rPr lang="zh-CN" altLang="en-US" sz="3200" b="1" dirty="0">
                <a:solidFill>
                  <a:schemeClr val="bg1"/>
                </a:solidFill>
                <a:latin typeface="+mn-ea"/>
              </a:rPr>
              <a:t>约</a:t>
            </a:r>
            <a:r>
              <a:rPr lang="en-US" altLang="zh-CN" sz="3200" b="1" dirty="0">
                <a:solidFill>
                  <a:schemeClr val="bg1"/>
                </a:solidFill>
                <a:latin typeface="+mn-ea"/>
              </a:rPr>
              <a:t>60%</a:t>
            </a:r>
            <a:r>
              <a:rPr lang="zh-CN" altLang="en-US" sz="3200" b="1" dirty="0">
                <a:solidFill>
                  <a:schemeClr val="bg1"/>
                </a:solidFill>
                <a:latin typeface="+mn-ea"/>
              </a:rPr>
              <a:t>的工作将受到人工智能的影响</a:t>
            </a:r>
            <a:r>
              <a:rPr lang="zh-CN" altLang="en-US" sz="3200" dirty="0" smtClean="0">
                <a:solidFill>
                  <a:schemeClr val="bg1"/>
                </a:solidFill>
                <a:latin typeface="+mn-ea"/>
              </a:rPr>
              <a:t>。</a:t>
            </a:r>
            <a:endParaRPr lang="en-US" altLang="zh-CN" sz="3200" dirty="0" smtClean="0">
              <a:solidFill>
                <a:schemeClr val="bg1"/>
              </a:solidFill>
              <a:latin typeface="+mn-ea"/>
            </a:endParaRPr>
          </a:p>
          <a:p>
            <a:pPr marL="457200" indent="-457200">
              <a:buFont typeface="Wingdings" panose="05000000000000000000" pitchFamily="2" charset="2"/>
              <a:buChar char="n"/>
            </a:pPr>
            <a:r>
              <a:rPr lang="zh-CN" altLang="en-US" sz="3200" dirty="0" smtClean="0">
                <a:solidFill>
                  <a:schemeClr val="bg1"/>
                </a:solidFill>
                <a:latin typeface="+mn-ea"/>
              </a:rPr>
              <a:t>人工智能</a:t>
            </a:r>
            <a:r>
              <a:rPr lang="zh-CN" altLang="en-US" sz="3200" dirty="0">
                <a:solidFill>
                  <a:schemeClr val="bg1"/>
                </a:solidFill>
                <a:latin typeface="+mn-ea"/>
              </a:rPr>
              <a:t>的应用可能取代目前由人类执行的关键工作</a:t>
            </a:r>
            <a:r>
              <a:rPr lang="zh-CN" altLang="en-US" sz="3200" dirty="0" smtClean="0">
                <a:solidFill>
                  <a:schemeClr val="bg1"/>
                </a:solidFill>
                <a:latin typeface="+mn-ea"/>
              </a:rPr>
              <a:t>，</a:t>
            </a:r>
            <a:r>
              <a:rPr lang="zh-CN" altLang="en-US" sz="3200" b="1" dirty="0" smtClean="0">
                <a:solidFill>
                  <a:schemeClr val="bg1"/>
                </a:solidFill>
                <a:latin typeface="+mn-ea"/>
              </a:rPr>
              <a:t>一些</a:t>
            </a:r>
            <a:r>
              <a:rPr lang="zh-CN" altLang="en-US" sz="3200" b="1" dirty="0">
                <a:solidFill>
                  <a:schemeClr val="bg1"/>
                </a:solidFill>
                <a:latin typeface="+mn-ea"/>
              </a:rPr>
              <a:t>岗位可能会永远消失</a:t>
            </a:r>
            <a:r>
              <a:rPr lang="zh-CN" altLang="en-US" sz="3200" b="1" dirty="0" smtClean="0">
                <a:solidFill>
                  <a:schemeClr val="bg1"/>
                </a:solidFill>
                <a:latin typeface="+mn-ea"/>
              </a:rPr>
              <a:t>。</a:t>
            </a:r>
            <a:endParaRPr lang="zh-CN" altLang="en-US" sz="3200" b="1" dirty="0">
              <a:solidFill>
                <a:schemeClr val="bg1"/>
              </a:solidFill>
              <a:latin typeface="+mn-ea"/>
            </a:endParaRPr>
          </a:p>
          <a:p>
            <a:pPr marL="457200" indent="-457200">
              <a:buFont typeface="Wingdings" panose="05000000000000000000" pitchFamily="2" charset="2"/>
              <a:buChar char="n"/>
            </a:pPr>
            <a:r>
              <a:rPr lang="zh-CN" altLang="en-US" sz="3200" dirty="0" smtClean="0">
                <a:solidFill>
                  <a:schemeClr val="bg1"/>
                </a:solidFill>
                <a:latin typeface="+mn-ea"/>
              </a:rPr>
              <a:t>在</a:t>
            </a:r>
            <a:r>
              <a:rPr lang="zh-CN" altLang="en-US" sz="3200" dirty="0">
                <a:solidFill>
                  <a:schemeClr val="bg1"/>
                </a:solidFill>
                <a:latin typeface="+mn-ea"/>
              </a:rPr>
              <a:t>新兴市场经济体和低收入经济体，人工智能对就业的总体风险敞口分别为</a:t>
            </a:r>
            <a:r>
              <a:rPr lang="en-US" altLang="zh-CN" sz="3200" dirty="0">
                <a:solidFill>
                  <a:schemeClr val="bg1"/>
                </a:solidFill>
                <a:latin typeface="+mn-ea"/>
              </a:rPr>
              <a:t>40%</a:t>
            </a:r>
            <a:r>
              <a:rPr lang="zh-CN" altLang="en-US" sz="3200" dirty="0">
                <a:solidFill>
                  <a:schemeClr val="bg1"/>
                </a:solidFill>
                <a:latin typeface="+mn-ea"/>
              </a:rPr>
              <a:t>和</a:t>
            </a:r>
            <a:r>
              <a:rPr lang="en-US" altLang="zh-CN" sz="3200" dirty="0">
                <a:solidFill>
                  <a:schemeClr val="bg1"/>
                </a:solidFill>
                <a:latin typeface="+mn-ea"/>
              </a:rPr>
              <a:t>26%</a:t>
            </a:r>
            <a:r>
              <a:rPr lang="zh-CN" altLang="en-US" sz="3200" dirty="0" smtClean="0">
                <a:solidFill>
                  <a:schemeClr val="bg1"/>
                </a:solidFill>
                <a:latin typeface="+mn-ea"/>
              </a:rPr>
              <a:t>。</a:t>
            </a:r>
            <a:endParaRPr lang="en-US" altLang="zh-CN" sz="3200" dirty="0">
              <a:solidFill>
                <a:schemeClr val="bg1"/>
              </a:solidFill>
              <a:latin typeface="+mn-ea"/>
            </a:endParaRPr>
          </a:p>
          <a:p>
            <a:pPr marL="457200" indent="-457200">
              <a:buFont typeface="Wingdings" panose="05000000000000000000" pitchFamily="2" charset="2"/>
              <a:buChar char="n"/>
            </a:pPr>
            <a:r>
              <a:rPr lang="zh-CN" altLang="en-US" sz="3200" dirty="0">
                <a:solidFill>
                  <a:schemeClr val="bg1"/>
                </a:solidFill>
                <a:latin typeface="+mn-ea"/>
              </a:rPr>
              <a:t>对话助理对经验丰富和高技能工人的影响却很</a:t>
            </a:r>
            <a:r>
              <a:rPr lang="zh-CN" altLang="en-US" sz="3200" dirty="0" smtClean="0">
                <a:solidFill>
                  <a:schemeClr val="bg1"/>
                </a:solidFill>
                <a:latin typeface="+mn-ea"/>
              </a:rPr>
              <a:t>小</a:t>
            </a:r>
            <a:endParaRPr lang="en-US" altLang="zh-CN" sz="3200" dirty="0" smtClean="0">
              <a:solidFill>
                <a:schemeClr val="bg1"/>
              </a:solidFill>
              <a:latin typeface="+mn-ea"/>
            </a:endParaRPr>
          </a:p>
          <a:p>
            <a:r>
              <a:rPr lang="en-US" altLang="zh-CN" sz="2000" dirty="0">
                <a:solidFill>
                  <a:schemeClr val="bg1"/>
                </a:solidFill>
                <a:latin typeface="+mn-ea"/>
              </a:rPr>
              <a:t>CF40</a:t>
            </a:r>
            <a:r>
              <a:rPr lang="zh-CN" altLang="en-US" sz="2000" dirty="0">
                <a:solidFill>
                  <a:schemeClr val="bg1"/>
                </a:solidFill>
                <a:latin typeface="+mn-ea"/>
              </a:rPr>
              <a:t>综合</a:t>
            </a:r>
            <a:r>
              <a:rPr lang="en-US" altLang="zh-CN" sz="2000" dirty="0">
                <a:solidFill>
                  <a:schemeClr val="bg1"/>
                </a:solidFill>
                <a:latin typeface="+mn-ea"/>
              </a:rPr>
              <a:t>. IMF</a:t>
            </a:r>
            <a:r>
              <a:rPr lang="zh-CN" altLang="en-US" sz="2000" dirty="0">
                <a:solidFill>
                  <a:schemeClr val="bg1"/>
                </a:solidFill>
                <a:latin typeface="+mn-ea"/>
              </a:rPr>
              <a:t>：</a:t>
            </a:r>
            <a:r>
              <a:rPr lang="en-US" altLang="zh-CN" sz="2000" dirty="0">
                <a:solidFill>
                  <a:schemeClr val="bg1"/>
                </a:solidFill>
                <a:latin typeface="+mn-ea"/>
              </a:rPr>
              <a:t>AI</a:t>
            </a:r>
            <a:r>
              <a:rPr lang="zh-CN" altLang="en-US" sz="2000" dirty="0">
                <a:solidFill>
                  <a:schemeClr val="bg1"/>
                </a:solidFill>
                <a:latin typeface="+mn-ea"/>
              </a:rPr>
              <a:t>将影响全球近四成就业，各国亟需升级监管框架</a:t>
            </a:r>
            <a:r>
              <a:rPr lang="en-US" altLang="zh-CN" sz="2000" dirty="0">
                <a:solidFill>
                  <a:schemeClr val="bg1"/>
                </a:solidFill>
                <a:latin typeface="+mn-ea"/>
              </a:rPr>
              <a:t>.</a:t>
            </a:r>
            <a:r>
              <a:rPr lang="zh-CN" altLang="en-US" sz="2000" dirty="0">
                <a:solidFill>
                  <a:schemeClr val="bg1"/>
                </a:solidFill>
                <a:latin typeface="+mn-ea"/>
              </a:rPr>
              <a:t>中国金融四十人论坛</a:t>
            </a:r>
            <a:r>
              <a:rPr lang="en-US" altLang="zh-CN" sz="2000" dirty="0">
                <a:solidFill>
                  <a:schemeClr val="bg1"/>
                </a:solidFill>
                <a:latin typeface="+mn-ea"/>
              </a:rPr>
              <a:t>.</a:t>
            </a:r>
            <a:r>
              <a:rPr lang="zh-CN" altLang="en-US" sz="2000" dirty="0">
                <a:solidFill>
                  <a:schemeClr val="bg1"/>
                </a:solidFill>
                <a:latin typeface="+mn-ea"/>
              </a:rPr>
              <a:t> </a:t>
            </a:r>
            <a:r>
              <a:rPr lang="en-US" altLang="zh-CN" sz="2000" dirty="0" smtClean="0">
                <a:solidFill>
                  <a:schemeClr val="bg1"/>
                </a:solidFill>
                <a:latin typeface="+mn-ea"/>
              </a:rPr>
              <a:t>2024-01-18</a:t>
            </a:r>
            <a:endParaRPr lang="en-US" altLang="zh-CN" sz="2000" dirty="0">
              <a:solidFill>
                <a:schemeClr val="bg1"/>
              </a:solidFill>
              <a:latin typeface="+mn-ea"/>
            </a:endParaRPr>
          </a:p>
        </p:txBody>
      </p:sp>
    </p:spTree>
    <p:extLst>
      <p:ext uri="{BB962C8B-B14F-4D97-AF65-F5344CB8AC3E}">
        <p14:creationId xmlns:p14="http://schemas.microsoft.com/office/powerpoint/2010/main" val="18837588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511629" y="397330"/>
            <a:ext cx="10591800" cy="865414"/>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pPr marL="0" lvl="1" algn="ctr"/>
            <a:r>
              <a:rPr lang="en-US" altLang="zh-CN" sz="3200" b="1" dirty="0">
                <a:solidFill>
                  <a:srgbClr val="FFFF00"/>
                </a:solidFill>
                <a:latin typeface="微软雅黑" panose="020B0503020204020204" pitchFamily="34" charset="-122"/>
                <a:ea typeface="微软雅黑" panose="020B0503020204020204" pitchFamily="34" charset="-122"/>
              </a:rPr>
              <a:t>AI</a:t>
            </a:r>
            <a:r>
              <a:rPr lang="zh-CN" altLang="en-US" sz="3200" b="1" dirty="0">
                <a:solidFill>
                  <a:srgbClr val="FFFF00"/>
                </a:solidFill>
                <a:latin typeface="微软雅黑" panose="020B0503020204020204" pitchFamily="34" charset="-122"/>
                <a:ea typeface="微软雅黑" panose="020B0503020204020204" pitchFamily="34" charset="-122"/>
              </a:rPr>
              <a:t>对职业</a:t>
            </a:r>
            <a:r>
              <a:rPr lang="zh-CN" altLang="en-US" sz="3200" b="1" dirty="0" smtClean="0">
                <a:solidFill>
                  <a:srgbClr val="FFFF00"/>
                </a:solidFill>
                <a:latin typeface="微软雅黑" panose="020B0503020204020204" pitchFamily="34" charset="-122"/>
                <a:ea typeface="微软雅黑" panose="020B0503020204020204" pitchFamily="34" charset="-122"/>
              </a:rPr>
              <a:t>影响</a:t>
            </a:r>
            <a:r>
              <a:rPr lang="en-US" altLang="zh-CN" sz="3200" b="1" dirty="0" smtClean="0">
                <a:solidFill>
                  <a:srgbClr val="FFFF00"/>
                </a:solidFill>
                <a:latin typeface="微软雅黑" panose="020B0503020204020204" pitchFamily="34" charset="-122"/>
                <a:ea typeface="微软雅黑" panose="020B0503020204020204" pitchFamily="34" charset="-122"/>
              </a:rPr>
              <a:t>-</a:t>
            </a:r>
            <a:r>
              <a:rPr lang="zh-CN" altLang="en-US" sz="3200" b="1" dirty="0" smtClean="0">
                <a:solidFill>
                  <a:srgbClr val="FFC000"/>
                </a:solidFill>
                <a:latin typeface="微软雅黑" panose="020B0503020204020204" pitchFamily="34" charset="-122"/>
                <a:ea typeface="微软雅黑" panose="020B0503020204020204" pitchFamily="34" charset="-122"/>
              </a:rPr>
              <a:t>代码助理</a:t>
            </a:r>
            <a:endParaRPr lang="en-US" altLang="zh-CN" sz="32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476702" y="1502407"/>
            <a:ext cx="11510936" cy="5011966"/>
          </a:xfrm>
          <a:prstGeom prst="rect">
            <a:avLst/>
          </a:prstGeom>
          <a:noFill/>
        </p:spPr>
        <p:txBody>
          <a:bodyPr wrap="square" lIns="86694" tIns="43347" rIns="86694" bIns="43347">
            <a:spAutoFit/>
          </a:bodyPr>
          <a:lstStyle/>
          <a:p>
            <a:pPr marL="285750" indent="-285750">
              <a:buFont typeface="Wingdings" panose="05000000000000000000" pitchFamily="2" charset="2"/>
              <a:buChar char="n"/>
            </a:pPr>
            <a:r>
              <a:rPr lang="zh-CN" altLang="en-US" sz="2800" b="1" dirty="0" smtClean="0">
                <a:solidFill>
                  <a:schemeClr val="bg1"/>
                </a:solidFill>
                <a:latin typeface="+mn-ea"/>
              </a:rPr>
              <a:t> </a:t>
            </a:r>
            <a:r>
              <a:rPr lang="zh-CN" altLang="en-US" sz="2800" dirty="0" smtClean="0">
                <a:solidFill>
                  <a:schemeClr val="bg1"/>
                </a:solidFill>
                <a:latin typeface="+mn-ea"/>
              </a:rPr>
              <a:t>阿</a:t>
            </a:r>
            <a:r>
              <a:rPr lang="zh-CN" altLang="en-US" sz="2800" dirty="0">
                <a:solidFill>
                  <a:schemeClr val="bg1"/>
                </a:solidFill>
                <a:latin typeface="+mn-ea"/>
              </a:rPr>
              <a:t>里云数万名工程师最近频繁打交道的新同事 </a:t>
            </a:r>
            <a:r>
              <a:rPr lang="en-US" altLang="zh-CN" sz="2800" dirty="0">
                <a:solidFill>
                  <a:schemeClr val="bg1"/>
                </a:solidFill>
                <a:latin typeface="+mn-ea"/>
              </a:rPr>
              <a:t>——</a:t>
            </a:r>
            <a:r>
              <a:rPr lang="zh-CN" altLang="en-US" sz="2800" dirty="0">
                <a:solidFill>
                  <a:schemeClr val="bg1"/>
                </a:solidFill>
                <a:latin typeface="+mn-ea"/>
              </a:rPr>
              <a:t>「通义灵码」，专属工号「</a:t>
            </a:r>
            <a:r>
              <a:rPr lang="en-US" altLang="zh-CN" sz="2800" dirty="0">
                <a:solidFill>
                  <a:schemeClr val="bg1"/>
                </a:solidFill>
                <a:latin typeface="+mn-ea"/>
              </a:rPr>
              <a:t>AI001</a:t>
            </a:r>
            <a:r>
              <a:rPr lang="zh-CN" altLang="en-US" sz="2800" dirty="0">
                <a:solidFill>
                  <a:schemeClr val="bg1"/>
                </a:solidFill>
                <a:latin typeface="+mn-ea"/>
              </a:rPr>
              <a:t>」</a:t>
            </a:r>
            <a:r>
              <a:rPr lang="zh-CN" altLang="en-US" sz="2800" dirty="0" smtClean="0">
                <a:solidFill>
                  <a:schemeClr val="bg1"/>
                </a:solidFill>
                <a:latin typeface="+mn-ea"/>
              </a:rPr>
              <a:t>。通</a:t>
            </a:r>
            <a:r>
              <a:rPr lang="zh-CN" altLang="en-US" sz="2800" dirty="0">
                <a:solidFill>
                  <a:schemeClr val="bg1"/>
                </a:solidFill>
                <a:latin typeface="+mn-ea"/>
              </a:rPr>
              <a:t>义灵码入职，它在阿里云内部各个开发环节担任起了</a:t>
            </a:r>
            <a:r>
              <a:rPr lang="zh-CN" altLang="en-US" sz="2800" b="1" dirty="0">
                <a:solidFill>
                  <a:srgbClr val="FFC000"/>
                </a:solidFill>
                <a:latin typeface="+mn-ea"/>
              </a:rPr>
              <a:t>「代码助理」</a:t>
            </a:r>
            <a:r>
              <a:rPr lang="zh-CN" altLang="en-US" sz="2800" dirty="0">
                <a:solidFill>
                  <a:schemeClr val="bg1"/>
                </a:solidFill>
                <a:latin typeface="+mn-ea"/>
              </a:rPr>
              <a:t>角色，包括在写代码、读代码、查 </a:t>
            </a:r>
            <a:r>
              <a:rPr lang="en-US" altLang="zh-CN" sz="2800" dirty="0">
                <a:solidFill>
                  <a:schemeClr val="bg1"/>
                </a:solidFill>
                <a:latin typeface="+mn-ea"/>
              </a:rPr>
              <a:t>BUG</a:t>
            </a:r>
            <a:r>
              <a:rPr lang="zh-CN" altLang="en-US" sz="2800" dirty="0">
                <a:solidFill>
                  <a:schemeClr val="bg1"/>
                </a:solidFill>
                <a:latin typeface="+mn-ea"/>
              </a:rPr>
              <a:t>、优化代码的全流程中辅助工程师们</a:t>
            </a:r>
            <a:r>
              <a:rPr lang="zh-CN" altLang="en-US" sz="2800" dirty="0" smtClean="0">
                <a:solidFill>
                  <a:schemeClr val="bg1"/>
                </a:solidFill>
                <a:latin typeface="+mn-ea"/>
              </a:rPr>
              <a:t>。</a:t>
            </a:r>
            <a:endParaRPr lang="en-US" altLang="zh-CN" sz="2800" dirty="0">
              <a:solidFill>
                <a:schemeClr val="bg1"/>
              </a:solidFill>
              <a:latin typeface="+mn-ea"/>
            </a:endParaRPr>
          </a:p>
          <a:p>
            <a:pPr marL="285750" indent="-285750">
              <a:buFont typeface="Wingdings" panose="05000000000000000000" pitchFamily="2" charset="2"/>
              <a:buChar char="n"/>
            </a:pPr>
            <a:r>
              <a:rPr lang="en-US" altLang="zh-CN" sz="2800" dirty="0" smtClean="0">
                <a:solidFill>
                  <a:schemeClr val="bg1"/>
                </a:solidFill>
                <a:latin typeface="+mn-ea"/>
              </a:rPr>
              <a:t> </a:t>
            </a:r>
            <a:r>
              <a:rPr lang="zh-CN" altLang="en-US" sz="2800" dirty="0" smtClean="0">
                <a:solidFill>
                  <a:schemeClr val="bg1"/>
                </a:solidFill>
                <a:latin typeface="+mn-ea"/>
              </a:rPr>
              <a:t>以 </a:t>
            </a:r>
            <a:r>
              <a:rPr lang="en-US" altLang="zh-CN" sz="2800" dirty="0">
                <a:solidFill>
                  <a:schemeClr val="bg1"/>
                </a:solidFill>
                <a:latin typeface="+mn-ea"/>
              </a:rPr>
              <a:t>API </a:t>
            </a:r>
            <a:r>
              <a:rPr lang="zh-CN" altLang="en-US" sz="2800" dirty="0">
                <a:solidFill>
                  <a:schemeClr val="bg1"/>
                </a:solidFill>
                <a:latin typeface="+mn-ea"/>
              </a:rPr>
              <a:t>开发测试工作为例，通义灵码可将数分钟甚至十几分钟的人工编写测试耗时缩短到秒级，</a:t>
            </a:r>
            <a:r>
              <a:rPr lang="zh-CN" altLang="en-US" sz="2800" b="1" dirty="0">
                <a:solidFill>
                  <a:schemeClr val="bg1"/>
                </a:solidFill>
                <a:latin typeface="+mn-ea"/>
              </a:rPr>
              <a:t>节省了人类程序员 </a:t>
            </a:r>
            <a:r>
              <a:rPr lang="en-US" altLang="zh-CN" sz="2800" b="1" dirty="0">
                <a:solidFill>
                  <a:schemeClr val="bg1"/>
                </a:solidFill>
                <a:latin typeface="+mn-ea"/>
              </a:rPr>
              <a:t>70% </a:t>
            </a:r>
            <a:r>
              <a:rPr lang="zh-CN" altLang="en-US" sz="2800" b="1" dirty="0">
                <a:solidFill>
                  <a:schemeClr val="bg1"/>
                </a:solidFill>
                <a:latin typeface="+mn-ea"/>
              </a:rPr>
              <a:t>以上的测试代码工作量</a:t>
            </a:r>
            <a:r>
              <a:rPr lang="zh-CN" altLang="en-US" sz="2800" b="1" dirty="0" smtClean="0">
                <a:solidFill>
                  <a:schemeClr val="bg1"/>
                </a:solidFill>
                <a:latin typeface="+mn-ea"/>
              </a:rPr>
              <a:t>。</a:t>
            </a:r>
            <a:endParaRPr lang="en-US" altLang="zh-CN" sz="2800" b="1" dirty="0" smtClean="0">
              <a:solidFill>
                <a:schemeClr val="bg1"/>
              </a:solidFill>
              <a:latin typeface="+mn-ea"/>
            </a:endParaRPr>
          </a:p>
          <a:p>
            <a:pPr marL="285750" indent="-285750">
              <a:buFont typeface="Wingdings" panose="05000000000000000000" pitchFamily="2" charset="2"/>
              <a:buChar char="n"/>
            </a:pPr>
            <a:r>
              <a:rPr lang="en-US" altLang="zh-CN" sz="2800" dirty="0">
                <a:solidFill>
                  <a:schemeClr val="bg1"/>
                </a:solidFill>
                <a:latin typeface="+mn-ea"/>
              </a:rPr>
              <a:t> </a:t>
            </a:r>
            <a:r>
              <a:rPr lang="zh-CN" altLang="en-US" sz="2800" dirty="0" smtClean="0">
                <a:solidFill>
                  <a:schemeClr val="bg1"/>
                </a:solidFill>
                <a:latin typeface="+mn-ea"/>
              </a:rPr>
              <a:t>而</a:t>
            </a:r>
            <a:r>
              <a:rPr lang="zh-CN" altLang="en-US" sz="2800" dirty="0">
                <a:solidFill>
                  <a:schemeClr val="bg1"/>
                </a:solidFill>
                <a:latin typeface="+mn-ea"/>
              </a:rPr>
              <a:t>阿里</a:t>
            </a:r>
            <a:r>
              <a:rPr lang="zh-CN" altLang="en-US" sz="2800" dirty="0" smtClean="0">
                <a:solidFill>
                  <a:schemeClr val="bg1"/>
                </a:solidFill>
                <a:latin typeface="+mn-ea"/>
              </a:rPr>
              <a:t>云再次</a:t>
            </a:r>
            <a:r>
              <a:rPr lang="zh-CN" altLang="en-US" sz="2800" dirty="0">
                <a:solidFill>
                  <a:schemeClr val="bg1"/>
                </a:solidFill>
                <a:latin typeface="+mn-ea"/>
              </a:rPr>
              <a:t>宣布，通义灵码在通义千问 </a:t>
            </a:r>
            <a:r>
              <a:rPr lang="en-US" altLang="zh-CN" sz="2800" dirty="0">
                <a:solidFill>
                  <a:schemeClr val="bg1"/>
                </a:solidFill>
                <a:latin typeface="+mn-ea"/>
              </a:rPr>
              <a:t>APP </a:t>
            </a:r>
            <a:r>
              <a:rPr lang="zh-CN" altLang="en-US" sz="2800" dirty="0">
                <a:solidFill>
                  <a:schemeClr val="bg1"/>
                </a:solidFill>
                <a:latin typeface="+mn-ea"/>
              </a:rPr>
              <a:t>上线， 免费向全民开放，所有人可以随时随地在手机上写代码、读代码、学习编程技能</a:t>
            </a:r>
            <a:r>
              <a:rPr lang="zh-CN" altLang="en-US" sz="2800" dirty="0" smtClean="0">
                <a:solidFill>
                  <a:schemeClr val="bg1"/>
                </a:solidFill>
                <a:latin typeface="+mn-ea"/>
              </a:rPr>
              <a:t>。</a:t>
            </a:r>
            <a:endParaRPr lang="en-US" altLang="zh-CN" sz="2800" dirty="0" smtClean="0">
              <a:solidFill>
                <a:schemeClr val="bg1"/>
              </a:solidFill>
              <a:latin typeface="+mn-ea"/>
            </a:endParaRPr>
          </a:p>
          <a:p>
            <a:r>
              <a:rPr lang="zh-CN" altLang="en-US" dirty="0">
                <a:solidFill>
                  <a:schemeClr val="bg1"/>
                </a:solidFill>
                <a:latin typeface="+mn-ea"/>
              </a:rPr>
              <a:t>国内首个</a:t>
            </a:r>
            <a:r>
              <a:rPr lang="en-US" altLang="zh-CN" dirty="0">
                <a:solidFill>
                  <a:schemeClr val="bg1"/>
                </a:solidFill>
                <a:latin typeface="+mn-ea"/>
              </a:rPr>
              <a:t>AI</a:t>
            </a:r>
            <a:r>
              <a:rPr lang="zh-CN" altLang="en-US" dirty="0">
                <a:solidFill>
                  <a:schemeClr val="bg1"/>
                </a:solidFill>
                <a:latin typeface="+mn-ea"/>
              </a:rPr>
              <a:t>程序员入职阿里云：专属工号</a:t>
            </a:r>
            <a:r>
              <a:rPr lang="en-US" altLang="zh-CN" dirty="0">
                <a:solidFill>
                  <a:schemeClr val="bg1"/>
                </a:solidFill>
                <a:latin typeface="+mn-ea"/>
              </a:rPr>
              <a:t>AI001</a:t>
            </a:r>
            <a:r>
              <a:rPr lang="zh-CN" altLang="en-US" dirty="0">
                <a:solidFill>
                  <a:schemeClr val="bg1"/>
                </a:solidFill>
                <a:latin typeface="+mn-ea"/>
              </a:rPr>
              <a:t>，</a:t>
            </a:r>
            <a:r>
              <a:rPr lang="en-US" altLang="zh-CN" dirty="0">
                <a:solidFill>
                  <a:schemeClr val="bg1"/>
                </a:solidFill>
                <a:latin typeface="+mn-ea"/>
              </a:rPr>
              <a:t>KPI</a:t>
            </a:r>
            <a:r>
              <a:rPr lang="zh-CN" altLang="en-US" dirty="0">
                <a:solidFill>
                  <a:schemeClr val="bg1"/>
                </a:solidFill>
                <a:latin typeface="+mn-ea"/>
              </a:rPr>
              <a:t>是一人写完公司</a:t>
            </a:r>
            <a:r>
              <a:rPr lang="en-US" altLang="zh-CN" dirty="0">
                <a:solidFill>
                  <a:schemeClr val="bg1"/>
                </a:solidFill>
                <a:latin typeface="+mn-ea"/>
              </a:rPr>
              <a:t>20%</a:t>
            </a:r>
            <a:r>
              <a:rPr lang="zh-CN" altLang="en-US" dirty="0" smtClean="0">
                <a:solidFill>
                  <a:schemeClr val="bg1"/>
                </a:solidFill>
                <a:latin typeface="+mn-ea"/>
              </a:rPr>
              <a:t>代码</a:t>
            </a:r>
            <a:r>
              <a:rPr lang="en-US" altLang="zh-CN" dirty="0" smtClean="0">
                <a:solidFill>
                  <a:schemeClr val="bg1"/>
                </a:solidFill>
                <a:latin typeface="+mn-ea"/>
              </a:rPr>
              <a:t>.</a:t>
            </a:r>
            <a:r>
              <a:rPr lang="zh-CN" altLang="en-US" dirty="0" smtClean="0">
                <a:solidFill>
                  <a:schemeClr val="bg1"/>
                </a:solidFill>
                <a:latin typeface="+mn-ea"/>
              </a:rPr>
              <a:t>关注</a:t>
            </a:r>
            <a:r>
              <a:rPr lang="zh-CN" altLang="en-US" dirty="0">
                <a:solidFill>
                  <a:schemeClr val="bg1"/>
                </a:solidFill>
                <a:latin typeface="+mn-ea"/>
              </a:rPr>
              <a:t>大模型的 机器之心 </a:t>
            </a:r>
            <a:r>
              <a:rPr lang="en-US" altLang="zh-CN" dirty="0">
                <a:solidFill>
                  <a:schemeClr val="bg1"/>
                </a:solidFill>
                <a:latin typeface="+mn-ea"/>
              </a:rPr>
              <a:t>2024-04-03</a:t>
            </a:r>
          </a:p>
          <a:p>
            <a:pPr marL="325115" indent="-325115">
              <a:buFont typeface="Wingdings" panose="05000000000000000000" pitchFamily="2" charset="2"/>
              <a:buChar char="n"/>
            </a:pPr>
            <a:endParaRPr lang="en-US" altLang="zh-CN" sz="3200" dirty="0" smtClean="0">
              <a:solidFill>
                <a:srgbClr val="00FFFF"/>
              </a:solidFill>
              <a:latin typeface="微软雅黑" panose="020B0503020204020204" pitchFamily="34" charset="-122"/>
              <a:ea typeface="微软雅黑" panose="020B0503020204020204" pitchFamily="34" charset="-122"/>
              <a:sym typeface="Wingdings" panose="05000000000000000000" pitchFamily="2" charset="2"/>
            </a:endParaRPr>
          </a:p>
        </p:txBody>
      </p:sp>
    </p:spTree>
    <p:extLst>
      <p:ext uri="{BB962C8B-B14F-4D97-AF65-F5344CB8AC3E}">
        <p14:creationId xmlns:p14="http://schemas.microsoft.com/office/powerpoint/2010/main" val="10452254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7" name="TextBox 48"/>
          <p:cNvSpPr txBox="1"/>
          <p:nvPr/>
        </p:nvSpPr>
        <p:spPr>
          <a:xfrm>
            <a:off x="540000" y="2291444"/>
            <a:ext cx="11164320" cy="2084225"/>
          </a:xfrm>
          <a:prstGeom prst="rect">
            <a:avLst/>
          </a:prstGeom>
          <a:noFill/>
        </p:spPr>
        <p:txBody>
          <a:bodyPr wrap="square" lIns="0" tIns="0" rIns="0" bIns="0" rtlCol="0">
            <a:spAutoFit/>
          </a:bodyPr>
          <a:lstStyle/>
          <a:p>
            <a:pPr algn="ctr">
              <a:lnSpc>
                <a:spcPct val="150000"/>
              </a:lnSpc>
            </a:pPr>
            <a:r>
              <a:rPr lang="zh-CN" altLang="en-US" sz="4800" b="1" dirty="0" smtClean="0">
                <a:solidFill>
                  <a:srgbClr val="FFFF00"/>
                </a:solidFill>
                <a:ea typeface="微软雅黑" panose="020B0503020204020204" pitchFamily="34" charset="-122"/>
              </a:rPr>
              <a:t>创新伙伴</a:t>
            </a:r>
            <a:endParaRPr lang="en-US" altLang="zh-CN" sz="4800" b="1" dirty="0" smtClean="0">
              <a:solidFill>
                <a:srgbClr val="FFFF00"/>
              </a:solidFill>
              <a:ea typeface="微软雅黑" panose="020B0503020204020204" pitchFamily="34" charset="-122"/>
            </a:endParaRPr>
          </a:p>
          <a:p>
            <a:pPr algn="ctr">
              <a:lnSpc>
                <a:spcPct val="150000"/>
              </a:lnSpc>
            </a:pPr>
            <a:r>
              <a:rPr lang="zh-CN" altLang="en-US" sz="4800" b="1" dirty="0" smtClean="0">
                <a:solidFill>
                  <a:srgbClr val="FFFF00"/>
                </a:solidFill>
                <a:ea typeface="微软雅黑" panose="020B0503020204020204" pitchFamily="34" charset="-122"/>
              </a:rPr>
              <a:t>生成式</a:t>
            </a:r>
            <a:r>
              <a:rPr lang="en-US" altLang="zh-CN" sz="4800" b="1" dirty="0" smtClean="0">
                <a:solidFill>
                  <a:srgbClr val="FFFF00"/>
                </a:solidFill>
                <a:ea typeface="微软雅黑" panose="020B0503020204020204" pitchFamily="34" charset="-122"/>
              </a:rPr>
              <a:t>AI</a:t>
            </a:r>
            <a:r>
              <a:rPr lang="zh-CN" altLang="en-US" sz="4800" b="1" dirty="0" smtClean="0">
                <a:solidFill>
                  <a:srgbClr val="FFFF00"/>
                </a:solidFill>
                <a:ea typeface="微软雅黑" panose="020B0503020204020204" pitchFamily="34" charset="-122"/>
              </a:rPr>
              <a:t>可生成</a:t>
            </a:r>
            <a:r>
              <a:rPr lang="zh-CN" altLang="en-US" sz="4800" b="1" dirty="0" smtClean="0">
                <a:solidFill>
                  <a:srgbClr val="FFC000"/>
                </a:solidFill>
                <a:ea typeface="微软雅黑" panose="020B0503020204020204" pitchFamily="34" charset="-122"/>
              </a:rPr>
              <a:t>“创意”</a:t>
            </a:r>
            <a:endParaRPr lang="en-US" altLang="zh-CN" sz="4800" b="1" dirty="0" smtClean="0">
              <a:solidFill>
                <a:srgbClr val="FFC000"/>
              </a:solidFill>
              <a:ea typeface="微软雅黑" panose="020B0503020204020204" pitchFamily="34" charset="-122"/>
            </a:endParaRPr>
          </a:p>
        </p:txBody>
      </p:sp>
      <p:sp>
        <p:nvSpPr>
          <p:cNvPr id="2" name="标题 1"/>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38662778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511629" y="154676"/>
            <a:ext cx="10591800" cy="928046"/>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pPr marL="0" lvl="1" algn="ctr"/>
            <a:r>
              <a:rPr lang="zh-CN" altLang="en-US" sz="3200" b="1" dirty="0">
                <a:solidFill>
                  <a:schemeClr val="bg1"/>
                </a:solidFill>
                <a:latin typeface="+mn-ea"/>
              </a:rPr>
              <a:t>生成式</a:t>
            </a:r>
            <a:r>
              <a:rPr lang="en-US" altLang="zh-CN" sz="3200" b="1" dirty="0">
                <a:solidFill>
                  <a:schemeClr val="bg1"/>
                </a:solidFill>
                <a:latin typeface="+mn-ea"/>
              </a:rPr>
              <a:t>AI</a:t>
            </a:r>
            <a:r>
              <a:rPr lang="zh-CN" altLang="en-US" sz="3200" b="1" dirty="0" smtClean="0">
                <a:solidFill>
                  <a:schemeClr val="bg1"/>
                </a:solidFill>
                <a:latin typeface="+mn-ea"/>
              </a:rPr>
              <a:t>可以生成“创意”</a:t>
            </a:r>
            <a:endParaRPr lang="zh-CN" altLang="zh-CN" sz="3200" b="1" dirty="0">
              <a:solidFill>
                <a:schemeClr val="bg1"/>
              </a:solidFill>
            </a:endParaRPr>
          </a:p>
        </p:txBody>
      </p:sp>
      <p:sp>
        <p:nvSpPr>
          <p:cNvPr id="2" name="矩形 1"/>
          <p:cNvSpPr/>
          <p:nvPr/>
        </p:nvSpPr>
        <p:spPr>
          <a:xfrm>
            <a:off x="332096" y="1273792"/>
            <a:ext cx="11655541" cy="5565963"/>
          </a:xfrm>
          <a:prstGeom prst="rect">
            <a:avLst/>
          </a:prstGeom>
          <a:noFill/>
        </p:spPr>
        <p:txBody>
          <a:bodyPr wrap="square" lIns="86694" tIns="43347" rIns="86694" bIns="43347">
            <a:spAutoFit/>
          </a:bodyPr>
          <a:lstStyle/>
          <a:p>
            <a:pPr marL="457200" indent="-457200">
              <a:buFont typeface="Wingdings" panose="05000000000000000000" pitchFamily="2" charset="2"/>
              <a:buChar char="n"/>
            </a:pPr>
            <a:r>
              <a:rPr lang="zh-CN" altLang="en-US" sz="2800" b="1" dirty="0">
                <a:solidFill>
                  <a:schemeClr val="bg1"/>
                </a:solidFill>
                <a:latin typeface="+mn-ea"/>
              </a:rPr>
              <a:t>在新产品开发的初期阶段，生成式</a:t>
            </a:r>
            <a:r>
              <a:rPr lang="en-US" altLang="zh-CN" sz="2800" b="1" dirty="0">
                <a:solidFill>
                  <a:schemeClr val="bg1"/>
                </a:solidFill>
                <a:latin typeface="+mn-ea"/>
              </a:rPr>
              <a:t>AI</a:t>
            </a:r>
            <a:r>
              <a:rPr lang="zh-CN" altLang="en-US" sz="2800" b="1" dirty="0" smtClean="0">
                <a:solidFill>
                  <a:schemeClr val="bg1"/>
                </a:solidFill>
                <a:latin typeface="+mn-ea"/>
              </a:rPr>
              <a:t>创造非</a:t>
            </a:r>
            <a:r>
              <a:rPr lang="zh-CN" altLang="en-US" sz="2800" b="1" dirty="0">
                <a:solidFill>
                  <a:schemeClr val="bg1"/>
                </a:solidFill>
                <a:latin typeface="+mn-ea"/>
              </a:rPr>
              <a:t>典型</a:t>
            </a:r>
            <a:r>
              <a:rPr lang="zh-CN" altLang="en-US" sz="2800" b="1" dirty="0" smtClean="0">
                <a:solidFill>
                  <a:schemeClr val="bg1"/>
                </a:solidFill>
                <a:latin typeface="+mn-ea"/>
              </a:rPr>
              <a:t>设计</a:t>
            </a:r>
            <a:r>
              <a:rPr lang="en-US" altLang="zh-CN" sz="2800" dirty="0" smtClean="0">
                <a:solidFill>
                  <a:schemeClr val="bg1"/>
                </a:solidFill>
                <a:latin typeface="+mn-ea"/>
              </a:rPr>
              <a:t>——</a:t>
            </a:r>
            <a:r>
              <a:rPr lang="zh-CN" altLang="en-US" sz="2800" dirty="0" smtClean="0">
                <a:solidFill>
                  <a:schemeClr val="bg1"/>
                </a:solidFill>
                <a:latin typeface="+mn-ea"/>
              </a:rPr>
              <a:t>可以</a:t>
            </a:r>
            <a:r>
              <a:rPr lang="zh-CN" altLang="en-US" sz="2800" dirty="0">
                <a:solidFill>
                  <a:schemeClr val="bg1"/>
                </a:solidFill>
                <a:latin typeface="+mn-ea"/>
              </a:rPr>
              <a:t>带来人类用传统方法可能永远无法想象的解决方案</a:t>
            </a:r>
            <a:r>
              <a:rPr lang="zh-CN" altLang="en-US" sz="2800" dirty="0" smtClean="0">
                <a:solidFill>
                  <a:schemeClr val="bg1"/>
                </a:solidFill>
                <a:latin typeface="+mn-ea"/>
              </a:rPr>
              <a:t>。</a:t>
            </a:r>
            <a:endParaRPr lang="en-US" altLang="zh-CN" sz="2800" dirty="0" smtClean="0">
              <a:solidFill>
                <a:schemeClr val="bg1"/>
              </a:solidFill>
              <a:latin typeface="+mn-ea"/>
            </a:endParaRPr>
          </a:p>
          <a:p>
            <a:pPr marL="457200" indent="-457200">
              <a:buFont typeface="Wingdings" panose="05000000000000000000" pitchFamily="2" charset="2"/>
              <a:buChar char="n"/>
            </a:pPr>
            <a:r>
              <a:rPr lang="en-US" altLang="zh-CN" sz="2800" b="1" dirty="0" smtClean="0">
                <a:solidFill>
                  <a:schemeClr val="bg1"/>
                </a:solidFill>
                <a:latin typeface="+mn-ea"/>
              </a:rPr>
              <a:t>Stable </a:t>
            </a:r>
            <a:r>
              <a:rPr lang="en-US" altLang="zh-CN" sz="2800" b="1" dirty="0">
                <a:solidFill>
                  <a:schemeClr val="bg1"/>
                </a:solidFill>
                <a:latin typeface="+mn-ea"/>
              </a:rPr>
              <a:t>Diffusion</a:t>
            </a:r>
            <a:r>
              <a:rPr lang="zh-CN" altLang="en-US" sz="2800" dirty="0">
                <a:solidFill>
                  <a:schemeClr val="bg1"/>
                </a:solidFill>
                <a:latin typeface="+mn-ea"/>
              </a:rPr>
              <a:t>是另一个流行的将文本转换为图像的</a:t>
            </a:r>
            <a:r>
              <a:rPr lang="zh-CN" altLang="en-US" sz="2800" dirty="0" smtClean="0">
                <a:solidFill>
                  <a:schemeClr val="bg1"/>
                </a:solidFill>
                <a:latin typeface="+mn-ea"/>
              </a:rPr>
              <a:t>模型</a:t>
            </a:r>
            <a:endParaRPr lang="en-US" altLang="zh-CN" sz="2800" dirty="0">
              <a:solidFill>
                <a:schemeClr val="bg1"/>
              </a:solidFill>
              <a:latin typeface="+mn-ea"/>
            </a:endParaRPr>
          </a:p>
          <a:p>
            <a:pPr marL="457200" indent="-457200">
              <a:buFont typeface="Wingdings" panose="05000000000000000000" pitchFamily="2" charset="2"/>
              <a:buChar char="n"/>
            </a:pPr>
            <a:r>
              <a:rPr lang="zh-CN" altLang="en-US" sz="2800" dirty="0" smtClean="0">
                <a:solidFill>
                  <a:schemeClr val="bg1"/>
                </a:solidFill>
                <a:latin typeface="+mn-ea"/>
              </a:rPr>
              <a:t>人使用</a:t>
            </a:r>
            <a:r>
              <a:rPr lang="en-US" altLang="zh-CN" sz="2800" b="1" dirty="0" err="1">
                <a:solidFill>
                  <a:schemeClr val="bg1"/>
                </a:solidFill>
                <a:latin typeface="+mn-ea"/>
              </a:rPr>
              <a:t>ChatGPT</a:t>
            </a:r>
            <a:r>
              <a:rPr lang="zh-CN" altLang="en-US" sz="2800" dirty="0">
                <a:solidFill>
                  <a:schemeClr val="bg1"/>
                </a:solidFill>
                <a:latin typeface="+mn-ea"/>
              </a:rPr>
              <a:t>这样的工具来开发产品的细节，然后使用</a:t>
            </a:r>
            <a:r>
              <a:rPr lang="en-US" altLang="zh-CN" sz="2800" dirty="0">
                <a:solidFill>
                  <a:schemeClr val="bg1"/>
                </a:solidFill>
                <a:latin typeface="+mn-ea"/>
              </a:rPr>
              <a:t>Stable Diffusion</a:t>
            </a:r>
            <a:r>
              <a:rPr lang="zh-CN" altLang="en-US" sz="2800" dirty="0">
                <a:solidFill>
                  <a:schemeClr val="bg1"/>
                </a:solidFill>
                <a:latin typeface="+mn-ea"/>
              </a:rPr>
              <a:t>这样的工具，根据一系列的相互提示来获得视觉设计</a:t>
            </a:r>
            <a:r>
              <a:rPr lang="zh-CN" altLang="en-US" sz="2800" dirty="0" smtClean="0">
                <a:solidFill>
                  <a:schemeClr val="bg1"/>
                </a:solidFill>
                <a:latin typeface="+mn-ea"/>
              </a:rPr>
              <a:t>。</a:t>
            </a:r>
            <a:endParaRPr lang="en-US" altLang="zh-CN" sz="2800" dirty="0" smtClean="0">
              <a:solidFill>
                <a:schemeClr val="bg1"/>
              </a:solidFill>
              <a:latin typeface="+mn-ea"/>
            </a:endParaRPr>
          </a:p>
          <a:p>
            <a:pPr marL="457200" indent="-457200">
              <a:buFont typeface="Wingdings" panose="05000000000000000000" pitchFamily="2" charset="2"/>
              <a:buChar char="n"/>
            </a:pPr>
            <a:r>
              <a:rPr lang="zh-CN" altLang="en-US" sz="2800" dirty="0">
                <a:solidFill>
                  <a:schemeClr val="bg1"/>
                </a:solidFill>
                <a:latin typeface="+mn-ea"/>
              </a:rPr>
              <a:t>例</a:t>
            </a:r>
            <a:r>
              <a:rPr lang="zh-CN" altLang="en-US" sz="2800" dirty="0" smtClean="0">
                <a:solidFill>
                  <a:schemeClr val="bg1"/>
                </a:solidFill>
                <a:latin typeface="+mn-ea"/>
              </a:rPr>
              <a:t>：</a:t>
            </a:r>
            <a:r>
              <a:rPr lang="zh-CN" altLang="en-US" sz="2800" dirty="0">
                <a:solidFill>
                  <a:schemeClr val="bg1"/>
                </a:solidFill>
                <a:latin typeface="+mn-ea"/>
              </a:rPr>
              <a:t>“描述一种既能飞行又能在路上行驶的产品，一种</a:t>
            </a:r>
            <a:r>
              <a:rPr lang="zh-CN" altLang="en-US" sz="2800" b="1" dirty="0">
                <a:solidFill>
                  <a:schemeClr val="bg1"/>
                </a:solidFill>
                <a:latin typeface="+mn-ea"/>
              </a:rPr>
              <a:t>飞行汽车</a:t>
            </a:r>
            <a:r>
              <a:rPr lang="zh-CN" altLang="en-US" sz="2800" dirty="0">
                <a:solidFill>
                  <a:schemeClr val="bg1"/>
                </a:solidFill>
                <a:latin typeface="+mn-ea"/>
              </a:rPr>
              <a:t>。”</a:t>
            </a:r>
          </a:p>
          <a:p>
            <a:pPr marL="457200" indent="-457200">
              <a:buFont typeface="Wingdings" panose="05000000000000000000" pitchFamily="2" charset="2"/>
              <a:buChar char="n"/>
            </a:pPr>
            <a:r>
              <a:rPr lang="en-US" altLang="zh-CN" sz="2800" dirty="0" err="1" smtClean="0">
                <a:solidFill>
                  <a:schemeClr val="bg1"/>
                </a:solidFill>
                <a:latin typeface="+mn-ea"/>
              </a:rPr>
              <a:t>ChatGPT</a:t>
            </a:r>
            <a:r>
              <a:rPr lang="zh-CN" altLang="en-US" sz="2800" dirty="0" smtClean="0">
                <a:solidFill>
                  <a:schemeClr val="bg1"/>
                </a:solidFill>
                <a:latin typeface="+mn-ea"/>
              </a:rPr>
              <a:t>描述： “</a:t>
            </a:r>
            <a:r>
              <a:rPr lang="zh-CN" altLang="en-US" sz="2800" dirty="0">
                <a:solidFill>
                  <a:schemeClr val="bg1"/>
                </a:solidFill>
                <a:latin typeface="+mn-ea"/>
              </a:rPr>
              <a:t>凭借其纤细的身体、伸展的翅膀和隐藏的旋翼，这辆车让人想起栩栩如生的蜻蜓。沿机翼和机身的照明标志创造了惊人的视觉效果，有助于让汽车在黑暗中明显可见。”</a:t>
            </a:r>
          </a:p>
          <a:p>
            <a:pPr marL="457200" indent="-457200">
              <a:buFont typeface="Wingdings" panose="05000000000000000000" pitchFamily="2" charset="2"/>
              <a:buChar char="n"/>
            </a:pPr>
            <a:r>
              <a:rPr lang="en-US" altLang="zh-CN" sz="2800" dirty="0">
                <a:solidFill>
                  <a:schemeClr val="bg1"/>
                </a:solidFill>
                <a:latin typeface="+mn-ea"/>
              </a:rPr>
              <a:t>Stable Diffusion</a:t>
            </a:r>
            <a:r>
              <a:rPr lang="zh-CN" altLang="en-US" sz="2800" dirty="0">
                <a:solidFill>
                  <a:schemeClr val="bg1"/>
                </a:solidFill>
                <a:latin typeface="+mn-ea"/>
              </a:rPr>
              <a:t>将这一描述转化为各种版本，保持了可行的设计，并根据蜻蜓翅膀的图案增加了照明元素</a:t>
            </a:r>
            <a:r>
              <a:rPr lang="zh-CN" altLang="en-US" sz="2800" dirty="0" smtClean="0">
                <a:solidFill>
                  <a:schemeClr val="bg1"/>
                </a:solidFill>
                <a:latin typeface="+mn-ea"/>
              </a:rPr>
              <a:t>。</a:t>
            </a:r>
            <a:endParaRPr lang="en-US" altLang="zh-CN" sz="2800" dirty="0" smtClean="0">
              <a:solidFill>
                <a:schemeClr val="bg1"/>
              </a:solidFill>
              <a:latin typeface="+mn-ea"/>
            </a:endParaRPr>
          </a:p>
          <a:p>
            <a:r>
              <a:rPr lang="zh-CN" altLang="en-US" sz="2000" dirty="0" smtClean="0">
                <a:solidFill>
                  <a:schemeClr val="bg1"/>
                </a:solidFill>
                <a:latin typeface="+mn-ea"/>
              </a:rPr>
              <a:t>托</a:t>
            </a:r>
            <a:r>
              <a:rPr lang="zh-CN" altLang="en-US" sz="2000" dirty="0">
                <a:solidFill>
                  <a:schemeClr val="bg1"/>
                </a:solidFill>
                <a:latin typeface="+mn-ea"/>
              </a:rPr>
              <a:t>因</a:t>
            </a:r>
            <a:r>
              <a:rPr lang="en-US" altLang="zh-CN" sz="2000" dirty="0">
                <a:solidFill>
                  <a:schemeClr val="bg1"/>
                </a:solidFill>
                <a:latin typeface="+mn-ea"/>
              </a:rPr>
              <a:t>·</a:t>
            </a:r>
            <a:r>
              <a:rPr lang="zh-CN" altLang="en-US" sz="2000" dirty="0">
                <a:solidFill>
                  <a:schemeClr val="bg1"/>
                </a:solidFill>
                <a:latin typeface="+mn-ea"/>
              </a:rPr>
              <a:t>伊彭（</a:t>
            </a:r>
            <a:r>
              <a:rPr lang="en-US" altLang="zh-CN" sz="2000" dirty="0" err="1">
                <a:solidFill>
                  <a:schemeClr val="bg1"/>
                </a:solidFill>
                <a:latin typeface="+mn-ea"/>
              </a:rPr>
              <a:t>Tojin</a:t>
            </a:r>
            <a:r>
              <a:rPr lang="en-US" altLang="zh-CN" sz="2000" dirty="0">
                <a:solidFill>
                  <a:schemeClr val="bg1"/>
                </a:solidFill>
                <a:latin typeface="+mn-ea"/>
              </a:rPr>
              <a:t> T. </a:t>
            </a:r>
            <a:r>
              <a:rPr lang="en-US" altLang="zh-CN" sz="2000" dirty="0" err="1">
                <a:solidFill>
                  <a:schemeClr val="bg1"/>
                </a:solidFill>
                <a:latin typeface="+mn-ea"/>
              </a:rPr>
              <a:t>Eapen</a:t>
            </a:r>
            <a:r>
              <a:rPr lang="zh-CN" altLang="en-US" sz="2000" dirty="0">
                <a:solidFill>
                  <a:schemeClr val="bg1"/>
                </a:solidFill>
                <a:latin typeface="+mn-ea"/>
              </a:rPr>
              <a:t>） 等</a:t>
            </a:r>
            <a:r>
              <a:rPr lang="en-US" altLang="zh-CN" sz="2000" dirty="0">
                <a:solidFill>
                  <a:schemeClr val="bg1"/>
                </a:solidFill>
                <a:latin typeface="+mn-ea"/>
              </a:rPr>
              <a:t>. AI“</a:t>
            </a:r>
            <a:r>
              <a:rPr lang="zh-CN" altLang="en-US" sz="2000" dirty="0">
                <a:solidFill>
                  <a:schemeClr val="bg1"/>
                </a:solidFill>
                <a:latin typeface="+mn-ea"/>
              </a:rPr>
              <a:t>生成”你独有的创造力</a:t>
            </a:r>
            <a:r>
              <a:rPr lang="en-US" altLang="zh-CN" sz="2000" dirty="0">
                <a:solidFill>
                  <a:schemeClr val="bg1"/>
                </a:solidFill>
                <a:latin typeface="+mn-ea"/>
              </a:rPr>
              <a:t>.</a:t>
            </a:r>
            <a:r>
              <a:rPr lang="zh-CN" altLang="en-US" sz="2000" dirty="0">
                <a:solidFill>
                  <a:schemeClr val="bg1"/>
                </a:solidFill>
                <a:latin typeface="+mn-ea"/>
              </a:rPr>
              <a:t>哈佛商业评论</a:t>
            </a:r>
            <a:r>
              <a:rPr lang="en-US" altLang="zh-CN" sz="2000" dirty="0">
                <a:solidFill>
                  <a:schemeClr val="bg1"/>
                </a:solidFill>
                <a:latin typeface="+mn-ea"/>
              </a:rPr>
              <a:t>. 2023 </a:t>
            </a:r>
            <a:r>
              <a:rPr lang="zh-CN" altLang="en-US" sz="2000" dirty="0">
                <a:solidFill>
                  <a:schemeClr val="bg1"/>
                </a:solidFill>
                <a:latin typeface="+mn-ea"/>
              </a:rPr>
              <a:t>年 </a:t>
            </a:r>
            <a:r>
              <a:rPr lang="en-US" altLang="zh-CN" sz="2000" dirty="0">
                <a:solidFill>
                  <a:schemeClr val="bg1"/>
                </a:solidFill>
                <a:latin typeface="+mn-ea"/>
              </a:rPr>
              <a:t>08 </a:t>
            </a:r>
            <a:r>
              <a:rPr lang="zh-CN" altLang="en-US" sz="2000" dirty="0">
                <a:solidFill>
                  <a:schemeClr val="bg1"/>
                </a:solidFill>
                <a:latin typeface="+mn-ea"/>
              </a:rPr>
              <a:t>月 </a:t>
            </a:r>
            <a:r>
              <a:rPr lang="en-US" altLang="zh-CN" sz="2000" dirty="0">
                <a:solidFill>
                  <a:schemeClr val="bg1"/>
                </a:solidFill>
                <a:latin typeface="+mn-ea"/>
              </a:rPr>
              <a:t>11 </a:t>
            </a:r>
            <a:r>
              <a:rPr lang="zh-CN" altLang="en-US" sz="2000" dirty="0">
                <a:solidFill>
                  <a:schemeClr val="bg1"/>
                </a:solidFill>
                <a:latin typeface="+mn-ea"/>
              </a:rPr>
              <a:t>日</a:t>
            </a:r>
            <a:r>
              <a:rPr lang="en-US" altLang="zh-CN" sz="2000" dirty="0" smtClean="0">
                <a:solidFill>
                  <a:schemeClr val="bg1"/>
                </a:solidFill>
                <a:latin typeface="+mn-ea"/>
              </a:rPr>
              <a:t>.</a:t>
            </a:r>
          </a:p>
          <a:p>
            <a:r>
              <a:rPr lang="en-US" altLang="zh-CN" sz="2800" b="1" dirty="0" smtClean="0">
                <a:solidFill>
                  <a:srgbClr val="FFC000"/>
                </a:solidFill>
                <a:latin typeface="+mn-ea"/>
              </a:rPr>
              <a:t>SORA</a:t>
            </a:r>
            <a:r>
              <a:rPr lang="zh-CN" altLang="en-US" sz="2800" b="1" dirty="0" smtClean="0">
                <a:solidFill>
                  <a:srgbClr val="FFC000"/>
                </a:solidFill>
                <a:latin typeface="+mn-ea"/>
              </a:rPr>
              <a:t>？</a:t>
            </a:r>
            <a:endParaRPr lang="en-US" altLang="zh-CN" sz="2800" b="1" dirty="0" smtClean="0">
              <a:solidFill>
                <a:srgbClr val="FFC000"/>
              </a:solidFill>
              <a:latin typeface="+mn-ea"/>
            </a:endParaRPr>
          </a:p>
        </p:txBody>
      </p:sp>
    </p:spTree>
    <p:extLst>
      <p:ext uri="{BB962C8B-B14F-4D97-AF65-F5344CB8AC3E}">
        <p14:creationId xmlns:p14="http://schemas.microsoft.com/office/powerpoint/2010/main" val="23519562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463579" y="200390"/>
            <a:ext cx="10879233" cy="822867"/>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pPr lvl="0"/>
            <a:r>
              <a:rPr lang="en-US" altLang="zh-CN" sz="3200" dirty="0" smtClean="0">
                <a:solidFill>
                  <a:srgbClr val="FFFF00"/>
                </a:solidFill>
                <a:latin typeface="+mn-ea"/>
              </a:rPr>
              <a:t>AI Agent</a:t>
            </a:r>
            <a:r>
              <a:rPr lang="zh-CN" altLang="en-US" sz="3200" dirty="0" smtClean="0">
                <a:solidFill>
                  <a:srgbClr val="FFFF00"/>
                </a:solidFill>
                <a:latin typeface="+mn-ea"/>
              </a:rPr>
              <a:t>（智能体，智能代理）</a:t>
            </a:r>
            <a:endParaRPr lang="en-US" altLang="zh-CN" sz="3200" dirty="0">
              <a:latin typeface="+mn-ea"/>
            </a:endParaRPr>
          </a:p>
        </p:txBody>
      </p:sp>
      <p:sp>
        <p:nvSpPr>
          <p:cNvPr id="2" name="矩形 1"/>
          <p:cNvSpPr/>
          <p:nvPr/>
        </p:nvSpPr>
        <p:spPr>
          <a:xfrm>
            <a:off x="416796" y="1237630"/>
            <a:ext cx="11252691" cy="5011966"/>
          </a:xfrm>
          <a:prstGeom prst="rect">
            <a:avLst/>
          </a:prstGeom>
        </p:spPr>
        <p:txBody>
          <a:bodyPr wrap="square" lIns="86694" tIns="43347" rIns="86694" bIns="43347">
            <a:spAutoFit/>
          </a:bodyPr>
          <a:lstStyle/>
          <a:p>
            <a:pPr marL="457200" lvl="0" indent="-457200" algn="just">
              <a:buFont typeface="Wingdings" panose="05000000000000000000" pitchFamily="2" charset="2"/>
              <a:buChar char="n"/>
            </a:pPr>
            <a:r>
              <a:rPr lang="zh-CN" altLang="en-US" sz="2800" b="1" dirty="0">
                <a:solidFill>
                  <a:schemeClr val="bg1"/>
                </a:solidFill>
                <a:latin typeface="+mn-ea"/>
              </a:rPr>
              <a:t>比尔</a:t>
            </a:r>
            <a:r>
              <a:rPr lang="en-US" altLang="zh-CN" sz="2800" b="1" dirty="0">
                <a:solidFill>
                  <a:schemeClr val="bg1"/>
                </a:solidFill>
                <a:latin typeface="+mn-ea"/>
              </a:rPr>
              <a:t>·</a:t>
            </a:r>
            <a:r>
              <a:rPr lang="zh-CN" altLang="en-US" sz="2800" b="1" dirty="0" smtClean="0">
                <a:solidFill>
                  <a:schemeClr val="bg1"/>
                </a:solidFill>
                <a:latin typeface="+mn-ea"/>
              </a:rPr>
              <a:t>盖茨</a:t>
            </a:r>
            <a:r>
              <a:rPr lang="en-US" altLang="zh-CN" sz="2800" dirty="0" smtClean="0">
                <a:solidFill>
                  <a:schemeClr val="bg1"/>
                </a:solidFill>
                <a:latin typeface="+mn-ea"/>
              </a:rPr>
              <a:t>2023-11-9</a:t>
            </a:r>
            <a:r>
              <a:rPr lang="zh-CN" altLang="en-US" sz="2800" dirty="0" smtClean="0">
                <a:solidFill>
                  <a:schemeClr val="bg1"/>
                </a:solidFill>
                <a:latin typeface="+mn-ea"/>
              </a:rPr>
              <a:t>发表</a:t>
            </a:r>
            <a:r>
              <a:rPr lang="zh-CN" altLang="en-US" sz="2800" dirty="0">
                <a:solidFill>
                  <a:schemeClr val="bg1"/>
                </a:solidFill>
                <a:latin typeface="+mn-ea"/>
              </a:rPr>
              <a:t>一篇博客称：</a:t>
            </a:r>
            <a:r>
              <a:rPr lang="zh-CN" altLang="en-US" sz="2800" b="1" dirty="0">
                <a:solidFill>
                  <a:schemeClr val="bg1"/>
                </a:solidFill>
                <a:latin typeface="+mn-ea"/>
              </a:rPr>
              <a:t>个人</a:t>
            </a:r>
            <a:r>
              <a:rPr lang="en-US" altLang="zh-CN" sz="2800" b="1" dirty="0">
                <a:solidFill>
                  <a:schemeClr val="bg1"/>
                </a:solidFill>
                <a:latin typeface="+mn-ea"/>
              </a:rPr>
              <a:t>AI</a:t>
            </a:r>
            <a:r>
              <a:rPr lang="zh-CN" altLang="en-US" sz="2800" b="1" dirty="0">
                <a:solidFill>
                  <a:schemeClr val="bg1"/>
                </a:solidFill>
                <a:latin typeface="+mn-ea"/>
              </a:rPr>
              <a:t>代理将彻底改变人们使用计算机的</a:t>
            </a:r>
            <a:r>
              <a:rPr lang="zh-CN" altLang="en-US" sz="2800" b="1" dirty="0" smtClean="0">
                <a:solidFill>
                  <a:schemeClr val="bg1"/>
                </a:solidFill>
                <a:latin typeface="+mn-ea"/>
              </a:rPr>
              <a:t>方式</a:t>
            </a:r>
            <a:r>
              <a:rPr lang="zh-CN" altLang="en-US" sz="2800" dirty="0" smtClean="0">
                <a:solidFill>
                  <a:schemeClr val="bg1"/>
                </a:solidFill>
                <a:latin typeface="+mn-ea"/>
              </a:rPr>
              <a:t>（</a:t>
            </a:r>
            <a:r>
              <a:rPr lang="en-US" altLang="zh-CN" sz="2800" dirty="0" err="1" smtClean="0">
                <a:solidFill>
                  <a:schemeClr val="bg1"/>
                </a:solidFill>
                <a:latin typeface="+mn-ea"/>
              </a:rPr>
              <a:t>OpenAI</a:t>
            </a:r>
            <a:r>
              <a:rPr lang="zh-CN" altLang="en-US" sz="2800" dirty="0">
                <a:solidFill>
                  <a:schemeClr val="bg1"/>
                </a:solidFill>
                <a:latin typeface="+mn-ea"/>
              </a:rPr>
              <a:t>刚刚宣布其“ </a:t>
            </a:r>
            <a:r>
              <a:rPr lang="en-US" altLang="zh-CN" sz="2800" dirty="0">
                <a:solidFill>
                  <a:schemeClr val="bg1"/>
                </a:solidFill>
                <a:latin typeface="+mn-ea"/>
              </a:rPr>
              <a:t>Assistants  API”</a:t>
            </a:r>
            <a:r>
              <a:rPr lang="zh-CN" altLang="en-US" sz="2800" dirty="0">
                <a:solidFill>
                  <a:schemeClr val="bg1"/>
                </a:solidFill>
                <a:latin typeface="+mn-ea"/>
              </a:rPr>
              <a:t>迈出的“婴儿步”几</a:t>
            </a:r>
            <a:r>
              <a:rPr lang="zh-CN" altLang="en-US" sz="2800" dirty="0" smtClean="0">
                <a:solidFill>
                  <a:schemeClr val="bg1"/>
                </a:solidFill>
                <a:latin typeface="+mn-ea"/>
              </a:rPr>
              <a:t>天后</a:t>
            </a:r>
            <a:r>
              <a:rPr lang="zh-CN" altLang="en-US" sz="2800" dirty="0">
                <a:solidFill>
                  <a:schemeClr val="bg1"/>
                </a:solidFill>
                <a:latin typeface="+mn-ea"/>
              </a:rPr>
              <a:t>）</a:t>
            </a:r>
            <a:r>
              <a:rPr lang="zh-CN" altLang="en-US" sz="2800" dirty="0" smtClean="0">
                <a:solidFill>
                  <a:schemeClr val="bg1"/>
                </a:solidFill>
                <a:latin typeface="+mn-ea"/>
              </a:rPr>
              <a:t>。个人</a:t>
            </a:r>
            <a:r>
              <a:rPr lang="en-US" altLang="zh-CN" sz="2800" dirty="0">
                <a:solidFill>
                  <a:schemeClr val="bg1"/>
                </a:solidFill>
                <a:latin typeface="+mn-ea"/>
              </a:rPr>
              <a:t>AI</a:t>
            </a:r>
            <a:r>
              <a:rPr lang="zh-CN" altLang="en-US" sz="2800" dirty="0">
                <a:solidFill>
                  <a:schemeClr val="bg1"/>
                </a:solidFill>
                <a:latin typeface="+mn-ea"/>
              </a:rPr>
              <a:t>代理将在科技行业和社会中掀起一场“冲击波”。</a:t>
            </a:r>
            <a:endParaRPr lang="en-US" altLang="zh-CN" sz="2800" dirty="0">
              <a:solidFill>
                <a:schemeClr val="bg1"/>
              </a:solidFill>
              <a:latin typeface="+mn-ea"/>
            </a:endParaRPr>
          </a:p>
          <a:p>
            <a:pPr marL="457200" lvl="0" indent="-457200" algn="just">
              <a:buFont typeface="Wingdings" panose="05000000000000000000" pitchFamily="2" charset="2"/>
              <a:buChar char="n"/>
            </a:pPr>
            <a:r>
              <a:rPr lang="zh-CN" altLang="en-US" sz="2800" dirty="0">
                <a:solidFill>
                  <a:schemeClr val="bg1"/>
                </a:solidFill>
                <a:latin typeface="+mn-ea"/>
              </a:rPr>
              <a:t>“在不久的将来，任何上网的人都将能够拥有由人工智能驱动的个人助手，远远超越今天的技术水平。</a:t>
            </a:r>
            <a:r>
              <a:rPr lang="zh-CN" altLang="en-US" sz="2800" b="1" dirty="0">
                <a:solidFill>
                  <a:schemeClr val="bg1"/>
                </a:solidFill>
                <a:latin typeface="+mn-ea"/>
              </a:rPr>
              <a:t>这些代理将能够帮助几乎任何活动和生活领域</a:t>
            </a:r>
            <a:r>
              <a:rPr lang="zh-CN" altLang="en-US" sz="2800" dirty="0">
                <a:solidFill>
                  <a:schemeClr val="bg1"/>
                </a:solidFill>
                <a:latin typeface="+mn-ea"/>
              </a:rPr>
              <a:t>。这对软件业和社会的影响将是深远的。”</a:t>
            </a:r>
            <a:endParaRPr lang="en-US" altLang="zh-CN" sz="2800" dirty="0">
              <a:solidFill>
                <a:schemeClr val="bg1"/>
              </a:solidFill>
              <a:latin typeface="+mn-ea"/>
            </a:endParaRPr>
          </a:p>
          <a:p>
            <a:pPr marL="457200" lvl="0" indent="-457200" algn="just">
              <a:buFont typeface="Wingdings" panose="05000000000000000000" pitchFamily="2" charset="2"/>
              <a:buChar char="n"/>
            </a:pPr>
            <a:r>
              <a:rPr lang="zh-CN" altLang="en-US" sz="2800" dirty="0" smtClean="0">
                <a:solidFill>
                  <a:schemeClr val="bg1"/>
                </a:solidFill>
                <a:latin typeface="+mn-ea"/>
              </a:rPr>
              <a:t>“</a:t>
            </a:r>
            <a:r>
              <a:rPr lang="zh-CN" altLang="en-US" sz="2800" dirty="0">
                <a:solidFill>
                  <a:schemeClr val="bg1"/>
                </a:solidFill>
                <a:latin typeface="+mn-ea"/>
              </a:rPr>
              <a:t>代理</a:t>
            </a:r>
            <a:r>
              <a:rPr lang="zh-CN" altLang="en-US" sz="2800" b="1" dirty="0">
                <a:solidFill>
                  <a:schemeClr val="bg1"/>
                </a:solidFill>
                <a:latin typeface="+mn-ea"/>
              </a:rPr>
              <a:t>不仅将改变每个人与计算机互动的方式。它们还将颠覆软件行业</a:t>
            </a:r>
            <a:r>
              <a:rPr lang="zh-CN" altLang="en-US" sz="2800" dirty="0">
                <a:solidFill>
                  <a:schemeClr val="bg1"/>
                </a:solidFill>
                <a:latin typeface="+mn-ea"/>
              </a:rPr>
              <a:t>，带来自从我们从键盘输入命令到点击图标以来的计算机领域最大的革命。</a:t>
            </a:r>
            <a:r>
              <a:rPr lang="zh-CN" altLang="en-US" sz="2800" dirty="0" smtClean="0">
                <a:solidFill>
                  <a:schemeClr val="bg1"/>
                </a:solidFill>
                <a:latin typeface="+mn-ea"/>
              </a:rPr>
              <a:t>”</a:t>
            </a:r>
            <a:endParaRPr lang="zh-CN" altLang="zh-CN" sz="2400" dirty="0">
              <a:solidFill>
                <a:schemeClr val="bg1"/>
              </a:solidFill>
              <a:latin typeface="+mn-ea"/>
            </a:endParaRPr>
          </a:p>
          <a:p>
            <a:r>
              <a:rPr lang="zh-CN" altLang="en-US" sz="2000" dirty="0">
                <a:solidFill>
                  <a:schemeClr val="bg1"/>
                </a:solidFill>
                <a:latin typeface="+mn-ea"/>
              </a:rPr>
              <a:t>比尔</a:t>
            </a:r>
            <a:r>
              <a:rPr lang="en-US" altLang="zh-CN" sz="2000" dirty="0">
                <a:solidFill>
                  <a:schemeClr val="bg1"/>
                </a:solidFill>
                <a:latin typeface="+mn-ea"/>
              </a:rPr>
              <a:t>·</a:t>
            </a:r>
            <a:r>
              <a:rPr lang="zh-CN" altLang="en-US" sz="2000" dirty="0">
                <a:solidFill>
                  <a:schemeClr val="bg1"/>
                </a:solidFill>
                <a:latin typeface="+mn-ea"/>
              </a:rPr>
              <a:t>盖茨重磅发文：计算机领域将在五年内颠覆，迈向下一个</a:t>
            </a:r>
            <a:r>
              <a:rPr lang="zh-CN" altLang="en-US" sz="2000" dirty="0" smtClean="0">
                <a:solidFill>
                  <a:schemeClr val="bg1"/>
                </a:solidFill>
                <a:latin typeface="+mn-ea"/>
              </a:rPr>
              <a:t>互联网</a:t>
            </a:r>
            <a:r>
              <a:rPr lang="en-US" altLang="zh-CN" sz="2000" dirty="0" smtClean="0">
                <a:solidFill>
                  <a:schemeClr val="bg1"/>
                </a:solidFill>
                <a:latin typeface="+mn-ea"/>
              </a:rPr>
              <a:t>. </a:t>
            </a:r>
            <a:r>
              <a:rPr lang="zh-CN" altLang="en-US" sz="2000" dirty="0" smtClean="0">
                <a:solidFill>
                  <a:schemeClr val="bg1"/>
                </a:solidFill>
                <a:latin typeface="+mn-ea"/>
              </a:rPr>
              <a:t>远望</a:t>
            </a:r>
            <a:r>
              <a:rPr lang="zh-CN" altLang="en-US" sz="2000" dirty="0">
                <a:solidFill>
                  <a:schemeClr val="bg1"/>
                </a:solidFill>
                <a:latin typeface="+mn-ea"/>
              </a:rPr>
              <a:t>智库预见未来 </a:t>
            </a:r>
            <a:r>
              <a:rPr lang="en-US" altLang="zh-CN" sz="2000" dirty="0">
                <a:solidFill>
                  <a:schemeClr val="bg1"/>
                </a:solidFill>
                <a:latin typeface="+mn-ea"/>
              </a:rPr>
              <a:t>AI</a:t>
            </a:r>
            <a:r>
              <a:rPr lang="zh-CN" altLang="en-US" sz="2000" dirty="0">
                <a:solidFill>
                  <a:schemeClr val="bg1"/>
                </a:solidFill>
                <a:latin typeface="+mn-ea"/>
              </a:rPr>
              <a:t>智胜未来 </a:t>
            </a:r>
            <a:r>
              <a:rPr lang="en-US" altLang="zh-CN" sz="2000" dirty="0">
                <a:solidFill>
                  <a:schemeClr val="bg1"/>
                </a:solidFill>
                <a:latin typeface="+mn-ea"/>
              </a:rPr>
              <a:t>2023-11-15</a:t>
            </a:r>
          </a:p>
        </p:txBody>
      </p:sp>
    </p:spTree>
    <p:extLst>
      <p:ext uri="{BB962C8B-B14F-4D97-AF65-F5344CB8AC3E}">
        <p14:creationId xmlns:p14="http://schemas.microsoft.com/office/powerpoint/2010/main" val="18851410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463579" y="200390"/>
            <a:ext cx="10879233" cy="822867"/>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pPr lvl="0"/>
            <a:r>
              <a:rPr lang="en-US" altLang="zh-CN" sz="3200" dirty="0" smtClean="0">
                <a:solidFill>
                  <a:srgbClr val="FFFF00"/>
                </a:solidFill>
                <a:latin typeface="+mn-ea"/>
              </a:rPr>
              <a:t>AI Agent</a:t>
            </a:r>
            <a:r>
              <a:rPr lang="zh-CN" altLang="en-US" sz="3200" dirty="0" smtClean="0">
                <a:solidFill>
                  <a:srgbClr val="FFFF00"/>
                </a:solidFill>
                <a:latin typeface="+mn-ea"/>
              </a:rPr>
              <a:t>（智能体，智能代理）</a:t>
            </a:r>
            <a:r>
              <a:rPr lang="en-US" altLang="zh-CN" sz="3200" dirty="0" smtClean="0">
                <a:solidFill>
                  <a:srgbClr val="FFFF00"/>
                </a:solidFill>
                <a:latin typeface="+mn-ea"/>
              </a:rPr>
              <a:t>-</a:t>
            </a:r>
            <a:r>
              <a:rPr lang="zh-CN" altLang="en-US" sz="3200" dirty="0" smtClean="0">
                <a:latin typeface="+mn-ea"/>
              </a:rPr>
              <a:t>创新伙伴</a:t>
            </a:r>
            <a:endParaRPr lang="en-US" altLang="zh-CN" sz="3200" dirty="0">
              <a:latin typeface="+mn-ea"/>
            </a:endParaRPr>
          </a:p>
        </p:txBody>
      </p:sp>
      <p:sp>
        <p:nvSpPr>
          <p:cNvPr id="2" name="矩形 1"/>
          <p:cNvSpPr/>
          <p:nvPr/>
        </p:nvSpPr>
        <p:spPr>
          <a:xfrm>
            <a:off x="416796" y="1237630"/>
            <a:ext cx="11252691" cy="4704189"/>
          </a:xfrm>
          <a:prstGeom prst="rect">
            <a:avLst/>
          </a:prstGeom>
        </p:spPr>
        <p:txBody>
          <a:bodyPr wrap="square" lIns="86694" tIns="43347" rIns="86694" bIns="43347">
            <a:spAutoFit/>
          </a:bodyPr>
          <a:lstStyle/>
          <a:p>
            <a:pPr marL="457200" lvl="0" indent="-457200" algn="just">
              <a:buFont typeface="Wingdings" panose="05000000000000000000" pitchFamily="2" charset="2"/>
              <a:buChar char="n"/>
            </a:pPr>
            <a:r>
              <a:rPr lang="zh-CN" altLang="en-US" sz="2800" dirty="0">
                <a:solidFill>
                  <a:schemeClr val="bg1"/>
                </a:solidFill>
                <a:latin typeface="+mn-ea"/>
              </a:rPr>
              <a:t>基于</a:t>
            </a:r>
            <a:r>
              <a:rPr lang="en-US" altLang="zh-CN" sz="2800" dirty="0">
                <a:solidFill>
                  <a:schemeClr val="bg1"/>
                </a:solidFill>
                <a:latin typeface="+mn-ea"/>
              </a:rPr>
              <a:t>Agent</a:t>
            </a:r>
            <a:r>
              <a:rPr lang="zh-CN" altLang="en-US" sz="2800" dirty="0">
                <a:solidFill>
                  <a:schemeClr val="bg1"/>
                </a:solidFill>
                <a:latin typeface="+mn-ea"/>
              </a:rPr>
              <a:t>的人机协同模式，每个普通个体都有可能成为超级</a:t>
            </a:r>
            <a:r>
              <a:rPr lang="zh-CN" altLang="en-US" sz="2800" dirty="0" smtClean="0">
                <a:solidFill>
                  <a:schemeClr val="bg1"/>
                </a:solidFill>
                <a:latin typeface="+mn-ea"/>
              </a:rPr>
              <a:t>个体</a:t>
            </a:r>
            <a:endParaRPr lang="en-US" altLang="zh-CN" sz="2800" dirty="0" smtClean="0">
              <a:solidFill>
                <a:schemeClr val="bg1"/>
              </a:solidFill>
              <a:latin typeface="+mn-ea"/>
            </a:endParaRPr>
          </a:p>
          <a:p>
            <a:pPr marL="457200" lvl="0" indent="-457200" algn="just">
              <a:buFont typeface="Wingdings" panose="05000000000000000000" pitchFamily="2" charset="2"/>
              <a:buChar char="n"/>
            </a:pPr>
            <a:r>
              <a:rPr lang="zh-CN" altLang="en-US" sz="2800" dirty="0" smtClean="0">
                <a:solidFill>
                  <a:schemeClr val="bg1"/>
                </a:solidFill>
                <a:latin typeface="+mn-ea"/>
              </a:rPr>
              <a:t>基于</a:t>
            </a:r>
            <a:r>
              <a:rPr lang="en-US" altLang="zh-CN" sz="2800" dirty="0">
                <a:solidFill>
                  <a:schemeClr val="bg1"/>
                </a:solidFill>
                <a:latin typeface="+mn-ea"/>
              </a:rPr>
              <a:t>Agent</a:t>
            </a:r>
            <a:r>
              <a:rPr lang="zh-CN" altLang="en-US" sz="2800" dirty="0">
                <a:solidFill>
                  <a:schemeClr val="bg1"/>
                </a:solidFill>
                <a:latin typeface="+mn-ea"/>
              </a:rPr>
              <a:t>与其他超级个体建立更为智能化与自动化的协作</a:t>
            </a:r>
            <a:r>
              <a:rPr lang="zh-CN" altLang="en-US" sz="2800" dirty="0" smtClean="0">
                <a:solidFill>
                  <a:schemeClr val="bg1"/>
                </a:solidFill>
                <a:latin typeface="+mn-ea"/>
              </a:rPr>
              <a:t>关系</a:t>
            </a:r>
            <a:endParaRPr lang="en-US" altLang="zh-CN" sz="2800" dirty="0" smtClean="0">
              <a:solidFill>
                <a:schemeClr val="bg1"/>
              </a:solidFill>
              <a:latin typeface="+mn-ea"/>
            </a:endParaRPr>
          </a:p>
          <a:p>
            <a:pPr marL="457200" lvl="0" indent="-457200" algn="just">
              <a:buFont typeface="Wingdings" panose="05000000000000000000" pitchFamily="2" charset="2"/>
              <a:buChar char="n"/>
            </a:pPr>
            <a:r>
              <a:rPr lang="zh-CN" altLang="en-US" sz="2800" dirty="0" smtClean="0">
                <a:solidFill>
                  <a:schemeClr val="bg1"/>
                </a:solidFill>
                <a:latin typeface="+mn-ea"/>
              </a:rPr>
              <a:t>现在</a:t>
            </a:r>
            <a:r>
              <a:rPr lang="zh-CN" altLang="en-US" sz="2800" dirty="0">
                <a:solidFill>
                  <a:schemeClr val="bg1"/>
                </a:solidFill>
                <a:latin typeface="+mn-ea"/>
              </a:rPr>
              <a:t>业内不乏</a:t>
            </a:r>
            <a:r>
              <a:rPr lang="zh-CN" altLang="en-US" sz="2800" b="1" dirty="0">
                <a:solidFill>
                  <a:srgbClr val="FFC000"/>
                </a:solidFill>
                <a:latin typeface="+mn-ea"/>
              </a:rPr>
              <a:t>一人公司</a:t>
            </a:r>
            <a:r>
              <a:rPr lang="zh-CN" altLang="en-US" sz="2800" dirty="0">
                <a:solidFill>
                  <a:schemeClr val="bg1"/>
                </a:solidFill>
                <a:latin typeface="+mn-ea"/>
              </a:rPr>
              <a:t>、超级个体的积极</a:t>
            </a:r>
            <a:r>
              <a:rPr lang="zh-CN" altLang="en-US" sz="2800" dirty="0" smtClean="0">
                <a:solidFill>
                  <a:schemeClr val="bg1"/>
                </a:solidFill>
                <a:latin typeface="+mn-ea"/>
              </a:rPr>
              <a:t>探索</a:t>
            </a:r>
            <a:endParaRPr lang="en-US" altLang="zh-CN" sz="2800" dirty="0" smtClean="0">
              <a:solidFill>
                <a:schemeClr val="bg1"/>
              </a:solidFill>
              <a:latin typeface="+mn-ea"/>
            </a:endParaRPr>
          </a:p>
          <a:p>
            <a:pPr marL="457200" lvl="0" indent="-457200" algn="just">
              <a:buFont typeface="Wingdings" panose="05000000000000000000" pitchFamily="2" charset="2"/>
              <a:buChar char="n"/>
            </a:pPr>
            <a:r>
              <a:rPr lang="en-US" altLang="zh-CN" sz="2800" dirty="0" smtClean="0">
                <a:solidFill>
                  <a:schemeClr val="bg1"/>
                </a:solidFill>
                <a:latin typeface="+mn-ea"/>
              </a:rPr>
              <a:t>Dev-GPT</a:t>
            </a:r>
            <a:r>
              <a:rPr lang="zh-CN" altLang="en-US" sz="2800" dirty="0">
                <a:solidFill>
                  <a:schemeClr val="bg1"/>
                </a:solidFill>
                <a:latin typeface="+mn-ea"/>
              </a:rPr>
              <a:t>是一个自动化开发和运维的多智能体协作团队，包含了产品经理</a:t>
            </a:r>
            <a:r>
              <a:rPr lang="en-US" altLang="zh-CN" sz="2800" dirty="0">
                <a:solidFill>
                  <a:schemeClr val="bg1"/>
                </a:solidFill>
                <a:latin typeface="+mn-ea"/>
              </a:rPr>
              <a:t>Agent</a:t>
            </a:r>
            <a:r>
              <a:rPr lang="zh-CN" altLang="en-US" sz="2800" dirty="0">
                <a:solidFill>
                  <a:schemeClr val="bg1"/>
                </a:solidFill>
                <a:latin typeface="+mn-ea"/>
              </a:rPr>
              <a:t>、开发人员</a:t>
            </a:r>
            <a:r>
              <a:rPr lang="en-US" altLang="zh-CN" sz="2800" dirty="0">
                <a:solidFill>
                  <a:schemeClr val="bg1"/>
                </a:solidFill>
                <a:latin typeface="+mn-ea"/>
              </a:rPr>
              <a:t>Agent</a:t>
            </a:r>
            <a:r>
              <a:rPr lang="zh-CN" altLang="en-US" sz="2800" dirty="0">
                <a:solidFill>
                  <a:schemeClr val="bg1"/>
                </a:solidFill>
                <a:latin typeface="+mn-ea"/>
              </a:rPr>
              <a:t>和运维人员</a:t>
            </a:r>
            <a:r>
              <a:rPr lang="en-US" altLang="zh-CN" sz="2800" dirty="0">
                <a:solidFill>
                  <a:schemeClr val="bg1"/>
                </a:solidFill>
                <a:latin typeface="+mn-ea"/>
              </a:rPr>
              <a:t>Agent</a:t>
            </a:r>
            <a:r>
              <a:rPr lang="zh-CN" altLang="en-US" sz="2800" dirty="0">
                <a:solidFill>
                  <a:schemeClr val="bg1"/>
                </a:solidFill>
                <a:latin typeface="+mn-ea"/>
              </a:rPr>
              <a:t>等角色分工</a:t>
            </a:r>
            <a:r>
              <a:rPr lang="zh-CN" altLang="en-US" sz="2800" dirty="0" smtClean="0">
                <a:solidFill>
                  <a:schemeClr val="bg1"/>
                </a:solidFill>
                <a:latin typeface="+mn-ea"/>
              </a:rPr>
              <a:t>。</a:t>
            </a:r>
            <a:endParaRPr lang="en-US" altLang="zh-CN" sz="2800" dirty="0" smtClean="0">
              <a:solidFill>
                <a:schemeClr val="bg1"/>
              </a:solidFill>
              <a:latin typeface="+mn-ea"/>
            </a:endParaRPr>
          </a:p>
          <a:p>
            <a:pPr marL="457200" lvl="0" indent="-457200" algn="just">
              <a:buFont typeface="Wingdings" panose="05000000000000000000" pitchFamily="2" charset="2"/>
              <a:buChar char="n"/>
            </a:pPr>
            <a:r>
              <a:rPr lang="zh-CN" altLang="en-US" sz="2800" dirty="0" smtClean="0">
                <a:solidFill>
                  <a:schemeClr val="bg1"/>
                </a:solidFill>
                <a:latin typeface="+mn-ea"/>
              </a:rPr>
              <a:t>号称</a:t>
            </a:r>
            <a:r>
              <a:rPr lang="zh-CN" altLang="en-US" sz="2800" dirty="0">
                <a:solidFill>
                  <a:schemeClr val="bg1"/>
                </a:solidFill>
                <a:latin typeface="+mn-ea"/>
              </a:rPr>
              <a:t>是</a:t>
            </a:r>
            <a:r>
              <a:rPr lang="zh-CN" altLang="en-US" sz="2800" b="1" dirty="0">
                <a:solidFill>
                  <a:srgbClr val="FFC000"/>
                </a:solidFill>
                <a:latin typeface="+mn-ea"/>
              </a:rPr>
              <a:t>世界上第一个</a:t>
            </a:r>
            <a:r>
              <a:rPr lang="en-US" altLang="zh-CN" sz="2800" b="1" dirty="0">
                <a:solidFill>
                  <a:srgbClr val="FFC000"/>
                </a:solidFill>
                <a:latin typeface="+mn-ea"/>
              </a:rPr>
              <a:t>AI</a:t>
            </a:r>
            <a:r>
              <a:rPr lang="zh-CN" altLang="en-US" sz="2800" b="1" dirty="0">
                <a:solidFill>
                  <a:srgbClr val="FFC000"/>
                </a:solidFill>
                <a:latin typeface="+mn-ea"/>
              </a:rPr>
              <a:t>自由职业者平台的</a:t>
            </a:r>
            <a:r>
              <a:rPr lang="en-US" altLang="zh-CN" sz="2800" b="1" dirty="0" err="1">
                <a:solidFill>
                  <a:srgbClr val="FFC000"/>
                </a:solidFill>
                <a:latin typeface="+mn-ea"/>
              </a:rPr>
              <a:t>NexusGPT</a:t>
            </a:r>
            <a:r>
              <a:rPr lang="zh-CN" altLang="en-US" sz="2800" dirty="0" smtClean="0">
                <a:solidFill>
                  <a:schemeClr val="bg1"/>
                </a:solidFill>
                <a:latin typeface="+mn-ea"/>
              </a:rPr>
              <a:t>。该</a:t>
            </a:r>
            <a:r>
              <a:rPr lang="zh-CN" altLang="en-US" sz="2800" dirty="0">
                <a:solidFill>
                  <a:schemeClr val="bg1"/>
                </a:solidFill>
                <a:latin typeface="+mn-ea"/>
              </a:rPr>
              <a:t>平台整合了开源数据库中的各种</a:t>
            </a:r>
            <a:r>
              <a:rPr lang="en-US" altLang="zh-CN" sz="2800" dirty="0">
                <a:solidFill>
                  <a:schemeClr val="bg1"/>
                </a:solidFill>
                <a:latin typeface="+mn-ea"/>
              </a:rPr>
              <a:t>AI</a:t>
            </a:r>
            <a:r>
              <a:rPr lang="zh-CN" altLang="en-US" sz="2800" dirty="0">
                <a:solidFill>
                  <a:schemeClr val="bg1"/>
                </a:solidFill>
                <a:latin typeface="+mn-ea"/>
              </a:rPr>
              <a:t>原生数据，并拥有</a:t>
            </a:r>
            <a:r>
              <a:rPr lang="en-US" altLang="zh-CN" sz="2800" dirty="0">
                <a:solidFill>
                  <a:schemeClr val="bg1"/>
                </a:solidFill>
                <a:latin typeface="+mn-ea"/>
              </a:rPr>
              <a:t>800</a:t>
            </a:r>
            <a:r>
              <a:rPr lang="zh-CN" altLang="en-US" sz="2800" dirty="0">
                <a:solidFill>
                  <a:schemeClr val="bg1"/>
                </a:solidFill>
                <a:latin typeface="+mn-ea"/>
              </a:rPr>
              <a:t>多个具有特定技能的</a:t>
            </a:r>
            <a:r>
              <a:rPr lang="en-US" altLang="zh-CN" sz="2800" dirty="0">
                <a:solidFill>
                  <a:schemeClr val="bg1"/>
                </a:solidFill>
                <a:latin typeface="+mn-ea"/>
              </a:rPr>
              <a:t>AI</a:t>
            </a:r>
            <a:r>
              <a:rPr lang="zh-CN" altLang="en-US" sz="2800" dirty="0">
                <a:solidFill>
                  <a:schemeClr val="bg1"/>
                </a:solidFill>
                <a:latin typeface="+mn-ea"/>
              </a:rPr>
              <a:t>智能体。在这个平台上，</a:t>
            </a:r>
            <a:r>
              <a:rPr lang="zh-CN" altLang="en-US" sz="2800" b="1" dirty="0">
                <a:solidFill>
                  <a:schemeClr val="bg1"/>
                </a:solidFill>
                <a:latin typeface="+mn-ea"/>
              </a:rPr>
              <a:t>你可以找到不同领域的专家，例如设计师、咨询顾问、销售代表等</a:t>
            </a:r>
            <a:r>
              <a:rPr lang="zh-CN" altLang="en-US" sz="2800" dirty="0">
                <a:solidFill>
                  <a:schemeClr val="bg1"/>
                </a:solidFill>
                <a:latin typeface="+mn-ea"/>
              </a:rPr>
              <a:t>。雇主可以随时在这个平台上选择一个</a:t>
            </a:r>
            <a:r>
              <a:rPr lang="en-US" altLang="zh-CN" sz="2800" dirty="0">
                <a:solidFill>
                  <a:schemeClr val="bg1"/>
                </a:solidFill>
                <a:latin typeface="+mn-ea"/>
              </a:rPr>
              <a:t>AI</a:t>
            </a:r>
            <a:r>
              <a:rPr lang="zh-CN" altLang="en-US" sz="2800" dirty="0">
                <a:solidFill>
                  <a:schemeClr val="bg1"/>
                </a:solidFill>
                <a:latin typeface="+mn-ea"/>
              </a:rPr>
              <a:t>智能体帮助他们完成各种任务。</a:t>
            </a:r>
            <a:endParaRPr lang="zh-CN" altLang="zh-CN" sz="2400" dirty="0">
              <a:solidFill>
                <a:schemeClr val="bg1"/>
              </a:solidFill>
              <a:latin typeface="+mn-ea"/>
            </a:endParaRPr>
          </a:p>
          <a:p>
            <a:r>
              <a:rPr lang="zh-CN" altLang="zh-CN" sz="2000" dirty="0">
                <a:solidFill>
                  <a:schemeClr val="bg1"/>
                </a:solidFill>
                <a:latin typeface="+mn-ea"/>
              </a:rPr>
              <a:t>胡晓萌、陈楚仪</a:t>
            </a:r>
            <a:r>
              <a:rPr lang="en-US" altLang="zh-CN" sz="2000" dirty="0">
                <a:solidFill>
                  <a:schemeClr val="bg1"/>
                </a:solidFill>
                <a:latin typeface="+mn-ea"/>
              </a:rPr>
              <a:t>. AI Agent</a:t>
            </a:r>
            <a:r>
              <a:rPr lang="zh-CN" altLang="zh-CN" sz="2000" dirty="0">
                <a:solidFill>
                  <a:schemeClr val="bg1"/>
                </a:solidFill>
                <a:latin typeface="+mn-ea"/>
              </a:rPr>
              <a:t>，为什么是</a:t>
            </a:r>
            <a:r>
              <a:rPr lang="en-US" altLang="zh-CN" sz="2000" dirty="0">
                <a:solidFill>
                  <a:schemeClr val="bg1"/>
                </a:solidFill>
                <a:latin typeface="+mn-ea"/>
              </a:rPr>
              <a:t>AIGC</a:t>
            </a:r>
            <a:r>
              <a:rPr lang="zh-CN" altLang="zh-CN" sz="2000" dirty="0">
                <a:solidFill>
                  <a:schemeClr val="bg1"/>
                </a:solidFill>
                <a:latin typeface="+mn-ea"/>
              </a:rPr>
              <a:t>最后的杀手锏？腾讯研究院</a:t>
            </a:r>
            <a:r>
              <a:rPr lang="en-US" altLang="zh-CN" sz="2000" dirty="0">
                <a:solidFill>
                  <a:schemeClr val="bg1"/>
                </a:solidFill>
                <a:latin typeface="+mn-ea"/>
              </a:rPr>
              <a:t>, 2023-11-20</a:t>
            </a:r>
          </a:p>
        </p:txBody>
      </p:sp>
    </p:spTree>
    <p:extLst>
      <p:ext uri="{BB962C8B-B14F-4D97-AF65-F5344CB8AC3E}">
        <p14:creationId xmlns:p14="http://schemas.microsoft.com/office/powerpoint/2010/main" val="73045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2" name="矩形 1"/>
          <p:cNvSpPr/>
          <p:nvPr/>
        </p:nvSpPr>
        <p:spPr>
          <a:xfrm>
            <a:off x="3296093" y="2441235"/>
            <a:ext cx="8422094" cy="1749534"/>
          </a:xfrm>
          <a:prstGeom prst="rect">
            <a:avLst/>
          </a:prstGeom>
        </p:spPr>
        <p:txBody>
          <a:bodyPr wrap="square" lIns="86694" tIns="43347" rIns="86694" bIns="43347">
            <a:spAutoFit/>
          </a:bodyPr>
          <a:lstStyle/>
          <a:p>
            <a:r>
              <a:rPr lang="en-US" altLang="zh-CN" sz="5400" b="1" dirty="0" err="1" smtClean="0">
                <a:solidFill>
                  <a:schemeClr val="bg1"/>
                </a:solidFill>
              </a:rPr>
              <a:t>Deepseek</a:t>
            </a:r>
            <a:endParaRPr lang="en-US" altLang="zh-CN" sz="5400" b="1" dirty="0" smtClean="0">
              <a:solidFill>
                <a:schemeClr val="bg1"/>
              </a:solidFill>
            </a:endParaRPr>
          </a:p>
          <a:p>
            <a:r>
              <a:rPr lang="en-US" altLang="zh-CN" sz="5400" b="1" dirty="0" smtClean="0">
                <a:solidFill>
                  <a:schemeClr val="bg1"/>
                </a:solidFill>
              </a:rPr>
              <a:t>Manus</a:t>
            </a:r>
            <a:endParaRPr lang="zh-CN" altLang="en-US" sz="5400" b="1" dirty="0">
              <a:solidFill>
                <a:srgbClr val="FFC000"/>
              </a:solidFill>
            </a:endParaRPr>
          </a:p>
        </p:txBody>
      </p:sp>
    </p:spTree>
    <p:extLst>
      <p:ext uri="{BB962C8B-B14F-4D97-AF65-F5344CB8AC3E}">
        <p14:creationId xmlns:p14="http://schemas.microsoft.com/office/powerpoint/2010/main" val="38372639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2" name="矩形 1"/>
          <p:cNvSpPr/>
          <p:nvPr/>
        </p:nvSpPr>
        <p:spPr>
          <a:xfrm>
            <a:off x="3296093" y="2441235"/>
            <a:ext cx="8422094" cy="918537"/>
          </a:xfrm>
          <a:prstGeom prst="rect">
            <a:avLst/>
          </a:prstGeom>
        </p:spPr>
        <p:txBody>
          <a:bodyPr wrap="square" lIns="86694" tIns="43347" rIns="86694" bIns="43347">
            <a:spAutoFit/>
          </a:bodyPr>
          <a:lstStyle/>
          <a:p>
            <a:r>
              <a:rPr lang="en-US" altLang="zh-CN" sz="5400" b="1" dirty="0" smtClean="0">
                <a:solidFill>
                  <a:schemeClr val="bg1"/>
                </a:solidFill>
              </a:rPr>
              <a:t>AI </a:t>
            </a:r>
            <a:r>
              <a:rPr lang="zh-CN" altLang="en-US" sz="5400" b="1" dirty="0" smtClean="0">
                <a:solidFill>
                  <a:schemeClr val="bg1"/>
                </a:solidFill>
              </a:rPr>
              <a:t>对教育的挑战？</a:t>
            </a:r>
            <a:endParaRPr lang="zh-CN" altLang="en-US" sz="5400" b="1" dirty="0">
              <a:solidFill>
                <a:srgbClr val="FFC000"/>
              </a:solidFill>
            </a:endParaRPr>
          </a:p>
        </p:txBody>
      </p:sp>
    </p:spTree>
    <p:extLst>
      <p:ext uri="{BB962C8B-B14F-4D97-AF65-F5344CB8AC3E}">
        <p14:creationId xmlns:p14="http://schemas.microsoft.com/office/powerpoint/2010/main" val="23118548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511629" y="141027"/>
            <a:ext cx="10591800" cy="891654"/>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pPr marL="0" lvl="1" algn="ctr"/>
            <a:r>
              <a:rPr lang="en-US" altLang="zh-CN" sz="3200" b="1" dirty="0" smtClean="0">
                <a:solidFill>
                  <a:srgbClr val="FFFF00"/>
                </a:solidFill>
                <a:latin typeface="微软雅黑" panose="020B0503020204020204" pitchFamily="34" charset="-122"/>
                <a:ea typeface="微软雅黑" panose="020B0503020204020204" pitchFamily="34" charset="-122"/>
              </a:rPr>
              <a:t>AI</a:t>
            </a:r>
            <a:r>
              <a:rPr lang="zh-CN" altLang="en-US" sz="3200" b="1" dirty="0" smtClean="0">
                <a:solidFill>
                  <a:srgbClr val="FFFF00"/>
                </a:solidFill>
                <a:latin typeface="微软雅黑" panose="020B0503020204020204" pitchFamily="34" charset="-122"/>
                <a:ea typeface="微软雅黑" panose="020B0503020204020204" pitchFamily="34" charset="-122"/>
              </a:rPr>
              <a:t>对教育的挑战</a:t>
            </a:r>
            <a:endParaRPr lang="en-US" altLang="zh-CN" sz="32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317500" y="1092200"/>
            <a:ext cx="11582400" cy="5258187"/>
          </a:xfrm>
          <a:prstGeom prst="rect">
            <a:avLst/>
          </a:prstGeom>
          <a:noFill/>
        </p:spPr>
        <p:txBody>
          <a:bodyPr wrap="square" lIns="86694" tIns="43347" rIns="86694" bIns="43347">
            <a:spAutoFit/>
          </a:bodyPr>
          <a:lstStyle/>
          <a:p>
            <a:pPr marL="800100" lvl="1" indent="-342900">
              <a:buFont typeface="Wingdings" panose="05000000000000000000" pitchFamily="2" charset="2"/>
              <a:buChar char="n"/>
            </a:pPr>
            <a:r>
              <a:rPr lang="zh-CN" altLang="zh-CN" sz="2800" b="1" dirty="0">
                <a:solidFill>
                  <a:schemeClr val="bg1"/>
                </a:solidFill>
                <a:latin typeface="+mn-ea"/>
              </a:rPr>
              <a:t>知识的</a:t>
            </a:r>
            <a:r>
              <a:rPr lang="zh-CN" altLang="zh-CN" sz="2800" b="1" dirty="0" smtClean="0">
                <a:solidFill>
                  <a:schemeClr val="bg1"/>
                </a:solidFill>
                <a:latin typeface="+mn-ea"/>
              </a:rPr>
              <a:t>多寡</a:t>
            </a:r>
            <a:r>
              <a:rPr lang="zh-CN" altLang="en-US" sz="2800" b="1" dirty="0" smtClean="0">
                <a:solidFill>
                  <a:schemeClr val="bg1"/>
                </a:solidFill>
                <a:latin typeface="+mn-ea"/>
              </a:rPr>
              <a:t>和深度</a:t>
            </a:r>
            <a:r>
              <a:rPr lang="zh-CN" altLang="zh-CN" sz="2800" b="1" dirty="0" smtClean="0">
                <a:solidFill>
                  <a:schemeClr val="bg1"/>
                </a:solidFill>
                <a:latin typeface="+mn-ea"/>
              </a:rPr>
              <a:t>将</a:t>
            </a:r>
            <a:r>
              <a:rPr lang="zh-CN" altLang="zh-CN" sz="2800" b="1" dirty="0">
                <a:solidFill>
                  <a:schemeClr val="bg1"/>
                </a:solidFill>
                <a:latin typeface="+mn-ea"/>
              </a:rPr>
              <a:t>不再是学习和教育的关键</a:t>
            </a:r>
          </a:p>
          <a:p>
            <a:pPr marL="457200" indent="-457200">
              <a:buFont typeface="Wingdings" panose="05000000000000000000" pitchFamily="2" charset="2"/>
              <a:buChar char="Ø"/>
            </a:pPr>
            <a:r>
              <a:rPr lang="en-US" altLang="zh-CN" sz="2800" dirty="0" err="1" smtClean="0">
                <a:solidFill>
                  <a:schemeClr val="bg1"/>
                </a:solidFill>
                <a:latin typeface="+mn-ea"/>
              </a:rPr>
              <a:t>ChatGPT</a:t>
            </a:r>
            <a:r>
              <a:rPr lang="zh-CN" altLang="zh-CN" sz="2800" dirty="0" smtClean="0">
                <a:solidFill>
                  <a:schemeClr val="bg1"/>
                </a:solidFill>
                <a:latin typeface="+mn-ea"/>
              </a:rPr>
              <a:t>能够</a:t>
            </a:r>
            <a:r>
              <a:rPr lang="zh-CN" altLang="zh-CN" sz="2800" dirty="0">
                <a:solidFill>
                  <a:schemeClr val="bg1"/>
                </a:solidFill>
                <a:latin typeface="+mn-ea"/>
              </a:rPr>
              <a:t>理解语境。语言是认识世界的基本要素，仅从语言能力而言，</a:t>
            </a:r>
            <a:r>
              <a:rPr lang="en-US" altLang="zh-CN" sz="2800" dirty="0" err="1">
                <a:solidFill>
                  <a:schemeClr val="bg1"/>
                </a:solidFill>
                <a:latin typeface="+mn-ea"/>
              </a:rPr>
              <a:t>ChatGPT</a:t>
            </a:r>
            <a:r>
              <a:rPr lang="zh-CN" altLang="zh-CN" sz="2800" dirty="0">
                <a:solidFill>
                  <a:schemeClr val="bg1"/>
                </a:solidFill>
                <a:latin typeface="+mn-ea"/>
              </a:rPr>
              <a:t>具备认识世界的初步能力</a:t>
            </a:r>
            <a:r>
              <a:rPr lang="zh-CN" altLang="zh-CN" sz="2800" dirty="0" smtClean="0">
                <a:solidFill>
                  <a:schemeClr val="bg1"/>
                </a:solidFill>
                <a:latin typeface="+mn-ea"/>
              </a:rPr>
              <a:t>。未来大</a:t>
            </a:r>
            <a:r>
              <a:rPr lang="zh-CN" altLang="zh-CN" sz="2800" dirty="0">
                <a:solidFill>
                  <a:schemeClr val="bg1"/>
                </a:solidFill>
                <a:latin typeface="+mn-ea"/>
              </a:rPr>
              <a:t>模型经过在各个领域的专门</a:t>
            </a:r>
            <a:r>
              <a:rPr lang="zh-CN" altLang="zh-CN" sz="2800" dirty="0" smtClean="0">
                <a:solidFill>
                  <a:schemeClr val="bg1"/>
                </a:solidFill>
                <a:latin typeface="+mn-ea"/>
              </a:rPr>
              <a:t>训练后</a:t>
            </a:r>
            <a:r>
              <a:rPr lang="zh-CN" altLang="zh-CN" sz="2800" dirty="0">
                <a:solidFill>
                  <a:schemeClr val="bg1"/>
                </a:solidFill>
                <a:latin typeface="+mn-ea"/>
              </a:rPr>
              <a:t>，其知识的广度和深度在很多方面都会超越专业</a:t>
            </a:r>
            <a:r>
              <a:rPr lang="zh-CN" altLang="zh-CN" sz="2800" dirty="0" smtClean="0">
                <a:solidFill>
                  <a:schemeClr val="bg1"/>
                </a:solidFill>
                <a:latin typeface="+mn-ea"/>
              </a:rPr>
              <a:t>人士</a:t>
            </a:r>
            <a:endParaRPr lang="zh-CN" altLang="zh-CN" sz="2800" dirty="0">
              <a:solidFill>
                <a:schemeClr val="bg1"/>
              </a:solidFill>
              <a:latin typeface="+mn-ea"/>
            </a:endParaRPr>
          </a:p>
          <a:p>
            <a:pPr marL="457200" indent="-457200">
              <a:buFont typeface="Wingdings" panose="05000000000000000000" pitchFamily="2" charset="2"/>
              <a:buChar char="Ø"/>
            </a:pPr>
            <a:r>
              <a:rPr lang="zh-CN" altLang="zh-CN" sz="2800" dirty="0" smtClean="0">
                <a:solidFill>
                  <a:schemeClr val="bg1"/>
                </a:solidFill>
                <a:latin typeface="+mn-ea"/>
              </a:rPr>
              <a:t>知识</a:t>
            </a:r>
            <a:r>
              <a:rPr lang="zh-CN" altLang="zh-CN" sz="2800" dirty="0">
                <a:solidFill>
                  <a:schemeClr val="bg1"/>
                </a:solidFill>
                <a:latin typeface="+mn-ea"/>
              </a:rPr>
              <a:t>的多寡将不再是学习和教育的关键</a:t>
            </a:r>
            <a:r>
              <a:rPr lang="zh-CN" altLang="zh-CN" sz="2800" dirty="0" smtClean="0">
                <a:solidFill>
                  <a:schemeClr val="bg1"/>
                </a:solidFill>
                <a:latin typeface="+mn-ea"/>
              </a:rPr>
              <a:t>。</a:t>
            </a:r>
            <a:r>
              <a:rPr lang="en-US" altLang="zh-CN" sz="2800" dirty="0" smtClean="0">
                <a:solidFill>
                  <a:schemeClr val="bg1"/>
                </a:solidFill>
                <a:latin typeface="+mn-ea"/>
              </a:rPr>
              <a:t>——</a:t>
            </a:r>
            <a:r>
              <a:rPr lang="zh-CN" altLang="zh-CN" sz="2800" b="1" dirty="0" smtClean="0">
                <a:solidFill>
                  <a:schemeClr val="bg1"/>
                </a:solidFill>
                <a:latin typeface="+mn-ea"/>
              </a:rPr>
              <a:t>并非</a:t>
            </a:r>
            <a:r>
              <a:rPr lang="zh-CN" altLang="zh-CN" sz="2800" b="1" dirty="0">
                <a:solidFill>
                  <a:schemeClr val="bg1"/>
                </a:solidFill>
                <a:latin typeface="+mn-ea"/>
              </a:rPr>
              <a:t>意味着知识不重要，只是表明知识的获取变得更</a:t>
            </a:r>
            <a:r>
              <a:rPr lang="zh-CN" altLang="zh-CN" sz="2800" b="1" dirty="0" smtClean="0">
                <a:solidFill>
                  <a:schemeClr val="bg1"/>
                </a:solidFill>
                <a:latin typeface="+mn-ea"/>
              </a:rPr>
              <a:t>容易。</a:t>
            </a:r>
            <a:endParaRPr lang="zh-CN" altLang="zh-CN" sz="2800" b="1" dirty="0">
              <a:solidFill>
                <a:schemeClr val="bg1"/>
              </a:solidFill>
              <a:latin typeface="+mn-ea"/>
            </a:endParaRPr>
          </a:p>
          <a:p>
            <a:pPr marL="800100" lvl="1" indent="-342900">
              <a:buFont typeface="Wingdings" panose="05000000000000000000" pitchFamily="2" charset="2"/>
              <a:buChar char="n"/>
            </a:pPr>
            <a:r>
              <a:rPr lang="zh-CN" altLang="zh-CN" sz="2800" b="1" dirty="0">
                <a:solidFill>
                  <a:schemeClr val="bg1"/>
                </a:solidFill>
                <a:latin typeface="+mn-ea"/>
              </a:rPr>
              <a:t>知识传授将不再是教师的优势</a:t>
            </a:r>
          </a:p>
          <a:p>
            <a:pPr marL="457200" indent="-457200">
              <a:buFont typeface="Wingdings" panose="05000000000000000000" pitchFamily="2" charset="2"/>
              <a:buChar char="Ø"/>
            </a:pPr>
            <a:r>
              <a:rPr lang="zh-CN" altLang="zh-CN" sz="2800" dirty="0">
                <a:solidFill>
                  <a:schemeClr val="bg1"/>
                </a:solidFill>
                <a:latin typeface="+mn-ea"/>
              </a:rPr>
              <a:t>长期以来，知识传授是学校和教师的主要任务。在智能时代，大多数知识传授活动应该可以由智能系统替代</a:t>
            </a:r>
            <a:r>
              <a:rPr lang="zh-CN" altLang="zh-CN" sz="2800" dirty="0" smtClean="0">
                <a:solidFill>
                  <a:schemeClr val="bg1"/>
                </a:solidFill>
                <a:latin typeface="+mn-ea"/>
              </a:rPr>
              <a:t>。</a:t>
            </a:r>
            <a:endParaRPr lang="en-US" altLang="zh-CN" sz="2800" dirty="0" smtClean="0">
              <a:solidFill>
                <a:schemeClr val="bg1"/>
              </a:solidFill>
              <a:latin typeface="+mn-ea"/>
            </a:endParaRPr>
          </a:p>
          <a:p>
            <a:pPr marL="457200" indent="-457200">
              <a:buFont typeface="Wingdings" panose="05000000000000000000" pitchFamily="2" charset="2"/>
              <a:buChar char="Ø"/>
            </a:pPr>
            <a:r>
              <a:rPr lang="zh-CN" altLang="zh-CN" sz="2800" dirty="0" smtClean="0">
                <a:solidFill>
                  <a:schemeClr val="bg1"/>
                </a:solidFill>
                <a:latin typeface="+mn-ea"/>
              </a:rPr>
              <a:t>既然</a:t>
            </a:r>
            <a:r>
              <a:rPr lang="zh-CN" altLang="zh-CN" sz="2800" dirty="0">
                <a:solidFill>
                  <a:schemeClr val="bg1"/>
                </a:solidFill>
                <a:latin typeface="+mn-ea"/>
              </a:rPr>
              <a:t>每个行业甚至个人，都会</a:t>
            </a:r>
            <a:r>
              <a:rPr lang="zh-CN" altLang="zh-CN" sz="2800" b="1" dirty="0">
                <a:solidFill>
                  <a:schemeClr val="bg1"/>
                </a:solidFill>
                <a:latin typeface="+mn-ea"/>
              </a:rPr>
              <a:t>拥有自己的定制化人工智能大模型，数字教师必然出现</a:t>
            </a:r>
            <a:r>
              <a:rPr lang="zh-CN" altLang="zh-CN" sz="2800" b="1" dirty="0" smtClean="0">
                <a:solidFill>
                  <a:schemeClr val="bg1"/>
                </a:solidFill>
                <a:latin typeface="+mn-ea"/>
              </a:rPr>
              <a:t>。</a:t>
            </a:r>
            <a:endParaRPr lang="en-US" altLang="zh-CN" sz="2800" b="1" dirty="0" smtClean="0">
              <a:solidFill>
                <a:schemeClr val="bg1"/>
              </a:solidFill>
              <a:latin typeface="+mn-ea"/>
            </a:endParaRPr>
          </a:p>
          <a:p>
            <a:pPr marL="457200" indent="-457200">
              <a:buFont typeface="Wingdings" panose="05000000000000000000" pitchFamily="2" charset="2"/>
              <a:buChar char="Ø"/>
            </a:pPr>
            <a:r>
              <a:rPr lang="zh-CN" altLang="zh-CN" sz="2800" dirty="0" smtClean="0">
                <a:solidFill>
                  <a:schemeClr val="bg1"/>
                </a:solidFill>
                <a:latin typeface="+mn-ea"/>
              </a:rPr>
              <a:t>因为</a:t>
            </a:r>
            <a:r>
              <a:rPr lang="en-US" altLang="zh-CN" sz="2800" dirty="0">
                <a:solidFill>
                  <a:schemeClr val="bg1"/>
                </a:solidFill>
                <a:latin typeface="+mn-ea"/>
              </a:rPr>
              <a:t>AI</a:t>
            </a:r>
            <a:r>
              <a:rPr lang="zh-CN" altLang="zh-CN" sz="2800" dirty="0">
                <a:solidFill>
                  <a:schemeClr val="bg1"/>
                </a:solidFill>
                <a:latin typeface="+mn-ea"/>
              </a:rPr>
              <a:t>的出现，</a:t>
            </a:r>
            <a:r>
              <a:rPr lang="zh-CN" altLang="zh-CN" sz="2800" b="1" dirty="0">
                <a:solidFill>
                  <a:schemeClr val="bg1"/>
                </a:solidFill>
                <a:latin typeface="+mn-ea"/>
              </a:rPr>
              <a:t>学生的自学习能力</a:t>
            </a:r>
            <a:r>
              <a:rPr lang="zh-CN" altLang="zh-CN" sz="2800" dirty="0">
                <a:solidFill>
                  <a:schemeClr val="bg1"/>
                </a:solidFill>
                <a:latin typeface="+mn-ea"/>
              </a:rPr>
              <a:t>将大大增强</a:t>
            </a:r>
            <a:r>
              <a:rPr lang="zh-CN" altLang="zh-CN" sz="2800" dirty="0" smtClean="0">
                <a:solidFill>
                  <a:schemeClr val="bg1"/>
                </a:solidFill>
                <a:latin typeface="+mn-ea"/>
              </a:rPr>
              <a:t>。</a:t>
            </a:r>
            <a:endParaRPr lang="zh-CN" altLang="en-US" sz="2800" dirty="0">
              <a:solidFill>
                <a:schemeClr val="bg1"/>
              </a:solidFill>
              <a:latin typeface="+mn-ea"/>
            </a:endParaRPr>
          </a:p>
        </p:txBody>
      </p:sp>
    </p:spTree>
    <p:extLst>
      <p:ext uri="{BB962C8B-B14F-4D97-AF65-F5344CB8AC3E}">
        <p14:creationId xmlns:p14="http://schemas.microsoft.com/office/powerpoint/2010/main" val="6673113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1387929" y="255815"/>
            <a:ext cx="9503227" cy="843642"/>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r>
              <a:rPr lang="zh-CN" altLang="en-US" sz="3200" dirty="0" smtClean="0">
                <a:solidFill>
                  <a:srgbClr val="FFFF00"/>
                </a:solidFill>
              </a:rPr>
              <a:t>学习方式变化</a:t>
            </a:r>
            <a:endParaRPr lang="en-US" altLang="zh-CN" sz="3200" dirty="0">
              <a:solidFill>
                <a:srgbClr val="00FFFF"/>
              </a:solidFill>
            </a:endParaRPr>
          </a:p>
        </p:txBody>
      </p:sp>
      <p:sp>
        <p:nvSpPr>
          <p:cNvPr id="2" name="矩形 1"/>
          <p:cNvSpPr/>
          <p:nvPr/>
        </p:nvSpPr>
        <p:spPr>
          <a:xfrm>
            <a:off x="223157" y="1273629"/>
            <a:ext cx="11527971" cy="5135076"/>
          </a:xfrm>
          <a:prstGeom prst="rect">
            <a:avLst/>
          </a:prstGeom>
          <a:noFill/>
        </p:spPr>
        <p:txBody>
          <a:bodyPr wrap="square" lIns="86694" tIns="43347" rIns="86694" bIns="43347">
            <a:spAutoFit/>
          </a:bodyPr>
          <a:lstStyle/>
          <a:p>
            <a:pPr marL="457200" indent="-457200">
              <a:buFont typeface="Wingdings" panose="05000000000000000000" pitchFamily="2" charset="2"/>
              <a:buChar char="n"/>
            </a:pPr>
            <a:r>
              <a:rPr lang="zh-CN" altLang="en-US" sz="2800" dirty="0" smtClean="0">
                <a:solidFill>
                  <a:schemeClr val="bg1"/>
                </a:solidFill>
                <a:latin typeface="+mn-ea"/>
              </a:rPr>
              <a:t>教育</a:t>
            </a:r>
            <a:r>
              <a:rPr lang="zh-CN" altLang="en-US" sz="2800" dirty="0">
                <a:solidFill>
                  <a:schemeClr val="bg1"/>
                </a:solidFill>
                <a:latin typeface="+mn-ea"/>
              </a:rPr>
              <a:t>资源泛在化，</a:t>
            </a:r>
            <a:r>
              <a:rPr lang="zh-CN" altLang="en-US" sz="2800" b="1" dirty="0">
                <a:solidFill>
                  <a:schemeClr val="bg1"/>
                </a:solidFill>
                <a:latin typeface="+mn-ea"/>
              </a:rPr>
              <a:t>学校不再是获取知识的唯一</a:t>
            </a:r>
            <a:r>
              <a:rPr lang="zh-CN" altLang="en-US" sz="2800" b="1" dirty="0" smtClean="0">
                <a:solidFill>
                  <a:schemeClr val="bg1"/>
                </a:solidFill>
                <a:latin typeface="+mn-ea"/>
              </a:rPr>
              <a:t>场所</a:t>
            </a:r>
            <a:endParaRPr lang="en-US" altLang="zh-CN" sz="2800" b="1" dirty="0" smtClean="0">
              <a:solidFill>
                <a:schemeClr val="bg1"/>
              </a:solidFill>
              <a:latin typeface="+mn-ea"/>
            </a:endParaRPr>
          </a:p>
          <a:p>
            <a:pPr marL="457200" indent="-457200">
              <a:buFont typeface="Wingdings" panose="05000000000000000000" pitchFamily="2" charset="2"/>
              <a:buChar char="n"/>
            </a:pPr>
            <a:r>
              <a:rPr lang="zh-CN" altLang="en-US" sz="2800" dirty="0" smtClean="0">
                <a:solidFill>
                  <a:schemeClr val="bg1"/>
                </a:solidFill>
                <a:latin typeface="+mn-ea"/>
              </a:rPr>
              <a:t>职业</a:t>
            </a:r>
            <a:r>
              <a:rPr lang="zh-CN" altLang="en-US" sz="2800" dirty="0">
                <a:solidFill>
                  <a:schemeClr val="bg1"/>
                </a:solidFill>
                <a:latin typeface="+mn-ea"/>
              </a:rPr>
              <a:t>的流动</a:t>
            </a:r>
            <a:r>
              <a:rPr lang="zh-CN" altLang="en-US" sz="2800" dirty="0" smtClean="0">
                <a:solidFill>
                  <a:schemeClr val="bg1"/>
                </a:solidFill>
                <a:latin typeface="+mn-ea"/>
              </a:rPr>
              <a:t>化：一</a:t>
            </a:r>
            <a:r>
              <a:rPr lang="zh-CN" altLang="en-US" sz="2800" dirty="0">
                <a:solidFill>
                  <a:schemeClr val="bg1"/>
                </a:solidFill>
                <a:latin typeface="+mn-ea"/>
              </a:rPr>
              <a:t>个职业干一辈子的时代过去了，新的职业不断出现，一些行业退出历史舞台。在西方发达国家，大概一个人一生平均有十次以上改变职业的机会。过去</a:t>
            </a:r>
            <a:r>
              <a:rPr lang="zh-CN" altLang="en-US" sz="2800" b="1" dirty="0">
                <a:solidFill>
                  <a:schemeClr val="bg1"/>
                </a:solidFill>
                <a:latin typeface="+mn-ea"/>
              </a:rPr>
              <a:t>学校教育为职业做准备的这样一种理念和形态，也将发生很深刻的变化</a:t>
            </a:r>
            <a:r>
              <a:rPr lang="zh-CN" altLang="en-US" sz="2800" dirty="0" smtClean="0">
                <a:solidFill>
                  <a:schemeClr val="bg1"/>
                </a:solidFill>
                <a:latin typeface="+mn-ea"/>
              </a:rPr>
              <a:t>。</a:t>
            </a:r>
            <a:endParaRPr lang="en-US" altLang="zh-CN" sz="2800" dirty="0" smtClean="0">
              <a:solidFill>
                <a:schemeClr val="bg1"/>
              </a:solidFill>
              <a:latin typeface="+mn-ea"/>
            </a:endParaRPr>
          </a:p>
          <a:p>
            <a:pPr marL="457200" indent="-457200">
              <a:buFont typeface="Wingdings" panose="05000000000000000000" pitchFamily="2" charset="2"/>
              <a:buChar char="n"/>
            </a:pPr>
            <a:r>
              <a:rPr lang="zh-CN" altLang="en-US" sz="2800" dirty="0" smtClean="0">
                <a:solidFill>
                  <a:schemeClr val="bg1"/>
                </a:solidFill>
                <a:latin typeface="+mn-ea"/>
              </a:rPr>
              <a:t>很多</a:t>
            </a:r>
            <a:r>
              <a:rPr lang="zh-CN" altLang="en-US" sz="2800" dirty="0">
                <a:solidFill>
                  <a:schemeClr val="bg1"/>
                </a:solidFill>
                <a:latin typeface="+mn-ea"/>
              </a:rPr>
              <a:t>国外大公司明确不看专业背景，只要求学生具有好的</a:t>
            </a:r>
            <a:r>
              <a:rPr lang="zh-CN" altLang="en-US" sz="2800" dirty="0" smtClean="0">
                <a:solidFill>
                  <a:schemeClr val="bg1"/>
                </a:solidFill>
                <a:latin typeface="+mn-ea"/>
              </a:rPr>
              <a:t>素养</a:t>
            </a:r>
            <a:endParaRPr lang="zh-CN" altLang="en-US" sz="2800" dirty="0">
              <a:solidFill>
                <a:schemeClr val="bg1"/>
              </a:solidFill>
              <a:latin typeface="+mn-ea"/>
            </a:endParaRPr>
          </a:p>
          <a:p>
            <a:pPr marL="457200" indent="-457200">
              <a:buFont typeface="Wingdings" panose="05000000000000000000" pitchFamily="2" charset="2"/>
              <a:buChar char="n"/>
            </a:pPr>
            <a:r>
              <a:rPr lang="zh-CN" altLang="en-US" sz="2800" dirty="0" smtClean="0">
                <a:solidFill>
                  <a:schemeClr val="bg1"/>
                </a:solidFill>
                <a:latin typeface="+mn-ea"/>
              </a:rPr>
              <a:t>技术</a:t>
            </a:r>
            <a:r>
              <a:rPr lang="zh-CN" altLang="en-US" sz="2800" dirty="0">
                <a:solidFill>
                  <a:schemeClr val="bg1"/>
                </a:solidFill>
                <a:latin typeface="+mn-ea"/>
              </a:rPr>
              <a:t>的赋能</a:t>
            </a:r>
            <a:r>
              <a:rPr lang="zh-CN" altLang="en-US" sz="2800" dirty="0" smtClean="0">
                <a:solidFill>
                  <a:schemeClr val="bg1"/>
                </a:solidFill>
                <a:latin typeface="+mn-ea"/>
              </a:rPr>
              <a:t>化：互联网</a:t>
            </a:r>
            <a:r>
              <a:rPr lang="zh-CN" altLang="en-US" sz="2800" dirty="0">
                <a:solidFill>
                  <a:schemeClr val="bg1"/>
                </a:solidFill>
                <a:latin typeface="+mn-ea"/>
              </a:rPr>
              <a:t>、人工智能、区块链、大数据等高新技术都在为教育赋能</a:t>
            </a:r>
            <a:r>
              <a:rPr lang="zh-CN" altLang="en-US" sz="2800" dirty="0" smtClean="0">
                <a:solidFill>
                  <a:schemeClr val="bg1"/>
                </a:solidFill>
                <a:latin typeface="+mn-ea"/>
              </a:rPr>
              <a:t>。</a:t>
            </a:r>
            <a:endParaRPr lang="en-US" altLang="zh-CN" sz="2800" dirty="0" smtClean="0">
              <a:solidFill>
                <a:schemeClr val="bg1"/>
              </a:solidFill>
              <a:latin typeface="+mn-ea"/>
            </a:endParaRPr>
          </a:p>
          <a:p>
            <a:pPr marL="457200" indent="-457200">
              <a:buFont typeface="Wingdings" panose="05000000000000000000" pitchFamily="2" charset="2"/>
              <a:buChar char="n"/>
            </a:pPr>
            <a:r>
              <a:rPr lang="zh-CN" altLang="en-US" sz="2800" b="1" dirty="0" smtClean="0">
                <a:solidFill>
                  <a:schemeClr val="bg1"/>
                </a:solidFill>
                <a:latin typeface="+mn-ea"/>
              </a:rPr>
              <a:t>未来</a:t>
            </a:r>
            <a:r>
              <a:rPr lang="zh-CN" altLang="en-US" sz="2800" b="1" dirty="0">
                <a:solidFill>
                  <a:schemeClr val="bg1"/>
                </a:solidFill>
                <a:latin typeface="+mn-ea"/>
              </a:rPr>
              <a:t>人的学习方式、认知将会发生非常大的变化。通过认知外包，人的学习能力也会大大</a:t>
            </a:r>
            <a:r>
              <a:rPr lang="zh-CN" altLang="en-US" sz="2800" b="1" dirty="0" smtClean="0">
                <a:solidFill>
                  <a:schemeClr val="bg1"/>
                </a:solidFill>
                <a:latin typeface="+mn-ea"/>
              </a:rPr>
              <a:t>增强</a:t>
            </a:r>
            <a:endParaRPr lang="en-US" altLang="zh-CN" sz="2800" b="1" dirty="0" smtClean="0">
              <a:solidFill>
                <a:schemeClr val="bg1"/>
              </a:solidFill>
              <a:latin typeface="+mn-ea"/>
            </a:endParaRPr>
          </a:p>
          <a:p>
            <a:pPr marL="457200" indent="-457200">
              <a:buFont typeface="Wingdings" panose="05000000000000000000" pitchFamily="2" charset="2"/>
              <a:buChar char="n"/>
            </a:pPr>
            <a:r>
              <a:rPr lang="zh-CN" altLang="en-US" sz="2800" dirty="0" smtClean="0">
                <a:solidFill>
                  <a:schemeClr val="bg1"/>
                </a:solidFill>
                <a:latin typeface="+mn-ea"/>
              </a:rPr>
              <a:t>传统</a:t>
            </a:r>
            <a:r>
              <a:rPr lang="zh-CN" altLang="en-US" sz="2800" dirty="0">
                <a:solidFill>
                  <a:schemeClr val="bg1"/>
                </a:solidFill>
                <a:latin typeface="+mn-ea"/>
              </a:rPr>
              <a:t>的以记忆和再现知识为主要目标的教育方法也会发生很大</a:t>
            </a:r>
            <a:r>
              <a:rPr lang="zh-CN" altLang="en-US" sz="2800" dirty="0" smtClean="0">
                <a:solidFill>
                  <a:schemeClr val="bg1"/>
                </a:solidFill>
                <a:latin typeface="+mn-ea"/>
              </a:rPr>
              <a:t>变化</a:t>
            </a:r>
            <a:endParaRPr lang="en-US" altLang="zh-CN" sz="2800" dirty="0" smtClean="0">
              <a:solidFill>
                <a:schemeClr val="bg1"/>
              </a:solidFill>
              <a:latin typeface="+mn-ea"/>
            </a:endParaRPr>
          </a:p>
          <a:p>
            <a:r>
              <a:rPr lang="zh-CN" altLang="zh-CN" sz="2000" dirty="0">
                <a:solidFill>
                  <a:schemeClr val="bg1"/>
                </a:solidFill>
                <a:latin typeface="+mn-ea"/>
              </a:rPr>
              <a:t>朱永新：人工智能时代，我们究竟应该学什么？</a:t>
            </a:r>
            <a:r>
              <a:rPr lang="zh-CN" altLang="en-US" sz="2000" dirty="0">
                <a:solidFill>
                  <a:schemeClr val="bg1"/>
                </a:solidFill>
                <a:latin typeface="+mn-ea"/>
              </a:rPr>
              <a:t>人民政协报，</a:t>
            </a:r>
            <a:r>
              <a:rPr lang="en-US" altLang="zh-CN" sz="2000" dirty="0">
                <a:solidFill>
                  <a:schemeClr val="bg1"/>
                </a:solidFill>
                <a:latin typeface="+mn-ea"/>
              </a:rPr>
              <a:t>2021-12-05</a:t>
            </a:r>
            <a:endParaRPr lang="zh-CN" altLang="en-US" sz="2000" dirty="0">
              <a:solidFill>
                <a:schemeClr val="bg1"/>
              </a:solidFill>
              <a:latin typeface="+mn-ea"/>
            </a:endParaRPr>
          </a:p>
        </p:txBody>
      </p:sp>
    </p:spTree>
    <p:extLst>
      <p:ext uri="{BB962C8B-B14F-4D97-AF65-F5344CB8AC3E}">
        <p14:creationId xmlns:p14="http://schemas.microsoft.com/office/powerpoint/2010/main" val="3873603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511629" y="141514"/>
            <a:ext cx="10591800" cy="1121230"/>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pPr marL="0" lvl="1" algn="ctr"/>
            <a:r>
              <a:rPr lang="zh-CN" altLang="en-US" sz="3200" b="1" dirty="0" smtClean="0">
                <a:solidFill>
                  <a:schemeClr val="bg1"/>
                </a:solidFill>
                <a:latin typeface="微软雅黑" panose="020B0503020204020204" pitchFamily="34" charset="-122"/>
                <a:ea typeface="微软雅黑" panose="020B0503020204020204" pitchFamily="34" charset="-122"/>
              </a:rPr>
              <a:t>互联网</a:t>
            </a:r>
            <a:r>
              <a:rPr lang="en-US" altLang="zh-CN" sz="3200" b="1" dirty="0" smtClean="0">
                <a:solidFill>
                  <a:schemeClr val="bg1"/>
                </a:solidFill>
                <a:latin typeface="微软雅黑" panose="020B0503020204020204" pitchFamily="34" charset="-122"/>
                <a:ea typeface="微软雅黑" panose="020B0503020204020204" pitchFamily="34" charset="-122"/>
              </a:rPr>
              <a:t>/</a:t>
            </a:r>
            <a:r>
              <a:rPr lang="zh-CN" altLang="en-US" sz="3200" b="1" dirty="0" smtClean="0">
                <a:solidFill>
                  <a:schemeClr val="bg1"/>
                </a:solidFill>
                <a:latin typeface="微软雅黑" panose="020B0503020204020204" pitchFamily="34" charset="-122"/>
                <a:ea typeface="微软雅黑" panose="020B0503020204020204" pitchFamily="34" charset="-122"/>
              </a:rPr>
              <a:t>智能时代：</a:t>
            </a:r>
            <a:r>
              <a:rPr lang="zh-CN" altLang="en-US" sz="3200" b="1" dirty="0" smtClean="0">
                <a:solidFill>
                  <a:srgbClr val="FFC000"/>
                </a:solidFill>
                <a:latin typeface="微软雅黑" panose="020B0503020204020204" pitchFamily="34" charset="-122"/>
                <a:ea typeface="微软雅黑" panose="020B0503020204020204" pitchFamily="34" charset="-122"/>
              </a:rPr>
              <a:t>去中心化</a:t>
            </a:r>
            <a:endParaRPr lang="en-US" altLang="zh-CN" sz="3200" b="1" dirty="0">
              <a:solidFill>
                <a:srgbClr val="FFC000"/>
              </a:solidFill>
              <a:latin typeface="微软雅黑" panose="020B0503020204020204" pitchFamily="34" charset="-122"/>
              <a:ea typeface="微软雅黑" panose="020B0503020204020204" pitchFamily="34" charset="-122"/>
            </a:endParaRPr>
          </a:p>
        </p:txBody>
      </p:sp>
      <p:sp>
        <p:nvSpPr>
          <p:cNvPr id="2" name="矩形 1"/>
          <p:cNvSpPr/>
          <p:nvPr/>
        </p:nvSpPr>
        <p:spPr>
          <a:xfrm>
            <a:off x="1295399" y="1431471"/>
            <a:ext cx="9225643" cy="4519523"/>
          </a:xfrm>
          <a:prstGeom prst="rect">
            <a:avLst/>
          </a:prstGeom>
          <a:noFill/>
        </p:spPr>
        <p:txBody>
          <a:bodyPr wrap="square" lIns="86694" tIns="43347" rIns="86694" bIns="43347">
            <a:spAutoFit/>
          </a:bodyPr>
          <a:lstStyle/>
          <a:p>
            <a:pPr algn="just"/>
            <a:r>
              <a:rPr lang="zh-CN" altLang="en-US" sz="3200" b="1" dirty="0" smtClean="0">
                <a:solidFill>
                  <a:schemeClr val="bg1"/>
                </a:solidFill>
                <a:latin typeface="微软雅黑" panose="020B0503020204020204" pitchFamily="34" charset="-122"/>
                <a:ea typeface="微软雅黑" panose="020B0503020204020204" pitchFamily="34" charset="-122"/>
              </a:rPr>
              <a:t>知识处理的逻辑在变化</a:t>
            </a:r>
            <a:endParaRPr lang="en-US" altLang="zh-CN" sz="3200" b="1" dirty="0" smtClean="0">
              <a:solidFill>
                <a:schemeClr val="bg1"/>
              </a:solidFill>
              <a:latin typeface="微软雅黑" panose="020B0503020204020204" pitchFamily="34" charset="-122"/>
              <a:ea typeface="微软雅黑" panose="020B0503020204020204" pitchFamily="34" charset="-122"/>
            </a:endParaRPr>
          </a:p>
          <a:p>
            <a:pPr algn="just"/>
            <a:endParaRPr lang="en-US" altLang="zh-CN" sz="3200" b="1" dirty="0" smtClean="0">
              <a:solidFill>
                <a:schemeClr val="bg1"/>
              </a:solidFill>
              <a:latin typeface="微软雅黑" panose="020B0503020204020204" pitchFamily="34" charset="-122"/>
              <a:ea typeface="微软雅黑" panose="020B0503020204020204" pitchFamily="34" charset="-122"/>
            </a:endParaRPr>
          </a:p>
          <a:p>
            <a:pPr marL="457200" indent="-457200" algn="just">
              <a:buFont typeface="Wingdings" panose="05000000000000000000" pitchFamily="2" charset="2"/>
              <a:buChar char="n"/>
            </a:pPr>
            <a:r>
              <a:rPr lang="zh-CN" altLang="en-US" sz="3200" dirty="0" smtClean="0">
                <a:solidFill>
                  <a:schemeClr val="bg1"/>
                </a:solidFill>
                <a:latin typeface="微软雅黑" panose="020B0503020204020204" pitchFamily="34" charset="-122"/>
                <a:ea typeface="微软雅黑" panose="020B0503020204020204" pitchFamily="34" charset="-122"/>
              </a:rPr>
              <a:t>互联网</a:t>
            </a:r>
            <a:r>
              <a:rPr lang="zh-CN" altLang="en-US" sz="3200" dirty="0">
                <a:solidFill>
                  <a:schemeClr val="bg1"/>
                </a:solidFill>
                <a:latin typeface="微软雅黑" panose="020B0503020204020204" pitchFamily="34" charset="-122"/>
                <a:ea typeface="微软雅黑" panose="020B0503020204020204" pitchFamily="34" charset="-122"/>
              </a:rPr>
              <a:t>本身的逻辑</a:t>
            </a:r>
            <a:endParaRPr lang="en-US" altLang="zh-CN" sz="3200" dirty="0">
              <a:solidFill>
                <a:schemeClr val="bg1"/>
              </a:solidFill>
              <a:latin typeface="微软雅黑" panose="020B0503020204020204" pitchFamily="34" charset="-122"/>
              <a:ea typeface="微软雅黑" panose="020B0503020204020204" pitchFamily="34" charset="-122"/>
            </a:endParaRPr>
          </a:p>
          <a:p>
            <a:pPr marL="457200" indent="-457200" algn="just">
              <a:buFont typeface="Wingdings" panose="05000000000000000000" pitchFamily="2" charset="2"/>
              <a:buChar char="n"/>
            </a:pPr>
            <a:r>
              <a:rPr lang="zh-CN" altLang="en-US" sz="3200" dirty="0">
                <a:solidFill>
                  <a:schemeClr val="bg1"/>
                </a:solidFill>
                <a:latin typeface="微软雅黑" panose="020B0503020204020204" pitchFamily="34" charset="-122"/>
                <a:ea typeface="微软雅黑" panose="020B0503020204020204" pitchFamily="34" charset="-122"/>
              </a:rPr>
              <a:t>维基百科实现了对权威的去</a:t>
            </a:r>
            <a:r>
              <a:rPr lang="zh-CN" altLang="en-US" sz="3200" dirty="0" smtClean="0">
                <a:solidFill>
                  <a:schemeClr val="bg1"/>
                </a:solidFill>
                <a:latin typeface="微软雅黑" panose="020B0503020204020204" pitchFamily="34" charset="-122"/>
                <a:ea typeface="微软雅黑" panose="020B0503020204020204" pitchFamily="34" charset="-122"/>
              </a:rPr>
              <a:t>中心化</a:t>
            </a:r>
            <a:endParaRPr lang="en-US" altLang="zh-CN" sz="3200" dirty="0" smtClean="0">
              <a:solidFill>
                <a:schemeClr val="bg1"/>
              </a:solidFill>
              <a:latin typeface="微软雅黑" panose="020B0503020204020204" pitchFamily="34" charset="-122"/>
              <a:ea typeface="微软雅黑" panose="020B0503020204020204" pitchFamily="34" charset="-122"/>
            </a:endParaRPr>
          </a:p>
          <a:p>
            <a:pPr marL="457200" indent="-457200" algn="just">
              <a:buFont typeface="Wingdings" panose="05000000000000000000" pitchFamily="2" charset="2"/>
              <a:buChar char="n"/>
            </a:pPr>
            <a:r>
              <a:rPr lang="en-US" altLang="zh-CN" sz="3200" dirty="0" err="1" smtClean="0">
                <a:solidFill>
                  <a:schemeClr val="bg1"/>
                </a:solidFill>
                <a:latin typeface="微软雅黑" panose="020B0503020204020204" pitchFamily="34" charset="-122"/>
                <a:ea typeface="微软雅黑" panose="020B0503020204020204" pitchFamily="34" charset="-122"/>
              </a:rPr>
              <a:t>ChatGPT</a:t>
            </a:r>
            <a:endParaRPr lang="en-US" altLang="zh-CN" sz="3200" dirty="0">
              <a:solidFill>
                <a:schemeClr val="bg1"/>
              </a:solidFill>
              <a:latin typeface="微软雅黑" panose="020B0503020204020204" pitchFamily="34" charset="-122"/>
              <a:ea typeface="微软雅黑" panose="020B0503020204020204" pitchFamily="34" charset="-122"/>
            </a:endParaRPr>
          </a:p>
          <a:p>
            <a:pPr marL="457200" indent="-457200" algn="just">
              <a:buFont typeface="Wingdings" panose="05000000000000000000" pitchFamily="2" charset="2"/>
              <a:buChar char="n"/>
            </a:pPr>
            <a:r>
              <a:rPr lang="zh-CN" altLang="en-US" sz="3200" dirty="0">
                <a:solidFill>
                  <a:schemeClr val="bg1"/>
                </a:solidFill>
                <a:latin typeface="微软雅黑" panose="020B0503020204020204" pitchFamily="34" charset="-122"/>
                <a:ea typeface="微软雅黑" panose="020B0503020204020204" pitchFamily="34" charset="-122"/>
              </a:rPr>
              <a:t>知识获取</a:t>
            </a:r>
            <a:r>
              <a:rPr lang="en-US" altLang="zh-CN" sz="3200" dirty="0">
                <a:solidFill>
                  <a:schemeClr val="bg1"/>
                </a:solidFill>
                <a:latin typeface="微软雅黑" panose="020B0503020204020204" pitchFamily="34" charset="-122"/>
                <a:ea typeface="微软雅黑" panose="020B0503020204020204" pitchFamily="34" charset="-122"/>
              </a:rPr>
              <a:t>——</a:t>
            </a:r>
            <a:r>
              <a:rPr lang="zh-CN" altLang="en-US" sz="3200" dirty="0">
                <a:solidFill>
                  <a:schemeClr val="bg1"/>
                </a:solidFill>
                <a:latin typeface="微软雅黑" panose="020B0503020204020204" pitchFamily="34" charset="-122"/>
                <a:ea typeface="微软雅黑" panose="020B0503020204020204" pitchFamily="34" charset="-122"/>
              </a:rPr>
              <a:t>并非只在书本、课堂、老师</a:t>
            </a:r>
            <a:endParaRPr lang="en-US" altLang="zh-CN" sz="3200" dirty="0">
              <a:solidFill>
                <a:schemeClr val="bg1"/>
              </a:solidFill>
              <a:latin typeface="微软雅黑" panose="020B0503020204020204" pitchFamily="34" charset="-122"/>
              <a:ea typeface="微软雅黑" panose="020B0503020204020204" pitchFamily="34" charset="-122"/>
            </a:endParaRPr>
          </a:p>
          <a:p>
            <a:pPr marL="457200" indent="-457200" algn="just">
              <a:buFont typeface="Wingdings" panose="05000000000000000000" pitchFamily="2" charset="2"/>
              <a:buChar char="n"/>
            </a:pPr>
            <a:r>
              <a:rPr lang="zh-CN" altLang="en-US" sz="3200" dirty="0">
                <a:solidFill>
                  <a:schemeClr val="bg1"/>
                </a:solidFill>
                <a:latin typeface="微软雅黑" panose="020B0503020204020204" pitchFamily="34" charset="-122"/>
                <a:ea typeface="微软雅黑" panose="020B0503020204020204" pitchFamily="34" charset="-122"/>
              </a:rPr>
              <a:t>知识存储</a:t>
            </a:r>
            <a:r>
              <a:rPr lang="en-US" altLang="zh-CN" sz="3200" dirty="0">
                <a:solidFill>
                  <a:schemeClr val="bg1"/>
                </a:solidFill>
                <a:latin typeface="微软雅黑" panose="020B0503020204020204" pitchFamily="34" charset="-122"/>
                <a:ea typeface="微软雅黑" panose="020B0503020204020204" pitchFamily="34" charset="-122"/>
              </a:rPr>
              <a:t>——</a:t>
            </a:r>
            <a:r>
              <a:rPr lang="zh-CN" altLang="en-US" sz="3200" dirty="0">
                <a:solidFill>
                  <a:schemeClr val="bg1"/>
                </a:solidFill>
                <a:latin typeface="微软雅黑" panose="020B0503020204020204" pitchFamily="34" charset="-122"/>
                <a:ea typeface="微软雅黑" panose="020B0503020204020204" pitchFamily="34" charset="-122"/>
              </a:rPr>
              <a:t>并非一定在头脑记忆或笔记中</a:t>
            </a:r>
            <a:endParaRPr lang="en-US" altLang="zh-CN" sz="3200" dirty="0">
              <a:solidFill>
                <a:schemeClr val="bg1"/>
              </a:solidFill>
              <a:latin typeface="微软雅黑" panose="020B0503020204020204" pitchFamily="34" charset="-122"/>
              <a:ea typeface="微软雅黑" panose="020B0503020204020204" pitchFamily="34" charset="-122"/>
            </a:endParaRPr>
          </a:p>
          <a:p>
            <a:pPr marL="457200" indent="-457200" algn="just">
              <a:buFont typeface="Wingdings" panose="05000000000000000000" pitchFamily="2" charset="2"/>
              <a:buChar char="n"/>
            </a:pPr>
            <a:r>
              <a:rPr lang="zh-CN" altLang="en-US" sz="3200" b="1" dirty="0">
                <a:solidFill>
                  <a:srgbClr val="FFC000"/>
                </a:solidFill>
                <a:latin typeface="微软雅黑" panose="020B0503020204020204" pitchFamily="34" charset="-122"/>
                <a:ea typeface="微软雅黑" panose="020B0503020204020204" pitchFamily="34" charset="-122"/>
              </a:rPr>
              <a:t>教学中是否应该有某种程度、某种形式的“去中心化”</a:t>
            </a:r>
            <a:r>
              <a:rPr lang="zh-CN" altLang="en-US" sz="3200" b="1" dirty="0" smtClean="0">
                <a:solidFill>
                  <a:srgbClr val="FFC000"/>
                </a:solidFill>
                <a:latin typeface="微软雅黑" panose="020B0503020204020204" pitchFamily="34" charset="-122"/>
                <a:ea typeface="微软雅黑" panose="020B0503020204020204" pitchFamily="34" charset="-122"/>
              </a:rPr>
              <a:t>？</a:t>
            </a:r>
            <a:endParaRPr lang="en-US" altLang="zh-CN" sz="3200" b="1" dirty="0" smtClean="0">
              <a:solidFill>
                <a:srgbClr val="FFC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391473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511629" y="141514"/>
            <a:ext cx="10591800" cy="1121230"/>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pPr marL="0" lvl="1" algn="ctr"/>
            <a:r>
              <a:rPr lang="zh-CN" altLang="en-US" sz="3200" b="1" dirty="0" smtClean="0">
                <a:solidFill>
                  <a:srgbClr val="FFC000"/>
                </a:solidFill>
                <a:latin typeface="微软雅黑" panose="020B0503020204020204" pitchFamily="34" charset="-122"/>
                <a:ea typeface="微软雅黑" panose="020B0503020204020204" pitchFamily="34" charset="-122"/>
              </a:rPr>
              <a:t>网络与智能时代：</a:t>
            </a:r>
            <a:r>
              <a:rPr lang="zh-CN" altLang="en-US" sz="3200" b="1" dirty="0" smtClean="0">
                <a:solidFill>
                  <a:srgbClr val="FFFF00"/>
                </a:solidFill>
                <a:latin typeface="微软雅黑" panose="020B0503020204020204" pitchFamily="34" charset="-122"/>
                <a:ea typeface="微软雅黑" panose="020B0503020204020204" pitchFamily="34" charset="-122"/>
              </a:rPr>
              <a:t>知识的传递</a:t>
            </a:r>
            <a:endParaRPr lang="en-US" altLang="zh-CN" sz="32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1132115" y="1703614"/>
            <a:ext cx="9388928" cy="4519523"/>
          </a:xfrm>
          <a:prstGeom prst="rect">
            <a:avLst/>
          </a:prstGeom>
          <a:noFill/>
        </p:spPr>
        <p:txBody>
          <a:bodyPr wrap="square" lIns="86694" tIns="43347" rIns="86694" bIns="43347">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网络与智能时代的</a:t>
            </a:r>
            <a:r>
              <a:rPr lang="zh-CN" altLang="en-US" sz="3200" b="1" dirty="0">
                <a:solidFill>
                  <a:srgbClr val="FFC000"/>
                </a:solidFill>
                <a:latin typeface="微软雅黑" panose="020B0503020204020204" pitchFamily="34" charset="-122"/>
                <a:ea typeface="微软雅黑" panose="020B0503020204020204" pitchFamily="34" charset="-122"/>
              </a:rPr>
              <a:t>知识传递逻辑</a:t>
            </a:r>
            <a:endParaRPr lang="en-US" altLang="zh-CN" sz="3200" b="1" dirty="0">
              <a:solidFill>
                <a:srgbClr val="FFC000"/>
              </a:solidFill>
              <a:latin typeface="微软雅黑" panose="020B0503020204020204" pitchFamily="34" charset="-122"/>
              <a:ea typeface="微软雅黑" panose="020B0503020204020204" pitchFamily="34" charset="-122"/>
            </a:endParaRPr>
          </a:p>
          <a:p>
            <a:endParaRPr lang="zh-CN" altLang="en-US" sz="3200" b="1" dirty="0">
              <a:solidFill>
                <a:schemeClr val="bg1"/>
              </a:solidFill>
              <a:latin typeface="微软雅黑" panose="020B0503020204020204" pitchFamily="34" charset="-122"/>
              <a:ea typeface="微软雅黑" panose="020B0503020204020204" pitchFamily="34" charset="-122"/>
            </a:endParaRPr>
          </a:p>
          <a:p>
            <a:pPr>
              <a:buFont typeface="Wingdings" panose="05000000000000000000" pitchFamily="2" charset="2"/>
              <a:buChar char="n"/>
            </a:pPr>
            <a:r>
              <a:rPr lang="zh-CN" altLang="en-US" sz="3200" dirty="0">
                <a:solidFill>
                  <a:schemeClr val="bg1"/>
                </a:solidFill>
                <a:latin typeface="微软雅黑" panose="020B0503020204020204" pitchFamily="34" charset="-122"/>
                <a:ea typeface="微软雅黑" panose="020B0503020204020204" pitchFamily="34" charset="-122"/>
              </a:rPr>
              <a:t>指数（速度）</a:t>
            </a:r>
            <a:endParaRPr lang="en-US" altLang="zh-CN" sz="3200" dirty="0">
              <a:solidFill>
                <a:schemeClr val="bg1"/>
              </a:solidFill>
              <a:latin typeface="微软雅黑" panose="020B0503020204020204" pitchFamily="34" charset="-122"/>
              <a:ea typeface="微软雅黑" panose="020B0503020204020204" pitchFamily="34" charset="-122"/>
            </a:endParaRPr>
          </a:p>
          <a:p>
            <a:pPr>
              <a:buFont typeface="Wingdings" panose="05000000000000000000" pitchFamily="2" charset="2"/>
              <a:buChar char="n"/>
            </a:pPr>
            <a:r>
              <a:rPr lang="zh-CN" altLang="en-US" sz="3200" dirty="0">
                <a:solidFill>
                  <a:schemeClr val="bg1"/>
                </a:solidFill>
                <a:latin typeface="微软雅黑" panose="020B0503020204020204" pitchFamily="34" charset="-122"/>
                <a:ea typeface="微软雅黑" panose="020B0503020204020204" pitchFamily="34" charset="-122"/>
              </a:rPr>
              <a:t>自动传播</a:t>
            </a:r>
            <a:endParaRPr lang="en-US" altLang="zh-CN" sz="3200" dirty="0">
              <a:solidFill>
                <a:schemeClr val="bg1"/>
              </a:solidFill>
              <a:latin typeface="微软雅黑" panose="020B0503020204020204" pitchFamily="34" charset="-122"/>
              <a:ea typeface="微软雅黑" panose="020B0503020204020204" pitchFamily="34" charset="-122"/>
            </a:endParaRPr>
          </a:p>
          <a:p>
            <a:pPr>
              <a:buFont typeface="Wingdings" panose="05000000000000000000" pitchFamily="2" charset="2"/>
              <a:buChar char="n"/>
            </a:pPr>
            <a:r>
              <a:rPr lang="zh-CN" altLang="en-US" sz="3200" dirty="0">
                <a:solidFill>
                  <a:schemeClr val="bg1"/>
                </a:solidFill>
                <a:latin typeface="微软雅黑" panose="020B0503020204020204" pitchFamily="34" charset="-122"/>
                <a:ea typeface="微软雅黑" panose="020B0503020204020204" pitchFamily="34" charset="-122"/>
              </a:rPr>
              <a:t>碎片</a:t>
            </a:r>
            <a:endParaRPr lang="en-US" altLang="zh-CN" sz="3200" dirty="0">
              <a:solidFill>
                <a:schemeClr val="bg1"/>
              </a:solidFill>
              <a:latin typeface="微软雅黑" panose="020B0503020204020204" pitchFamily="34" charset="-122"/>
              <a:ea typeface="微软雅黑" panose="020B0503020204020204" pitchFamily="34" charset="-122"/>
            </a:endParaRPr>
          </a:p>
          <a:p>
            <a:pPr>
              <a:buFont typeface="Wingdings" panose="05000000000000000000" pitchFamily="2" charset="2"/>
              <a:buChar char="n"/>
            </a:pPr>
            <a:r>
              <a:rPr lang="zh-CN" altLang="en-US" sz="3200" dirty="0">
                <a:solidFill>
                  <a:schemeClr val="bg1"/>
                </a:solidFill>
                <a:latin typeface="微软雅黑" panose="020B0503020204020204" pitchFamily="34" charset="-122"/>
                <a:ea typeface="微软雅黑" panose="020B0503020204020204" pitchFamily="34" charset="-122"/>
              </a:rPr>
              <a:t>去中心化</a:t>
            </a:r>
            <a:endParaRPr lang="en-US" altLang="zh-CN" sz="3200" dirty="0">
              <a:solidFill>
                <a:schemeClr val="bg1"/>
              </a:solidFill>
              <a:latin typeface="微软雅黑" panose="020B0503020204020204" pitchFamily="34" charset="-122"/>
              <a:ea typeface="微软雅黑" panose="020B0503020204020204" pitchFamily="34" charset="-122"/>
            </a:endParaRPr>
          </a:p>
          <a:p>
            <a:pPr>
              <a:buFont typeface="Wingdings" panose="05000000000000000000" pitchFamily="2" charset="2"/>
              <a:buChar char="n"/>
            </a:pPr>
            <a:r>
              <a:rPr lang="zh-CN" altLang="en-US" sz="3200" dirty="0">
                <a:solidFill>
                  <a:schemeClr val="bg1"/>
                </a:solidFill>
                <a:latin typeface="微软雅黑" panose="020B0503020204020204" pitchFamily="34" charset="-122"/>
                <a:ea typeface="微软雅黑" panose="020B0503020204020204" pitchFamily="34" charset="-122"/>
              </a:rPr>
              <a:t>跨越时空</a:t>
            </a:r>
            <a:r>
              <a:rPr lang="zh-CN" altLang="en-US" sz="3200" dirty="0" smtClean="0">
                <a:solidFill>
                  <a:schemeClr val="bg1"/>
                </a:solidFill>
                <a:latin typeface="微软雅黑" panose="020B0503020204020204" pitchFamily="34" charset="-122"/>
                <a:ea typeface="微软雅黑" panose="020B0503020204020204" pitchFamily="34" charset="-122"/>
              </a:rPr>
              <a:t>界限</a:t>
            </a:r>
            <a:endParaRPr lang="en-US" altLang="zh-CN" sz="3200" dirty="0" smtClean="0">
              <a:solidFill>
                <a:schemeClr val="bg1"/>
              </a:solidFill>
              <a:latin typeface="微软雅黑" panose="020B0503020204020204" pitchFamily="34" charset="-122"/>
              <a:ea typeface="微软雅黑" panose="020B0503020204020204" pitchFamily="34" charset="-122"/>
            </a:endParaRPr>
          </a:p>
          <a:p>
            <a:pPr>
              <a:buFont typeface="Wingdings" panose="05000000000000000000" pitchFamily="2" charset="2"/>
              <a:buChar char="n"/>
            </a:pPr>
            <a:endParaRPr lang="en-US" altLang="zh-CN" sz="3200" dirty="0">
              <a:solidFill>
                <a:schemeClr val="bg1"/>
              </a:solidFill>
              <a:latin typeface="微软雅黑" panose="020B0503020204020204" pitchFamily="34" charset="-122"/>
              <a:ea typeface="微软雅黑" panose="020B0503020204020204" pitchFamily="34" charset="-122"/>
            </a:endParaRPr>
          </a:p>
          <a:p>
            <a:pPr>
              <a:buFont typeface="Wingdings" panose="05000000000000000000" pitchFamily="2" charset="2"/>
              <a:buChar char="n"/>
            </a:pPr>
            <a:r>
              <a:rPr lang="zh-CN" altLang="en-US" sz="3200" b="1" dirty="0" smtClean="0">
                <a:solidFill>
                  <a:srgbClr val="FFC000"/>
                </a:solidFill>
                <a:latin typeface="微软雅黑" panose="020B0503020204020204" pitchFamily="34" charset="-122"/>
                <a:ea typeface="微软雅黑" panose="020B0503020204020204" pitchFamily="34" charset="-122"/>
              </a:rPr>
              <a:t>教育？</a:t>
            </a:r>
            <a:endParaRPr lang="en-US" altLang="zh-CN" sz="3200" b="1" dirty="0">
              <a:solidFill>
                <a:srgbClr val="FFC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311791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1596000" y="200390"/>
            <a:ext cx="9000000" cy="1182096"/>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r>
              <a:rPr lang="en-US" altLang="zh-CN" sz="3200" dirty="0" err="1">
                <a:latin typeface="+mn-ea"/>
              </a:rPr>
              <a:t>ChatGPT</a:t>
            </a:r>
            <a:r>
              <a:rPr lang="zh-CN" altLang="en-US" sz="3200" dirty="0">
                <a:latin typeface="+mn-ea"/>
              </a:rPr>
              <a:t>对人类社会最为根本的改变</a:t>
            </a:r>
            <a:r>
              <a:rPr lang="zh-CN" altLang="en-US" sz="3200" dirty="0" smtClean="0">
                <a:latin typeface="+mn-ea"/>
              </a:rPr>
              <a:t>，</a:t>
            </a:r>
            <a:endParaRPr lang="en-US" altLang="zh-CN" sz="3200" dirty="0" smtClean="0">
              <a:latin typeface="+mn-ea"/>
            </a:endParaRPr>
          </a:p>
          <a:p>
            <a:r>
              <a:rPr lang="zh-CN" altLang="en-US" sz="3200" dirty="0" smtClean="0">
                <a:solidFill>
                  <a:schemeClr val="bg1"/>
                </a:solidFill>
                <a:latin typeface="+mn-ea"/>
              </a:rPr>
              <a:t>将</a:t>
            </a:r>
            <a:r>
              <a:rPr lang="zh-CN" altLang="en-US" sz="3200" dirty="0">
                <a:solidFill>
                  <a:schemeClr val="bg1"/>
                </a:solidFill>
                <a:latin typeface="+mn-ea"/>
              </a:rPr>
              <a:t>发生在教育</a:t>
            </a:r>
            <a:r>
              <a:rPr lang="zh-CN" altLang="en-US" sz="3200" dirty="0" smtClean="0">
                <a:solidFill>
                  <a:schemeClr val="bg1"/>
                </a:solidFill>
                <a:latin typeface="+mn-ea"/>
              </a:rPr>
              <a:t>领域</a:t>
            </a:r>
            <a:endParaRPr lang="zh-CN" altLang="en-US" sz="3200" dirty="0">
              <a:solidFill>
                <a:schemeClr val="bg1"/>
              </a:solidFill>
              <a:latin typeface="+mn-ea"/>
            </a:endParaRPr>
          </a:p>
        </p:txBody>
      </p:sp>
      <p:sp>
        <p:nvSpPr>
          <p:cNvPr id="2" name="矩形 1"/>
          <p:cNvSpPr/>
          <p:nvPr/>
        </p:nvSpPr>
        <p:spPr>
          <a:xfrm>
            <a:off x="667871" y="1815352"/>
            <a:ext cx="10824882" cy="4765744"/>
          </a:xfrm>
          <a:prstGeom prst="rect">
            <a:avLst/>
          </a:prstGeom>
        </p:spPr>
        <p:txBody>
          <a:bodyPr wrap="square" lIns="86694" tIns="43347" rIns="86694" bIns="43347">
            <a:spAutoFit/>
          </a:bodyPr>
          <a:lstStyle/>
          <a:p>
            <a:pPr marL="457200" indent="-457200">
              <a:buFont typeface="Wingdings" panose="05000000000000000000" pitchFamily="2" charset="2"/>
              <a:buChar char="n"/>
            </a:pPr>
            <a:r>
              <a:rPr lang="zh-CN" altLang="en-US" sz="3200" dirty="0">
                <a:solidFill>
                  <a:schemeClr val="bg1"/>
                </a:solidFill>
                <a:latin typeface="+mn-ea"/>
              </a:rPr>
              <a:t>可汗学院已宣布将使用</a:t>
            </a:r>
            <a:r>
              <a:rPr lang="en-US" altLang="zh-CN" sz="3200" dirty="0">
                <a:solidFill>
                  <a:schemeClr val="bg1"/>
                </a:solidFill>
                <a:latin typeface="+mn-ea"/>
              </a:rPr>
              <a:t>GPT-4</a:t>
            </a:r>
            <a:r>
              <a:rPr lang="zh-CN" altLang="en-US" sz="3200" dirty="0">
                <a:solidFill>
                  <a:schemeClr val="bg1"/>
                </a:solidFill>
                <a:latin typeface="+mn-ea"/>
              </a:rPr>
              <a:t>为其人工智能助手“</a:t>
            </a:r>
            <a:r>
              <a:rPr lang="en-US" altLang="zh-CN" sz="3200" dirty="0" err="1">
                <a:solidFill>
                  <a:schemeClr val="bg1"/>
                </a:solidFill>
                <a:latin typeface="+mn-ea"/>
              </a:rPr>
              <a:t>Khanmigo</a:t>
            </a:r>
            <a:r>
              <a:rPr lang="en-US" altLang="zh-CN" sz="3200" dirty="0">
                <a:solidFill>
                  <a:schemeClr val="bg1"/>
                </a:solidFill>
                <a:latin typeface="+mn-ea"/>
              </a:rPr>
              <a:t>”</a:t>
            </a:r>
            <a:r>
              <a:rPr lang="zh-CN" altLang="en-US" sz="3200" dirty="0">
                <a:solidFill>
                  <a:schemeClr val="bg1"/>
                </a:solidFill>
                <a:latin typeface="+mn-ea"/>
              </a:rPr>
              <a:t>提供技术支撑，</a:t>
            </a:r>
            <a:r>
              <a:rPr lang="en-US" altLang="zh-CN" sz="3200" dirty="0" err="1">
                <a:solidFill>
                  <a:schemeClr val="bg1"/>
                </a:solidFill>
                <a:latin typeface="+mn-ea"/>
              </a:rPr>
              <a:t>Khanmigo</a:t>
            </a:r>
            <a:r>
              <a:rPr lang="zh-CN" altLang="en-US" sz="3200" dirty="0">
                <a:solidFill>
                  <a:schemeClr val="bg1"/>
                </a:solidFill>
                <a:latin typeface="+mn-ea"/>
              </a:rPr>
              <a:t>既可以作为学生的</a:t>
            </a:r>
            <a:r>
              <a:rPr lang="zh-CN" altLang="en-US" sz="3200" b="1" dirty="0">
                <a:solidFill>
                  <a:schemeClr val="bg1"/>
                </a:solidFill>
                <a:latin typeface="+mn-ea"/>
              </a:rPr>
              <a:t>虚拟导师</a:t>
            </a:r>
            <a:r>
              <a:rPr lang="zh-CN" altLang="en-US" sz="3200" dirty="0">
                <a:solidFill>
                  <a:schemeClr val="bg1"/>
                </a:solidFill>
                <a:latin typeface="+mn-ea"/>
              </a:rPr>
              <a:t>，也可以作为教师的课堂助手</a:t>
            </a:r>
            <a:r>
              <a:rPr lang="zh-CN" altLang="en-US" sz="3200" dirty="0" smtClean="0">
                <a:solidFill>
                  <a:schemeClr val="bg1"/>
                </a:solidFill>
                <a:latin typeface="+mn-ea"/>
              </a:rPr>
              <a:t>。</a:t>
            </a:r>
            <a:r>
              <a:rPr lang="en-US" altLang="zh-CN" sz="3200" b="1" dirty="0" err="1">
                <a:solidFill>
                  <a:schemeClr val="bg1"/>
                </a:solidFill>
                <a:latin typeface="+mn-ea"/>
              </a:rPr>
              <a:t>Khanmigo</a:t>
            </a:r>
            <a:r>
              <a:rPr lang="zh-CN" altLang="en-US" sz="3200" b="1" dirty="0">
                <a:solidFill>
                  <a:schemeClr val="bg1"/>
                </a:solidFill>
                <a:latin typeface="+mn-ea"/>
              </a:rPr>
              <a:t>会成为人工智能助教</a:t>
            </a:r>
            <a:r>
              <a:rPr lang="zh-CN" altLang="en-US" sz="3200" dirty="0">
                <a:solidFill>
                  <a:schemeClr val="bg1"/>
                </a:solidFill>
                <a:latin typeface="+mn-ea"/>
              </a:rPr>
              <a:t>，帮助老师们制定课程计划、批改作业，并且通过对话的方式为孩子提供一对一的辅导</a:t>
            </a:r>
            <a:r>
              <a:rPr lang="zh-CN" altLang="en-US" sz="3200" dirty="0" smtClean="0">
                <a:solidFill>
                  <a:schemeClr val="bg1"/>
                </a:solidFill>
                <a:latin typeface="+mn-ea"/>
              </a:rPr>
              <a:t>。</a:t>
            </a:r>
            <a:endParaRPr lang="en-US" altLang="zh-CN" sz="3200" dirty="0" smtClean="0">
              <a:solidFill>
                <a:schemeClr val="bg1"/>
              </a:solidFill>
              <a:latin typeface="+mn-ea"/>
            </a:endParaRPr>
          </a:p>
          <a:p>
            <a:pPr marL="457200" indent="-457200">
              <a:buFont typeface="Wingdings" panose="05000000000000000000" pitchFamily="2" charset="2"/>
              <a:buChar char="n"/>
            </a:pPr>
            <a:r>
              <a:rPr lang="zh-CN" altLang="en-US" sz="3200" b="1" dirty="0" smtClean="0">
                <a:solidFill>
                  <a:schemeClr val="bg1"/>
                </a:solidFill>
                <a:latin typeface="+mn-ea"/>
              </a:rPr>
              <a:t>中国</a:t>
            </a:r>
            <a:r>
              <a:rPr lang="zh-CN" altLang="en-US" sz="3200" b="1" dirty="0">
                <a:solidFill>
                  <a:schemeClr val="bg1"/>
                </a:solidFill>
                <a:latin typeface="+mn-ea"/>
              </a:rPr>
              <a:t>的教育体系看重传授知识，不看重兴趣和创造力的培养，而人工智能对知识掌握要比人强很多</a:t>
            </a:r>
            <a:r>
              <a:rPr lang="zh-CN" altLang="en-US" sz="3200" b="1" dirty="0" smtClean="0">
                <a:solidFill>
                  <a:schemeClr val="bg1"/>
                </a:solidFill>
                <a:latin typeface="+mn-ea"/>
              </a:rPr>
              <a:t>。</a:t>
            </a:r>
            <a:endParaRPr lang="en-US" altLang="zh-CN" sz="3200" b="1" dirty="0" smtClean="0">
              <a:solidFill>
                <a:schemeClr val="bg1"/>
              </a:solidFill>
              <a:latin typeface="+mn-ea"/>
            </a:endParaRPr>
          </a:p>
          <a:p>
            <a:r>
              <a:rPr lang="zh-CN" altLang="en-US" sz="2000" dirty="0" smtClean="0">
                <a:solidFill>
                  <a:schemeClr val="bg1"/>
                </a:solidFill>
                <a:latin typeface="+mn-ea"/>
              </a:rPr>
              <a:t>张天祁</a:t>
            </a:r>
            <a:r>
              <a:rPr lang="zh-CN" altLang="en-US" sz="2000" dirty="0">
                <a:solidFill>
                  <a:schemeClr val="bg1"/>
                </a:solidFill>
                <a:latin typeface="+mn-ea"/>
              </a:rPr>
              <a:t> 知识分子 </a:t>
            </a:r>
            <a:r>
              <a:rPr lang="en-US" altLang="zh-CN" sz="2000" dirty="0">
                <a:solidFill>
                  <a:schemeClr val="bg1"/>
                </a:solidFill>
                <a:latin typeface="+mn-ea"/>
              </a:rPr>
              <a:t>2023-03-27</a:t>
            </a:r>
          </a:p>
          <a:p>
            <a:pPr marL="457200" indent="-457200">
              <a:buFont typeface="Wingdings" panose="05000000000000000000" pitchFamily="2" charset="2"/>
              <a:buChar char="n"/>
            </a:pPr>
            <a:endParaRPr lang="zh-CN" altLang="zh-CN" sz="2800" dirty="0">
              <a:solidFill>
                <a:schemeClr val="bg1"/>
              </a:solidFill>
              <a:latin typeface="+mn-ea"/>
            </a:endParaRPr>
          </a:p>
        </p:txBody>
      </p:sp>
    </p:spTree>
    <p:extLst>
      <p:ext uri="{BB962C8B-B14F-4D97-AF65-F5344CB8AC3E}">
        <p14:creationId xmlns:p14="http://schemas.microsoft.com/office/powerpoint/2010/main" val="19321041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2386360" y="312234"/>
            <a:ext cx="7424749" cy="1006321"/>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pPr lvl="0" defTabSz="914400" eaLnBrk="0" fontAlgn="base" hangingPunct="0">
              <a:lnSpc>
                <a:spcPct val="100000"/>
              </a:lnSpc>
              <a:spcBef>
                <a:spcPct val="0"/>
              </a:spcBef>
              <a:spcAft>
                <a:spcPct val="0"/>
              </a:spcAft>
            </a:pPr>
            <a:r>
              <a:rPr lang="zh-CN" altLang="en-US" sz="3200" dirty="0" smtClean="0">
                <a:solidFill>
                  <a:schemeClr val="bg1"/>
                </a:solidFill>
                <a:latin typeface="+mn-ea"/>
                <a:ea typeface="+mn-ea"/>
              </a:rPr>
              <a:t>教与学的方式要改变</a:t>
            </a:r>
            <a:endParaRPr lang="zh-CN" altLang="zh-CN" sz="2400" dirty="0">
              <a:solidFill>
                <a:schemeClr val="bg1"/>
              </a:solidFill>
              <a:latin typeface="+mn-ea"/>
              <a:ea typeface="+mn-ea"/>
            </a:endParaRPr>
          </a:p>
        </p:txBody>
      </p:sp>
      <p:sp>
        <p:nvSpPr>
          <p:cNvPr id="2" name="矩形 1"/>
          <p:cNvSpPr/>
          <p:nvPr/>
        </p:nvSpPr>
        <p:spPr>
          <a:xfrm>
            <a:off x="315686" y="1785257"/>
            <a:ext cx="11493137" cy="3965525"/>
          </a:xfrm>
          <a:prstGeom prst="rect">
            <a:avLst/>
          </a:prstGeom>
        </p:spPr>
        <p:txBody>
          <a:bodyPr wrap="square" lIns="86694" tIns="43347" rIns="86694" bIns="43347">
            <a:spAutoFit/>
          </a:bodyPr>
          <a:lstStyle/>
          <a:p>
            <a:pPr algn="ctr"/>
            <a:r>
              <a:rPr lang="zh-CN" altLang="en-US" sz="5400" b="1" dirty="0" smtClean="0">
                <a:solidFill>
                  <a:srgbClr val="FFC000"/>
                </a:solidFill>
                <a:latin typeface="+mn-ea"/>
              </a:rPr>
              <a:t>教与学的底层逻辑在变化</a:t>
            </a:r>
            <a:endParaRPr lang="en-US" altLang="zh-CN" sz="5400" b="1" dirty="0" smtClean="0">
              <a:solidFill>
                <a:srgbClr val="FFC000"/>
              </a:solidFill>
              <a:latin typeface="+mn-ea"/>
            </a:endParaRPr>
          </a:p>
          <a:p>
            <a:pPr algn="ctr"/>
            <a:endParaRPr lang="en-US" altLang="zh-CN" sz="5400" b="1" dirty="0" smtClean="0">
              <a:solidFill>
                <a:srgbClr val="FFC000"/>
              </a:solidFill>
              <a:latin typeface="+mn-ea"/>
            </a:endParaRPr>
          </a:p>
          <a:p>
            <a:pPr algn="ctr"/>
            <a:r>
              <a:rPr lang="zh-CN" altLang="en-US" sz="4800" b="1" dirty="0" smtClean="0">
                <a:solidFill>
                  <a:schemeClr val="bg1"/>
                </a:solidFill>
                <a:latin typeface="+mn-ea"/>
              </a:rPr>
              <a:t>知识的获取方式</a:t>
            </a:r>
            <a:endParaRPr lang="en-US" altLang="zh-CN" sz="4800" b="1" dirty="0" smtClean="0">
              <a:solidFill>
                <a:schemeClr val="bg1"/>
              </a:solidFill>
              <a:latin typeface="+mn-ea"/>
            </a:endParaRPr>
          </a:p>
          <a:p>
            <a:pPr algn="ctr"/>
            <a:r>
              <a:rPr lang="zh-CN" altLang="en-US" sz="4800" b="1" dirty="0" smtClean="0">
                <a:solidFill>
                  <a:schemeClr val="bg1"/>
                </a:solidFill>
                <a:latin typeface="+mn-ea"/>
              </a:rPr>
              <a:t>知识的传递方式</a:t>
            </a:r>
            <a:endParaRPr lang="en-US" altLang="zh-CN" sz="4800" b="1" dirty="0" smtClean="0">
              <a:solidFill>
                <a:schemeClr val="bg1"/>
              </a:solidFill>
              <a:latin typeface="+mn-ea"/>
            </a:endParaRPr>
          </a:p>
          <a:p>
            <a:pPr algn="ctr"/>
            <a:r>
              <a:rPr lang="zh-CN" altLang="en-US" sz="4800" b="1" dirty="0" smtClean="0">
                <a:solidFill>
                  <a:srgbClr val="FFFF00"/>
                </a:solidFill>
                <a:latin typeface="+mn-ea"/>
              </a:rPr>
              <a:t>学习的方式</a:t>
            </a:r>
            <a:endParaRPr lang="zh-CN" altLang="en-US" sz="4800" b="1" dirty="0">
              <a:solidFill>
                <a:srgbClr val="FFFF00"/>
              </a:solidFill>
              <a:latin typeface="+mn-ea"/>
            </a:endParaRPr>
          </a:p>
        </p:txBody>
      </p:sp>
    </p:spTree>
    <p:extLst>
      <p:ext uri="{BB962C8B-B14F-4D97-AF65-F5344CB8AC3E}">
        <p14:creationId xmlns:p14="http://schemas.microsoft.com/office/powerpoint/2010/main" val="956752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AutoShape 4"/>
          <p:cNvSpPr>
            <a:spLocks noChangeArrowheads="1"/>
          </p:cNvSpPr>
          <p:nvPr/>
        </p:nvSpPr>
        <p:spPr bwMode="ltGray">
          <a:xfrm>
            <a:off x="2355849" y="8532886"/>
            <a:ext cx="4844449" cy="528638"/>
          </a:xfrm>
          <a:prstGeom prst="roundRect">
            <a:avLst>
              <a:gd name="adj" fmla="val 50000"/>
            </a:avLst>
          </a:prstGeom>
          <a:no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
                <a:srgbClr val="CC9900"/>
              </a:buClr>
              <a:buFont typeface="Wingdings" pitchFamily="2" charset="2"/>
              <a:buChar char="n"/>
            </a:pPr>
            <a:endParaRPr lang="zh-CN" altLang="zh-CN" b="1">
              <a:solidFill>
                <a:srgbClr val="000000"/>
              </a:solidFill>
              <a:latin typeface="华文细黑"/>
              <a:ea typeface="华文细黑"/>
            </a:endParaRPr>
          </a:p>
        </p:txBody>
      </p:sp>
      <p:sp>
        <p:nvSpPr>
          <p:cNvPr id="90" name="AutoShape 18"/>
          <p:cNvSpPr>
            <a:spLocks noChangeArrowheads="1"/>
          </p:cNvSpPr>
          <p:nvPr/>
        </p:nvSpPr>
        <p:spPr bwMode="ltGray">
          <a:xfrm>
            <a:off x="1865311" y="6665752"/>
            <a:ext cx="5084129" cy="703173"/>
          </a:xfrm>
          <a:prstGeom prst="roundRect">
            <a:avLst>
              <a:gd name="adj" fmla="val 50000"/>
            </a:avLst>
          </a:prstGeom>
          <a:no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
                <a:srgbClr val="CC9900"/>
              </a:buClr>
              <a:buFont typeface="Wingdings" pitchFamily="2" charset="2"/>
              <a:buChar char="n"/>
            </a:pPr>
            <a:endParaRPr lang="zh-CN" altLang="zh-CN" b="1">
              <a:solidFill>
                <a:schemeClr val="tx2"/>
              </a:solidFill>
              <a:latin typeface="华文细黑"/>
              <a:ea typeface="华文细黑"/>
            </a:endParaRPr>
          </a:p>
        </p:txBody>
      </p:sp>
      <p:sp>
        <p:nvSpPr>
          <p:cNvPr id="91" name="AutoShape 25"/>
          <p:cNvSpPr>
            <a:spLocks noChangeArrowheads="1"/>
          </p:cNvSpPr>
          <p:nvPr/>
        </p:nvSpPr>
        <p:spPr bwMode="ltGray">
          <a:xfrm>
            <a:off x="1874850" y="9457648"/>
            <a:ext cx="5074590" cy="716042"/>
          </a:xfrm>
          <a:prstGeom prst="roundRect">
            <a:avLst>
              <a:gd name="adj" fmla="val 50000"/>
            </a:avLst>
          </a:prstGeom>
          <a:no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
                <a:srgbClr val="CC9900"/>
              </a:buClr>
              <a:buFont typeface="Wingdings" pitchFamily="2" charset="2"/>
              <a:buChar char="n"/>
            </a:pPr>
            <a:endParaRPr lang="zh-CN" altLang="zh-CN" b="1">
              <a:solidFill>
                <a:srgbClr val="000000"/>
              </a:solidFill>
              <a:latin typeface="华文细黑"/>
              <a:ea typeface="华文细黑"/>
            </a:endParaRPr>
          </a:p>
        </p:txBody>
      </p:sp>
      <p:grpSp>
        <p:nvGrpSpPr>
          <p:cNvPr id="4" name="组合 3"/>
          <p:cNvGrpSpPr/>
          <p:nvPr/>
        </p:nvGrpSpPr>
        <p:grpSpPr>
          <a:xfrm>
            <a:off x="4996544" y="1224643"/>
            <a:ext cx="3211286" cy="2672953"/>
            <a:chOff x="5802528" y="1991076"/>
            <a:chExt cx="3402346" cy="2078780"/>
          </a:xfrm>
        </p:grpSpPr>
        <p:sp>
          <p:nvSpPr>
            <p:cNvPr id="24" name="TextBox 48"/>
            <p:cNvSpPr txBox="1"/>
            <p:nvPr/>
          </p:nvSpPr>
          <p:spPr>
            <a:xfrm>
              <a:off x="5802528" y="3591135"/>
              <a:ext cx="3402346" cy="478721"/>
            </a:xfrm>
            <a:prstGeom prst="rect">
              <a:avLst/>
            </a:prstGeom>
            <a:noFill/>
          </p:spPr>
          <p:txBody>
            <a:bodyPr wrap="square" lIns="0" tIns="0" rIns="0" bIns="0" rtlCol="0">
              <a:spAutoFit/>
            </a:bodyPr>
            <a:lstStyle/>
            <a:p>
              <a:pPr algn="ctr"/>
              <a:r>
                <a:rPr lang="zh-CN" altLang="en-US" sz="4000" b="1" dirty="0" smtClean="0">
                  <a:solidFill>
                    <a:srgbClr val="FFC000"/>
                  </a:solidFill>
                  <a:ea typeface="微软雅黑" panose="020B0503020204020204" pitchFamily="34" charset="-122"/>
                </a:rPr>
                <a:t>问题导向</a:t>
              </a:r>
              <a:endParaRPr lang="zh-CN" altLang="en-US" sz="4000" b="1" dirty="0">
                <a:solidFill>
                  <a:srgbClr val="FFC000"/>
                </a:solidFill>
                <a:ea typeface="微软雅黑" panose="020B0503020204020204" pitchFamily="34" charset="-122"/>
              </a:endParaRPr>
            </a:p>
          </p:txBody>
        </p:sp>
        <p:sp>
          <p:nvSpPr>
            <p:cNvPr id="25" name="TextBox 48"/>
            <p:cNvSpPr txBox="1"/>
            <p:nvPr/>
          </p:nvSpPr>
          <p:spPr>
            <a:xfrm>
              <a:off x="6633900" y="1991076"/>
              <a:ext cx="1485867" cy="957442"/>
            </a:xfrm>
            <a:prstGeom prst="rect">
              <a:avLst/>
            </a:prstGeom>
            <a:noFill/>
          </p:spPr>
          <p:txBody>
            <a:bodyPr wrap="square" lIns="0" tIns="0" rIns="0" bIns="0" rtlCol="0">
              <a:spAutoFit/>
            </a:bodyPr>
            <a:lstStyle/>
            <a:p>
              <a:pPr algn="ctr"/>
              <a:r>
                <a:rPr lang="en-US" altLang="zh-CN" sz="8000" b="1" dirty="0" smtClean="0">
                  <a:solidFill>
                    <a:schemeClr val="bg1"/>
                  </a:solidFill>
                  <a:latin typeface="微软雅黑" pitchFamily="34" charset="-122"/>
                  <a:ea typeface="微软雅黑" pitchFamily="34" charset="-122"/>
                  <a:cs typeface="+mn-ea"/>
                  <a:sym typeface="+mn-lt"/>
                </a:rPr>
                <a:t>02</a:t>
              </a:r>
              <a:endParaRPr lang="en-GB" altLang="zh-CN" sz="8000" b="1" dirty="0">
                <a:solidFill>
                  <a:schemeClr val="bg1"/>
                </a:solidFill>
                <a:latin typeface="微软雅黑" pitchFamily="34" charset="-122"/>
                <a:ea typeface="微软雅黑" pitchFamily="34" charset="-122"/>
                <a:cs typeface="+mn-ea"/>
                <a:sym typeface="+mn-lt"/>
              </a:endParaRPr>
            </a:p>
          </p:txBody>
        </p:sp>
      </p:grpSp>
      <p:sp>
        <p:nvSpPr>
          <p:cNvPr id="26" name="等腰三角形 25"/>
          <p:cNvSpPr/>
          <p:nvPr/>
        </p:nvSpPr>
        <p:spPr>
          <a:xfrm rot="16200000" flipH="1">
            <a:off x="3630423" y="3187360"/>
            <a:ext cx="972011" cy="880157"/>
          </a:xfrm>
          <a:prstGeom prst="triangle">
            <a:avLst/>
          </a:prstGeom>
          <a:solidFill>
            <a:srgbClr val="00B0F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cxnSp>
        <p:nvCxnSpPr>
          <p:cNvPr id="27" name="直接连接符 26"/>
          <p:cNvCxnSpPr/>
          <p:nvPr/>
        </p:nvCxnSpPr>
        <p:spPr>
          <a:xfrm flipV="1">
            <a:off x="2801275" y="4337528"/>
            <a:ext cx="2026674" cy="1045855"/>
          </a:xfrm>
          <a:prstGeom prst="line">
            <a:avLst/>
          </a:prstGeom>
          <a:gradFill>
            <a:gsLst>
              <a:gs pos="40000">
                <a:srgbClr val="0194EF">
                  <a:alpha val="14902"/>
                </a:srgbClr>
              </a:gs>
              <a:gs pos="100000">
                <a:srgbClr val="0194EF">
                  <a:alpha val="0"/>
                </a:srgbClr>
              </a:gs>
            </a:gsLst>
            <a:lin ang="5400000" scaled="0"/>
          </a:gradFill>
          <a:ln>
            <a:gradFill>
              <a:gsLst>
                <a:gs pos="11000">
                  <a:srgbClr val="00FFFF"/>
                </a:gs>
                <a:gs pos="60000">
                  <a:srgbClr val="00B0F0"/>
                </a:gs>
                <a:gs pos="100000">
                  <a:srgbClr val="00B0F0">
                    <a:alpha val="0"/>
                  </a:srgbClr>
                </a:gs>
              </a:gsLst>
              <a:lin ang="5400000" scaled="0"/>
            </a:gradFill>
          </a:ln>
        </p:spPr>
      </p:cxnSp>
      <p:cxnSp>
        <p:nvCxnSpPr>
          <p:cNvPr id="28" name="直接连接符 27"/>
          <p:cNvCxnSpPr/>
          <p:nvPr/>
        </p:nvCxnSpPr>
        <p:spPr>
          <a:xfrm flipV="1">
            <a:off x="2308331" y="4792694"/>
            <a:ext cx="2026674" cy="1045855"/>
          </a:xfrm>
          <a:prstGeom prst="line">
            <a:avLst/>
          </a:prstGeom>
          <a:gradFill>
            <a:gsLst>
              <a:gs pos="40000">
                <a:srgbClr val="0194EF">
                  <a:alpha val="14902"/>
                </a:srgbClr>
              </a:gs>
              <a:gs pos="100000">
                <a:srgbClr val="0194EF">
                  <a:alpha val="0"/>
                </a:srgbClr>
              </a:gs>
            </a:gsLst>
            <a:lin ang="5400000" scaled="0"/>
          </a:gradFill>
          <a:ln>
            <a:gradFill>
              <a:gsLst>
                <a:gs pos="11000">
                  <a:srgbClr val="00FFFF"/>
                </a:gs>
                <a:gs pos="60000">
                  <a:srgbClr val="00B0F0"/>
                </a:gs>
                <a:gs pos="100000">
                  <a:srgbClr val="00B0F0">
                    <a:alpha val="0"/>
                  </a:srgbClr>
                </a:gs>
              </a:gsLst>
              <a:lin ang="5400000" scaled="0"/>
            </a:gradFill>
          </a:ln>
        </p:spPr>
      </p:cxnSp>
      <p:cxnSp>
        <p:nvCxnSpPr>
          <p:cNvPr id="29" name="直接连接符 28"/>
          <p:cNvCxnSpPr/>
          <p:nvPr/>
        </p:nvCxnSpPr>
        <p:spPr>
          <a:xfrm flipV="1">
            <a:off x="7602793" y="1716118"/>
            <a:ext cx="2026673" cy="1045856"/>
          </a:xfrm>
          <a:prstGeom prst="line">
            <a:avLst/>
          </a:prstGeom>
          <a:gradFill>
            <a:gsLst>
              <a:gs pos="40000">
                <a:srgbClr val="0194EF">
                  <a:alpha val="14902"/>
                </a:srgbClr>
              </a:gs>
              <a:gs pos="100000">
                <a:srgbClr val="0194EF">
                  <a:alpha val="0"/>
                </a:srgbClr>
              </a:gs>
            </a:gsLst>
            <a:lin ang="5400000" scaled="0"/>
          </a:gradFill>
          <a:ln>
            <a:gradFill>
              <a:gsLst>
                <a:gs pos="11000">
                  <a:srgbClr val="00FFFF"/>
                </a:gs>
                <a:gs pos="60000">
                  <a:srgbClr val="00B0F0"/>
                </a:gs>
                <a:gs pos="100000">
                  <a:srgbClr val="00B0F0">
                    <a:alpha val="0"/>
                  </a:srgbClr>
                </a:gs>
              </a:gsLst>
              <a:lin ang="5400000" scaled="0"/>
            </a:gradFill>
          </a:ln>
        </p:spPr>
      </p:cxnSp>
      <p:cxnSp>
        <p:nvCxnSpPr>
          <p:cNvPr id="30" name="直接连接符 29"/>
          <p:cNvCxnSpPr/>
          <p:nvPr/>
        </p:nvCxnSpPr>
        <p:spPr>
          <a:xfrm flipV="1">
            <a:off x="7900801" y="1351570"/>
            <a:ext cx="2026673" cy="1045856"/>
          </a:xfrm>
          <a:prstGeom prst="line">
            <a:avLst/>
          </a:prstGeom>
          <a:gradFill>
            <a:gsLst>
              <a:gs pos="40000">
                <a:srgbClr val="0194EF">
                  <a:alpha val="14902"/>
                </a:srgbClr>
              </a:gs>
              <a:gs pos="100000">
                <a:srgbClr val="0194EF">
                  <a:alpha val="0"/>
                </a:srgbClr>
              </a:gs>
            </a:gsLst>
            <a:lin ang="5400000" scaled="0"/>
          </a:gradFill>
          <a:ln>
            <a:gradFill>
              <a:gsLst>
                <a:gs pos="11000">
                  <a:srgbClr val="00FFFF"/>
                </a:gs>
                <a:gs pos="60000">
                  <a:srgbClr val="00B0F0"/>
                </a:gs>
                <a:gs pos="100000">
                  <a:srgbClr val="00B0F0">
                    <a:alpha val="0"/>
                  </a:srgbClr>
                </a:gs>
              </a:gsLst>
              <a:lin ang="5400000" scaled="0"/>
            </a:gradFill>
          </a:ln>
        </p:spPr>
      </p:cxnSp>
      <p:sp>
        <p:nvSpPr>
          <p:cNvPr id="31" name="等腰三角形 5"/>
          <p:cNvSpPr/>
          <p:nvPr/>
        </p:nvSpPr>
        <p:spPr>
          <a:xfrm rot="5556605">
            <a:off x="1263577" y="820064"/>
            <a:ext cx="2519741" cy="3074402"/>
          </a:xfrm>
          <a:custGeom>
            <a:avLst/>
            <a:gdLst>
              <a:gd name="connsiteX0" fmla="*/ 0 w 3505200"/>
              <a:gd name="connsiteY0" fmla="*/ 3352800 h 3352800"/>
              <a:gd name="connsiteX1" fmla="*/ 1752600 w 3505200"/>
              <a:gd name="connsiteY1" fmla="*/ 0 h 3352800"/>
              <a:gd name="connsiteX2" fmla="*/ 3505200 w 3505200"/>
              <a:gd name="connsiteY2" fmla="*/ 3352800 h 3352800"/>
              <a:gd name="connsiteX3" fmla="*/ 0 w 3505200"/>
              <a:gd name="connsiteY3" fmla="*/ 3352800 h 3352800"/>
              <a:gd name="connsiteX0-1" fmla="*/ 0 w 4025900"/>
              <a:gd name="connsiteY0-2" fmla="*/ 1625600 h 3352800"/>
              <a:gd name="connsiteX1-3" fmla="*/ 2273300 w 4025900"/>
              <a:gd name="connsiteY1-4" fmla="*/ 0 h 3352800"/>
              <a:gd name="connsiteX2-5" fmla="*/ 4025900 w 4025900"/>
              <a:gd name="connsiteY2-6" fmla="*/ 3352800 h 3352800"/>
              <a:gd name="connsiteX3-7" fmla="*/ 0 w 4025900"/>
              <a:gd name="connsiteY3-8" fmla="*/ 1625600 h 3352800"/>
              <a:gd name="connsiteX0-9" fmla="*/ 0 w 4025900"/>
              <a:gd name="connsiteY0-10" fmla="*/ 1879600 h 3606800"/>
              <a:gd name="connsiteX1-11" fmla="*/ 3746500 w 4025900"/>
              <a:gd name="connsiteY1-12" fmla="*/ 0 h 3606800"/>
              <a:gd name="connsiteX2-13" fmla="*/ 4025900 w 4025900"/>
              <a:gd name="connsiteY2-14" fmla="*/ 3606800 h 3606800"/>
              <a:gd name="connsiteX3-15" fmla="*/ 0 w 4025900"/>
              <a:gd name="connsiteY3-16" fmla="*/ 1879600 h 3606800"/>
              <a:gd name="connsiteX0-17" fmla="*/ 0 w 4508500"/>
              <a:gd name="connsiteY0-18" fmla="*/ 1879600 h 3657600"/>
              <a:gd name="connsiteX1-19" fmla="*/ 3746500 w 4508500"/>
              <a:gd name="connsiteY1-20" fmla="*/ 0 h 3657600"/>
              <a:gd name="connsiteX2-21" fmla="*/ 4508500 w 4508500"/>
              <a:gd name="connsiteY2-22" fmla="*/ 3657600 h 3657600"/>
              <a:gd name="connsiteX3-23" fmla="*/ 0 w 4508500"/>
              <a:gd name="connsiteY3-24" fmla="*/ 1879600 h 3657600"/>
              <a:gd name="connsiteX0-25" fmla="*/ 0 w 4508500"/>
              <a:gd name="connsiteY0-26" fmla="*/ 480291 h 2258291"/>
              <a:gd name="connsiteX1-27" fmla="*/ 2319481 w 4508500"/>
              <a:gd name="connsiteY1-28" fmla="*/ 0 h 2258291"/>
              <a:gd name="connsiteX2-29" fmla="*/ 4508500 w 4508500"/>
              <a:gd name="connsiteY2-30" fmla="*/ 2258291 h 2258291"/>
              <a:gd name="connsiteX3-31" fmla="*/ 0 w 4508500"/>
              <a:gd name="connsiteY3-32" fmla="*/ 480291 h 2258291"/>
              <a:gd name="connsiteX0-33" fmla="*/ 0 w 4508500"/>
              <a:gd name="connsiteY0-34" fmla="*/ 1006764 h 2784764"/>
              <a:gd name="connsiteX1-35" fmla="*/ 1959263 w 4508500"/>
              <a:gd name="connsiteY1-36" fmla="*/ 0 h 2784764"/>
              <a:gd name="connsiteX2-37" fmla="*/ 4508500 w 4508500"/>
              <a:gd name="connsiteY2-38" fmla="*/ 2784764 h 2784764"/>
              <a:gd name="connsiteX3-39" fmla="*/ 0 w 4508500"/>
              <a:gd name="connsiteY3-40" fmla="*/ 1006764 h 2784764"/>
              <a:gd name="connsiteX0-41" fmla="*/ 0 w 1959263"/>
              <a:gd name="connsiteY0-42" fmla="*/ 4608946 h 4608946"/>
              <a:gd name="connsiteX1-43" fmla="*/ 1959263 w 1959263"/>
              <a:gd name="connsiteY1-44" fmla="*/ 3602182 h 4608946"/>
              <a:gd name="connsiteX2-45" fmla="*/ 1141845 w 1959263"/>
              <a:gd name="connsiteY2-46" fmla="*/ 0 h 4608946"/>
              <a:gd name="connsiteX3-47" fmla="*/ 0 w 1959263"/>
              <a:gd name="connsiteY3-48" fmla="*/ 4608946 h 4608946"/>
              <a:gd name="connsiteX0-49" fmla="*/ 0 w 1959263"/>
              <a:gd name="connsiteY0-50" fmla="*/ 4719783 h 4719783"/>
              <a:gd name="connsiteX1-51" fmla="*/ 1959263 w 1959263"/>
              <a:gd name="connsiteY1-52" fmla="*/ 3713019 h 4719783"/>
              <a:gd name="connsiteX2-53" fmla="*/ 1127991 w 1959263"/>
              <a:gd name="connsiteY2-54" fmla="*/ 0 h 4719783"/>
              <a:gd name="connsiteX3-55" fmla="*/ 0 w 1959263"/>
              <a:gd name="connsiteY3-56" fmla="*/ 4719783 h 4719783"/>
              <a:gd name="connsiteX0-57" fmla="*/ 0 w 885205"/>
              <a:gd name="connsiteY0-58" fmla="*/ 6359897 h 6359897"/>
              <a:gd name="connsiteX1-59" fmla="*/ 885205 w 885205"/>
              <a:gd name="connsiteY1-60" fmla="*/ 3713019 h 6359897"/>
              <a:gd name="connsiteX2-61" fmla="*/ 53933 w 885205"/>
              <a:gd name="connsiteY2-62" fmla="*/ 0 h 6359897"/>
              <a:gd name="connsiteX3-63" fmla="*/ 0 w 885205"/>
              <a:gd name="connsiteY3-64" fmla="*/ 6359897 h 6359897"/>
              <a:gd name="connsiteX0-65" fmla="*/ 2776353 w 3661558"/>
              <a:gd name="connsiteY0-66" fmla="*/ 4095668 h 4095668"/>
              <a:gd name="connsiteX1-67" fmla="*/ 3661558 w 3661558"/>
              <a:gd name="connsiteY1-68" fmla="*/ 1448790 h 4095668"/>
              <a:gd name="connsiteX2-69" fmla="*/ 0 w 3661558"/>
              <a:gd name="connsiteY2-70" fmla="*/ 0 h 4095668"/>
              <a:gd name="connsiteX3-71" fmla="*/ 2776353 w 3661558"/>
              <a:gd name="connsiteY3-72" fmla="*/ 4095668 h 4095668"/>
              <a:gd name="connsiteX0-73" fmla="*/ 2776353 w 2993901"/>
              <a:gd name="connsiteY0-74" fmla="*/ 4095668 h 4095668"/>
              <a:gd name="connsiteX1-75" fmla="*/ 2993901 w 2993901"/>
              <a:gd name="connsiteY1-76" fmla="*/ 2305133 h 4095668"/>
              <a:gd name="connsiteX2-77" fmla="*/ 0 w 2993901"/>
              <a:gd name="connsiteY2-78" fmla="*/ 0 h 4095668"/>
              <a:gd name="connsiteX3-79" fmla="*/ 2776353 w 2993901"/>
              <a:gd name="connsiteY3-80" fmla="*/ 4095668 h 4095668"/>
              <a:gd name="connsiteX0-81" fmla="*/ 2776353 w 3356758"/>
              <a:gd name="connsiteY0-82" fmla="*/ 4095668 h 4095668"/>
              <a:gd name="connsiteX1-83" fmla="*/ 3356758 w 3356758"/>
              <a:gd name="connsiteY1-84" fmla="*/ 1971304 h 4095668"/>
              <a:gd name="connsiteX2-85" fmla="*/ 0 w 3356758"/>
              <a:gd name="connsiteY2-86" fmla="*/ 0 h 4095668"/>
              <a:gd name="connsiteX3-87" fmla="*/ 2776353 w 3356758"/>
              <a:gd name="connsiteY3-88" fmla="*/ 4095668 h 4095668"/>
            </a:gdLst>
            <a:ahLst/>
            <a:cxnLst>
              <a:cxn ang="0">
                <a:pos x="connsiteX0-81" y="connsiteY0-82"/>
              </a:cxn>
              <a:cxn ang="0">
                <a:pos x="connsiteX1-83" y="connsiteY1-84"/>
              </a:cxn>
              <a:cxn ang="0">
                <a:pos x="connsiteX2-85" y="connsiteY2-86"/>
              </a:cxn>
              <a:cxn ang="0">
                <a:pos x="connsiteX3-87" y="connsiteY3-88"/>
              </a:cxn>
            </a:cxnLst>
            <a:rect l="l" t="t" r="r" b="b"/>
            <a:pathLst>
              <a:path w="3356758" h="4095668">
                <a:moveTo>
                  <a:pt x="2776353" y="4095668"/>
                </a:moveTo>
                <a:lnTo>
                  <a:pt x="3356758" y="1971304"/>
                </a:lnTo>
                <a:lnTo>
                  <a:pt x="0" y="0"/>
                </a:lnTo>
                <a:lnTo>
                  <a:pt x="2776353" y="4095668"/>
                </a:lnTo>
                <a:close/>
              </a:path>
            </a:pathLst>
          </a:custGeom>
          <a:gradFill>
            <a:gsLst>
              <a:gs pos="40000">
                <a:srgbClr val="0194EF">
                  <a:alpha val="14902"/>
                </a:srgbClr>
              </a:gs>
              <a:gs pos="100000">
                <a:srgbClr val="0194EF">
                  <a:alpha val="0"/>
                </a:srgbClr>
              </a:gs>
            </a:gsLst>
            <a:lin ang="5400000" scaled="0"/>
          </a:gradFill>
          <a:ln>
            <a:gradFill>
              <a:gsLst>
                <a:gs pos="11000">
                  <a:srgbClr val="00FFFF">
                    <a:alpha val="57000"/>
                  </a:srgbClr>
                </a:gs>
                <a:gs pos="60000">
                  <a:srgbClr val="00B0F0">
                    <a:alpha val="36000"/>
                  </a:srgbClr>
                </a:gs>
                <a:gs pos="100000">
                  <a:srgbClr val="00B0F0">
                    <a:alpha val="0"/>
                  </a:srgbClr>
                </a:gs>
              </a:gsLst>
              <a:lin ang="5400000" scaled="0"/>
            </a:gra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Arial" pitchFamily="34" charset="0"/>
              <a:cs typeface="Arial" pitchFamily="34" charset="0"/>
            </a:endParaRPr>
          </a:p>
        </p:txBody>
      </p:sp>
      <p:sp>
        <p:nvSpPr>
          <p:cNvPr id="32" name="等腰三角形 5"/>
          <p:cNvSpPr/>
          <p:nvPr/>
        </p:nvSpPr>
        <p:spPr>
          <a:xfrm rot="10800000">
            <a:off x="7255815" y="4705741"/>
            <a:ext cx="835827" cy="797324"/>
          </a:xfrm>
          <a:custGeom>
            <a:avLst/>
            <a:gdLst>
              <a:gd name="connsiteX0" fmla="*/ 0 w 3505200"/>
              <a:gd name="connsiteY0" fmla="*/ 3352800 h 3352800"/>
              <a:gd name="connsiteX1" fmla="*/ 1752600 w 3505200"/>
              <a:gd name="connsiteY1" fmla="*/ 0 h 3352800"/>
              <a:gd name="connsiteX2" fmla="*/ 3505200 w 3505200"/>
              <a:gd name="connsiteY2" fmla="*/ 3352800 h 3352800"/>
              <a:gd name="connsiteX3" fmla="*/ 0 w 3505200"/>
              <a:gd name="connsiteY3" fmla="*/ 3352800 h 3352800"/>
              <a:gd name="connsiteX0-1" fmla="*/ 0 w 4025900"/>
              <a:gd name="connsiteY0-2" fmla="*/ 1625600 h 3352800"/>
              <a:gd name="connsiteX1-3" fmla="*/ 2273300 w 4025900"/>
              <a:gd name="connsiteY1-4" fmla="*/ 0 h 3352800"/>
              <a:gd name="connsiteX2-5" fmla="*/ 4025900 w 4025900"/>
              <a:gd name="connsiteY2-6" fmla="*/ 3352800 h 3352800"/>
              <a:gd name="connsiteX3-7" fmla="*/ 0 w 4025900"/>
              <a:gd name="connsiteY3-8" fmla="*/ 1625600 h 3352800"/>
              <a:gd name="connsiteX0-9" fmla="*/ 0 w 4025900"/>
              <a:gd name="connsiteY0-10" fmla="*/ 1879600 h 3606800"/>
              <a:gd name="connsiteX1-11" fmla="*/ 3746500 w 4025900"/>
              <a:gd name="connsiteY1-12" fmla="*/ 0 h 3606800"/>
              <a:gd name="connsiteX2-13" fmla="*/ 4025900 w 4025900"/>
              <a:gd name="connsiteY2-14" fmla="*/ 3606800 h 3606800"/>
              <a:gd name="connsiteX3-15" fmla="*/ 0 w 4025900"/>
              <a:gd name="connsiteY3-16" fmla="*/ 1879600 h 3606800"/>
              <a:gd name="connsiteX0-17" fmla="*/ 0 w 4508500"/>
              <a:gd name="connsiteY0-18" fmla="*/ 1879600 h 3657600"/>
              <a:gd name="connsiteX1-19" fmla="*/ 3746500 w 4508500"/>
              <a:gd name="connsiteY1-20" fmla="*/ 0 h 3657600"/>
              <a:gd name="connsiteX2-21" fmla="*/ 4508500 w 4508500"/>
              <a:gd name="connsiteY2-22" fmla="*/ 3657600 h 3657600"/>
              <a:gd name="connsiteX3-23" fmla="*/ 0 w 4508500"/>
              <a:gd name="connsiteY3-24" fmla="*/ 1879600 h 3657600"/>
              <a:gd name="connsiteX0-25" fmla="*/ 0 w 4508500"/>
              <a:gd name="connsiteY0-26" fmla="*/ 480291 h 2258291"/>
              <a:gd name="connsiteX1-27" fmla="*/ 2319481 w 4508500"/>
              <a:gd name="connsiteY1-28" fmla="*/ 0 h 2258291"/>
              <a:gd name="connsiteX2-29" fmla="*/ 4508500 w 4508500"/>
              <a:gd name="connsiteY2-30" fmla="*/ 2258291 h 2258291"/>
              <a:gd name="connsiteX3-31" fmla="*/ 0 w 4508500"/>
              <a:gd name="connsiteY3-32" fmla="*/ 480291 h 2258291"/>
              <a:gd name="connsiteX0-33" fmla="*/ 0 w 4508500"/>
              <a:gd name="connsiteY0-34" fmla="*/ 1006764 h 2784764"/>
              <a:gd name="connsiteX1-35" fmla="*/ 1959263 w 4508500"/>
              <a:gd name="connsiteY1-36" fmla="*/ 0 h 2784764"/>
              <a:gd name="connsiteX2-37" fmla="*/ 4508500 w 4508500"/>
              <a:gd name="connsiteY2-38" fmla="*/ 2784764 h 2784764"/>
              <a:gd name="connsiteX3-39" fmla="*/ 0 w 4508500"/>
              <a:gd name="connsiteY3-40" fmla="*/ 1006764 h 2784764"/>
              <a:gd name="connsiteX0-41" fmla="*/ 0 w 1959263"/>
              <a:gd name="connsiteY0-42" fmla="*/ 4608946 h 4608946"/>
              <a:gd name="connsiteX1-43" fmla="*/ 1959263 w 1959263"/>
              <a:gd name="connsiteY1-44" fmla="*/ 3602182 h 4608946"/>
              <a:gd name="connsiteX2-45" fmla="*/ 1141845 w 1959263"/>
              <a:gd name="connsiteY2-46" fmla="*/ 0 h 4608946"/>
              <a:gd name="connsiteX3-47" fmla="*/ 0 w 1959263"/>
              <a:gd name="connsiteY3-48" fmla="*/ 4608946 h 4608946"/>
              <a:gd name="connsiteX0-49" fmla="*/ 0 w 1959263"/>
              <a:gd name="connsiteY0-50" fmla="*/ 4719783 h 4719783"/>
              <a:gd name="connsiteX1-51" fmla="*/ 1959263 w 1959263"/>
              <a:gd name="connsiteY1-52" fmla="*/ 3713019 h 4719783"/>
              <a:gd name="connsiteX2-53" fmla="*/ 1127991 w 1959263"/>
              <a:gd name="connsiteY2-54" fmla="*/ 0 h 4719783"/>
              <a:gd name="connsiteX3-55" fmla="*/ 0 w 1959263"/>
              <a:gd name="connsiteY3-56" fmla="*/ 4719783 h 4719783"/>
              <a:gd name="connsiteX0-57" fmla="*/ 0 w 885205"/>
              <a:gd name="connsiteY0-58" fmla="*/ 6359897 h 6359897"/>
              <a:gd name="connsiteX1-59" fmla="*/ 885205 w 885205"/>
              <a:gd name="connsiteY1-60" fmla="*/ 3713019 h 6359897"/>
              <a:gd name="connsiteX2-61" fmla="*/ 53933 w 885205"/>
              <a:gd name="connsiteY2-62" fmla="*/ 0 h 6359897"/>
              <a:gd name="connsiteX3-63" fmla="*/ 0 w 885205"/>
              <a:gd name="connsiteY3-64" fmla="*/ 6359897 h 6359897"/>
              <a:gd name="connsiteX0-65" fmla="*/ 2776353 w 3661558"/>
              <a:gd name="connsiteY0-66" fmla="*/ 4095668 h 4095668"/>
              <a:gd name="connsiteX1-67" fmla="*/ 3661558 w 3661558"/>
              <a:gd name="connsiteY1-68" fmla="*/ 1448790 h 4095668"/>
              <a:gd name="connsiteX2-69" fmla="*/ 0 w 3661558"/>
              <a:gd name="connsiteY2-70" fmla="*/ 0 h 4095668"/>
              <a:gd name="connsiteX3-71" fmla="*/ 2776353 w 3661558"/>
              <a:gd name="connsiteY3-72" fmla="*/ 4095668 h 4095668"/>
              <a:gd name="connsiteX0-73" fmla="*/ 2776353 w 2993901"/>
              <a:gd name="connsiteY0-74" fmla="*/ 4095668 h 4095668"/>
              <a:gd name="connsiteX1-75" fmla="*/ 2993901 w 2993901"/>
              <a:gd name="connsiteY1-76" fmla="*/ 2305133 h 4095668"/>
              <a:gd name="connsiteX2-77" fmla="*/ 0 w 2993901"/>
              <a:gd name="connsiteY2-78" fmla="*/ 0 h 4095668"/>
              <a:gd name="connsiteX3-79" fmla="*/ 2776353 w 2993901"/>
              <a:gd name="connsiteY3-80" fmla="*/ 4095668 h 4095668"/>
              <a:gd name="connsiteX0-81" fmla="*/ 2776353 w 3356758"/>
              <a:gd name="connsiteY0-82" fmla="*/ 4095668 h 4095668"/>
              <a:gd name="connsiteX1-83" fmla="*/ 3356758 w 3356758"/>
              <a:gd name="connsiteY1-84" fmla="*/ 1971304 h 4095668"/>
              <a:gd name="connsiteX2-85" fmla="*/ 0 w 3356758"/>
              <a:gd name="connsiteY2-86" fmla="*/ 0 h 4095668"/>
              <a:gd name="connsiteX3-87" fmla="*/ 2776353 w 3356758"/>
              <a:gd name="connsiteY3-88" fmla="*/ 4095668 h 4095668"/>
              <a:gd name="connsiteX0-89" fmla="*/ 0 w 1113475"/>
              <a:gd name="connsiteY0-90" fmla="*/ 2124364 h 2426525"/>
              <a:gd name="connsiteX1-91" fmla="*/ 580405 w 1113475"/>
              <a:gd name="connsiteY1-92" fmla="*/ 0 h 2426525"/>
              <a:gd name="connsiteX2-93" fmla="*/ 1113475 w 1113475"/>
              <a:gd name="connsiteY2-94" fmla="*/ 2426525 h 2426525"/>
              <a:gd name="connsiteX3-95" fmla="*/ 0 w 1113475"/>
              <a:gd name="connsiteY3-96" fmla="*/ 2124364 h 2426525"/>
              <a:gd name="connsiteX0-97" fmla="*/ 0 w 1113475"/>
              <a:gd name="connsiteY0-98" fmla="*/ 760021 h 1062182"/>
              <a:gd name="connsiteX1-99" fmla="*/ 28862 w 1113475"/>
              <a:gd name="connsiteY1-100" fmla="*/ 0 h 1062182"/>
              <a:gd name="connsiteX2-101" fmla="*/ 1113475 w 1113475"/>
              <a:gd name="connsiteY2-102" fmla="*/ 1062182 h 1062182"/>
              <a:gd name="connsiteX3-103" fmla="*/ 0 w 1113475"/>
              <a:gd name="connsiteY3-104" fmla="*/ 760021 h 1062182"/>
            </a:gdLst>
            <a:ahLst/>
            <a:cxnLst>
              <a:cxn ang="0">
                <a:pos x="connsiteX0-97" y="connsiteY0-98"/>
              </a:cxn>
              <a:cxn ang="0">
                <a:pos x="connsiteX1-99" y="connsiteY1-100"/>
              </a:cxn>
              <a:cxn ang="0">
                <a:pos x="connsiteX2-101" y="connsiteY2-102"/>
              </a:cxn>
              <a:cxn ang="0">
                <a:pos x="connsiteX3-103" y="connsiteY3-104"/>
              </a:cxn>
            </a:cxnLst>
            <a:rect l="l" t="t" r="r" b="b"/>
            <a:pathLst>
              <a:path w="1113475" h="1062182">
                <a:moveTo>
                  <a:pt x="0" y="760021"/>
                </a:moveTo>
                <a:lnTo>
                  <a:pt x="28862" y="0"/>
                </a:lnTo>
                <a:lnTo>
                  <a:pt x="1113475" y="1062182"/>
                </a:lnTo>
                <a:lnTo>
                  <a:pt x="0" y="760021"/>
                </a:lnTo>
                <a:close/>
              </a:path>
            </a:pathLst>
          </a:custGeom>
          <a:gradFill>
            <a:gsLst>
              <a:gs pos="40000">
                <a:srgbClr val="0194EF">
                  <a:alpha val="14902"/>
                </a:srgbClr>
              </a:gs>
              <a:gs pos="100000">
                <a:srgbClr val="0194EF">
                  <a:alpha val="0"/>
                </a:srgbClr>
              </a:gs>
            </a:gsLst>
            <a:lin ang="5400000" scaled="0"/>
          </a:gradFill>
          <a:ln>
            <a:gradFill>
              <a:gsLst>
                <a:gs pos="11000">
                  <a:srgbClr val="00FFFF"/>
                </a:gs>
                <a:gs pos="60000">
                  <a:srgbClr val="00B0F0"/>
                </a:gs>
                <a:gs pos="100000">
                  <a:srgbClr val="00B0F0">
                    <a:alpha val="0"/>
                  </a:srgbClr>
                </a:gs>
              </a:gsLst>
              <a:lin ang="5400000" scaled="0"/>
            </a:gra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344991062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511629" y="141027"/>
            <a:ext cx="10591800" cy="891654"/>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pPr marL="0" lvl="1" algn="ctr"/>
            <a:r>
              <a:rPr lang="en-US" altLang="zh-CN" sz="3200" b="1" dirty="0" smtClean="0">
                <a:solidFill>
                  <a:srgbClr val="FFFF00"/>
                </a:solidFill>
                <a:latin typeface="微软雅黑" panose="020B0503020204020204" pitchFamily="34" charset="-122"/>
                <a:ea typeface="微软雅黑" panose="020B0503020204020204" pitchFamily="34" charset="-122"/>
              </a:rPr>
              <a:t>AI</a:t>
            </a:r>
            <a:r>
              <a:rPr lang="zh-CN" altLang="en-US" sz="3200" b="1" dirty="0" smtClean="0">
                <a:solidFill>
                  <a:srgbClr val="FFFF00"/>
                </a:solidFill>
                <a:latin typeface="微软雅黑" panose="020B0503020204020204" pitchFamily="34" charset="-122"/>
                <a:ea typeface="微软雅黑" panose="020B0503020204020204" pitchFamily="34" charset="-122"/>
              </a:rPr>
              <a:t>对教育的挑战</a:t>
            </a:r>
            <a:endParaRPr lang="en-US" altLang="zh-CN" sz="32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855260" y="1587690"/>
            <a:ext cx="10813576" cy="4334857"/>
          </a:xfrm>
          <a:prstGeom prst="rect">
            <a:avLst/>
          </a:prstGeom>
          <a:noFill/>
        </p:spPr>
        <p:txBody>
          <a:bodyPr wrap="square" lIns="86694" tIns="43347" rIns="86694" bIns="43347">
            <a:spAutoFit/>
          </a:bodyPr>
          <a:lstStyle/>
          <a:p>
            <a:pPr marL="457200" indent="-457200">
              <a:buFont typeface="Wingdings" panose="05000000000000000000" pitchFamily="2" charset="2"/>
              <a:buChar char="n"/>
            </a:pPr>
            <a:r>
              <a:rPr lang="zh-CN" altLang="zh-CN" sz="3600" dirty="0">
                <a:solidFill>
                  <a:schemeClr val="bg1"/>
                </a:solidFill>
                <a:latin typeface="+mn-ea"/>
              </a:rPr>
              <a:t>在阿联酋召开的</a:t>
            </a:r>
            <a:r>
              <a:rPr lang="en-US" altLang="zh-CN" sz="3600" dirty="0">
                <a:solidFill>
                  <a:schemeClr val="bg1"/>
                </a:solidFill>
                <a:latin typeface="+mn-ea"/>
              </a:rPr>
              <a:t>2023</a:t>
            </a:r>
            <a:r>
              <a:rPr lang="zh-CN" altLang="zh-CN" sz="3600" dirty="0">
                <a:solidFill>
                  <a:schemeClr val="bg1"/>
                </a:solidFill>
                <a:latin typeface="+mn-ea"/>
              </a:rPr>
              <a:t>年世界政府峰会上，</a:t>
            </a:r>
            <a:r>
              <a:rPr lang="zh-CN" altLang="zh-CN" sz="3600" b="1" dirty="0">
                <a:solidFill>
                  <a:schemeClr val="bg1"/>
                </a:solidFill>
                <a:latin typeface="+mn-ea"/>
              </a:rPr>
              <a:t>埃隆·马斯克</a:t>
            </a:r>
            <a:r>
              <a:rPr lang="zh-CN" altLang="zh-CN" sz="3600" dirty="0" smtClean="0">
                <a:solidFill>
                  <a:schemeClr val="bg1"/>
                </a:solidFill>
                <a:latin typeface="+mn-ea"/>
              </a:rPr>
              <a:t>接受远程</a:t>
            </a:r>
            <a:r>
              <a:rPr lang="zh-CN" altLang="zh-CN" sz="3600" dirty="0">
                <a:solidFill>
                  <a:schemeClr val="bg1"/>
                </a:solidFill>
                <a:latin typeface="+mn-ea"/>
              </a:rPr>
              <a:t>访谈，谈到针对</a:t>
            </a:r>
            <a:r>
              <a:rPr lang="zh-CN" altLang="zh-CN" sz="3600" b="1" dirty="0">
                <a:solidFill>
                  <a:schemeClr val="bg1"/>
                </a:solidFill>
                <a:latin typeface="+mn-ea"/>
              </a:rPr>
              <a:t>问题</a:t>
            </a:r>
            <a:r>
              <a:rPr lang="zh-CN" altLang="zh-CN" sz="3600" dirty="0">
                <a:solidFill>
                  <a:schemeClr val="bg1"/>
                </a:solidFill>
                <a:latin typeface="+mn-ea"/>
              </a:rPr>
              <a:t>进行教学</a:t>
            </a:r>
            <a:r>
              <a:rPr lang="zh-CN" altLang="zh-CN" sz="3600" dirty="0" smtClean="0">
                <a:solidFill>
                  <a:schemeClr val="bg1"/>
                </a:solidFill>
                <a:latin typeface="+mn-ea"/>
              </a:rPr>
              <a:t>。</a:t>
            </a:r>
            <a:r>
              <a:rPr lang="zh-CN" altLang="zh-CN" sz="3600" b="1" dirty="0" smtClean="0">
                <a:solidFill>
                  <a:schemeClr val="bg1"/>
                </a:solidFill>
                <a:latin typeface="+mn-ea"/>
              </a:rPr>
              <a:t>目前不是</a:t>
            </a:r>
            <a:r>
              <a:rPr lang="zh-CN" altLang="zh-CN" sz="3600" b="1" dirty="0">
                <a:solidFill>
                  <a:schemeClr val="bg1"/>
                </a:solidFill>
                <a:latin typeface="+mn-ea"/>
              </a:rPr>
              <a:t>针对问题开展教学，而是针对工具进行教学</a:t>
            </a:r>
            <a:r>
              <a:rPr lang="zh-CN" altLang="zh-CN" sz="3600" dirty="0">
                <a:solidFill>
                  <a:schemeClr val="bg1"/>
                </a:solidFill>
                <a:latin typeface="+mn-ea"/>
              </a:rPr>
              <a:t>。这就像开设了一门螺丝刀课程或扳手课程，但不理解为什么你要有一门课程，学习螺丝刀和</a:t>
            </a:r>
            <a:r>
              <a:rPr lang="zh-CN" altLang="zh-CN" sz="3600" dirty="0" smtClean="0">
                <a:solidFill>
                  <a:schemeClr val="bg1"/>
                </a:solidFill>
                <a:latin typeface="+mn-ea"/>
              </a:rPr>
              <a:t>扳手。</a:t>
            </a:r>
            <a:endParaRPr lang="en-US" altLang="zh-CN" sz="3600" dirty="0" smtClean="0">
              <a:solidFill>
                <a:schemeClr val="bg1"/>
              </a:solidFill>
              <a:latin typeface="+mn-ea"/>
            </a:endParaRPr>
          </a:p>
          <a:p>
            <a:r>
              <a:rPr lang="zh-CN" altLang="zh-CN" sz="2000" dirty="0">
                <a:solidFill>
                  <a:schemeClr val="bg1"/>
                </a:solidFill>
                <a:latin typeface="+mn-ea"/>
              </a:rPr>
              <a:t>马斯克：</a:t>
            </a:r>
            <a:r>
              <a:rPr lang="en-US" altLang="zh-CN" sz="2000" dirty="0" err="1">
                <a:solidFill>
                  <a:schemeClr val="bg1"/>
                </a:solidFill>
                <a:latin typeface="+mn-ea"/>
              </a:rPr>
              <a:t>ChatGDP</a:t>
            </a:r>
            <a:r>
              <a:rPr lang="zh-CN" altLang="zh-CN" sz="2000" dirty="0">
                <a:solidFill>
                  <a:schemeClr val="bg1"/>
                </a:solidFill>
                <a:latin typeface="+mn-ea"/>
              </a:rPr>
              <a:t>带出未来教育再思考，最重要的是培养批判性思维</a:t>
            </a:r>
            <a:r>
              <a:rPr lang="en-US" altLang="zh-CN" sz="2000" dirty="0">
                <a:solidFill>
                  <a:schemeClr val="bg1"/>
                </a:solidFill>
                <a:latin typeface="+mn-ea"/>
              </a:rPr>
              <a:t>. </a:t>
            </a:r>
            <a:r>
              <a:rPr lang="en-US" altLang="zh-CN" sz="2000" u="sng" dirty="0">
                <a:solidFill>
                  <a:schemeClr val="bg1"/>
                </a:solidFill>
                <a:latin typeface="+mn-ea"/>
              </a:rPr>
              <a:t>https://</a:t>
            </a:r>
            <a:r>
              <a:rPr lang="en-US" altLang="zh-CN" sz="2000" u="sng" dirty="0" smtClean="0">
                <a:solidFill>
                  <a:schemeClr val="bg1"/>
                </a:solidFill>
                <a:latin typeface="+mn-ea"/>
              </a:rPr>
              <a:t>www.sohu.com/a/644444274_227820</a:t>
            </a:r>
          </a:p>
          <a:p>
            <a:endParaRPr lang="en-US" altLang="zh-CN" sz="2000" u="sng" dirty="0">
              <a:solidFill>
                <a:schemeClr val="bg1"/>
              </a:solidFill>
              <a:latin typeface="+mn-ea"/>
            </a:endParaRPr>
          </a:p>
          <a:p>
            <a:pPr marL="571500" indent="-571500">
              <a:buFont typeface="Wingdings" panose="05000000000000000000" pitchFamily="2" charset="2"/>
              <a:buChar char="ü"/>
            </a:pPr>
            <a:r>
              <a:rPr lang="zh-CN" altLang="zh-CN" sz="3600" b="1" dirty="0">
                <a:solidFill>
                  <a:schemeClr val="bg1"/>
                </a:solidFill>
                <a:latin typeface="+mn-ea"/>
              </a:rPr>
              <a:t>马斯克实则是批评</a:t>
            </a:r>
            <a:r>
              <a:rPr lang="zh-CN" altLang="zh-CN" sz="3600" b="1" dirty="0" smtClean="0">
                <a:solidFill>
                  <a:schemeClr val="bg1"/>
                </a:solidFill>
                <a:latin typeface="+mn-ea"/>
              </a:rPr>
              <a:t>“知识导向”</a:t>
            </a:r>
            <a:endParaRPr lang="en-US" altLang="zh-CN" sz="3600" b="1" dirty="0">
              <a:solidFill>
                <a:schemeClr val="bg1"/>
              </a:solidFill>
              <a:latin typeface="+mn-ea"/>
            </a:endParaRPr>
          </a:p>
        </p:txBody>
      </p:sp>
    </p:spTree>
    <p:extLst>
      <p:ext uri="{BB962C8B-B14F-4D97-AF65-F5344CB8AC3E}">
        <p14:creationId xmlns:p14="http://schemas.microsoft.com/office/powerpoint/2010/main" val="10502234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511629" y="141027"/>
            <a:ext cx="10591800" cy="891654"/>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pPr marL="0" lvl="1" algn="ctr"/>
            <a:r>
              <a:rPr lang="en-US" altLang="zh-CN" sz="3200" b="1" dirty="0" smtClean="0">
                <a:solidFill>
                  <a:srgbClr val="FFFF00"/>
                </a:solidFill>
                <a:latin typeface="微软雅黑" panose="020B0503020204020204" pitchFamily="34" charset="-122"/>
                <a:ea typeface="微软雅黑" panose="020B0503020204020204" pitchFamily="34" charset="-122"/>
              </a:rPr>
              <a:t>AI</a:t>
            </a:r>
            <a:r>
              <a:rPr lang="zh-CN" altLang="en-US" sz="3200" b="1" dirty="0" smtClean="0">
                <a:solidFill>
                  <a:srgbClr val="FFFF00"/>
                </a:solidFill>
                <a:latin typeface="微软雅黑" panose="020B0503020204020204" pitchFamily="34" charset="-122"/>
                <a:ea typeface="微软雅黑" panose="020B0503020204020204" pitchFamily="34" charset="-122"/>
              </a:rPr>
              <a:t>对教育的挑战</a:t>
            </a:r>
            <a:endParaRPr lang="en-US" altLang="zh-CN" sz="32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511629" y="1164609"/>
            <a:ext cx="11102616" cy="5504408"/>
          </a:xfrm>
          <a:prstGeom prst="rect">
            <a:avLst/>
          </a:prstGeom>
          <a:noFill/>
        </p:spPr>
        <p:txBody>
          <a:bodyPr wrap="square" lIns="86694" tIns="43347" rIns="86694" bIns="43347">
            <a:spAutoFit/>
          </a:bodyPr>
          <a:lstStyle/>
          <a:p>
            <a:pPr marL="457200" indent="-457200">
              <a:buFont typeface="Wingdings" panose="05000000000000000000" pitchFamily="2" charset="2"/>
              <a:buChar char="n"/>
            </a:pPr>
            <a:r>
              <a:rPr lang="zh-CN" altLang="en-US" sz="3200" dirty="0" smtClean="0">
                <a:solidFill>
                  <a:schemeClr val="bg1"/>
                </a:solidFill>
              </a:rPr>
              <a:t>不能说</a:t>
            </a:r>
            <a:r>
              <a:rPr lang="zh-CN" altLang="en-US" sz="3200" b="1" dirty="0">
                <a:solidFill>
                  <a:schemeClr val="bg1"/>
                </a:solidFill>
              </a:rPr>
              <a:t>传统</a:t>
            </a:r>
            <a:r>
              <a:rPr lang="zh-CN" altLang="zh-CN" sz="3200" b="1" dirty="0" smtClean="0">
                <a:solidFill>
                  <a:schemeClr val="bg1"/>
                </a:solidFill>
              </a:rPr>
              <a:t>教育</a:t>
            </a:r>
            <a:r>
              <a:rPr lang="zh-CN" altLang="zh-CN" sz="3200" b="1" dirty="0">
                <a:solidFill>
                  <a:schemeClr val="bg1"/>
                </a:solidFill>
              </a:rPr>
              <a:t>中传授的</a:t>
            </a:r>
            <a:r>
              <a:rPr lang="zh-CN" altLang="zh-CN" sz="3200" b="1" dirty="0" smtClean="0">
                <a:solidFill>
                  <a:schemeClr val="bg1"/>
                </a:solidFill>
              </a:rPr>
              <a:t>知识与问题</a:t>
            </a:r>
            <a:r>
              <a:rPr lang="zh-CN" altLang="en-US" sz="3200" b="1" dirty="0" smtClean="0">
                <a:solidFill>
                  <a:schemeClr val="bg1"/>
                </a:solidFill>
              </a:rPr>
              <a:t>无</a:t>
            </a:r>
            <a:r>
              <a:rPr lang="zh-CN" altLang="zh-CN" sz="3200" b="1" dirty="0" smtClean="0">
                <a:solidFill>
                  <a:schemeClr val="bg1"/>
                </a:solidFill>
              </a:rPr>
              <a:t>关</a:t>
            </a:r>
            <a:r>
              <a:rPr lang="zh-CN" altLang="zh-CN" sz="3200" b="1" dirty="0">
                <a:solidFill>
                  <a:schemeClr val="bg1"/>
                </a:solidFill>
              </a:rPr>
              <a:t>，但只是针对既定问题</a:t>
            </a:r>
            <a:r>
              <a:rPr lang="zh-CN" altLang="en-US" sz="3200" b="1" dirty="0">
                <a:solidFill>
                  <a:schemeClr val="bg1"/>
                </a:solidFill>
              </a:rPr>
              <a:t>，或者</a:t>
            </a:r>
            <a:r>
              <a:rPr lang="zh-CN" altLang="en-US" sz="3200" b="1" dirty="0" smtClean="0">
                <a:solidFill>
                  <a:schemeClr val="bg1"/>
                </a:solidFill>
              </a:rPr>
              <a:t>说知识</a:t>
            </a:r>
            <a:r>
              <a:rPr lang="zh-CN" altLang="en-US" sz="3200" b="1" dirty="0">
                <a:solidFill>
                  <a:schemeClr val="bg1"/>
                </a:solidFill>
              </a:rPr>
              <a:t>是解决既定问题的工具</a:t>
            </a:r>
            <a:r>
              <a:rPr lang="zh-CN" altLang="zh-CN" sz="3200" dirty="0" smtClean="0">
                <a:solidFill>
                  <a:schemeClr val="bg1"/>
                </a:solidFill>
              </a:rPr>
              <a:t>。</a:t>
            </a:r>
            <a:r>
              <a:rPr lang="zh-CN" altLang="zh-CN" sz="3200" b="1" dirty="0">
                <a:solidFill>
                  <a:schemeClr val="bg1"/>
                </a:solidFill>
              </a:rPr>
              <a:t>传统教育未能很好训练学生的问题</a:t>
            </a:r>
            <a:r>
              <a:rPr lang="zh-CN" altLang="zh-CN" sz="3200" b="1" dirty="0" smtClean="0">
                <a:solidFill>
                  <a:schemeClr val="bg1"/>
                </a:solidFill>
              </a:rPr>
              <a:t>意识</a:t>
            </a:r>
            <a:r>
              <a:rPr lang="zh-CN" altLang="en-US" sz="3200" b="1" dirty="0" smtClean="0">
                <a:solidFill>
                  <a:schemeClr val="bg1"/>
                </a:solidFill>
              </a:rPr>
              <a:t>（问题探究、关联、想象</a:t>
            </a:r>
            <a:r>
              <a:rPr lang="en-US" altLang="zh-CN" sz="3200" b="1" dirty="0" smtClean="0">
                <a:solidFill>
                  <a:schemeClr val="bg1"/>
                </a:solidFill>
              </a:rPr>
              <a:t>…</a:t>
            </a:r>
            <a:r>
              <a:rPr lang="zh-CN" altLang="en-US" sz="3200" b="1" dirty="0" smtClean="0">
                <a:solidFill>
                  <a:schemeClr val="bg1"/>
                </a:solidFill>
              </a:rPr>
              <a:t>）</a:t>
            </a:r>
            <a:endParaRPr lang="en-US" altLang="zh-CN" sz="3200" b="1" dirty="0">
              <a:solidFill>
                <a:schemeClr val="bg1"/>
              </a:solidFill>
            </a:endParaRPr>
          </a:p>
          <a:p>
            <a:pPr marL="457200" indent="-457200">
              <a:buFont typeface="Wingdings" panose="05000000000000000000" pitchFamily="2" charset="2"/>
              <a:buChar char="n"/>
            </a:pPr>
            <a:endParaRPr lang="en-US" altLang="zh-CN" sz="3200" dirty="0">
              <a:solidFill>
                <a:schemeClr val="bg1"/>
              </a:solidFill>
            </a:endParaRPr>
          </a:p>
          <a:p>
            <a:pPr marL="457200" indent="-457200">
              <a:buFont typeface="Wingdings" panose="05000000000000000000" pitchFamily="2" charset="2"/>
              <a:buChar char="n"/>
            </a:pPr>
            <a:r>
              <a:rPr lang="zh-CN" altLang="zh-CN" sz="3200" dirty="0" smtClean="0">
                <a:solidFill>
                  <a:schemeClr val="bg1"/>
                </a:solidFill>
                <a:latin typeface="+mn-ea"/>
              </a:rPr>
              <a:t>工业</a:t>
            </a:r>
            <a:r>
              <a:rPr lang="zh-CN" altLang="zh-CN" sz="3200" dirty="0">
                <a:solidFill>
                  <a:schemeClr val="bg1"/>
                </a:solidFill>
                <a:latin typeface="+mn-ea"/>
              </a:rPr>
              <a:t>时代，利用知识解决既定工程</a:t>
            </a:r>
            <a:r>
              <a:rPr lang="zh-CN" altLang="zh-CN" sz="3200" dirty="0" smtClean="0">
                <a:solidFill>
                  <a:schemeClr val="bg1"/>
                </a:solidFill>
                <a:latin typeface="+mn-ea"/>
              </a:rPr>
              <a:t>问题是</a:t>
            </a:r>
            <a:r>
              <a:rPr lang="zh-CN" altLang="zh-CN" sz="3200" dirty="0">
                <a:solidFill>
                  <a:schemeClr val="bg1"/>
                </a:solidFill>
                <a:latin typeface="+mn-ea"/>
              </a:rPr>
              <a:t>工程师的主要</a:t>
            </a:r>
            <a:r>
              <a:rPr lang="zh-CN" altLang="zh-CN" sz="3200" dirty="0" smtClean="0">
                <a:solidFill>
                  <a:schemeClr val="bg1"/>
                </a:solidFill>
                <a:latin typeface="+mn-ea"/>
              </a:rPr>
              <a:t>能力，</a:t>
            </a:r>
            <a:r>
              <a:rPr lang="zh-CN" altLang="en-US" sz="3200" dirty="0" smtClean="0">
                <a:solidFill>
                  <a:schemeClr val="bg1"/>
                </a:solidFill>
                <a:latin typeface="+mn-ea"/>
              </a:rPr>
              <a:t>但</a:t>
            </a:r>
            <a:r>
              <a:rPr lang="zh-CN" altLang="zh-CN" sz="3200" b="1" dirty="0" smtClean="0">
                <a:solidFill>
                  <a:schemeClr val="bg1"/>
                </a:solidFill>
                <a:latin typeface="+mn-ea"/>
              </a:rPr>
              <a:t>在</a:t>
            </a:r>
            <a:r>
              <a:rPr lang="zh-CN" altLang="zh-CN" sz="3200" b="1" dirty="0">
                <a:solidFill>
                  <a:schemeClr val="bg1"/>
                </a:solidFill>
                <a:latin typeface="+mn-ea"/>
              </a:rPr>
              <a:t>智能时代此种能力则为越来越多的“智能体”所取代</a:t>
            </a:r>
            <a:r>
              <a:rPr lang="zh-CN" altLang="zh-CN" sz="3200" b="1" dirty="0" smtClean="0">
                <a:solidFill>
                  <a:schemeClr val="bg1"/>
                </a:solidFill>
                <a:latin typeface="+mn-ea"/>
              </a:rPr>
              <a:t>。</a:t>
            </a:r>
            <a:endParaRPr lang="en-US" altLang="zh-CN" sz="3200" b="1" dirty="0" smtClean="0">
              <a:solidFill>
                <a:schemeClr val="bg1"/>
              </a:solidFill>
              <a:latin typeface="+mn-ea"/>
            </a:endParaRPr>
          </a:p>
          <a:p>
            <a:pPr marL="457200" indent="-457200">
              <a:buFont typeface="Wingdings" panose="05000000000000000000" pitchFamily="2" charset="2"/>
              <a:buChar char="n"/>
            </a:pPr>
            <a:r>
              <a:rPr lang="zh-CN" altLang="zh-CN" sz="3200" dirty="0" smtClean="0">
                <a:solidFill>
                  <a:schemeClr val="bg1"/>
                </a:solidFill>
                <a:latin typeface="+mn-ea"/>
              </a:rPr>
              <a:t>需要</a:t>
            </a:r>
            <a:r>
              <a:rPr lang="zh-CN" altLang="zh-CN" sz="3200" dirty="0">
                <a:solidFill>
                  <a:schemeClr val="bg1"/>
                </a:solidFill>
                <a:latin typeface="+mn-ea"/>
              </a:rPr>
              <a:t>实现工程师的能力</a:t>
            </a:r>
            <a:r>
              <a:rPr lang="zh-CN" altLang="zh-CN" sz="3200" dirty="0" smtClean="0">
                <a:solidFill>
                  <a:schemeClr val="bg1"/>
                </a:solidFill>
                <a:latin typeface="+mn-ea"/>
              </a:rPr>
              <a:t>转型</a:t>
            </a:r>
            <a:r>
              <a:rPr lang="en-US" altLang="zh-CN" sz="3200" dirty="0" smtClean="0">
                <a:solidFill>
                  <a:schemeClr val="bg1"/>
                </a:solidFill>
                <a:latin typeface="+mn-ea"/>
                <a:sym typeface="Wingdings" panose="05000000000000000000" pitchFamily="2" charset="2"/>
              </a:rPr>
              <a:t></a:t>
            </a:r>
            <a:r>
              <a:rPr lang="zh-CN" altLang="zh-CN" sz="3200" b="1" dirty="0" smtClean="0">
                <a:solidFill>
                  <a:srgbClr val="FFC000"/>
                </a:solidFill>
                <a:latin typeface="+mn-ea"/>
              </a:rPr>
              <a:t>从</a:t>
            </a:r>
            <a:r>
              <a:rPr lang="zh-CN" altLang="zh-CN" sz="3200" b="1" dirty="0">
                <a:solidFill>
                  <a:srgbClr val="FFC000"/>
                </a:solidFill>
                <a:latin typeface="+mn-ea"/>
              </a:rPr>
              <a:t>“知识导向”到“问题导向”的</a:t>
            </a:r>
            <a:r>
              <a:rPr lang="zh-CN" altLang="zh-CN" sz="3200" b="1" dirty="0" smtClean="0">
                <a:solidFill>
                  <a:srgbClr val="FFC000"/>
                </a:solidFill>
                <a:latin typeface="+mn-ea"/>
              </a:rPr>
              <a:t>转型</a:t>
            </a:r>
            <a:endParaRPr lang="en-US" altLang="zh-CN" sz="3200" b="1" dirty="0" smtClean="0">
              <a:solidFill>
                <a:srgbClr val="FFC000"/>
              </a:solidFill>
              <a:latin typeface="+mn-ea"/>
            </a:endParaRPr>
          </a:p>
          <a:p>
            <a:pPr marL="457200" indent="-457200">
              <a:buFont typeface="Wingdings" panose="05000000000000000000" pitchFamily="2" charset="2"/>
              <a:buChar char="n"/>
            </a:pPr>
            <a:r>
              <a:rPr lang="zh-CN" altLang="en-US" sz="3200" dirty="0" smtClean="0">
                <a:solidFill>
                  <a:schemeClr val="bg1"/>
                </a:solidFill>
                <a:latin typeface="华文彩云" panose="02010800040101010101" pitchFamily="2" charset="-122"/>
                <a:ea typeface="华文彩云" panose="02010800040101010101" pitchFamily="2" charset="-122"/>
              </a:rPr>
              <a:t>“问题导向”所衍生的知识远丰富于“知识导向”教育的既有知识</a:t>
            </a:r>
            <a:endParaRPr lang="en-US" altLang="zh-CN" sz="3200" dirty="0">
              <a:solidFill>
                <a:schemeClr val="bg1"/>
              </a:solidFill>
              <a:latin typeface="华文彩云" panose="02010800040101010101" pitchFamily="2" charset="-122"/>
              <a:ea typeface="华文彩云" panose="02010800040101010101" pitchFamily="2" charset="-122"/>
            </a:endParaRPr>
          </a:p>
        </p:txBody>
      </p:sp>
    </p:spTree>
    <p:extLst>
      <p:ext uri="{BB962C8B-B14F-4D97-AF65-F5344CB8AC3E}">
        <p14:creationId xmlns:p14="http://schemas.microsoft.com/office/powerpoint/2010/main" val="28106076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511629" y="441278"/>
            <a:ext cx="10591800" cy="850710"/>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pPr marL="0" lvl="1" algn="ctr"/>
            <a:r>
              <a:rPr lang="zh-CN" altLang="zh-CN" sz="3200" b="1" dirty="0">
                <a:solidFill>
                  <a:srgbClr val="FFC000"/>
                </a:solidFill>
                <a:latin typeface="+mn-ea"/>
              </a:rPr>
              <a:t>问题的</a:t>
            </a:r>
            <a:r>
              <a:rPr lang="zh-CN" altLang="zh-CN" sz="3200" b="1" dirty="0" smtClean="0">
                <a:solidFill>
                  <a:srgbClr val="FFC000"/>
                </a:solidFill>
                <a:latin typeface="+mn-ea"/>
              </a:rPr>
              <a:t>含义</a:t>
            </a:r>
            <a:endParaRPr lang="zh-CN" altLang="zh-CN" sz="3200" b="1" dirty="0">
              <a:solidFill>
                <a:srgbClr val="FFC000"/>
              </a:solidFill>
              <a:latin typeface="+mn-ea"/>
            </a:endParaRPr>
          </a:p>
        </p:txBody>
      </p:sp>
      <p:sp>
        <p:nvSpPr>
          <p:cNvPr id="2" name="矩形 1"/>
          <p:cNvSpPr/>
          <p:nvPr/>
        </p:nvSpPr>
        <p:spPr>
          <a:xfrm>
            <a:off x="373038" y="1346578"/>
            <a:ext cx="11526861" cy="4642634"/>
          </a:xfrm>
          <a:prstGeom prst="rect">
            <a:avLst/>
          </a:prstGeom>
          <a:noFill/>
        </p:spPr>
        <p:txBody>
          <a:bodyPr wrap="square" lIns="86694" tIns="43347" rIns="86694" bIns="43347">
            <a:spAutoFit/>
          </a:bodyPr>
          <a:lstStyle/>
          <a:p>
            <a:pPr marL="457200" indent="-457200">
              <a:buFont typeface="Wingdings" panose="05000000000000000000" pitchFamily="2" charset="2"/>
              <a:buChar char="n"/>
            </a:pPr>
            <a:r>
              <a:rPr lang="zh-CN" altLang="zh-CN" sz="3200" dirty="0" smtClean="0">
                <a:solidFill>
                  <a:schemeClr val="bg1"/>
                </a:solidFill>
                <a:latin typeface="+mn-ea"/>
              </a:rPr>
              <a:t>“问题”</a:t>
            </a:r>
            <a:r>
              <a:rPr lang="zh-CN" altLang="zh-CN" sz="3200" dirty="0">
                <a:solidFill>
                  <a:schemeClr val="bg1"/>
                </a:solidFill>
                <a:latin typeface="+mn-ea"/>
              </a:rPr>
              <a:t>（</a:t>
            </a:r>
            <a:r>
              <a:rPr lang="en-US" altLang="zh-CN" sz="3200" dirty="0">
                <a:solidFill>
                  <a:schemeClr val="bg1"/>
                </a:solidFill>
                <a:latin typeface="+mn-ea"/>
              </a:rPr>
              <a:t>problem</a:t>
            </a:r>
            <a:r>
              <a:rPr lang="zh-CN" altLang="zh-CN" sz="3200" dirty="0">
                <a:solidFill>
                  <a:schemeClr val="bg1"/>
                </a:solidFill>
                <a:latin typeface="+mn-ea"/>
              </a:rPr>
              <a:t>）这个词起源于希腊语“</a:t>
            </a:r>
            <a:r>
              <a:rPr lang="en-US" altLang="zh-CN" sz="3200" dirty="0" err="1">
                <a:solidFill>
                  <a:schemeClr val="bg1"/>
                </a:solidFill>
                <a:latin typeface="+mn-ea"/>
              </a:rPr>
              <a:t>problema</a:t>
            </a:r>
            <a:r>
              <a:rPr lang="zh-CN" altLang="zh-CN" sz="3200" dirty="0">
                <a:solidFill>
                  <a:schemeClr val="bg1"/>
                </a:solidFill>
                <a:latin typeface="+mn-ea"/>
              </a:rPr>
              <a:t>”，意思为</a:t>
            </a:r>
            <a:r>
              <a:rPr lang="zh-CN" altLang="zh-CN" sz="3200" b="1" dirty="0">
                <a:solidFill>
                  <a:schemeClr val="bg1"/>
                </a:solidFill>
                <a:latin typeface="+mn-ea"/>
              </a:rPr>
              <a:t>障碍或阻力</a:t>
            </a:r>
            <a:r>
              <a:rPr lang="zh-CN" altLang="zh-CN" sz="3200" dirty="0">
                <a:solidFill>
                  <a:schemeClr val="bg1"/>
                </a:solidFill>
                <a:latin typeface="+mn-ea"/>
              </a:rPr>
              <a:t>（</a:t>
            </a:r>
            <a:r>
              <a:rPr lang="en-US" altLang="zh-CN" sz="3200" dirty="0">
                <a:solidFill>
                  <a:schemeClr val="bg1"/>
                </a:solidFill>
                <a:latin typeface="+mn-ea"/>
              </a:rPr>
              <a:t>obstacle</a:t>
            </a:r>
            <a:r>
              <a:rPr lang="zh-CN" altLang="zh-CN" sz="3200" dirty="0">
                <a:solidFill>
                  <a:schemeClr val="bg1"/>
                </a:solidFill>
                <a:latin typeface="+mn-ea"/>
              </a:rPr>
              <a:t>）。 </a:t>
            </a:r>
            <a:endParaRPr lang="en-US" altLang="zh-CN" sz="3200" dirty="0" smtClean="0">
              <a:solidFill>
                <a:schemeClr val="bg1"/>
              </a:solidFill>
              <a:latin typeface="+mn-ea"/>
            </a:endParaRPr>
          </a:p>
          <a:p>
            <a:pPr marL="457200" indent="-457200">
              <a:buFont typeface="Wingdings" panose="05000000000000000000" pitchFamily="2" charset="2"/>
              <a:buChar char="n"/>
            </a:pPr>
            <a:r>
              <a:rPr lang="zh-CN" altLang="zh-CN" sz="3200" dirty="0" smtClean="0">
                <a:solidFill>
                  <a:schemeClr val="bg1"/>
                </a:solidFill>
                <a:latin typeface="+mn-ea"/>
              </a:rPr>
              <a:t>“问题”</a:t>
            </a:r>
            <a:r>
              <a:rPr lang="zh-CN" altLang="zh-CN" sz="3200" dirty="0">
                <a:solidFill>
                  <a:schemeClr val="bg1"/>
                </a:solidFill>
                <a:latin typeface="+mn-ea"/>
              </a:rPr>
              <a:t>又指</a:t>
            </a:r>
            <a:r>
              <a:rPr lang="zh-CN" altLang="zh-CN" sz="3200" b="1" dirty="0">
                <a:solidFill>
                  <a:schemeClr val="bg1"/>
                </a:solidFill>
                <a:latin typeface="+mn-ea"/>
              </a:rPr>
              <a:t>疑问或质疑</a:t>
            </a:r>
            <a:r>
              <a:rPr lang="zh-CN" altLang="zh-CN" sz="3200" dirty="0">
                <a:solidFill>
                  <a:schemeClr val="bg1"/>
                </a:solidFill>
                <a:latin typeface="+mn-ea"/>
              </a:rPr>
              <a:t>（</a:t>
            </a:r>
            <a:r>
              <a:rPr lang="en-US" altLang="zh-CN" sz="3200" dirty="0">
                <a:solidFill>
                  <a:schemeClr val="bg1"/>
                </a:solidFill>
                <a:latin typeface="+mn-ea"/>
              </a:rPr>
              <a:t>question</a:t>
            </a:r>
            <a:r>
              <a:rPr lang="zh-CN" altLang="zh-CN" sz="3200" dirty="0">
                <a:solidFill>
                  <a:schemeClr val="bg1"/>
                </a:solidFill>
                <a:latin typeface="+mn-ea"/>
              </a:rPr>
              <a:t>）或者是</a:t>
            </a:r>
            <a:r>
              <a:rPr lang="zh-CN" altLang="zh-CN" sz="3200" b="1" dirty="0">
                <a:solidFill>
                  <a:schemeClr val="bg1"/>
                </a:solidFill>
                <a:latin typeface="+mn-ea"/>
              </a:rPr>
              <a:t>不确定的事件</a:t>
            </a:r>
            <a:r>
              <a:rPr lang="zh-CN" altLang="zh-CN" sz="3200" dirty="0">
                <a:solidFill>
                  <a:schemeClr val="bg1"/>
                </a:solidFill>
                <a:latin typeface="+mn-ea"/>
              </a:rPr>
              <a:t>（</a:t>
            </a:r>
            <a:r>
              <a:rPr lang="en-US" altLang="zh-CN" sz="3200" dirty="0">
                <a:solidFill>
                  <a:schemeClr val="bg1"/>
                </a:solidFill>
                <a:latin typeface="+mn-ea"/>
              </a:rPr>
              <a:t>issue</a:t>
            </a:r>
            <a:r>
              <a:rPr lang="zh-CN" altLang="zh-CN" sz="3200" dirty="0" smtClean="0">
                <a:solidFill>
                  <a:schemeClr val="bg1"/>
                </a:solidFill>
                <a:latin typeface="+mn-ea"/>
              </a:rPr>
              <a:t>）</a:t>
            </a:r>
            <a:endParaRPr lang="en-US" altLang="zh-CN" sz="3200" dirty="0" smtClean="0">
              <a:solidFill>
                <a:schemeClr val="bg1"/>
              </a:solidFill>
              <a:latin typeface="+mn-ea"/>
            </a:endParaRPr>
          </a:p>
          <a:p>
            <a:r>
              <a:rPr lang="en-US" altLang="zh-CN" sz="2000" dirty="0">
                <a:solidFill>
                  <a:schemeClr val="bg1"/>
                </a:solidFill>
                <a:latin typeface="+mn-ea"/>
              </a:rPr>
              <a:t>D.H. </a:t>
            </a:r>
            <a:r>
              <a:rPr lang="zh-CN" altLang="zh-CN" sz="2000" dirty="0">
                <a:solidFill>
                  <a:schemeClr val="bg1"/>
                </a:solidFill>
                <a:latin typeface="+mn-ea"/>
              </a:rPr>
              <a:t>乔纳森</a:t>
            </a:r>
            <a:r>
              <a:rPr lang="en-US" altLang="zh-CN" sz="2000" dirty="0">
                <a:solidFill>
                  <a:schemeClr val="bg1"/>
                </a:solidFill>
                <a:latin typeface="+mn-ea"/>
              </a:rPr>
              <a:t>. </a:t>
            </a:r>
            <a:r>
              <a:rPr lang="zh-CN" altLang="zh-CN" sz="2000" dirty="0">
                <a:solidFill>
                  <a:schemeClr val="bg1"/>
                </a:solidFill>
                <a:latin typeface="+mn-ea"/>
              </a:rPr>
              <a:t>学会解决问题：支持问题解决的学习环境设计手册</a:t>
            </a:r>
            <a:r>
              <a:rPr lang="en-US" altLang="zh-CN" sz="2000" dirty="0">
                <a:solidFill>
                  <a:schemeClr val="bg1"/>
                </a:solidFill>
                <a:latin typeface="+mn-ea"/>
              </a:rPr>
              <a:t>.</a:t>
            </a:r>
            <a:r>
              <a:rPr lang="zh-CN" altLang="zh-CN" sz="2000" dirty="0">
                <a:solidFill>
                  <a:schemeClr val="bg1"/>
                </a:solidFill>
                <a:latin typeface="+mn-ea"/>
              </a:rPr>
              <a:t>刘名卓等 译</a:t>
            </a:r>
            <a:r>
              <a:rPr lang="en-US" altLang="zh-CN" sz="2000" dirty="0">
                <a:solidFill>
                  <a:schemeClr val="bg1"/>
                </a:solidFill>
                <a:latin typeface="+mn-ea"/>
              </a:rPr>
              <a:t>. </a:t>
            </a:r>
            <a:r>
              <a:rPr lang="zh-CN" altLang="zh-CN" sz="2000" dirty="0">
                <a:solidFill>
                  <a:schemeClr val="bg1"/>
                </a:solidFill>
                <a:latin typeface="+mn-ea"/>
              </a:rPr>
              <a:t>华东师范大学出版社，</a:t>
            </a:r>
            <a:r>
              <a:rPr lang="en-US" altLang="zh-CN" sz="2000" dirty="0">
                <a:solidFill>
                  <a:schemeClr val="bg1"/>
                </a:solidFill>
                <a:latin typeface="+mn-ea"/>
              </a:rPr>
              <a:t>2015. </a:t>
            </a:r>
            <a:r>
              <a:rPr lang="zh-CN" altLang="zh-CN" sz="2000" dirty="0">
                <a:solidFill>
                  <a:schemeClr val="bg1"/>
                </a:solidFill>
                <a:latin typeface="+mn-ea"/>
              </a:rPr>
              <a:t>（</a:t>
            </a:r>
            <a:r>
              <a:rPr lang="en-US" altLang="zh-CN" sz="2000" dirty="0">
                <a:solidFill>
                  <a:schemeClr val="bg1"/>
                </a:solidFill>
                <a:latin typeface="+mn-ea"/>
              </a:rPr>
              <a:t>p.2</a:t>
            </a:r>
            <a:r>
              <a:rPr lang="zh-CN" altLang="zh-CN" sz="2000" dirty="0">
                <a:solidFill>
                  <a:schemeClr val="bg1"/>
                </a:solidFill>
                <a:latin typeface="+mn-ea"/>
              </a:rPr>
              <a:t>，</a:t>
            </a:r>
            <a:r>
              <a:rPr lang="en-US" altLang="zh-CN" sz="2000" dirty="0">
                <a:solidFill>
                  <a:schemeClr val="bg1"/>
                </a:solidFill>
                <a:latin typeface="+mn-ea"/>
              </a:rPr>
              <a:t>4</a:t>
            </a:r>
            <a:r>
              <a:rPr lang="zh-CN" altLang="zh-CN" sz="2000" dirty="0">
                <a:solidFill>
                  <a:schemeClr val="bg1"/>
                </a:solidFill>
                <a:latin typeface="+mn-ea"/>
              </a:rPr>
              <a:t>）</a:t>
            </a:r>
            <a:endParaRPr lang="en-US" altLang="zh-CN" sz="2000" dirty="0" smtClean="0">
              <a:solidFill>
                <a:schemeClr val="bg1"/>
              </a:solidFill>
              <a:latin typeface="+mn-ea"/>
            </a:endParaRPr>
          </a:p>
          <a:p>
            <a:pPr marL="457200" indent="-457200">
              <a:buFont typeface="Wingdings" panose="05000000000000000000" pitchFamily="2" charset="2"/>
              <a:buChar char="n"/>
            </a:pPr>
            <a:endParaRPr lang="en-US" altLang="zh-CN" sz="3200" dirty="0" smtClean="0">
              <a:solidFill>
                <a:schemeClr val="bg1"/>
              </a:solidFill>
              <a:latin typeface="+mn-ea"/>
            </a:endParaRPr>
          </a:p>
          <a:p>
            <a:pPr marL="457200" indent="-457200">
              <a:buFont typeface="Wingdings" panose="05000000000000000000" pitchFamily="2" charset="2"/>
              <a:buChar char="n"/>
            </a:pPr>
            <a:r>
              <a:rPr lang="zh-CN" altLang="en-US" sz="3200" dirty="0" smtClean="0">
                <a:solidFill>
                  <a:schemeClr val="bg1"/>
                </a:solidFill>
                <a:latin typeface="+mn-ea"/>
              </a:rPr>
              <a:t>这里</a:t>
            </a:r>
            <a:r>
              <a:rPr lang="zh-CN" altLang="zh-CN" sz="3200" dirty="0" smtClean="0">
                <a:solidFill>
                  <a:schemeClr val="bg1"/>
                </a:solidFill>
                <a:latin typeface="+mn-ea"/>
              </a:rPr>
              <a:t>的</a:t>
            </a:r>
            <a:r>
              <a:rPr lang="zh-CN" altLang="zh-CN" sz="3200" dirty="0">
                <a:solidFill>
                  <a:schemeClr val="bg1"/>
                </a:solidFill>
                <a:latin typeface="+mn-ea"/>
              </a:rPr>
              <a:t>“问题”一词还包含</a:t>
            </a:r>
            <a:r>
              <a:rPr lang="zh-CN" altLang="zh-CN" sz="3200" b="1" dirty="0">
                <a:solidFill>
                  <a:schemeClr val="bg1"/>
                </a:solidFill>
                <a:latin typeface="+mn-ea"/>
              </a:rPr>
              <a:t>“提问”、“提示问题”</a:t>
            </a:r>
            <a:r>
              <a:rPr lang="zh-CN" altLang="zh-CN" sz="3200" dirty="0">
                <a:solidFill>
                  <a:schemeClr val="bg1"/>
                </a:solidFill>
                <a:latin typeface="+mn-ea"/>
              </a:rPr>
              <a:t>（</a:t>
            </a:r>
            <a:r>
              <a:rPr lang="en-US" altLang="zh-CN" sz="3200" b="1" dirty="0">
                <a:solidFill>
                  <a:schemeClr val="bg1"/>
                </a:solidFill>
                <a:latin typeface="+mn-ea"/>
              </a:rPr>
              <a:t>prompting</a:t>
            </a:r>
            <a:r>
              <a:rPr lang="zh-CN" altLang="zh-CN" sz="3200" dirty="0">
                <a:solidFill>
                  <a:schemeClr val="bg1"/>
                </a:solidFill>
                <a:latin typeface="+mn-ea"/>
              </a:rPr>
              <a:t>）的意思，这是智能时代人与</a:t>
            </a:r>
            <a:r>
              <a:rPr lang="en-US" altLang="zh-CN" sz="3200" dirty="0">
                <a:solidFill>
                  <a:schemeClr val="bg1"/>
                </a:solidFill>
                <a:latin typeface="+mn-ea"/>
              </a:rPr>
              <a:t>AI</a:t>
            </a:r>
            <a:r>
              <a:rPr lang="zh-CN" altLang="zh-CN" sz="3200" dirty="0">
                <a:solidFill>
                  <a:schemeClr val="bg1"/>
                </a:solidFill>
                <a:latin typeface="+mn-ea"/>
              </a:rPr>
              <a:t>系统交互所必要的，也是未来工程人才重要的能力体现。</a:t>
            </a:r>
          </a:p>
        </p:txBody>
      </p:sp>
    </p:spTree>
    <p:extLst>
      <p:ext uri="{BB962C8B-B14F-4D97-AF65-F5344CB8AC3E}">
        <p14:creationId xmlns:p14="http://schemas.microsoft.com/office/powerpoint/2010/main" val="4353271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7" name="TextBox 48"/>
          <p:cNvSpPr txBox="1"/>
          <p:nvPr/>
        </p:nvSpPr>
        <p:spPr>
          <a:xfrm>
            <a:off x="1355677" y="2647666"/>
            <a:ext cx="9676993" cy="923330"/>
          </a:xfrm>
          <a:prstGeom prst="rect">
            <a:avLst/>
          </a:prstGeom>
          <a:noFill/>
        </p:spPr>
        <p:txBody>
          <a:bodyPr wrap="square" lIns="0" tIns="0" rIns="0" bIns="0" rtlCol="0">
            <a:spAutoFit/>
          </a:bodyPr>
          <a:lstStyle/>
          <a:p>
            <a:pPr marL="0" lvl="1" algn="ctr"/>
            <a:r>
              <a:rPr lang="zh-CN" altLang="en-US" sz="6000" b="1" dirty="0" smtClean="0">
                <a:solidFill>
                  <a:srgbClr val="FFFF00"/>
                </a:solidFill>
                <a:latin typeface="微软雅黑" panose="020B0503020204020204" pitchFamily="34" charset="-122"/>
                <a:ea typeface="微软雅黑" panose="020B0503020204020204" pitchFamily="34" charset="-122"/>
              </a:rPr>
              <a:t>问题关联</a:t>
            </a:r>
            <a:endParaRPr lang="en-US" altLang="zh-CN" sz="6000" b="1" dirty="0">
              <a:solidFill>
                <a:srgbClr val="FFFF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889371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1213758" y="332014"/>
            <a:ext cx="9568542" cy="919843"/>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r>
              <a:rPr lang="zh-CN" altLang="en-US" sz="3200" dirty="0" smtClean="0"/>
              <a:t>问题关联</a:t>
            </a:r>
            <a:r>
              <a:rPr lang="en-US" altLang="zh-CN" sz="3200" dirty="0" smtClean="0"/>
              <a:t>-</a:t>
            </a:r>
            <a:r>
              <a:rPr lang="zh-CN" altLang="en-US" sz="3200" dirty="0" smtClean="0">
                <a:solidFill>
                  <a:srgbClr val="FFFF00"/>
                </a:solidFill>
              </a:rPr>
              <a:t>关联主义</a:t>
            </a:r>
            <a:endParaRPr lang="en-US" altLang="zh-CN" sz="3200" dirty="0">
              <a:solidFill>
                <a:srgbClr val="FFFF00"/>
              </a:solidFill>
            </a:endParaRPr>
          </a:p>
        </p:txBody>
      </p:sp>
      <p:sp>
        <p:nvSpPr>
          <p:cNvPr id="6" name="矩形 5"/>
          <p:cNvSpPr/>
          <p:nvPr/>
        </p:nvSpPr>
        <p:spPr>
          <a:xfrm>
            <a:off x="636814" y="1632856"/>
            <a:ext cx="11206842" cy="4893647"/>
          </a:xfrm>
          <a:prstGeom prst="rect">
            <a:avLst/>
          </a:prstGeom>
        </p:spPr>
        <p:txBody>
          <a:bodyPr wrap="square">
            <a:spAutoFit/>
          </a:bodyPr>
          <a:lstStyle/>
          <a:p>
            <a:pPr lvl="0"/>
            <a:r>
              <a:rPr lang="zh-CN" altLang="zh-CN" sz="3200" dirty="0">
                <a:solidFill>
                  <a:schemeClr val="bg1"/>
                </a:solidFill>
                <a:latin typeface="微软雅黑" panose="020B0503020204020204" pitchFamily="34" charset="-122"/>
                <a:ea typeface="微软雅黑" panose="020B0503020204020204" pitchFamily="34" charset="-122"/>
              </a:rPr>
              <a:t>加拿大学者</a:t>
            </a:r>
            <a:r>
              <a:rPr lang="zh-CN" altLang="zh-CN" sz="3200" b="1" dirty="0">
                <a:solidFill>
                  <a:schemeClr val="bg1"/>
                </a:solidFill>
                <a:latin typeface="微软雅黑" panose="020B0503020204020204" pitchFamily="34" charset="-122"/>
                <a:ea typeface="微软雅黑" panose="020B0503020204020204" pitchFamily="34" charset="-122"/>
              </a:rPr>
              <a:t>乔治·西蒙斯</a:t>
            </a:r>
            <a:r>
              <a:rPr lang="zh-CN" altLang="en-US" sz="3200" b="1" dirty="0">
                <a:solidFill>
                  <a:schemeClr val="bg1"/>
                </a:solidFill>
                <a:latin typeface="微软雅黑" panose="020B0503020204020204" pitchFamily="34" charset="-122"/>
                <a:ea typeface="微软雅黑" panose="020B0503020204020204" pitchFamily="34" charset="-122"/>
              </a:rPr>
              <a:t>，</a:t>
            </a:r>
            <a:r>
              <a:rPr lang="zh-CN" altLang="zh-CN" sz="3200" b="1" dirty="0">
                <a:solidFill>
                  <a:schemeClr val="bg1"/>
                </a:solidFill>
                <a:latin typeface="微软雅黑" panose="020B0503020204020204" pitchFamily="34" charset="-122"/>
                <a:ea typeface="微软雅黑" panose="020B0503020204020204" pitchFamily="34" charset="-122"/>
              </a:rPr>
              <a:t>关联主义</a:t>
            </a:r>
            <a:r>
              <a:rPr lang="en-US" altLang="zh-CN" sz="3200" dirty="0">
                <a:solidFill>
                  <a:schemeClr val="bg1"/>
                </a:solidFill>
                <a:latin typeface="微软雅黑" panose="020B0503020204020204" pitchFamily="34" charset="-122"/>
                <a:ea typeface="微软雅黑" panose="020B0503020204020204" pitchFamily="34" charset="-122"/>
              </a:rPr>
              <a:t>:</a:t>
            </a:r>
            <a:r>
              <a:rPr lang="zh-CN" altLang="zh-CN" sz="3200" dirty="0">
                <a:solidFill>
                  <a:schemeClr val="bg1"/>
                </a:solidFill>
                <a:latin typeface="微软雅黑" panose="020B0503020204020204" pitchFamily="34" charset="-122"/>
                <a:ea typeface="微软雅黑" panose="020B0503020204020204" pitchFamily="34" charset="-122"/>
              </a:rPr>
              <a:t>数字时代的一种学习理论</a:t>
            </a:r>
            <a:r>
              <a:rPr lang="zh-CN" altLang="zh-CN" sz="2400" dirty="0">
                <a:solidFill>
                  <a:schemeClr val="bg1"/>
                </a:solidFill>
                <a:latin typeface="微软雅黑" panose="020B0503020204020204" pitchFamily="34" charset="-122"/>
                <a:ea typeface="微软雅黑" panose="020B0503020204020204" pitchFamily="34" charset="-122"/>
              </a:rPr>
              <a:t>（</a:t>
            </a:r>
            <a:r>
              <a:rPr lang="en-US" altLang="zh-CN" sz="2400" dirty="0">
                <a:solidFill>
                  <a:schemeClr val="bg1"/>
                </a:solidFill>
                <a:latin typeface="微软雅黑" panose="020B0503020204020204" pitchFamily="34" charset="-122"/>
                <a:ea typeface="微软雅黑" panose="020B0503020204020204" pitchFamily="34" charset="-122"/>
              </a:rPr>
              <a:t>T </a:t>
            </a:r>
            <a:r>
              <a:rPr lang="zh-CN" altLang="zh-CN" sz="2400" dirty="0">
                <a:solidFill>
                  <a:schemeClr val="bg1"/>
                </a:solidFill>
                <a:latin typeface="微软雅黑" panose="020B0503020204020204" pitchFamily="34" charset="-122"/>
                <a:ea typeface="微软雅黑" panose="020B0503020204020204" pitchFamily="34" charset="-122"/>
              </a:rPr>
              <a:t>李萍</a:t>
            </a:r>
            <a:r>
              <a:rPr lang="en-US" altLang="zh-CN" sz="2400" dirty="0">
                <a:solidFill>
                  <a:schemeClr val="bg1"/>
                </a:solidFill>
                <a:latin typeface="微软雅黑" panose="020B0503020204020204" pitchFamily="34" charset="-122"/>
                <a:ea typeface="微软雅黑" panose="020B0503020204020204" pitchFamily="34" charset="-122"/>
              </a:rPr>
              <a:t> </a:t>
            </a:r>
            <a:r>
              <a:rPr lang="zh-CN" altLang="zh-CN" sz="2400" dirty="0">
                <a:solidFill>
                  <a:schemeClr val="bg1"/>
                </a:solidFill>
                <a:latin typeface="微软雅黑" panose="020B0503020204020204" pitchFamily="34" charset="-122"/>
                <a:ea typeface="微软雅黑" panose="020B0503020204020204" pitchFamily="34" charset="-122"/>
              </a:rPr>
              <a:t>译</a:t>
            </a:r>
            <a:r>
              <a:rPr lang="en-US" altLang="zh-CN" sz="2400" dirty="0">
                <a:solidFill>
                  <a:schemeClr val="bg1"/>
                </a:solidFill>
                <a:latin typeface="微软雅黑" panose="020B0503020204020204" pitchFamily="34" charset="-122"/>
                <a:ea typeface="微软雅黑" panose="020B0503020204020204" pitchFamily="34" charset="-122"/>
              </a:rPr>
              <a:t>. </a:t>
            </a:r>
            <a:r>
              <a:rPr lang="zh-CN" altLang="zh-CN" sz="2400" dirty="0">
                <a:solidFill>
                  <a:schemeClr val="bg1"/>
                </a:solidFill>
                <a:latin typeface="微软雅黑" panose="020B0503020204020204" pitchFamily="34" charset="-122"/>
                <a:ea typeface="微软雅黑" panose="020B0503020204020204" pitchFamily="34" charset="-122"/>
              </a:rPr>
              <a:t>［</a:t>
            </a:r>
            <a:r>
              <a:rPr lang="en-US" altLang="zh-CN" sz="2400" dirty="0">
                <a:solidFill>
                  <a:schemeClr val="bg1"/>
                </a:solidFill>
                <a:latin typeface="微软雅黑" panose="020B0503020204020204" pitchFamily="34" charset="-122"/>
                <a:ea typeface="微软雅黑" panose="020B0503020204020204" pitchFamily="34" charset="-122"/>
              </a:rPr>
              <a:t> J</a:t>
            </a:r>
            <a:r>
              <a:rPr lang="zh-CN" altLang="zh-CN" sz="2400" dirty="0">
                <a:solidFill>
                  <a:schemeClr val="bg1"/>
                </a:solidFill>
                <a:latin typeface="微软雅黑" panose="020B0503020204020204" pitchFamily="34" charset="-122"/>
                <a:ea typeface="微软雅黑" panose="020B0503020204020204" pitchFamily="34" charset="-122"/>
              </a:rPr>
              <a:t>］全球教育展望，</a:t>
            </a:r>
            <a:r>
              <a:rPr lang="en-US" altLang="zh-CN" sz="2400" dirty="0">
                <a:solidFill>
                  <a:schemeClr val="bg1"/>
                </a:solidFill>
                <a:latin typeface="微软雅黑" panose="020B0503020204020204" pitchFamily="34" charset="-122"/>
                <a:ea typeface="微软雅黑" panose="020B0503020204020204" pitchFamily="34" charset="-122"/>
              </a:rPr>
              <a:t>2005</a:t>
            </a:r>
            <a:r>
              <a:rPr lang="zh-CN" altLang="zh-CN" sz="2400" dirty="0">
                <a:solidFill>
                  <a:schemeClr val="bg1"/>
                </a:solidFill>
                <a:latin typeface="微软雅黑" panose="020B0503020204020204" pitchFamily="34" charset="-122"/>
                <a:ea typeface="微软雅黑" panose="020B0503020204020204" pitchFamily="34" charset="-122"/>
              </a:rPr>
              <a:t>，（</a:t>
            </a:r>
            <a:r>
              <a:rPr lang="en-US" altLang="zh-CN" sz="2400" dirty="0">
                <a:solidFill>
                  <a:schemeClr val="bg1"/>
                </a:solidFill>
                <a:latin typeface="微软雅黑" panose="020B0503020204020204" pitchFamily="34" charset="-122"/>
                <a:ea typeface="微软雅黑" panose="020B0503020204020204" pitchFamily="34" charset="-122"/>
              </a:rPr>
              <a:t>8</a:t>
            </a:r>
            <a:r>
              <a:rPr lang="zh-CN" altLang="zh-CN" sz="2400" dirty="0">
                <a:solidFill>
                  <a:schemeClr val="bg1"/>
                </a:solidFill>
                <a:latin typeface="微软雅黑" panose="020B0503020204020204" pitchFamily="34" charset="-122"/>
                <a:ea typeface="微软雅黑" panose="020B0503020204020204" pitchFamily="34" charset="-122"/>
              </a:rPr>
              <a:t>））</a:t>
            </a:r>
          </a:p>
          <a:p>
            <a:pPr lvl="0">
              <a:buFont typeface="Wingdings" panose="05000000000000000000" pitchFamily="2" charset="2"/>
              <a:buChar char="n"/>
            </a:pPr>
            <a:endParaRPr lang="en-US" altLang="zh-CN" sz="3200" dirty="0" smtClean="0">
              <a:solidFill>
                <a:schemeClr val="bg1"/>
              </a:solidFill>
              <a:latin typeface="微软雅黑" panose="020B0503020204020204" pitchFamily="34" charset="-122"/>
              <a:ea typeface="微软雅黑" panose="020B0503020204020204" pitchFamily="34" charset="-122"/>
            </a:endParaRPr>
          </a:p>
          <a:p>
            <a:pPr lvl="0">
              <a:lnSpc>
                <a:spcPct val="150000"/>
              </a:lnSpc>
              <a:buFont typeface="Wingdings" panose="05000000000000000000" pitchFamily="2" charset="2"/>
              <a:buChar char="n"/>
            </a:pPr>
            <a:r>
              <a:rPr lang="zh-CN" altLang="zh-CN" sz="3200" dirty="0" smtClean="0">
                <a:solidFill>
                  <a:schemeClr val="bg1"/>
                </a:solidFill>
                <a:latin typeface="微软雅黑" panose="020B0503020204020204" pitchFamily="34" charset="-122"/>
                <a:ea typeface="微软雅黑" panose="020B0503020204020204" pitchFamily="34" charset="-122"/>
              </a:rPr>
              <a:t>学习</a:t>
            </a:r>
            <a:r>
              <a:rPr lang="zh-CN" altLang="zh-CN" sz="3200" dirty="0">
                <a:solidFill>
                  <a:schemeClr val="bg1"/>
                </a:solidFill>
                <a:latin typeface="微软雅黑" panose="020B0503020204020204" pitchFamily="34" charset="-122"/>
                <a:ea typeface="微软雅黑" panose="020B0503020204020204" pitchFamily="34" charset="-122"/>
              </a:rPr>
              <a:t>与知识是建立于各种节点之上</a:t>
            </a:r>
            <a:r>
              <a:rPr lang="en-US" altLang="zh-CN" sz="3200" dirty="0">
                <a:solidFill>
                  <a:schemeClr val="bg1"/>
                </a:solidFill>
                <a:latin typeface="微软雅黑" panose="020B0503020204020204" pitchFamily="34" charset="-122"/>
                <a:ea typeface="微软雅黑" panose="020B0503020204020204" pitchFamily="34" charset="-122"/>
              </a:rPr>
              <a:t>;</a:t>
            </a:r>
            <a:endParaRPr lang="zh-CN" altLang="zh-CN" sz="3200" dirty="0">
              <a:solidFill>
                <a:schemeClr val="bg1"/>
              </a:solidFill>
              <a:latin typeface="微软雅黑" panose="020B0503020204020204" pitchFamily="34" charset="-122"/>
              <a:ea typeface="微软雅黑" panose="020B0503020204020204" pitchFamily="34" charset="-122"/>
            </a:endParaRPr>
          </a:p>
          <a:p>
            <a:pPr lvl="0">
              <a:lnSpc>
                <a:spcPct val="150000"/>
              </a:lnSpc>
              <a:buFont typeface="Wingdings" panose="05000000000000000000" pitchFamily="2" charset="2"/>
              <a:buChar char="n"/>
            </a:pPr>
            <a:r>
              <a:rPr lang="zh-CN" altLang="zh-CN" sz="3200" dirty="0">
                <a:solidFill>
                  <a:schemeClr val="bg1"/>
                </a:solidFill>
                <a:latin typeface="微软雅黑" panose="020B0503020204020204" pitchFamily="34" charset="-122"/>
                <a:ea typeface="微软雅黑" panose="020B0503020204020204" pitchFamily="34" charset="-122"/>
              </a:rPr>
              <a:t>将不同专业节点或信息源连接起来的过程</a:t>
            </a:r>
            <a:r>
              <a:rPr lang="en-US" altLang="zh-CN" sz="3200" dirty="0">
                <a:solidFill>
                  <a:schemeClr val="bg1"/>
                </a:solidFill>
                <a:latin typeface="微软雅黑" panose="020B0503020204020204" pitchFamily="34" charset="-122"/>
                <a:ea typeface="微软雅黑" panose="020B0503020204020204" pitchFamily="34" charset="-122"/>
              </a:rPr>
              <a:t>;</a:t>
            </a:r>
            <a:endParaRPr lang="zh-CN" altLang="zh-CN" sz="3200" dirty="0">
              <a:solidFill>
                <a:schemeClr val="bg1"/>
              </a:solidFill>
              <a:latin typeface="微软雅黑" panose="020B0503020204020204" pitchFamily="34" charset="-122"/>
              <a:ea typeface="微软雅黑" panose="020B0503020204020204" pitchFamily="34" charset="-122"/>
            </a:endParaRPr>
          </a:p>
          <a:p>
            <a:pPr lvl="0">
              <a:lnSpc>
                <a:spcPct val="150000"/>
              </a:lnSpc>
              <a:buFont typeface="Wingdings" panose="05000000000000000000" pitchFamily="2" charset="2"/>
              <a:buChar char="n"/>
            </a:pPr>
            <a:r>
              <a:rPr lang="zh-CN" altLang="zh-CN" sz="3200" dirty="0">
                <a:solidFill>
                  <a:schemeClr val="bg1"/>
                </a:solidFill>
                <a:latin typeface="微软雅黑" panose="020B0503020204020204" pitchFamily="34" charset="-122"/>
                <a:ea typeface="微软雅黑" panose="020B0503020204020204" pitchFamily="34" charset="-122"/>
              </a:rPr>
              <a:t>看出不同领域理念与概念之间联系的能力</a:t>
            </a:r>
            <a:r>
              <a:rPr lang="en-US" altLang="zh-CN" sz="3200" dirty="0">
                <a:solidFill>
                  <a:schemeClr val="bg1"/>
                </a:solidFill>
                <a:latin typeface="微软雅黑" panose="020B0503020204020204" pitchFamily="34" charset="-122"/>
                <a:ea typeface="微软雅黑" panose="020B0503020204020204" pitchFamily="34" charset="-122"/>
              </a:rPr>
              <a:t>;</a:t>
            </a:r>
            <a:endParaRPr lang="zh-CN" altLang="zh-CN" sz="3200" dirty="0">
              <a:solidFill>
                <a:schemeClr val="bg1"/>
              </a:solidFill>
              <a:latin typeface="微软雅黑" panose="020B0503020204020204" pitchFamily="34" charset="-122"/>
              <a:ea typeface="微软雅黑" panose="020B0503020204020204" pitchFamily="34" charset="-122"/>
            </a:endParaRPr>
          </a:p>
          <a:p>
            <a:pPr lvl="0">
              <a:lnSpc>
                <a:spcPct val="150000"/>
              </a:lnSpc>
              <a:buFont typeface="Wingdings" panose="05000000000000000000" pitchFamily="2" charset="2"/>
              <a:buChar char="n"/>
            </a:pPr>
            <a:r>
              <a:rPr lang="zh-CN" altLang="zh-CN" sz="3200" b="1" dirty="0" smtClean="0">
                <a:solidFill>
                  <a:schemeClr val="bg1"/>
                </a:solidFill>
                <a:latin typeface="微软雅黑" panose="020B0503020204020204" pitchFamily="34" charset="-122"/>
                <a:ea typeface="微软雅黑" panose="020B0503020204020204" pitchFamily="34" charset="-122"/>
              </a:rPr>
              <a:t>“</a:t>
            </a:r>
            <a:r>
              <a:rPr lang="zh-CN" altLang="zh-CN" sz="3200" b="1" dirty="0">
                <a:solidFill>
                  <a:schemeClr val="bg1"/>
                </a:solidFill>
                <a:latin typeface="微软雅黑" panose="020B0503020204020204" pitchFamily="34" charset="-122"/>
                <a:ea typeface="微软雅黑" panose="020B0503020204020204" pitchFamily="34" charset="-122"/>
              </a:rPr>
              <a:t>知识的数量会淹没智慧</a:t>
            </a:r>
            <a:r>
              <a:rPr lang="zh-CN" altLang="zh-CN" sz="3200" dirty="0">
                <a:solidFill>
                  <a:schemeClr val="bg1"/>
                </a:solidFill>
                <a:latin typeface="微软雅黑" panose="020B0503020204020204" pitchFamily="34" charset="-122"/>
                <a:ea typeface="微软雅黑" panose="020B0503020204020204" pitchFamily="34" charset="-122"/>
              </a:rPr>
              <a:t>，选择，选择，再选择！”</a:t>
            </a:r>
            <a:r>
              <a:rPr lang="zh-CN" altLang="en-US" sz="3200" dirty="0">
                <a:solidFill>
                  <a:schemeClr val="bg1"/>
                </a:solidFill>
                <a:latin typeface="微软雅黑" panose="020B0503020204020204" pitchFamily="34" charset="-122"/>
                <a:ea typeface="微软雅黑" panose="020B0503020204020204" pitchFamily="34" charset="-122"/>
              </a:rPr>
              <a:t> </a:t>
            </a:r>
            <a:endParaRPr lang="zh-CN" altLang="zh-CN" sz="3200" dirty="0">
              <a:solidFill>
                <a:schemeClr val="bg1"/>
              </a:solidFill>
              <a:latin typeface="微软雅黑" panose="020B0503020204020204" pitchFamily="34" charset="-122"/>
              <a:ea typeface="微软雅黑" panose="020B0503020204020204" pitchFamily="34" charset="-122"/>
            </a:endParaRPr>
          </a:p>
          <a:p>
            <a:endParaRPr lang="en-US" altLang="zh-CN" sz="3200" b="1"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079293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1596000" y="239487"/>
            <a:ext cx="9000000" cy="876299"/>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r>
              <a:rPr lang="zh-CN" altLang="en-US" sz="3200" dirty="0" smtClean="0"/>
              <a:t>大模型的启示</a:t>
            </a:r>
            <a:endParaRPr lang="en-US" altLang="zh-CN" sz="3200" dirty="0" smtClean="0"/>
          </a:p>
        </p:txBody>
      </p:sp>
      <p:sp>
        <p:nvSpPr>
          <p:cNvPr id="5" name="矩形 4"/>
          <p:cNvSpPr/>
          <p:nvPr/>
        </p:nvSpPr>
        <p:spPr>
          <a:xfrm>
            <a:off x="408290" y="1275907"/>
            <a:ext cx="11483163" cy="5139869"/>
          </a:xfrm>
          <a:prstGeom prst="rect">
            <a:avLst/>
          </a:prstGeom>
          <a:noFill/>
        </p:spPr>
        <p:txBody>
          <a:bodyPr wrap="square">
            <a:spAutoFit/>
          </a:bodyPr>
          <a:lstStyle/>
          <a:p>
            <a:pPr marL="457200" indent="-457200">
              <a:buFont typeface="Wingdings" panose="05000000000000000000" pitchFamily="2" charset="2"/>
              <a:buChar char="n"/>
            </a:pPr>
            <a:r>
              <a:rPr lang="zh-CN" altLang="en-US" sz="2800" dirty="0">
                <a:solidFill>
                  <a:schemeClr val="bg1"/>
                </a:solidFill>
              </a:rPr>
              <a:t>大模型是指具有大量参数和复杂结构的机器学习</a:t>
            </a:r>
            <a:r>
              <a:rPr lang="zh-CN" altLang="en-US" sz="2800" dirty="0" smtClean="0">
                <a:solidFill>
                  <a:schemeClr val="bg1"/>
                </a:solidFill>
              </a:rPr>
              <a:t>模型</a:t>
            </a:r>
            <a:endParaRPr lang="en-US" altLang="zh-CN" sz="2800" dirty="0">
              <a:solidFill>
                <a:schemeClr val="bg1"/>
              </a:solidFill>
              <a:latin typeface="+mn-ea"/>
            </a:endParaRPr>
          </a:p>
          <a:p>
            <a:pPr marL="457200" indent="-457200">
              <a:buFont typeface="Wingdings" panose="05000000000000000000" pitchFamily="2" charset="2"/>
              <a:buChar char="n"/>
            </a:pPr>
            <a:r>
              <a:rPr lang="en-US" altLang="zh-CN" sz="2800" b="1" dirty="0" smtClean="0">
                <a:solidFill>
                  <a:schemeClr val="bg1"/>
                </a:solidFill>
                <a:latin typeface="+mn-ea"/>
              </a:rPr>
              <a:t>Transformer</a:t>
            </a:r>
            <a:r>
              <a:rPr lang="zh-CN" altLang="en-US" sz="2800" dirty="0" smtClean="0">
                <a:solidFill>
                  <a:schemeClr val="bg1"/>
                </a:solidFill>
                <a:latin typeface="+mn-ea"/>
              </a:rPr>
              <a:t>，谷</a:t>
            </a:r>
            <a:r>
              <a:rPr lang="zh-CN" altLang="en-US" sz="2800" dirty="0">
                <a:solidFill>
                  <a:schemeClr val="bg1"/>
                </a:solidFill>
                <a:latin typeface="+mn-ea"/>
              </a:rPr>
              <a:t>歌在</a:t>
            </a:r>
            <a:r>
              <a:rPr lang="en-US" altLang="zh-CN" sz="2800" dirty="0">
                <a:solidFill>
                  <a:schemeClr val="bg1"/>
                </a:solidFill>
                <a:latin typeface="+mn-ea"/>
              </a:rPr>
              <a:t>2017</a:t>
            </a:r>
            <a:r>
              <a:rPr lang="zh-CN" altLang="en-US" sz="2800" dirty="0">
                <a:solidFill>
                  <a:schemeClr val="bg1"/>
                </a:solidFill>
                <a:latin typeface="+mn-ea"/>
              </a:rPr>
              <a:t>年推出的</a:t>
            </a:r>
            <a:r>
              <a:rPr lang="en-US" altLang="zh-CN" sz="2800" dirty="0">
                <a:solidFill>
                  <a:schemeClr val="bg1"/>
                </a:solidFill>
                <a:latin typeface="+mn-ea"/>
              </a:rPr>
              <a:t>NLP</a:t>
            </a:r>
            <a:r>
              <a:rPr lang="zh-CN" altLang="en-US" sz="2800" dirty="0">
                <a:solidFill>
                  <a:schemeClr val="bg1"/>
                </a:solidFill>
                <a:latin typeface="+mn-ea"/>
              </a:rPr>
              <a:t>经典</a:t>
            </a:r>
            <a:r>
              <a:rPr lang="zh-CN" altLang="en-US" sz="2800" dirty="0" smtClean="0">
                <a:solidFill>
                  <a:schemeClr val="bg1"/>
                </a:solidFill>
                <a:latin typeface="+mn-ea"/>
              </a:rPr>
              <a:t>模型</a:t>
            </a:r>
            <a:endParaRPr lang="en-US" altLang="zh-CN" sz="2800" dirty="0" smtClean="0">
              <a:solidFill>
                <a:schemeClr val="bg1"/>
              </a:solidFill>
              <a:latin typeface="+mn-ea"/>
            </a:endParaRPr>
          </a:p>
          <a:p>
            <a:pPr marL="457200" indent="-457200">
              <a:buFont typeface="Wingdings" panose="05000000000000000000" pitchFamily="2" charset="2"/>
              <a:buChar char="n"/>
            </a:pPr>
            <a:r>
              <a:rPr lang="zh-CN" altLang="en-US" sz="2800" dirty="0" smtClean="0">
                <a:solidFill>
                  <a:schemeClr val="bg1"/>
                </a:solidFill>
                <a:latin typeface="+mn-ea"/>
              </a:rPr>
              <a:t>第</a:t>
            </a:r>
            <a:r>
              <a:rPr lang="zh-CN" altLang="en-US" sz="2800" dirty="0">
                <a:solidFill>
                  <a:schemeClr val="bg1"/>
                </a:solidFill>
                <a:latin typeface="+mn-ea"/>
              </a:rPr>
              <a:t>⼀个</a:t>
            </a:r>
            <a:r>
              <a:rPr lang="zh-CN" altLang="en-US" sz="2800" dirty="0" smtClean="0">
                <a:solidFill>
                  <a:schemeClr val="bg1"/>
                </a:solidFill>
                <a:latin typeface="+mn-ea"/>
              </a:rPr>
              <a:t>功能，</a:t>
            </a:r>
            <a:r>
              <a:rPr lang="zh-CN" altLang="en-US" sz="2800" b="1" dirty="0" smtClean="0">
                <a:solidFill>
                  <a:schemeClr val="bg1"/>
                </a:solidFill>
                <a:latin typeface="+mn-ea"/>
              </a:rPr>
              <a:t>单词</a:t>
            </a:r>
            <a:r>
              <a:rPr lang="zh-CN" altLang="en-US" sz="2800" b="1" dirty="0">
                <a:solidFill>
                  <a:schemeClr val="bg1"/>
                </a:solidFill>
                <a:latin typeface="+mn-ea"/>
              </a:rPr>
              <a:t>的向量化</a:t>
            </a:r>
            <a:r>
              <a:rPr lang="zh-CN" altLang="en-US" sz="2800" dirty="0">
                <a:solidFill>
                  <a:schemeClr val="bg1"/>
                </a:solidFill>
                <a:latin typeface="+mn-ea"/>
              </a:rPr>
              <a:t>，就把所有的单词变成向量。 </a:t>
            </a:r>
            <a:r>
              <a:rPr lang="zh-CN" altLang="en-US" sz="2800" dirty="0" smtClean="0">
                <a:solidFill>
                  <a:schemeClr val="bg1"/>
                </a:solidFill>
                <a:latin typeface="+mn-ea"/>
              </a:rPr>
              <a:t>（如苹果，</a:t>
            </a:r>
            <a:r>
              <a:rPr lang="en-US" altLang="zh-CN" sz="2800" dirty="0" err="1" smtClean="0">
                <a:solidFill>
                  <a:schemeClr val="bg1"/>
                </a:solidFill>
                <a:latin typeface="+mn-ea"/>
              </a:rPr>
              <a:t>ChatGPT</a:t>
            </a:r>
            <a:r>
              <a:rPr lang="en-US" altLang="zh-CN" sz="2800" dirty="0" smtClean="0">
                <a:solidFill>
                  <a:schemeClr val="bg1"/>
                </a:solidFill>
                <a:latin typeface="+mn-ea"/>
              </a:rPr>
              <a:t> </a:t>
            </a:r>
            <a:r>
              <a:rPr lang="en-US" altLang="zh-CN" sz="2800" dirty="0">
                <a:solidFill>
                  <a:schemeClr val="bg1"/>
                </a:solidFill>
                <a:latin typeface="+mn-ea"/>
              </a:rPr>
              <a:t>⼀</a:t>
            </a:r>
            <a:r>
              <a:rPr lang="zh-CN" altLang="en-US" sz="2800" dirty="0">
                <a:solidFill>
                  <a:schemeClr val="bg1"/>
                </a:solidFill>
                <a:latin typeface="+mn-ea"/>
              </a:rPr>
              <a:t>次可以提取出⾄少 </a:t>
            </a:r>
            <a:r>
              <a:rPr lang="en-US" altLang="zh-CN" sz="2800" dirty="0">
                <a:solidFill>
                  <a:schemeClr val="bg1"/>
                </a:solidFill>
                <a:latin typeface="+mn-ea"/>
              </a:rPr>
              <a:t>300 </a:t>
            </a:r>
            <a:r>
              <a:rPr lang="zh-CN" altLang="en-US" sz="2800" dirty="0">
                <a:solidFill>
                  <a:schemeClr val="bg1"/>
                </a:solidFill>
                <a:latin typeface="+mn-ea"/>
              </a:rPr>
              <a:t>种，甚⾄是 </a:t>
            </a:r>
            <a:r>
              <a:rPr lang="en-US" altLang="zh-CN" sz="2800" dirty="0">
                <a:solidFill>
                  <a:schemeClr val="bg1"/>
                </a:solidFill>
                <a:latin typeface="+mn-ea"/>
              </a:rPr>
              <a:t>500 </a:t>
            </a:r>
            <a:r>
              <a:rPr lang="zh-CN" altLang="en-US" sz="2800" dirty="0">
                <a:solidFill>
                  <a:schemeClr val="bg1"/>
                </a:solidFill>
                <a:latin typeface="+mn-ea"/>
              </a:rPr>
              <a:t>种性质</a:t>
            </a:r>
            <a:r>
              <a:rPr lang="zh-CN" altLang="en-US" sz="2800" dirty="0" smtClean="0">
                <a:solidFill>
                  <a:schemeClr val="bg1"/>
                </a:solidFill>
                <a:latin typeface="+mn-ea"/>
              </a:rPr>
              <a:t>。</a:t>
            </a:r>
            <a:r>
              <a:rPr lang="zh-CN" altLang="en-US" sz="2800" dirty="0">
                <a:solidFill>
                  <a:schemeClr val="bg1"/>
                </a:solidFill>
                <a:latin typeface="+mn-ea"/>
              </a:rPr>
              <a:t>）</a:t>
            </a:r>
            <a:r>
              <a:rPr lang="zh-CN" altLang="en-US" sz="2800" dirty="0" smtClean="0">
                <a:solidFill>
                  <a:schemeClr val="bg1"/>
                </a:solidFill>
                <a:latin typeface="+mn-ea"/>
              </a:rPr>
              <a:t> </a:t>
            </a:r>
            <a:endParaRPr lang="en-US" altLang="zh-CN" sz="2800" dirty="0" smtClean="0">
              <a:solidFill>
                <a:schemeClr val="bg1"/>
              </a:solidFill>
              <a:latin typeface="+mn-ea"/>
            </a:endParaRPr>
          </a:p>
          <a:p>
            <a:pPr marL="457200" indent="-457200">
              <a:buFont typeface="Wingdings" panose="05000000000000000000" pitchFamily="2" charset="2"/>
              <a:buChar char="n"/>
            </a:pPr>
            <a:r>
              <a:rPr lang="zh-CN" altLang="en-US" sz="2800" dirty="0" smtClean="0">
                <a:solidFill>
                  <a:schemeClr val="bg1"/>
                </a:solidFill>
                <a:latin typeface="+mn-ea"/>
              </a:rPr>
              <a:t>第⼆个功能，</a:t>
            </a:r>
            <a:r>
              <a:rPr lang="zh-CN" altLang="en-US" sz="2800" b="1" dirty="0" smtClean="0">
                <a:solidFill>
                  <a:schemeClr val="bg1"/>
                </a:solidFill>
                <a:latin typeface="+mn-ea"/>
              </a:rPr>
              <a:t>自注意力</a:t>
            </a:r>
            <a:r>
              <a:rPr lang="zh-CN" altLang="en-US" sz="2800" dirty="0" smtClean="0">
                <a:solidFill>
                  <a:schemeClr val="bg1"/>
                </a:solidFill>
                <a:latin typeface="+mn-ea"/>
              </a:rPr>
              <a:t>，</a:t>
            </a:r>
            <a:r>
              <a:rPr lang="en-US" altLang="zh-CN" sz="2800" dirty="0">
                <a:solidFill>
                  <a:schemeClr val="bg1"/>
                </a:solidFill>
                <a:latin typeface="+mn-ea"/>
              </a:rPr>
              <a:t>Self-Attention </a:t>
            </a:r>
            <a:r>
              <a:rPr lang="zh-CN" altLang="en-US" sz="2800" dirty="0" smtClean="0">
                <a:solidFill>
                  <a:schemeClr val="bg1"/>
                </a:solidFill>
                <a:latin typeface="+mn-ea"/>
              </a:rPr>
              <a:t>：</a:t>
            </a:r>
            <a:r>
              <a:rPr lang="en-US" altLang="zh-CN" sz="2800" dirty="0" smtClean="0">
                <a:solidFill>
                  <a:schemeClr val="bg1"/>
                </a:solidFill>
                <a:latin typeface="+mn-ea"/>
              </a:rPr>
              <a:t>All </a:t>
            </a:r>
            <a:r>
              <a:rPr lang="en-US" altLang="zh-CN" sz="2800" dirty="0">
                <a:solidFill>
                  <a:schemeClr val="bg1"/>
                </a:solidFill>
                <a:latin typeface="+mn-ea"/>
              </a:rPr>
              <a:t>you need is attention</a:t>
            </a:r>
            <a:r>
              <a:rPr lang="zh-CN" altLang="en-US" sz="2800" dirty="0">
                <a:solidFill>
                  <a:schemeClr val="bg1"/>
                </a:solidFill>
                <a:latin typeface="+mn-ea"/>
              </a:rPr>
              <a:t> </a:t>
            </a:r>
            <a:br>
              <a:rPr lang="zh-CN" altLang="en-US" sz="2800" dirty="0">
                <a:solidFill>
                  <a:schemeClr val="bg1"/>
                </a:solidFill>
                <a:latin typeface="+mn-ea"/>
              </a:rPr>
            </a:br>
            <a:r>
              <a:rPr lang="zh-CN" altLang="en-US" sz="2800" b="1" dirty="0" smtClean="0">
                <a:solidFill>
                  <a:schemeClr val="bg1"/>
                </a:solidFill>
                <a:latin typeface="+mn-ea"/>
              </a:rPr>
              <a:t>自注意力：</a:t>
            </a:r>
            <a:r>
              <a:rPr lang="zh-CN" altLang="en-US" sz="2800" b="1" dirty="0">
                <a:solidFill>
                  <a:schemeClr val="bg1"/>
                </a:solidFill>
                <a:latin typeface="+mn-ea"/>
              </a:rPr>
              <a:t>关系的寻找 </a:t>
            </a:r>
            <a:endParaRPr lang="en-US" altLang="zh-CN" sz="2800" b="1" dirty="0">
              <a:solidFill>
                <a:schemeClr val="bg1"/>
              </a:solidFill>
              <a:latin typeface="+mn-ea"/>
            </a:endParaRPr>
          </a:p>
          <a:p>
            <a:pPr marL="457200" indent="-457200">
              <a:buFont typeface="Wingdings" panose="05000000000000000000" pitchFamily="2" charset="2"/>
              <a:buChar char="n"/>
            </a:pPr>
            <a:r>
              <a:rPr lang="zh-CN" altLang="en-US" sz="2800" dirty="0">
                <a:solidFill>
                  <a:schemeClr val="bg1"/>
                </a:solidFill>
                <a:latin typeface="+mn-ea"/>
              </a:rPr>
              <a:t>符号之间的关系反映了世界模型之间的关系，世界是⼀个有规律的东西，所有东西之间是有关系的</a:t>
            </a:r>
            <a:r>
              <a:rPr lang="en-US" altLang="zh-CN" sz="2800" dirty="0">
                <a:solidFill>
                  <a:schemeClr val="bg1"/>
                </a:solidFill>
                <a:latin typeface="+mn-ea"/>
              </a:rPr>
              <a:t>……</a:t>
            </a:r>
            <a:r>
              <a:rPr lang="zh-CN" altLang="en-US" sz="2800" dirty="0">
                <a:solidFill>
                  <a:schemeClr val="bg1"/>
                </a:solidFill>
                <a:latin typeface="+mn-ea"/>
              </a:rPr>
              <a:t>所以当它能够把握⼈类不能把握符号间的关系，意味着什么呢？</a:t>
            </a:r>
            <a:r>
              <a:rPr lang="zh-CN" altLang="en-US" sz="2800" b="1" dirty="0">
                <a:solidFill>
                  <a:srgbClr val="FFC000"/>
                </a:solidFill>
                <a:latin typeface="+mn-ea"/>
              </a:rPr>
              <a:t>它对世界高阶相关性的认知已经远远超过⼈</a:t>
            </a:r>
            <a:r>
              <a:rPr lang="zh-CN" altLang="en-US" sz="2800" b="1" dirty="0" smtClean="0">
                <a:solidFill>
                  <a:srgbClr val="FFC000"/>
                </a:solidFill>
                <a:latin typeface="+mn-ea"/>
              </a:rPr>
              <a:t>类</a:t>
            </a:r>
            <a:r>
              <a:rPr lang="zh-CN" altLang="en-US" sz="3200" dirty="0">
                <a:solidFill>
                  <a:schemeClr val="bg1"/>
                </a:solidFill>
                <a:latin typeface="+mn-ea"/>
              </a:rPr>
              <a:t/>
            </a:r>
            <a:br>
              <a:rPr lang="zh-CN" altLang="en-US" sz="3200" dirty="0">
                <a:solidFill>
                  <a:schemeClr val="bg1"/>
                </a:solidFill>
                <a:latin typeface="+mn-ea"/>
              </a:rPr>
            </a:br>
            <a:r>
              <a:rPr lang="zh-CN" altLang="en-US" sz="2000" dirty="0">
                <a:solidFill>
                  <a:schemeClr val="bg1"/>
                </a:solidFill>
                <a:latin typeface="+mn-ea"/>
              </a:rPr>
              <a:t>赵何娟对话王维嘉、张宏江：何谓 </a:t>
            </a:r>
            <a:r>
              <a:rPr lang="en-US" altLang="zh-CN" sz="2000" dirty="0">
                <a:solidFill>
                  <a:schemeClr val="bg1"/>
                </a:solidFill>
                <a:latin typeface="+mn-ea"/>
              </a:rPr>
              <a:t>AI </a:t>
            </a:r>
            <a:r>
              <a:rPr lang="zh-CN" altLang="en-US" sz="2000" dirty="0">
                <a:solidFill>
                  <a:schemeClr val="bg1"/>
                </a:solidFill>
                <a:latin typeface="+mn-ea"/>
              </a:rPr>
              <a:t>意识 </a:t>
            </a:r>
            <a:r>
              <a:rPr lang="en-US" altLang="zh-CN" sz="2000" dirty="0">
                <a:solidFill>
                  <a:schemeClr val="bg1"/>
                </a:solidFill>
                <a:latin typeface="+mn-ea"/>
              </a:rPr>
              <a:t>.</a:t>
            </a:r>
            <a:r>
              <a:rPr lang="zh-CN" altLang="en-US" sz="2000" dirty="0">
                <a:solidFill>
                  <a:schemeClr val="bg1"/>
                </a:solidFill>
                <a:latin typeface="+mn-ea"/>
              </a:rPr>
              <a:t>钛媒体「何谓 </a:t>
            </a:r>
            <a:r>
              <a:rPr lang="en-US" altLang="zh-CN" sz="2000" dirty="0">
                <a:solidFill>
                  <a:schemeClr val="bg1"/>
                </a:solidFill>
                <a:latin typeface="+mn-ea"/>
              </a:rPr>
              <a:t>2023</a:t>
            </a:r>
            <a:r>
              <a:rPr lang="zh-CN" altLang="en-US" sz="2000" dirty="0">
                <a:solidFill>
                  <a:schemeClr val="bg1"/>
                </a:solidFill>
                <a:latin typeface="+mn-ea"/>
              </a:rPr>
              <a:t>」年终特别对话，</a:t>
            </a:r>
            <a:r>
              <a:rPr lang="en-US" altLang="zh-CN" sz="2000" dirty="0" smtClean="0">
                <a:solidFill>
                  <a:schemeClr val="bg1"/>
                </a:solidFill>
                <a:latin typeface="+mn-ea"/>
              </a:rPr>
              <a:t>2023-12-28 </a:t>
            </a:r>
            <a:endParaRPr lang="en-US" altLang="zh-CN" sz="2000" dirty="0">
              <a:solidFill>
                <a:srgbClr val="00FFFF"/>
              </a:solidFill>
              <a:latin typeface="+mn-ea"/>
            </a:endParaRPr>
          </a:p>
        </p:txBody>
      </p:sp>
    </p:spTree>
    <p:extLst>
      <p:ext uri="{BB962C8B-B14F-4D97-AF65-F5344CB8AC3E}">
        <p14:creationId xmlns:p14="http://schemas.microsoft.com/office/powerpoint/2010/main" val="6257595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636814" y="200391"/>
            <a:ext cx="10450286" cy="922239"/>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r>
              <a:rPr lang="zh-CN" altLang="en-US" sz="3200" dirty="0" smtClean="0">
                <a:solidFill>
                  <a:srgbClr val="FFFF00"/>
                </a:solidFill>
                <a:latin typeface="+mn-ea"/>
              </a:rPr>
              <a:t>例：</a:t>
            </a:r>
            <a:r>
              <a:rPr lang="zh-CN" altLang="en-US" sz="3200" dirty="0" smtClean="0">
                <a:latin typeface="+mn-ea"/>
              </a:rPr>
              <a:t>考虑隐性成本</a:t>
            </a:r>
            <a:endParaRPr lang="en-US" altLang="zh-CN" sz="3200" dirty="0"/>
          </a:p>
        </p:txBody>
      </p:sp>
      <p:sp>
        <p:nvSpPr>
          <p:cNvPr id="2" name="矩形 1"/>
          <p:cNvSpPr/>
          <p:nvPr/>
        </p:nvSpPr>
        <p:spPr>
          <a:xfrm>
            <a:off x="450821" y="1305678"/>
            <a:ext cx="11202464" cy="5010180"/>
          </a:xfrm>
          <a:prstGeom prst="rect">
            <a:avLst/>
          </a:prstGeom>
        </p:spPr>
        <p:txBody>
          <a:bodyPr wrap="square" lIns="86694" tIns="43347" rIns="86694" bIns="43347">
            <a:spAutoFit/>
          </a:bodyPr>
          <a:lstStyle/>
          <a:p>
            <a:pPr marL="457200" indent="-457200">
              <a:buFont typeface="Wingdings" panose="05000000000000000000" pitchFamily="2" charset="2"/>
              <a:buChar char="n"/>
            </a:pPr>
            <a:r>
              <a:rPr lang="zh-CN" altLang="en-US" sz="3200" dirty="0" smtClean="0">
                <a:solidFill>
                  <a:schemeClr val="bg1"/>
                </a:solidFill>
                <a:latin typeface="+mn-ea"/>
              </a:rPr>
              <a:t>如，</a:t>
            </a:r>
            <a:r>
              <a:rPr lang="zh-CN" altLang="zh-CN" sz="3200" dirty="0" smtClean="0">
                <a:solidFill>
                  <a:schemeClr val="bg1"/>
                </a:solidFill>
                <a:latin typeface="+mn-ea"/>
              </a:rPr>
              <a:t>采购</a:t>
            </a:r>
            <a:r>
              <a:rPr lang="zh-CN" altLang="zh-CN" sz="3200" dirty="0">
                <a:solidFill>
                  <a:schemeClr val="bg1"/>
                </a:solidFill>
                <a:latin typeface="+mn-ea"/>
              </a:rPr>
              <a:t>成本通常由两大部分组</a:t>
            </a:r>
            <a:r>
              <a:rPr lang="zh-CN" altLang="zh-CN" sz="3200" dirty="0" smtClean="0">
                <a:solidFill>
                  <a:schemeClr val="bg1"/>
                </a:solidFill>
                <a:latin typeface="+mn-ea"/>
              </a:rPr>
              <a:t>成</a:t>
            </a:r>
            <a:endParaRPr lang="zh-CN" altLang="zh-CN" sz="3200" dirty="0">
              <a:solidFill>
                <a:schemeClr val="bg1"/>
              </a:solidFill>
              <a:latin typeface="+mn-ea"/>
            </a:endParaRPr>
          </a:p>
          <a:p>
            <a:pPr marL="914400" lvl="1" indent="-457200">
              <a:buFont typeface="Wingdings" panose="05000000000000000000" pitchFamily="2" charset="2"/>
              <a:buChar char="Ø"/>
            </a:pPr>
            <a:r>
              <a:rPr lang="zh-CN" altLang="zh-CN" sz="3200" b="1" dirty="0" smtClean="0">
                <a:solidFill>
                  <a:schemeClr val="bg1"/>
                </a:solidFill>
                <a:latin typeface="+mn-ea"/>
              </a:rPr>
              <a:t>可见成本</a:t>
            </a:r>
            <a:r>
              <a:rPr lang="zh-CN" altLang="en-US" sz="3200" dirty="0" smtClean="0">
                <a:solidFill>
                  <a:schemeClr val="bg1"/>
                </a:solidFill>
                <a:latin typeface="+mn-ea"/>
              </a:rPr>
              <a:t>：</a:t>
            </a:r>
            <a:r>
              <a:rPr lang="zh-CN" altLang="zh-CN" sz="3200" dirty="0" smtClean="0">
                <a:solidFill>
                  <a:schemeClr val="bg1"/>
                </a:solidFill>
                <a:latin typeface="+mn-ea"/>
              </a:rPr>
              <a:t>采购</a:t>
            </a:r>
            <a:r>
              <a:rPr lang="zh-CN" altLang="zh-CN" sz="3200" dirty="0">
                <a:solidFill>
                  <a:schemeClr val="bg1"/>
                </a:solidFill>
                <a:latin typeface="+mn-ea"/>
              </a:rPr>
              <a:t>计划编制的成本、原材料、半成品或成品成本、采购管理成本、运输成本、验收成本、仓储成本。</a:t>
            </a:r>
          </a:p>
          <a:p>
            <a:pPr marL="914400" lvl="1" indent="-457200">
              <a:buFont typeface="Wingdings" panose="05000000000000000000" pitchFamily="2" charset="2"/>
              <a:buChar char="Ø"/>
            </a:pPr>
            <a:r>
              <a:rPr lang="zh-CN" altLang="zh-CN" sz="3200" b="1" dirty="0" smtClean="0">
                <a:solidFill>
                  <a:schemeClr val="bg1"/>
                </a:solidFill>
                <a:latin typeface="+mn-ea"/>
              </a:rPr>
              <a:t>隐性成本</a:t>
            </a:r>
            <a:r>
              <a:rPr lang="zh-CN" altLang="en-US" sz="3200" dirty="0" smtClean="0">
                <a:solidFill>
                  <a:schemeClr val="bg1"/>
                </a:solidFill>
                <a:latin typeface="+mn-ea"/>
              </a:rPr>
              <a:t>：</a:t>
            </a:r>
            <a:r>
              <a:rPr lang="zh-CN" altLang="zh-CN" sz="3200" dirty="0" smtClean="0">
                <a:solidFill>
                  <a:schemeClr val="bg1"/>
                </a:solidFill>
                <a:latin typeface="+mn-ea"/>
              </a:rPr>
              <a:t>时间</a:t>
            </a:r>
            <a:r>
              <a:rPr lang="zh-CN" altLang="zh-CN" sz="3200" dirty="0">
                <a:solidFill>
                  <a:schemeClr val="bg1"/>
                </a:solidFill>
                <a:latin typeface="+mn-ea"/>
              </a:rPr>
              <a:t>成本、缺货成本、库存积压成本、其他易于被忽视的成本，如劳动力成本、报废成本、保修成本、检查成本、现场故障成本、更换成本等，环境影响、计划外停工时间、风险管理和安全、培训和教育等。</a:t>
            </a:r>
          </a:p>
          <a:p>
            <a:r>
              <a:rPr lang="en-US" altLang="zh-CN" sz="2000" dirty="0" smtClean="0">
                <a:solidFill>
                  <a:schemeClr val="bg1"/>
                </a:solidFill>
                <a:latin typeface="+mn-ea"/>
              </a:rPr>
              <a:t>	</a:t>
            </a:r>
            <a:r>
              <a:rPr lang="zh-CN" altLang="zh-CN" sz="2000" dirty="0" smtClean="0">
                <a:solidFill>
                  <a:schemeClr val="bg1"/>
                </a:solidFill>
                <a:latin typeface="+mn-ea"/>
              </a:rPr>
              <a:t>唐</a:t>
            </a:r>
            <a:r>
              <a:rPr lang="zh-CN" altLang="zh-CN" sz="2000" dirty="0">
                <a:solidFill>
                  <a:schemeClr val="bg1"/>
                </a:solidFill>
                <a:latin typeface="+mn-ea"/>
              </a:rPr>
              <a:t>隆基　潘永刚</a:t>
            </a:r>
            <a:r>
              <a:rPr lang="en-US" altLang="zh-CN" sz="2000" dirty="0">
                <a:solidFill>
                  <a:schemeClr val="bg1"/>
                </a:solidFill>
                <a:latin typeface="+mn-ea"/>
              </a:rPr>
              <a:t>.</a:t>
            </a:r>
            <a:r>
              <a:rPr lang="zh-CN" altLang="zh-CN" sz="2000" dirty="0">
                <a:solidFill>
                  <a:schemeClr val="bg1"/>
                </a:solidFill>
                <a:latin typeface="+mn-ea"/>
              </a:rPr>
              <a:t>数字化供应链：转型升级路线与价值再造实践</a:t>
            </a:r>
            <a:r>
              <a:rPr lang="en-US" altLang="zh-CN" sz="2000" dirty="0">
                <a:solidFill>
                  <a:schemeClr val="bg1"/>
                </a:solidFill>
                <a:latin typeface="+mn-ea"/>
              </a:rPr>
              <a:t>.</a:t>
            </a:r>
            <a:r>
              <a:rPr lang="zh-CN" altLang="zh-CN" sz="2000" dirty="0">
                <a:solidFill>
                  <a:schemeClr val="bg1"/>
                </a:solidFill>
                <a:latin typeface="+mn-ea"/>
              </a:rPr>
              <a:t>人民邮电出版社</a:t>
            </a:r>
            <a:r>
              <a:rPr lang="en-US" altLang="zh-CN" sz="2000" dirty="0">
                <a:solidFill>
                  <a:schemeClr val="bg1"/>
                </a:solidFill>
                <a:latin typeface="+mn-ea"/>
              </a:rPr>
              <a:t>.2021.</a:t>
            </a:r>
            <a:endParaRPr lang="zh-CN" altLang="zh-CN" sz="2000" dirty="0">
              <a:solidFill>
                <a:schemeClr val="bg1"/>
              </a:solidFill>
              <a:latin typeface="+mn-ea"/>
            </a:endParaRPr>
          </a:p>
          <a:p>
            <a:pPr marL="457200" indent="-457200">
              <a:buFont typeface="Wingdings" panose="05000000000000000000" pitchFamily="2" charset="2"/>
              <a:buChar char="n"/>
            </a:pPr>
            <a:r>
              <a:rPr lang="zh-CN" altLang="en-US" sz="3200" b="1" dirty="0" smtClean="0">
                <a:solidFill>
                  <a:schemeClr val="bg1"/>
                </a:solidFill>
                <a:latin typeface="+mn-ea"/>
              </a:rPr>
              <a:t>加工、生产中影响成本的各种隐性因素及其关联？</a:t>
            </a:r>
            <a:endParaRPr lang="zh-CN" altLang="zh-CN" sz="3200" dirty="0">
              <a:solidFill>
                <a:schemeClr val="bg1"/>
              </a:solidFill>
              <a:latin typeface="+mn-ea"/>
            </a:endParaRPr>
          </a:p>
        </p:txBody>
      </p:sp>
    </p:spTree>
    <p:extLst>
      <p:ext uri="{BB962C8B-B14F-4D97-AF65-F5344CB8AC3E}">
        <p14:creationId xmlns:p14="http://schemas.microsoft.com/office/powerpoint/2010/main" val="24660007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511629" y="154676"/>
            <a:ext cx="10591800" cy="1032680"/>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pPr marL="0" lvl="1" algn="ctr"/>
            <a:r>
              <a:rPr lang="zh-CN" altLang="en-US" sz="3200" b="1" dirty="0" smtClean="0">
                <a:solidFill>
                  <a:srgbClr val="FFFF00"/>
                </a:solidFill>
                <a:latin typeface="+mn-ea"/>
              </a:rPr>
              <a:t>不同</a:t>
            </a:r>
            <a:r>
              <a:rPr lang="zh-CN" altLang="zh-CN" sz="3200" b="1" dirty="0" smtClean="0">
                <a:solidFill>
                  <a:srgbClr val="FFFF00"/>
                </a:solidFill>
                <a:latin typeface="+mn-ea"/>
              </a:rPr>
              <a:t>问题空间</a:t>
            </a:r>
            <a:r>
              <a:rPr lang="zh-CN" altLang="en-US" sz="3200" b="1" dirty="0" smtClean="0">
                <a:solidFill>
                  <a:srgbClr val="FFFF00"/>
                </a:solidFill>
                <a:latin typeface="+mn-ea"/>
              </a:rPr>
              <a:t>之间</a:t>
            </a:r>
            <a:r>
              <a:rPr lang="zh-CN" altLang="zh-CN" sz="3200" b="1" dirty="0" smtClean="0">
                <a:solidFill>
                  <a:srgbClr val="FFC000"/>
                </a:solidFill>
                <a:latin typeface="+mn-ea"/>
              </a:rPr>
              <a:t>的关联</a:t>
            </a:r>
            <a:endParaRPr lang="zh-CN" altLang="zh-CN" sz="3200" b="1" dirty="0">
              <a:solidFill>
                <a:srgbClr val="FFC000"/>
              </a:solidFill>
              <a:latin typeface="+mn-ea"/>
            </a:endParaRPr>
          </a:p>
        </p:txBody>
      </p:sp>
      <p:sp>
        <p:nvSpPr>
          <p:cNvPr id="2" name="矩形 1"/>
          <p:cNvSpPr/>
          <p:nvPr/>
        </p:nvSpPr>
        <p:spPr>
          <a:xfrm>
            <a:off x="359391" y="1273792"/>
            <a:ext cx="11532358" cy="4827300"/>
          </a:xfrm>
          <a:prstGeom prst="rect">
            <a:avLst/>
          </a:prstGeom>
          <a:noFill/>
        </p:spPr>
        <p:txBody>
          <a:bodyPr wrap="square" lIns="86694" tIns="43347" rIns="86694" bIns="43347">
            <a:spAutoFit/>
          </a:bodyPr>
          <a:lstStyle/>
          <a:p>
            <a:pPr marL="457200" indent="-457200">
              <a:buFont typeface="Wingdings" panose="05000000000000000000" pitchFamily="2" charset="2"/>
              <a:buChar char="n"/>
            </a:pPr>
            <a:r>
              <a:rPr lang="zh-CN" altLang="zh-CN" sz="2800" dirty="0" smtClean="0">
                <a:solidFill>
                  <a:schemeClr val="bg1"/>
                </a:solidFill>
                <a:latin typeface="+mn-ea"/>
              </a:rPr>
              <a:t>复杂系统</a:t>
            </a:r>
            <a:r>
              <a:rPr lang="zh-CN" altLang="zh-CN" sz="2800" dirty="0">
                <a:solidFill>
                  <a:schemeClr val="bg1"/>
                </a:solidFill>
                <a:latin typeface="+mn-ea"/>
              </a:rPr>
              <a:t>如企业</a:t>
            </a:r>
            <a:r>
              <a:rPr lang="zh-CN" altLang="zh-CN" sz="2800" dirty="0" smtClean="0">
                <a:solidFill>
                  <a:schemeClr val="bg1"/>
                </a:solidFill>
                <a:latin typeface="+mn-ea"/>
              </a:rPr>
              <a:t>，诸多</a:t>
            </a:r>
            <a:r>
              <a:rPr lang="zh-CN" altLang="zh-CN" sz="2800" dirty="0">
                <a:solidFill>
                  <a:schemeClr val="bg1"/>
                </a:solidFill>
                <a:latin typeface="+mn-ea"/>
              </a:rPr>
              <a:t>“问题空间”</a:t>
            </a:r>
            <a:r>
              <a:rPr lang="zh-CN" altLang="zh-CN" sz="2800" dirty="0" smtClean="0">
                <a:solidFill>
                  <a:schemeClr val="bg1"/>
                </a:solidFill>
                <a:latin typeface="+mn-ea"/>
              </a:rPr>
              <a:t>，</a:t>
            </a:r>
            <a:r>
              <a:rPr lang="zh-CN" altLang="en-US" sz="2800" dirty="0" smtClean="0">
                <a:solidFill>
                  <a:schemeClr val="bg1"/>
                </a:solidFill>
                <a:latin typeface="+mn-ea"/>
              </a:rPr>
              <a:t>如采购、成本、加工、节能</a:t>
            </a:r>
            <a:endParaRPr lang="en-US" altLang="zh-CN" sz="2800" dirty="0" smtClean="0">
              <a:solidFill>
                <a:schemeClr val="bg1"/>
              </a:solidFill>
              <a:latin typeface="+mn-ea"/>
            </a:endParaRPr>
          </a:p>
          <a:p>
            <a:pPr marL="457200" indent="-457200">
              <a:buFont typeface="Wingdings" panose="05000000000000000000" pitchFamily="2" charset="2"/>
              <a:buChar char="n"/>
            </a:pPr>
            <a:r>
              <a:rPr lang="zh-CN" altLang="zh-CN" sz="2800" b="1" dirty="0" smtClean="0">
                <a:solidFill>
                  <a:schemeClr val="bg1"/>
                </a:solidFill>
                <a:latin typeface="+mn-ea"/>
              </a:rPr>
              <a:t>“问题空间”</a:t>
            </a:r>
            <a:r>
              <a:rPr lang="zh-CN" altLang="zh-CN" sz="2800" b="1" dirty="0">
                <a:solidFill>
                  <a:schemeClr val="bg1"/>
                </a:solidFill>
                <a:latin typeface="+mn-ea"/>
              </a:rPr>
              <a:t>之间</a:t>
            </a:r>
            <a:r>
              <a:rPr lang="zh-CN" altLang="zh-CN" sz="2800" b="1" dirty="0" smtClean="0">
                <a:solidFill>
                  <a:schemeClr val="bg1"/>
                </a:solidFill>
                <a:latin typeface="+mn-ea"/>
              </a:rPr>
              <a:t>当然存在</a:t>
            </a:r>
            <a:r>
              <a:rPr lang="zh-CN" altLang="zh-CN" sz="2800" b="1" dirty="0">
                <a:solidFill>
                  <a:schemeClr val="bg1"/>
                </a:solidFill>
                <a:latin typeface="+mn-ea"/>
              </a:rPr>
              <a:t>某种关联</a:t>
            </a:r>
            <a:r>
              <a:rPr lang="zh-CN" altLang="zh-CN" sz="2800" dirty="0" smtClean="0">
                <a:solidFill>
                  <a:schemeClr val="bg1"/>
                </a:solidFill>
                <a:latin typeface="+mn-ea"/>
              </a:rPr>
              <a:t>。如成本与加工？</a:t>
            </a:r>
            <a:r>
              <a:rPr lang="zh-CN" altLang="zh-CN" sz="2800" dirty="0">
                <a:solidFill>
                  <a:schemeClr val="bg1"/>
                </a:solidFill>
                <a:latin typeface="+mn-ea"/>
              </a:rPr>
              <a:t>加工的“问题空间”包含机床、夹具、刀具、工件</a:t>
            </a:r>
            <a:r>
              <a:rPr lang="en-US" altLang="zh-CN" sz="2800" dirty="0">
                <a:solidFill>
                  <a:schemeClr val="bg1"/>
                </a:solidFill>
                <a:latin typeface="+mn-ea"/>
              </a:rPr>
              <a:t>……</a:t>
            </a:r>
            <a:r>
              <a:rPr lang="zh-CN" altLang="zh-CN" sz="2800" dirty="0">
                <a:solidFill>
                  <a:schemeClr val="bg1"/>
                </a:solidFill>
                <a:latin typeface="+mn-ea"/>
              </a:rPr>
              <a:t>再进一步考虑一些子问题，如工件材料、加工精度要求、机床主轴转速、进给速度、刀具材料、刀具几何角度、刀具生产厂家</a:t>
            </a:r>
            <a:r>
              <a:rPr lang="en-US" altLang="zh-CN" sz="2800" dirty="0">
                <a:solidFill>
                  <a:schemeClr val="bg1"/>
                </a:solidFill>
                <a:latin typeface="+mn-ea"/>
              </a:rPr>
              <a:t>……</a:t>
            </a:r>
            <a:r>
              <a:rPr lang="zh-CN" altLang="zh-CN" sz="2800" dirty="0">
                <a:solidFill>
                  <a:schemeClr val="bg1"/>
                </a:solidFill>
                <a:latin typeface="+mn-ea"/>
              </a:rPr>
              <a:t>其实这些因素可能与成本有某种细微、隐性的关联，只是通常完全被忽略了</a:t>
            </a:r>
            <a:r>
              <a:rPr lang="zh-CN" altLang="zh-CN" sz="2800" dirty="0" smtClean="0">
                <a:solidFill>
                  <a:schemeClr val="bg1"/>
                </a:solidFill>
                <a:latin typeface="+mn-ea"/>
              </a:rPr>
              <a:t>。</a:t>
            </a:r>
            <a:endParaRPr lang="en-US" altLang="zh-CN" sz="2800" dirty="0" smtClean="0">
              <a:solidFill>
                <a:schemeClr val="bg1"/>
              </a:solidFill>
              <a:latin typeface="+mn-ea"/>
            </a:endParaRPr>
          </a:p>
          <a:p>
            <a:pPr marL="457200" indent="-457200">
              <a:buFont typeface="Wingdings" panose="05000000000000000000" pitchFamily="2" charset="2"/>
              <a:buChar char="n"/>
            </a:pPr>
            <a:r>
              <a:rPr lang="zh-CN" altLang="en-US" sz="2800" dirty="0" smtClean="0">
                <a:solidFill>
                  <a:schemeClr val="bg1"/>
                </a:solidFill>
                <a:latin typeface="+mn-ea"/>
              </a:rPr>
              <a:t>有数字</a:t>
            </a:r>
            <a:r>
              <a:rPr lang="en-US" altLang="zh-CN" sz="2800" dirty="0" smtClean="0">
                <a:solidFill>
                  <a:schemeClr val="bg1"/>
                </a:solidFill>
                <a:latin typeface="+mn-ea"/>
              </a:rPr>
              <a:t>-</a:t>
            </a:r>
            <a:r>
              <a:rPr lang="zh-CN" altLang="zh-CN" sz="2800" dirty="0" smtClean="0">
                <a:solidFill>
                  <a:schemeClr val="bg1"/>
                </a:solidFill>
                <a:latin typeface="+mn-ea"/>
              </a:rPr>
              <a:t>智能工具</a:t>
            </a:r>
            <a:r>
              <a:rPr lang="zh-CN" altLang="en-US" sz="2800" dirty="0" smtClean="0">
                <a:solidFill>
                  <a:schemeClr val="bg1"/>
                </a:solidFill>
                <a:latin typeface="+mn-ea"/>
              </a:rPr>
              <a:t>，使人们能够考虑复杂关联</a:t>
            </a:r>
            <a:endParaRPr lang="en-US" altLang="zh-CN" sz="2800" dirty="0" smtClean="0">
              <a:solidFill>
                <a:schemeClr val="bg1"/>
              </a:solidFill>
              <a:latin typeface="+mn-ea"/>
            </a:endParaRPr>
          </a:p>
          <a:p>
            <a:pPr marL="457200" indent="-457200">
              <a:buFont typeface="Wingdings" panose="05000000000000000000" pitchFamily="2" charset="2"/>
              <a:buChar char="n"/>
            </a:pPr>
            <a:r>
              <a:rPr lang="zh-CN" altLang="zh-CN" sz="2800" dirty="0" smtClean="0">
                <a:solidFill>
                  <a:schemeClr val="bg1"/>
                </a:solidFill>
                <a:latin typeface="+mn-ea"/>
              </a:rPr>
              <a:t>有时候</a:t>
            </a:r>
            <a:r>
              <a:rPr lang="zh-CN" altLang="zh-CN" sz="2800" b="1" dirty="0">
                <a:solidFill>
                  <a:schemeClr val="bg1"/>
                </a:solidFill>
                <a:latin typeface="+mn-ea"/>
              </a:rPr>
              <a:t>看似完全不同的领域，其问题空间之间可能存在关联</a:t>
            </a:r>
            <a:r>
              <a:rPr lang="zh-CN" altLang="zh-CN" sz="2800" dirty="0">
                <a:solidFill>
                  <a:schemeClr val="bg1"/>
                </a:solidFill>
                <a:latin typeface="+mn-ea"/>
              </a:rPr>
              <a:t>。如城市中，</a:t>
            </a:r>
            <a:r>
              <a:rPr lang="zh-CN" altLang="zh-CN" sz="2800" b="1" dirty="0">
                <a:solidFill>
                  <a:schemeClr val="bg1"/>
                </a:solidFill>
                <a:latin typeface="+mn-ea"/>
              </a:rPr>
              <a:t>通讯、交通、电力等问题空间之间存在关联</a:t>
            </a:r>
            <a:r>
              <a:rPr lang="zh-CN" altLang="zh-CN" sz="2800" dirty="0">
                <a:solidFill>
                  <a:schemeClr val="bg1"/>
                </a:solidFill>
                <a:latin typeface="+mn-ea"/>
              </a:rPr>
              <a:t>，因此融合移动通讯、交通、电力等方面的数据，有助于发现一些隐性的关联，从而提升城市的运行效率。</a:t>
            </a:r>
          </a:p>
        </p:txBody>
      </p:sp>
    </p:spTree>
    <p:extLst>
      <p:ext uri="{BB962C8B-B14F-4D97-AF65-F5344CB8AC3E}">
        <p14:creationId xmlns:p14="http://schemas.microsoft.com/office/powerpoint/2010/main" val="11934449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511629" y="154676"/>
            <a:ext cx="10591800" cy="783021"/>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pPr marL="0" lvl="1" algn="ctr"/>
            <a:r>
              <a:rPr lang="zh-CN" altLang="en-US" sz="3200" b="1" dirty="0" smtClean="0">
                <a:solidFill>
                  <a:srgbClr val="FFC000"/>
                </a:solidFill>
              </a:rPr>
              <a:t>学生</a:t>
            </a:r>
            <a:r>
              <a:rPr lang="zh-CN" altLang="zh-CN" sz="3200" b="1" dirty="0" smtClean="0">
                <a:solidFill>
                  <a:srgbClr val="FFC000"/>
                </a:solidFill>
              </a:rPr>
              <a:t>之间</a:t>
            </a:r>
            <a:r>
              <a:rPr lang="zh-CN" altLang="zh-CN" sz="3200" b="1" dirty="0">
                <a:solidFill>
                  <a:srgbClr val="FFC000"/>
                </a:solidFill>
              </a:rPr>
              <a:t>的</a:t>
            </a:r>
            <a:r>
              <a:rPr lang="zh-CN" altLang="zh-CN" sz="3200" b="1" dirty="0" smtClean="0">
                <a:solidFill>
                  <a:srgbClr val="FFC000"/>
                </a:solidFill>
              </a:rPr>
              <a:t>“问题互联”</a:t>
            </a:r>
            <a:endParaRPr lang="zh-CN" altLang="zh-CN" sz="3200" b="1" dirty="0">
              <a:solidFill>
                <a:srgbClr val="FFC000"/>
              </a:solidFill>
            </a:endParaRPr>
          </a:p>
        </p:txBody>
      </p:sp>
      <p:sp>
        <p:nvSpPr>
          <p:cNvPr id="2" name="矩形 1"/>
          <p:cNvSpPr/>
          <p:nvPr/>
        </p:nvSpPr>
        <p:spPr>
          <a:xfrm>
            <a:off x="395785" y="1260143"/>
            <a:ext cx="11304896" cy="4673411"/>
          </a:xfrm>
          <a:prstGeom prst="rect">
            <a:avLst/>
          </a:prstGeom>
          <a:noFill/>
        </p:spPr>
        <p:txBody>
          <a:bodyPr wrap="square" lIns="86694" tIns="43347" rIns="86694" bIns="43347">
            <a:spAutoFit/>
          </a:bodyPr>
          <a:lstStyle/>
          <a:p>
            <a:pPr marL="457200" indent="-457200">
              <a:buFont typeface="Wingdings" panose="05000000000000000000" pitchFamily="2" charset="2"/>
              <a:buChar char="n"/>
            </a:pPr>
            <a:r>
              <a:rPr lang="zh-CN" altLang="zh-CN" sz="2800" dirty="0" smtClean="0">
                <a:solidFill>
                  <a:schemeClr val="bg1"/>
                </a:solidFill>
              </a:rPr>
              <a:t>每</a:t>
            </a:r>
            <a:r>
              <a:rPr lang="zh-CN" altLang="zh-CN" sz="2800" dirty="0">
                <a:solidFill>
                  <a:schemeClr val="bg1"/>
                </a:solidFill>
              </a:rPr>
              <a:t>一个学生关注的问题不一样，进行问题关联的过程也不同</a:t>
            </a:r>
            <a:r>
              <a:rPr lang="zh-CN" altLang="zh-CN" sz="2800" dirty="0" smtClean="0">
                <a:solidFill>
                  <a:schemeClr val="bg1"/>
                </a:solidFill>
              </a:rPr>
              <a:t>。人类</a:t>
            </a:r>
            <a:r>
              <a:rPr lang="zh-CN" altLang="zh-CN" sz="2800" dirty="0">
                <a:solidFill>
                  <a:schemeClr val="bg1"/>
                </a:solidFill>
              </a:rPr>
              <a:t>是唯一一种能够利用过去的知识和创新去创造的动物。 </a:t>
            </a:r>
            <a:r>
              <a:rPr lang="zh-CN" altLang="zh-CN" sz="2800" b="1" dirty="0">
                <a:solidFill>
                  <a:schemeClr val="bg1"/>
                </a:solidFill>
              </a:rPr>
              <a:t>人类可以交流、 学习、 改进旧观念、 交换灵感和洞察力，</a:t>
            </a:r>
            <a:r>
              <a:rPr lang="zh-CN" altLang="zh-CN" sz="2800" b="1" dirty="0" smtClean="0">
                <a:solidFill>
                  <a:schemeClr val="bg1"/>
                </a:solidFill>
              </a:rPr>
              <a:t>动物</a:t>
            </a:r>
            <a:r>
              <a:rPr lang="zh-CN" altLang="en-US" sz="2800" b="1" dirty="0">
                <a:solidFill>
                  <a:schemeClr val="bg1"/>
                </a:solidFill>
              </a:rPr>
              <a:t>不能</a:t>
            </a:r>
            <a:r>
              <a:rPr lang="zh-CN" altLang="zh-CN" sz="2800" dirty="0" smtClean="0">
                <a:solidFill>
                  <a:schemeClr val="bg1"/>
                </a:solidFill>
              </a:rPr>
              <a:t>。这种</a:t>
            </a:r>
            <a:r>
              <a:rPr lang="zh-CN" altLang="zh-CN" sz="2800" dirty="0">
                <a:solidFill>
                  <a:schemeClr val="bg1"/>
                </a:solidFill>
              </a:rPr>
              <a:t>文化累积的过程（会有相对较少的丢失） 称为“</a:t>
            </a:r>
            <a:r>
              <a:rPr lang="zh-CN" altLang="zh-CN" sz="2800" b="1" dirty="0">
                <a:solidFill>
                  <a:srgbClr val="FFC000"/>
                </a:solidFill>
              </a:rPr>
              <a:t>文化棘轮效应</a:t>
            </a:r>
            <a:r>
              <a:rPr lang="zh-CN" altLang="zh-CN" sz="2800" dirty="0">
                <a:solidFill>
                  <a:schemeClr val="bg1"/>
                </a:solidFill>
              </a:rPr>
              <a:t>”</a:t>
            </a:r>
            <a:r>
              <a:rPr lang="zh-CN" altLang="zh-CN" sz="2800" dirty="0" smtClean="0">
                <a:solidFill>
                  <a:schemeClr val="bg1"/>
                </a:solidFill>
              </a:rPr>
              <a:t>。</a:t>
            </a:r>
            <a:endParaRPr lang="en-US" altLang="zh-CN" sz="2800" dirty="0" smtClean="0">
              <a:solidFill>
                <a:schemeClr val="bg1"/>
              </a:solidFill>
            </a:endParaRPr>
          </a:p>
          <a:p>
            <a:pPr marL="457200" indent="-457200">
              <a:buFont typeface="Wingdings" panose="05000000000000000000" pitchFamily="2" charset="2"/>
              <a:buChar char="n"/>
            </a:pPr>
            <a:r>
              <a:rPr lang="zh-CN" altLang="zh-CN" sz="2800" dirty="0" smtClean="0">
                <a:solidFill>
                  <a:schemeClr val="bg1"/>
                </a:solidFill>
              </a:rPr>
              <a:t>贝尔</a:t>
            </a:r>
            <a:r>
              <a:rPr lang="zh-CN" altLang="zh-CN" sz="2800" dirty="0">
                <a:solidFill>
                  <a:schemeClr val="bg1"/>
                </a:solidFill>
              </a:rPr>
              <a:t>实验室意识到那些和一群不同领域知识分子出差的人更容易构想出新的创新。正如进化遗传学家马克·托马斯所言： “</a:t>
            </a:r>
            <a:r>
              <a:rPr lang="zh-CN" altLang="zh-CN" sz="2800" b="1" dirty="0">
                <a:solidFill>
                  <a:schemeClr val="bg1"/>
                </a:solidFill>
              </a:rPr>
              <a:t>并不是需要你有多聪明， 而是要看你的交际范围有多广。</a:t>
            </a:r>
            <a:r>
              <a:rPr lang="zh-CN" altLang="zh-CN" sz="2800" dirty="0">
                <a:solidFill>
                  <a:schemeClr val="bg1"/>
                </a:solidFill>
              </a:rPr>
              <a:t> </a:t>
            </a:r>
            <a:r>
              <a:rPr lang="zh-CN" altLang="zh-CN" sz="2800" dirty="0" smtClean="0">
                <a:solidFill>
                  <a:schemeClr val="bg1"/>
                </a:solidFill>
              </a:rPr>
              <a:t>”</a:t>
            </a:r>
            <a:r>
              <a:rPr lang="zh-CN" altLang="zh-CN" dirty="0">
                <a:solidFill>
                  <a:schemeClr val="bg1"/>
                </a:solidFill>
                <a:latin typeface="+mn-ea"/>
              </a:rPr>
              <a:t>伦纳德·蒙洛迪诺著； 龚瑞译</a:t>
            </a:r>
            <a:r>
              <a:rPr lang="en-US" altLang="zh-CN" dirty="0">
                <a:solidFill>
                  <a:schemeClr val="bg1"/>
                </a:solidFill>
                <a:latin typeface="+mn-ea"/>
              </a:rPr>
              <a:t>. </a:t>
            </a:r>
            <a:r>
              <a:rPr lang="zh-CN" altLang="zh-CN" dirty="0">
                <a:solidFill>
                  <a:schemeClr val="bg1"/>
                </a:solidFill>
                <a:latin typeface="+mn-ea"/>
              </a:rPr>
              <a:t>思维简史： 从丛林到宇宙</a:t>
            </a:r>
            <a:r>
              <a:rPr lang="en-US" altLang="zh-CN" dirty="0">
                <a:solidFill>
                  <a:schemeClr val="bg1"/>
                </a:solidFill>
                <a:latin typeface="+mn-ea"/>
              </a:rPr>
              <a:t>.</a:t>
            </a:r>
            <a:r>
              <a:rPr lang="zh-CN" altLang="zh-CN" dirty="0">
                <a:solidFill>
                  <a:schemeClr val="bg1"/>
                </a:solidFill>
                <a:latin typeface="+mn-ea"/>
              </a:rPr>
              <a:t>中信出版社，</a:t>
            </a:r>
            <a:r>
              <a:rPr lang="en-US" altLang="zh-CN" dirty="0">
                <a:solidFill>
                  <a:schemeClr val="bg1"/>
                </a:solidFill>
                <a:latin typeface="+mn-ea"/>
              </a:rPr>
              <a:t>2018. pp.36-38.</a:t>
            </a:r>
            <a:endParaRPr lang="en-US" altLang="zh-CN" sz="2800" dirty="0" smtClean="0">
              <a:solidFill>
                <a:schemeClr val="bg1"/>
              </a:solidFill>
              <a:latin typeface="+mn-ea"/>
            </a:endParaRPr>
          </a:p>
          <a:p>
            <a:pPr marL="457200" indent="-457200">
              <a:buFont typeface="Wingdings" panose="05000000000000000000" pitchFamily="2" charset="2"/>
              <a:buChar char="n"/>
            </a:pPr>
            <a:r>
              <a:rPr lang="zh-CN" altLang="zh-CN" sz="2800" dirty="0" smtClean="0">
                <a:solidFill>
                  <a:schemeClr val="bg1"/>
                </a:solidFill>
              </a:rPr>
              <a:t>互联</a:t>
            </a:r>
            <a:r>
              <a:rPr lang="zh-CN" altLang="zh-CN" sz="2800" dirty="0">
                <a:solidFill>
                  <a:schemeClr val="bg1"/>
                </a:solidFill>
              </a:rPr>
              <a:t>性是文化棘轮效应中一个关键的运行</a:t>
            </a:r>
            <a:r>
              <a:rPr lang="zh-CN" altLang="zh-CN" sz="2800" dirty="0" smtClean="0">
                <a:solidFill>
                  <a:schemeClr val="bg1"/>
                </a:solidFill>
              </a:rPr>
              <a:t>机制</a:t>
            </a:r>
            <a:endParaRPr lang="en-US" altLang="zh-CN" sz="2800" dirty="0" smtClean="0">
              <a:solidFill>
                <a:schemeClr val="bg1"/>
              </a:solidFill>
            </a:endParaRPr>
          </a:p>
          <a:p>
            <a:pPr marL="457200" indent="-457200">
              <a:buFont typeface="Wingdings" panose="05000000000000000000" pitchFamily="2" charset="2"/>
              <a:buChar char="n"/>
            </a:pPr>
            <a:r>
              <a:rPr lang="zh-CN" altLang="zh-CN" sz="2800" b="1" dirty="0">
                <a:solidFill>
                  <a:schemeClr val="bg1"/>
                </a:solidFill>
              </a:rPr>
              <a:t>如何引导学生之间的“问题互联”？构建什么样的有利于学生“问题互联”</a:t>
            </a:r>
            <a:r>
              <a:rPr lang="zh-CN" altLang="zh-CN" sz="2800" b="1" dirty="0" smtClean="0">
                <a:solidFill>
                  <a:schemeClr val="bg1"/>
                </a:solidFill>
              </a:rPr>
              <a:t>的学习</a:t>
            </a:r>
            <a:r>
              <a:rPr lang="zh-CN" altLang="zh-CN" sz="2800" b="1" dirty="0">
                <a:solidFill>
                  <a:schemeClr val="bg1"/>
                </a:solidFill>
              </a:rPr>
              <a:t>环境</a:t>
            </a:r>
            <a:r>
              <a:rPr lang="zh-CN" altLang="zh-CN" sz="2800" b="1" dirty="0" smtClean="0">
                <a:solidFill>
                  <a:schemeClr val="bg1"/>
                </a:solidFill>
              </a:rPr>
              <a:t>（</a:t>
            </a:r>
            <a:r>
              <a:rPr lang="zh-CN" altLang="en-US" sz="2800" b="1" dirty="0" smtClean="0">
                <a:solidFill>
                  <a:schemeClr val="bg1"/>
                </a:solidFill>
              </a:rPr>
              <a:t>包括讨论课、课题，以及</a:t>
            </a:r>
            <a:r>
              <a:rPr lang="zh-CN" altLang="zh-CN" sz="2800" b="1" dirty="0" smtClean="0">
                <a:solidFill>
                  <a:schemeClr val="bg1"/>
                </a:solidFill>
              </a:rPr>
              <a:t>虚拟</a:t>
            </a:r>
            <a:r>
              <a:rPr lang="zh-CN" altLang="zh-CN" sz="2800" b="1" dirty="0">
                <a:solidFill>
                  <a:schemeClr val="bg1"/>
                </a:solidFill>
              </a:rPr>
              <a:t>平台）</a:t>
            </a:r>
            <a:r>
              <a:rPr lang="zh-CN" altLang="zh-CN" sz="2800" b="1" dirty="0" smtClean="0">
                <a:solidFill>
                  <a:schemeClr val="bg1"/>
                </a:solidFill>
              </a:rPr>
              <a:t>？</a:t>
            </a:r>
            <a:endParaRPr lang="en-US" altLang="zh-CN" sz="2800" b="1" dirty="0" smtClean="0">
              <a:solidFill>
                <a:schemeClr val="bg1"/>
              </a:solidFill>
            </a:endParaRPr>
          </a:p>
        </p:txBody>
      </p:sp>
    </p:spTree>
    <p:extLst>
      <p:ext uri="{BB962C8B-B14F-4D97-AF65-F5344CB8AC3E}">
        <p14:creationId xmlns:p14="http://schemas.microsoft.com/office/powerpoint/2010/main" val="16146266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511629" y="397330"/>
            <a:ext cx="10591800" cy="865414"/>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pPr marL="0" lvl="1" algn="ctr"/>
            <a:r>
              <a:rPr lang="zh-CN" altLang="en-US" sz="3200" b="1" dirty="0" smtClean="0">
                <a:solidFill>
                  <a:srgbClr val="FFFF00"/>
                </a:solidFill>
                <a:latin typeface="微软雅黑" panose="020B0503020204020204" pitchFamily="34" charset="-122"/>
                <a:ea typeface="微软雅黑" panose="020B0503020204020204" pitchFamily="34" charset="-122"/>
              </a:rPr>
              <a:t>提示</a:t>
            </a:r>
            <a:r>
              <a:rPr lang="en-US" altLang="zh-CN" sz="3200" b="1" dirty="0" smtClean="0">
                <a:solidFill>
                  <a:srgbClr val="FFFF00"/>
                </a:solidFill>
                <a:latin typeface="微软雅黑" panose="020B0503020204020204" pitchFamily="34" charset="-122"/>
                <a:ea typeface="微软雅黑" panose="020B0503020204020204" pitchFamily="34" charset="-122"/>
              </a:rPr>
              <a:t>/</a:t>
            </a:r>
            <a:r>
              <a:rPr lang="zh-CN" altLang="en-US" sz="3200" b="1" dirty="0" smtClean="0">
                <a:solidFill>
                  <a:srgbClr val="FFFF00"/>
                </a:solidFill>
                <a:latin typeface="微软雅黑" panose="020B0503020204020204" pitchFamily="34" charset="-122"/>
                <a:ea typeface="微软雅黑" panose="020B0503020204020204" pitchFamily="34" charset="-122"/>
              </a:rPr>
              <a:t>提问</a:t>
            </a:r>
            <a:endParaRPr lang="en-US" altLang="zh-CN" sz="3200" b="1" dirty="0">
              <a:solidFill>
                <a:srgbClr val="FFFF00"/>
              </a:solidFill>
              <a:latin typeface="+mn-ea"/>
            </a:endParaRPr>
          </a:p>
        </p:txBody>
      </p:sp>
      <p:sp>
        <p:nvSpPr>
          <p:cNvPr id="2" name="矩形 1"/>
          <p:cNvSpPr/>
          <p:nvPr/>
        </p:nvSpPr>
        <p:spPr>
          <a:xfrm>
            <a:off x="573206" y="1746913"/>
            <a:ext cx="11145672" cy="3842415"/>
          </a:xfrm>
          <a:prstGeom prst="rect">
            <a:avLst/>
          </a:prstGeom>
          <a:noFill/>
        </p:spPr>
        <p:txBody>
          <a:bodyPr wrap="square" lIns="86694" tIns="43347" rIns="86694" bIns="43347">
            <a:spAutoFit/>
          </a:bodyPr>
          <a:lstStyle/>
          <a:p>
            <a:pPr marL="457200" indent="-457200">
              <a:buFont typeface="Wingdings" panose="05000000000000000000" pitchFamily="2" charset="2"/>
              <a:buChar char="n"/>
            </a:pPr>
            <a:r>
              <a:rPr lang="zh-CN" altLang="en-US" sz="3200" dirty="0" smtClean="0">
                <a:solidFill>
                  <a:schemeClr val="bg1"/>
                </a:solidFill>
                <a:latin typeface="+mn-ea"/>
              </a:rPr>
              <a:t>提示工程师（</a:t>
            </a:r>
            <a:r>
              <a:rPr lang="en-US" altLang="zh-CN" sz="3200" dirty="0" smtClean="0">
                <a:solidFill>
                  <a:schemeClr val="bg1"/>
                </a:solidFill>
                <a:latin typeface="+mn-ea"/>
              </a:rPr>
              <a:t>Prompt engineer</a:t>
            </a:r>
            <a:r>
              <a:rPr lang="zh-CN" altLang="en-US" sz="3200" dirty="0" smtClean="0">
                <a:solidFill>
                  <a:schemeClr val="bg1"/>
                </a:solidFill>
                <a:latin typeface="+mn-ea"/>
              </a:rPr>
              <a:t>）</a:t>
            </a:r>
            <a:endParaRPr lang="en-US" altLang="zh-CN" sz="3200" dirty="0" smtClean="0">
              <a:solidFill>
                <a:schemeClr val="bg1"/>
              </a:solidFill>
              <a:latin typeface="+mn-ea"/>
            </a:endParaRPr>
          </a:p>
          <a:p>
            <a:pPr marL="457200" indent="-457200">
              <a:buFont typeface="Wingdings" panose="05000000000000000000" pitchFamily="2" charset="2"/>
              <a:buChar char="n"/>
            </a:pPr>
            <a:r>
              <a:rPr lang="zh-CN" altLang="zh-CN" sz="3200" dirty="0" smtClean="0">
                <a:solidFill>
                  <a:schemeClr val="bg1"/>
                </a:solidFill>
                <a:latin typeface="+mn-ea"/>
              </a:rPr>
              <a:t>提问</a:t>
            </a:r>
            <a:r>
              <a:rPr lang="zh-CN" altLang="zh-CN" sz="3200" dirty="0">
                <a:solidFill>
                  <a:schemeClr val="bg1"/>
                </a:solidFill>
                <a:latin typeface="+mn-ea"/>
              </a:rPr>
              <a:t>与解决问题过程中所需做出的决定是相辅相成的</a:t>
            </a:r>
            <a:r>
              <a:rPr lang="zh-CN" altLang="zh-CN" sz="3200" dirty="0" smtClean="0">
                <a:solidFill>
                  <a:schemeClr val="bg1"/>
                </a:solidFill>
                <a:latin typeface="+mn-ea"/>
              </a:rPr>
              <a:t>关系</a:t>
            </a:r>
            <a:endParaRPr lang="en-US" altLang="zh-CN" sz="3200" dirty="0" smtClean="0">
              <a:solidFill>
                <a:schemeClr val="bg1"/>
              </a:solidFill>
              <a:latin typeface="+mn-ea"/>
            </a:endParaRPr>
          </a:p>
          <a:p>
            <a:pPr marL="457200" indent="-457200">
              <a:buFont typeface="Wingdings" panose="05000000000000000000" pitchFamily="2" charset="2"/>
              <a:buChar char="n"/>
            </a:pPr>
            <a:r>
              <a:rPr lang="zh-CN" altLang="zh-CN" sz="3200" dirty="0" smtClean="0">
                <a:solidFill>
                  <a:schemeClr val="bg1"/>
                </a:solidFill>
                <a:latin typeface="+mn-ea"/>
              </a:rPr>
              <a:t>提问</a:t>
            </a:r>
            <a:r>
              <a:rPr lang="zh-CN" altLang="zh-CN" sz="3200" dirty="0">
                <a:solidFill>
                  <a:schemeClr val="bg1"/>
                </a:solidFill>
                <a:latin typeface="+mn-ea"/>
              </a:rPr>
              <a:t>看似简单，其实是一种</a:t>
            </a:r>
            <a:r>
              <a:rPr lang="zh-CN" altLang="zh-CN" sz="3200" b="1" dirty="0">
                <a:solidFill>
                  <a:schemeClr val="bg1"/>
                </a:solidFill>
                <a:latin typeface="+mn-ea"/>
              </a:rPr>
              <a:t>高级的元认知</a:t>
            </a:r>
            <a:r>
              <a:rPr lang="zh-CN" altLang="zh-CN" sz="3200" b="1" dirty="0" smtClean="0">
                <a:solidFill>
                  <a:schemeClr val="bg1"/>
                </a:solidFill>
                <a:latin typeface="+mn-ea"/>
              </a:rPr>
              <a:t>思维</a:t>
            </a:r>
            <a:r>
              <a:rPr lang="zh-CN" altLang="zh-CN" sz="3200" dirty="0" smtClean="0">
                <a:solidFill>
                  <a:schemeClr val="bg1"/>
                </a:solidFill>
                <a:latin typeface="+mn-ea"/>
              </a:rPr>
              <a:t>，</a:t>
            </a:r>
            <a:r>
              <a:rPr lang="zh-CN" altLang="zh-CN" sz="3200" dirty="0">
                <a:solidFill>
                  <a:schemeClr val="bg1"/>
                </a:solidFill>
                <a:latin typeface="+mn-ea"/>
              </a:rPr>
              <a:t>它能够引导人们去推理。可以说，提问是解决几乎所有复杂问题的核心</a:t>
            </a:r>
            <a:r>
              <a:rPr lang="zh-CN" altLang="zh-CN" sz="3200" dirty="0" smtClean="0">
                <a:solidFill>
                  <a:schemeClr val="bg1"/>
                </a:solidFill>
                <a:latin typeface="+mn-ea"/>
              </a:rPr>
              <a:t>。</a:t>
            </a:r>
            <a:r>
              <a:rPr lang="zh-CN" altLang="zh-CN" sz="2000" dirty="0">
                <a:solidFill>
                  <a:schemeClr val="bg1"/>
                </a:solidFill>
                <a:latin typeface="+mn-ea"/>
              </a:rPr>
              <a:t>泰普洛领导力</a:t>
            </a:r>
            <a:r>
              <a:rPr lang="en-US" altLang="zh-CN" sz="2000" dirty="0">
                <a:solidFill>
                  <a:schemeClr val="bg1"/>
                </a:solidFill>
                <a:latin typeface="+mn-ea"/>
              </a:rPr>
              <a:t>.</a:t>
            </a:r>
            <a:r>
              <a:rPr lang="en-US" altLang="zh-CN" sz="2000" dirty="0" err="1">
                <a:solidFill>
                  <a:schemeClr val="bg1"/>
                </a:solidFill>
                <a:latin typeface="+mn-ea"/>
              </a:rPr>
              <a:t>ChatGPT</a:t>
            </a:r>
            <a:r>
              <a:rPr lang="zh-CN" altLang="zh-CN" sz="2000" dirty="0">
                <a:solidFill>
                  <a:schemeClr val="bg1"/>
                </a:solidFill>
                <a:latin typeface="+mn-ea"/>
              </a:rPr>
              <a:t>时代：提对问题，比给出答案更重要</a:t>
            </a:r>
            <a:r>
              <a:rPr lang="en-US" altLang="zh-CN" sz="2000" dirty="0">
                <a:solidFill>
                  <a:schemeClr val="bg1"/>
                </a:solidFill>
                <a:latin typeface="+mn-ea"/>
              </a:rPr>
              <a:t>.THINKTANK</a:t>
            </a:r>
            <a:r>
              <a:rPr lang="zh-CN" altLang="zh-CN" sz="2000" dirty="0">
                <a:solidFill>
                  <a:schemeClr val="bg1"/>
                </a:solidFill>
                <a:latin typeface="+mn-ea"/>
              </a:rPr>
              <a:t>新智囊</a:t>
            </a:r>
            <a:r>
              <a:rPr lang="en-US" altLang="zh-CN" sz="2000" dirty="0">
                <a:solidFill>
                  <a:schemeClr val="bg1"/>
                </a:solidFill>
                <a:latin typeface="+mn-ea"/>
              </a:rPr>
              <a:t>, 2023-05-14</a:t>
            </a:r>
            <a:r>
              <a:rPr lang="en-US" altLang="zh-CN" sz="2000" dirty="0" smtClean="0">
                <a:solidFill>
                  <a:schemeClr val="bg1"/>
                </a:solidFill>
                <a:latin typeface="+mn-ea"/>
              </a:rPr>
              <a:t>.</a:t>
            </a:r>
          </a:p>
          <a:p>
            <a:pPr marL="457200" indent="-457200">
              <a:buFont typeface="Wingdings" panose="05000000000000000000" pitchFamily="2" charset="2"/>
              <a:buChar char="n"/>
            </a:pPr>
            <a:r>
              <a:rPr lang="en-US" altLang="zh-CN" sz="3200" b="1" dirty="0">
                <a:solidFill>
                  <a:schemeClr val="bg1"/>
                </a:solidFill>
                <a:latin typeface="+mn-ea"/>
              </a:rPr>
              <a:t>AI</a:t>
            </a:r>
            <a:r>
              <a:rPr lang="zh-CN" altLang="en-US" sz="3200" b="1" dirty="0">
                <a:solidFill>
                  <a:schemeClr val="bg1"/>
                </a:solidFill>
                <a:latin typeface="+mn-ea"/>
              </a:rPr>
              <a:t>时代，</a:t>
            </a:r>
            <a:r>
              <a:rPr lang="zh-CN" altLang="en-US" sz="3200" b="1" dirty="0">
                <a:solidFill>
                  <a:srgbClr val="FFC000"/>
                </a:solidFill>
                <a:latin typeface="+mn-ea"/>
              </a:rPr>
              <a:t>提示、提问</a:t>
            </a:r>
            <a:r>
              <a:rPr lang="en-US" altLang="zh-CN" sz="3200" b="1" dirty="0">
                <a:solidFill>
                  <a:srgbClr val="FFC000"/>
                </a:solidFill>
                <a:latin typeface="+mn-ea"/>
              </a:rPr>
              <a:t>——</a:t>
            </a:r>
            <a:r>
              <a:rPr lang="zh-CN" altLang="en-US" sz="3200" b="1" dirty="0">
                <a:solidFill>
                  <a:srgbClr val="FFC000"/>
                </a:solidFill>
                <a:latin typeface="+mn-ea"/>
              </a:rPr>
              <a:t>能力的迁移和超越</a:t>
            </a:r>
          </a:p>
          <a:p>
            <a:r>
              <a:rPr lang="en-US" altLang="zh-CN" sz="3200" b="1" dirty="0" smtClean="0">
                <a:solidFill>
                  <a:schemeClr val="bg1"/>
                </a:solidFill>
                <a:latin typeface="+mn-ea"/>
                <a:sym typeface="Wingdings" panose="05000000000000000000" pitchFamily="2" charset="2"/>
              </a:rPr>
              <a:t></a:t>
            </a:r>
            <a:r>
              <a:rPr lang="zh-CN" altLang="en-US" sz="3200" b="1" dirty="0" smtClean="0">
                <a:solidFill>
                  <a:schemeClr val="bg1"/>
                </a:solidFill>
                <a:latin typeface="+mn-ea"/>
                <a:sym typeface="Wingdings" panose="05000000000000000000" pitchFamily="2" charset="2"/>
              </a:rPr>
              <a:t>未来工程师的水平的重要体现之一</a:t>
            </a:r>
            <a:r>
              <a:rPr lang="en-US" altLang="zh-CN" sz="3200" b="1" dirty="0" smtClean="0">
                <a:solidFill>
                  <a:schemeClr val="bg1"/>
                </a:solidFill>
                <a:latin typeface="+mn-ea"/>
                <a:sym typeface="Wingdings" panose="05000000000000000000" pitchFamily="2" charset="2"/>
              </a:rPr>
              <a:t>——</a:t>
            </a:r>
            <a:r>
              <a:rPr lang="zh-CN" altLang="en-US" sz="3200" b="1" dirty="0" smtClean="0">
                <a:solidFill>
                  <a:schemeClr val="bg1"/>
                </a:solidFill>
                <a:latin typeface="+mn-ea"/>
                <a:sym typeface="Wingdings" panose="05000000000000000000" pitchFamily="2" charset="2"/>
              </a:rPr>
              <a:t>提示、提问能力！</a:t>
            </a:r>
            <a:endParaRPr lang="zh-CN" altLang="en-US" sz="3200" b="1" dirty="0">
              <a:solidFill>
                <a:schemeClr val="bg1"/>
              </a:solidFill>
              <a:latin typeface="+mn-ea"/>
            </a:endParaRPr>
          </a:p>
        </p:txBody>
      </p:sp>
    </p:spTree>
    <p:extLst>
      <p:ext uri="{BB962C8B-B14F-4D97-AF65-F5344CB8AC3E}">
        <p14:creationId xmlns:p14="http://schemas.microsoft.com/office/powerpoint/2010/main" val="243769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511629" y="154676"/>
            <a:ext cx="10591800" cy="928046"/>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pPr marL="0" lvl="1" algn="ctr"/>
            <a:r>
              <a:rPr lang="zh-CN" altLang="zh-CN" sz="3200" b="1" dirty="0">
                <a:solidFill>
                  <a:srgbClr val="FFC000"/>
                </a:solidFill>
                <a:latin typeface="+mn-ea"/>
              </a:rPr>
              <a:t>思维链</a:t>
            </a:r>
            <a:r>
              <a:rPr lang="en-US" altLang="zh-CN" sz="3200" b="1" dirty="0">
                <a:solidFill>
                  <a:srgbClr val="FFC000"/>
                </a:solidFill>
                <a:latin typeface="+mn-ea"/>
              </a:rPr>
              <a:t>(Chain of Thought)</a:t>
            </a:r>
            <a:r>
              <a:rPr lang="zh-CN" altLang="zh-CN" sz="3200" b="1" dirty="0">
                <a:solidFill>
                  <a:srgbClr val="FFC000"/>
                </a:solidFill>
                <a:latin typeface="+mn-ea"/>
              </a:rPr>
              <a:t>提示</a:t>
            </a:r>
            <a:endParaRPr lang="zh-CN" altLang="zh-CN" sz="3200" b="1" dirty="0">
              <a:solidFill>
                <a:srgbClr val="FFC000"/>
              </a:solidFill>
            </a:endParaRPr>
          </a:p>
        </p:txBody>
      </p:sp>
      <p:sp>
        <p:nvSpPr>
          <p:cNvPr id="2" name="矩形 1"/>
          <p:cNvSpPr/>
          <p:nvPr/>
        </p:nvSpPr>
        <p:spPr>
          <a:xfrm>
            <a:off x="163774" y="1273792"/>
            <a:ext cx="6146042" cy="5227409"/>
          </a:xfrm>
          <a:prstGeom prst="rect">
            <a:avLst/>
          </a:prstGeom>
          <a:solidFill>
            <a:srgbClr val="002060"/>
          </a:solidFill>
        </p:spPr>
        <p:txBody>
          <a:bodyPr wrap="square" lIns="86694" tIns="43347" rIns="86694" bIns="43347">
            <a:spAutoFit/>
          </a:bodyPr>
          <a:lstStyle/>
          <a:p>
            <a:pPr marL="457200" indent="-457200">
              <a:buFont typeface="Wingdings" panose="05000000000000000000" pitchFamily="2" charset="2"/>
              <a:buChar char="n"/>
            </a:pPr>
            <a:r>
              <a:rPr lang="zh-CN" altLang="zh-CN" sz="2800" dirty="0" smtClean="0">
                <a:solidFill>
                  <a:schemeClr val="bg1"/>
                </a:solidFill>
                <a:latin typeface="+mn-ea"/>
              </a:rPr>
              <a:t>思维</a:t>
            </a:r>
            <a:r>
              <a:rPr lang="zh-CN" altLang="zh-CN" sz="2800" dirty="0">
                <a:solidFill>
                  <a:schemeClr val="bg1"/>
                </a:solidFill>
                <a:latin typeface="+mn-ea"/>
              </a:rPr>
              <a:t>链将一个逻辑推理问题，分解成多个步骤，一步步进行</a:t>
            </a:r>
            <a:r>
              <a:rPr lang="zh-CN" altLang="zh-CN" sz="2800" dirty="0" smtClean="0">
                <a:solidFill>
                  <a:schemeClr val="bg1"/>
                </a:solidFill>
                <a:latin typeface="+mn-ea"/>
              </a:rPr>
              <a:t>，</a:t>
            </a:r>
            <a:r>
              <a:rPr lang="en-US" altLang="zh-CN" sz="2800" dirty="0" smtClean="0">
                <a:solidFill>
                  <a:schemeClr val="bg1"/>
                </a:solidFill>
                <a:latin typeface="+mn-ea"/>
              </a:rPr>
              <a:t>——</a:t>
            </a:r>
            <a:r>
              <a:rPr lang="zh-CN" altLang="zh-CN" sz="2800" dirty="0" smtClean="0">
                <a:solidFill>
                  <a:schemeClr val="bg1"/>
                </a:solidFill>
                <a:latin typeface="+mn-ea"/>
              </a:rPr>
              <a:t>清晰</a:t>
            </a:r>
            <a:r>
              <a:rPr lang="zh-CN" altLang="zh-CN" sz="2800" dirty="0">
                <a:solidFill>
                  <a:schemeClr val="bg1"/>
                </a:solidFill>
                <a:latin typeface="+mn-ea"/>
              </a:rPr>
              <a:t>的逻辑链路</a:t>
            </a:r>
            <a:r>
              <a:rPr lang="zh-CN" altLang="zh-CN" sz="2800" dirty="0" smtClean="0">
                <a:solidFill>
                  <a:schemeClr val="bg1"/>
                </a:solidFill>
                <a:latin typeface="+mn-ea"/>
              </a:rPr>
              <a:t>。</a:t>
            </a:r>
            <a:endParaRPr lang="en-US" altLang="zh-CN" sz="2800" dirty="0" smtClean="0">
              <a:solidFill>
                <a:schemeClr val="bg1"/>
              </a:solidFill>
              <a:latin typeface="+mn-ea"/>
            </a:endParaRPr>
          </a:p>
          <a:p>
            <a:pPr marL="457200" indent="-457200">
              <a:buFont typeface="Wingdings" panose="05000000000000000000" pitchFamily="2" charset="2"/>
              <a:buChar char="n"/>
            </a:pPr>
            <a:r>
              <a:rPr lang="zh-CN" altLang="zh-CN" sz="2800" b="1" dirty="0" smtClean="0">
                <a:solidFill>
                  <a:schemeClr val="bg1"/>
                </a:solidFill>
                <a:latin typeface="+mn-ea"/>
              </a:rPr>
              <a:t>应用思维链后</a:t>
            </a:r>
            <a:r>
              <a:rPr lang="zh-CN" altLang="zh-CN" sz="2800" b="1" dirty="0">
                <a:solidFill>
                  <a:schemeClr val="bg1"/>
                </a:solidFill>
                <a:latin typeface="+mn-ea"/>
              </a:rPr>
              <a:t>，大</a:t>
            </a:r>
            <a:r>
              <a:rPr lang="zh-CN" altLang="zh-CN" sz="2800" b="1" dirty="0" smtClean="0">
                <a:solidFill>
                  <a:schemeClr val="bg1"/>
                </a:solidFill>
                <a:latin typeface="+mn-ea"/>
              </a:rPr>
              <a:t>语言模型逻辑推理</a:t>
            </a:r>
            <a:r>
              <a:rPr lang="zh-CN" altLang="zh-CN" sz="2800" b="1" dirty="0">
                <a:solidFill>
                  <a:schemeClr val="bg1"/>
                </a:solidFill>
                <a:latin typeface="+mn-ea"/>
              </a:rPr>
              <a:t>能力突飞猛进</a:t>
            </a:r>
            <a:r>
              <a:rPr lang="zh-CN" altLang="zh-CN" sz="2800" dirty="0" smtClean="0">
                <a:solidFill>
                  <a:schemeClr val="bg1"/>
                </a:solidFill>
                <a:latin typeface="+mn-ea"/>
              </a:rPr>
              <a:t>。</a:t>
            </a:r>
            <a:r>
              <a:rPr lang="zh-CN" altLang="en-US" sz="2800" dirty="0" smtClean="0">
                <a:solidFill>
                  <a:schemeClr val="bg1"/>
                </a:solidFill>
                <a:latin typeface="+mn-ea"/>
              </a:rPr>
              <a:t>右</a:t>
            </a:r>
            <a:r>
              <a:rPr lang="zh-CN" altLang="zh-CN" sz="2800" dirty="0" smtClean="0">
                <a:solidFill>
                  <a:schemeClr val="bg1"/>
                </a:solidFill>
                <a:latin typeface="+mn-ea"/>
              </a:rPr>
              <a:t>图，</a:t>
            </a:r>
            <a:r>
              <a:rPr lang="zh-CN" altLang="zh-CN" sz="2800" dirty="0">
                <a:solidFill>
                  <a:schemeClr val="bg1"/>
                </a:solidFill>
                <a:latin typeface="+mn-ea"/>
              </a:rPr>
              <a:t>思维链提示给出了正确答案，而直接报答案的传统提示学习</a:t>
            </a:r>
            <a:r>
              <a:rPr lang="zh-CN" altLang="zh-CN" sz="2800" dirty="0" smtClean="0">
                <a:solidFill>
                  <a:schemeClr val="bg1"/>
                </a:solidFill>
                <a:latin typeface="+mn-ea"/>
              </a:rPr>
              <a:t>，答案是</a:t>
            </a:r>
            <a:r>
              <a:rPr lang="zh-CN" altLang="zh-CN" sz="2800" dirty="0">
                <a:solidFill>
                  <a:schemeClr val="bg1"/>
                </a:solidFill>
                <a:latin typeface="+mn-ea"/>
              </a:rPr>
              <a:t>错的。这也说明，如果在</a:t>
            </a:r>
            <a:r>
              <a:rPr lang="en-US" altLang="zh-CN" sz="2800" b="1" dirty="0">
                <a:solidFill>
                  <a:schemeClr val="bg1"/>
                </a:solidFill>
                <a:latin typeface="+mn-ea"/>
              </a:rPr>
              <a:t>AI</a:t>
            </a:r>
            <a:r>
              <a:rPr lang="zh-CN" altLang="zh-CN" sz="2800" b="1" dirty="0">
                <a:solidFill>
                  <a:schemeClr val="bg1"/>
                </a:solidFill>
                <a:latin typeface="+mn-ea"/>
              </a:rPr>
              <a:t>大模型中引入思维链技术，把问题分解，他就可能具备一定的逻辑推理能力</a:t>
            </a:r>
            <a:r>
              <a:rPr lang="zh-CN" altLang="zh-CN" sz="2800" dirty="0" smtClean="0">
                <a:solidFill>
                  <a:schemeClr val="bg1"/>
                </a:solidFill>
                <a:latin typeface="+mn-ea"/>
              </a:rPr>
              <a:t>。</a:t>
            </a:r>
            <a:endParaRPr lang="en-US" altLang="zh-CN" sz="2800" dirty="0" smtClean="0">
              <a:solidFill>
                <a:schemeClr val="bg1"/>
              </a:solidFill>
              <a:latin typeface="+mn-ea"/>
            </a:endParaRPr>
          </a:p>
          <a:p>
            <a:r>
              <a:rPr lang="en-US" altLang="zh-CN" dirty="0">
                <a:solidFill>
                  <a:schemeClr val="bg1"/>
                </a:solidFill>
                <a:latin typeface="+mn-ea"/>
              </a:rPr>
              <a:t>Jason Wei</a:t>
            </a:r>
            <a:r>
              <a:rPr lang="zh-CN" altLang="zh-CN" dirty="0">
                <a:solidFill>
                  <a:schemeClr val="bg1"/>
                </a:solidFill>
                <a:latin typeface="+mn-ea"/>
              </a:rPr>
              <a:t>，</a:t>
            </a:r>
            <a:r>
              <a:rPr lang="en-US" altLang="zh-CN" dirty="0">
                <a:solidFill>
                  <a:schemeClr val="bg1"/>
                </a:solidFill>
                <a:latin typeface="+mn-ea"/>
              </a:rPr>
              <a:t>et al. Chain-of-Thought Prompting Elicits Reasoning in Large Language Models. 2022. https://arxiv.org/abs/2201.11903</a:t>
            </a:r>
            <a:endParaRPr lang="en-US" altLang="zh-CN" dirty="0" smtClean="0">
              <a:solidFill>
                <a:schemeClr val="bg1"/>
              </a:solidFill>
              <a:latin typeface="+mn-ea"/>
            </a:endParaRPr>
          </a:p>
        </p:txBody>
      </p:sp>
      <p:sp>
        <p:nvSpPr>
          <p:cNvPr id="3" name="文本框 2"/>
          <p:cNvSpPr txBox="1"/>
          <p:nvPr/>
        </p:nvSpPr>
        <p:spPr>
          <a:xfrm>
            <a:off x="6264322" y="1273792"/>
            <a:ext cx="5809397" cy="5237535"/>
          </a:xfrm>
          <a:prstGeom prst="rect">
            <a:avLst/>
          </a:prstGeom>
          <a:solidFill>
            <a:schemeClr val="bg1"/>
          </a:solidFill>
        </p:spPr>
        <p:txBody>
          <a:bodyPr wrap="square" rtlCol="0">
            <a:spAutoFit/>
          </a:bodyPr>
          <a:lstStyle/>
          <a:p>
            <a:endParaRPr lang="en-US" altLang="zh-CN" b="1" dirty="0" smtClean="0">
              <a:solidFill>
                <a:schemeClr val="bg1"/>
              </a:solidFill>
              <a:latin typeface="+mn-ea"/>
            </a:endParaRPr>
          </a:p>
          <a:p>
            <a:endParaRPr lang="en-US" altLang="zh-CN" b="1" dirty="0">
              <a:solidFill>
                <a:schemeClr val="bg1"/>
              </a:solidFill>
              <a:latin typeface="+mn-ea"/>
            </a:endParaRPr>
          </a:p>
          <a:p>
            <a:endParaRPr lang="en-US" altLang="zh-CN" b="1" dirty="0" smtClean="0">
              <a:solidFill>
                <a:schemeClr val="bg1"/>
              </a:solidFill>
              <a:latin typeface="+mn-ea"/>
            </a:endParaRPr>
          </a:p>
          <a:p>
            <a:endParaRPr lang="en-US" altLang="zh-CN" b="1" dirty="0">
              <a:solidFill>
                <a:schemeClr val="bg1"/>
              </a:solidFill>
              <a:latin typeface="+mn-ea"/>
            </a:endParaRPr>
          </a:p>
          <a:p>
            <a:endParaRPr lang="en-US" altLang="zh-CN" b="1" dirty="0" smtClean="0">
              <a:solidFill>
                <a:schemeClr val="bg1"/>
              </a:solidFill>
              <a:latin typeface="+mn-ea"/>
            </a:endParaRPr>
          </a:p>
          <a:p>
            <a:endParaRPr lang="en-US" altLang="zh-CN" b="1" dirty="0">
              <a:solidFill>
                <a:schemeClr val="bg1"/>
              </a:solidFill>
              <a:latin typeface="+mn-ea"/>
            </a:endParaRPr>
          </a:p>
          <a:p>
            <a:endParaRPr lang="en-US" altLang="zh-CN" b="1" dirty="0" smtClean="0">
              <a:solidFill>
                <a:schemeClr val="bg1"/>
              </a:solidFill>
              <a:latin typeface="+mn-ea"/>
            </a:endParaRPr>
          </a:p>
          <a:p>
            <a:endParaRPr lang="en-US" altLang="zh-CN" b="1" dirty="0">
              <a:solidFill>
                <a:schemeClr val="bg1"/>
              </a:solidFill>
              <a:latin typeface="+mn-ea"/>
            </a:endParaRPr>
          </a:p>
          <a:p>
            <a:endParaRPr lang="en-US" altLang="zh-CN" b="1" dirty="0" smtClean="0">
              <a:solidFill>
                <a:schemeClr val="bg1"/>
              </a:solidFill>
              <a:latin typeface="+mn-ea"/>
            </a:endParaRPr>
          </a:p>
          <a:p>
            <a:endParaRPr lang="en-US" altLang="zh-CN" b="1" dirty="0">
              <a:solidFill>
                <a:schemeClr val="bg1"/>
              </a:solidFill>
              <a:latin typeface="+mn-ea"/>
            </a:endParaRPr>
          </a:p>
          <a:p>
            <a:endParaRPr lang="en-US" altLang="zh-CN" b="1" dirty="0" smtClean="0">
              <a:solidFill>
                <a:schemeClr val="bg1"/>
              </a:solidFill>
              <a:latin typeface="+mn-ea"/>
            </a:endParaRPr>
          </a:p>
          <a:p>
            <a:endParaRPr lang="en-US" altLang="zh-CN" b="1" dirty="0">
              <a:solidFill>
                <a:schemeClr val="bg1"/>
              </a:solidFill>
              <a:latin typeface="+mn-ea"/>
            </a:endParaRPr>
          </a:p>
          <a:p>
            <a:endParaRPr lang="en-US" altLang="zh-CN" b="1" dirty="0" smtClean="0">
              <a:solidFill>
                <a:schemeClr val="bg1"/>
              </a:solidFill>
              <a:latin typeface="+mn-ea"/>
            </a:endParaRPr>
          </a:p>
          <a:p>
            <a:endParaRPr lang="en-US" altLang="zh-CN" b="1" dirty="0">
              <a:solidFill>
                <a:schemeClr val="bg1"/>
              </a:solidFill>
              <a:latin typeface="+mn-ea"/>
            </a:endParaRPr>
          </a:p>
          <a:p>
            <a:endParaRPr lang="en-US" altLang="zh-CN" b="1" dirty="0" smtClean="0">
              <a:solidFill>
                <a:schemeClr val="bg1"/>
              </a:solidFill>
              <a:latin typeface="+mn-ea"/>
            </a:endParaRPr>
          </a:p>
          <a:p>
            <a:endParaRPr lang="en-US" altLang="zh-CN" b="1" dirty="0">
              <a:solidFill>
                <a:schemeClr val="bg1"/>
              </a:solidFill>
              <a:latin typeface="+mn-ea"/>
            </a:endParaRPr>
          </a:p>
          <a:p>
            <a:endParaRPr lang="en-US" altLang="zh-CN" b="1" dirty="0" smtClean="0">
              <a:solidFill>
                <a:schemeClr val="bg1"/>
              </a:solidFill>
              <a:latin typeface="+mn-ea"/>
            </a:endParaRPr>
          </a:p>
          <a:p>
            <a:r>
              <a:rPr lang="zh-CN" altLang="zh-CN" b="1" dirty="0" smtClean="0">
                <a:solidFill>
                  <a:schemeClr val="bg1"/>
                </a:solidFill>
                <a:latin typeface="+mn-ea"/>
              </a:rPr>
              <a:t>思维</a:t>
            </a:r>
            <a:r>
              <a:rPr lang="zh-CN" altLang="zh-CN" b="1" dirty="0">
                <a:solidFill>
                  <a:schemeClr val="bg1"/>
                </a:solidFill>
                <a:latin typeface="+mn-ea"/>
              </a:rPr>
              <a:t>链</a:t>
            </a:r>
            <a:r>
              <a:rPr lang="en-US" altLang="zh-CN" b="1" dirty="0">
                <a:solidFill>
                  <a:schemeClr val="bg1"/>
                </a:solidFill>
                <a:latin typeface="+mn-ea"/>
              </a:rPr>
              <a:t>(Chain of Thought)</a:t>
            </a:r>
            <a:r>
              <a:rPr lang="zh-CN" altLang="zh-CN" b="1" dirty="0">
                <a:solidFill>
                  <a:schemeClr val="bg1"/>
                </a:solidFill>
                <a:latin typeface="+mn-ea"/>
              </a:rPr>
              <a:t>提示</a:t>
            </a:r>
            <a:endParaRPr lang="zh-CN" altLang="en-US" dirty="0"/>
          </a:p>
        </p:txBody>
      </p:sp>
      <p:pic>
        <p:nvPicPr>
          <p:cNvPr id="7" name="图片 6"/>
          <p:cNvPicPr/>
          <p:nvPr/>
        </p:nvPicPr>
        <p:blipFill>
          <a:blip r:embed="rId4"/>
          <a:stretch>
            <a:fillRect/>
          </a:stretch>
        </p:blipFill>
        <p:spPr>
          <a:xfrm>
            <a:off x="6309816" y="1346580"/>
            <a:ext cx="5718411" cy="5127008"/>
          </a:xfrm>
          <a:prstGeom prst="rect">
            <a:avLst/>
          </a:prstGeom>
        </p:spPr>
      </p:pic>
    </p:spTree>
    <p:extLst>
      <p:ext uri="{BB962C8B-B14F-4D97-AF65-F5344CB8AC3E}">
        <p14:creationId xmlns:p14="http://schemas.microsoft.com/office/powerpoint/2010/main" val="32740486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511629" y="154676"/>
            <a:ext cx="10591800" cy="928046"/>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pPr marL="0" lvl="1" algn="ctr"/>
            <a:r>
              <a:rPr lang="zh-CN" altLang="zh-CN" sz="3200" b="1" dirty="0">
                <a:solidFill>
                  <a:srgbClr val="FFC000"/>
                </a:solidFill>
                <a:latin typeface="+mn-ea"/>
              </a:rPr>
              <a:t>思维链</a:t>
            </a:r>
            <a:r>
              <a:rPr lang="en-US" altLang="zh-CN" sz="3200" b="1" dirty="0">
                <a:solidFill>
                  <a:srgbClr val="FFC000"/>
                </a:solidFill>
                <a:latin typeface="+mn-ea"/>
              </a:rPr>
              <a:t>(Chain of Thought)</a:t>
            </a:r>
            <a:r>
              <a:rPr lang="zh-CN" altLang="zh-CN" sz="3200" b="1" dirty="0">
                <a:solidFill>
                  <a:srgbClr val="FFC000"/>
                </a:solidFill>
                <a:latin typeface="+mn-ea"/>
              </a:rPr>
              <a:t>提示</a:t>
            </a:r>
            <a:endParaRPr lang="zh-CN" altLang="zh-CN" sz="3200" b="1" dirty="0">
              <a:solidFill>
                <a:srgbClr val="FFC000"/>
              </a:solidFill>
            </a:endParaRPr>
          </a:p>
        </p:txBody>
      </p:sp>
      <p:sp>
        <p:nvSpPr>
          <p:cNvPr id="2" name="矩形 1"/>
          <p:cNvSpPr/>
          <p:nvPr/>
        </p:nvSpPr>
        <p:spPr>
          <a:xfrm>
            <a:off x="163774" y="1273792"/>
            <a:ext cx="11700680" cy="4827300"/>
          </a:xfrm>
          <a:prstGeom prst="rect">
            <a:avLst/>
          </a:prstGeom>
          <a:noFill/>
        </p:spPr>
        <p:txBody>
          <a:bodyPr wrap="square" lIns="86694" tIns="43347" rIns="86694" bIns="43347">
            <a:spAutoFit/>
          </a:bodyPr>
          <a:lstStyle/>
          <a:p>
            <a:pPr marL="342900" indent="-342900">
              <a:buFont typeface="Wingdings" panose="05000000000000000000" pitchFamily="2" charset="2"/>
              <a:buChar char="n"/>
            </a:pPr>
            <a:r>
              <a:rPr lang="zh-CN" altLang="zh-CN" sz="2800" dirty="0" smtClean="0">
                <a:solidFill>
                  <a:schemeClr val="bg1"/>
                </a:solidFill>
                <a:latin typeface="+mn-ea"/>
              </a:rPr>
              <a:t>问题之间</a:t>
            </a:r>
            <a:r>
              <a:rPr lang="zh-CN" altLang="zh-CN" sz="2800" dirty="0">
                <a:solidFill>
                  <a:schemeClr val="bg1"/>
                </a:solidFill>
                <a:latin typeface="+mn-ea"/>
              </a:rPr>
              <a:t>的关联等</a:t>
            </a:r>
            <a:r>
              <a:rPr lang="zh-CN" altLang="zh-CN" sz="2800" dirty="0" smtClean="0">
                <a:solidFill>
                  <a:schemeClr val="bg1"/>
                </a:solidFill>
                <a:latin typeface="+mn-ea"/>
              </a:rPr>
              <a:t>，都</a:t>
            </a:r>
            <a:r>
              <a:rPr lang="zh-CN" altLang="zh-CN" sz="2800" dirty="0">
                <a:solidFill>
                  <a:schemeClr val="bg1"/>
                </a:solidFill>
                <a:latin typeface="+mn-ea"/>
              </a:rPr>
              <a:t>有利于形成</a:t>
            </a:r>
            <a:r>
              <a:rPr lang="zh-CN" altLang="zh-CN" sz="2800" dirty="0" smtClean="0">
                <a:solidFill>
                  <a:schemeClr val="bg1"/>
                </a:solidFill>
                <a:latin typeface="+mn-ea"/>
              </a:rPr>
              <a:t>针对工程</a:t>
            </a:r>
            <a:r>
              <a:rPr lang="zh-CN" altLang="zh-CN" sz="2800" dirty="0">
                <a:solidFill>
                  <a:schemeClr val="bg1"/>
                </a:solidFill>
                <a:latin typeface="+mn-ea"/>
              </a:rPr>
              <a:t>问题的思维</a:t>
            </a:r>
            <a:r>
              <a:rPr lang="zh-CN" altLang="zh-CN" sz="2800" dirty="0" smtClean="0">
                <a:solidFill>
                  <a:schemeClr val="bg1"/>
                </a:solidFill>
                <a:latin typeface="+mn-ea"/>
              </a:rPr>
              <a:t>链</a:t>
            </a:r>
            <a:endParaRPr lang="zh-CN" altLang="zh-CN" sz="2800" dirty="0">
              <a:solidFill>
                <a:schemeClr val="bg1"/>
              </a:solidFill>
              <a:latin typeface="+mn-ea"/>
            </a:endParaRPr>
          </a:p>
          <a:p>
            <a:pPr marL="342900" indent="-342900">
              <a:buFont typeface="Wingdings" panose="05000000000000000000" pitchFamily="2" charset="2"/>
              <a:buChar char="n"/>
            </a:pPr>
            <a:r>
              <a:rPr lang="zh-CN" altLang="zh-CN" sz="2800" dirty="0" smtClean="0">
                <a:solidFill>
                  <a:schemeClr val="bg1"/>
                </a:solidFill>
                <a:latin typeface="+mn-ea"/>
              </a:rPr>
              <a:t>要</a:t>
            </a:r>
            <a:r>
              <a:rPr lang="zh-CN" altLang="zh-CN" sz="2800" b="1" dirty="0">
                <a:solidFill>
                  <a:schemeClr val="bg1"/>
                </a:solidFill>
                <a:latin typeface="+mn-ea"/>
              </a:rPr>
              <a:t>善于从</a:t>
            </a:r>
            <a:r>
              <a:rPr lang="en-US" altLang="zh-CN" sz="2800" b="1" dirty="0">
                <a:solidFill>
                  <a:schemeClr val="bg1"/>
                </a:solidFill>
                <a:latin typeface="+mn-ea"/>
              </a:rPr>
              <a:t>AI</a:t>
            </a:r>
            <a:r>
              <a:rPr lang="zh-CN" altLang="zh-CN" sz="2800" b="1" dirty="0">
                <a:solidFill>
                  <a:schemeClr val="bg1"/>
                </a:solidFill>
                <a:latin typeface="+mn-ea"/>
              </a:rPr>
              <a:t>系统获得思维链呈现</a:t>
            </a:r>
            <a:r>
              <a:rPr lang="zh-CN" altLang="zh-CN" sz="2800" dirty="0">
                <a:solidFill>
                  <a:schemeClr val="bg1"/>
                </a:solidFill>
                <a:latin typeface="+mn-ea"/>
              </a:rPr>
              <a:t>。如希望了解机器人动力学方面的问题，</a:t>
            </a:r>
            <a:r>
              <a:rPr lang="en-US" altLang="zh-CN" sz="2800" dirty="0">
                <a:solidFill>
                  <a:schemeClr val="bg1"/>
                </a:solidFill>
                <a:latin typeface="+mn-ea"/>
              </a:rPr>
              <a:t>AI</a:t>
            </a:r>
            <a:r>
              <a:rPr lang="zh-CN" altLang="zh-CN" sz="2800" dirty="0">
                <a:solidFill>
                  <a:schemeClr val="bg1"/>
                </a:solidFill>
                <a:latin typeface="+mn-ea"/>
              </a:rPr>
              <a:t>大模型可能很快地列出涉及的问题因素：速度、加速度、质量、惯量、外部载荷</a:t>
            </a:r>
            <a:r>
              <a:rPr lang="en-US" altLang="zh-CN" sz="2800" dirty="0">
                <a:solidFill>
                  <a:schemeClr val="bg1"/>
                </a:solidFill>
                <a:latin typeface="+mn-ea"/>
              </a:rPr>
              <a:t>…...</a:t>
            </a:r>
            <a:r>
              <a:rPr lang="zh-CN" altLang="zh-CN" sz="2800" dirty="0">
                <a:solidFill>
                  <a:schemeClr val="bg1"/>
                </a:solidFill>
                <a:latin typeface="+mn-ea"/>
              </a:rPr>
              <a:t>它还可以告知机器人动力学的两类问题：正动力学和逆动</a:t>
            </a:r>
            <a:r>
              <a:rPr lang="zh-CN" altLang="zh-CN" sz="2800" dirty="0" smtClean="0">
                <a:solidFill>
                  <a:schemeClr val="bg1"/>
                </a:solidFill>
                <a:latin typeface="+mn-ea"/>
              </a:rPr>
              <a:t>力学</a:t>
            </a:r>
            <a:r>
              <a:rPr lang="en-US" altLang="zh-CN" sz="2800" dirty="0" smtClean="0">
                <a:solidFill>
                  <a:schemeClr val="bg1"/>
                </a:solidFill>
                <a:latin typeface="+mn-ea"/>
              </a:rPr>
              <a:t>……</a:t>
            </a:r>
            <a:r>
              <a:rPr lang="en-US" altLang="zh-CN" sz="2800" dirty="0">
                <a:solidFill>
                  <a:schemeClr val="bg1"/>
                </a:solidFill>
                <a:latin typeface="+mn-ea"/>
              </a:rPr>
              <a:t>AI</a:t>
            </a:r>
            <a:r>
              <a:rPr lang="zh-CN" altLang="zh-CN" sz="2800" dirty="0">
                <a:solidFill>
                  <a:schemeClr val="bg1"/>
                </a:solidFill>
                <a:latin typeface="+mn-ea"/>
              </a:rPr>
              <a:t>大模型所呈现的思维链能够引导学生或工程师快速地学习相关的基础知识。</a:t>
            </a:r>
            <a:r>
              <a:rPr lang="zh-CN" altLang="zh-CN" sz="2800" b="1" dirty="0">
                <a:solidFill>
                  <a:schemeClr val="bg1"/>
                </a:solidFill>
                <a:latin typeface="+mn-ea"/>
              </a:rPr>
              <a:t>在处理某个实际工程问题中，大模型呈现的思维链或许能够给工程师很好的提示</a:t>
            </a:r>
            <a:r>
              <a:rPr lang="zh-CN" altLang="zh-CN" sz="2800" dirty="0">
                <a:solidFill>
                  <a:schemeClr val="bg1"/>
                </a:solidFill>
                <a:latin typeface="+mn-ea"/>
              </a:rPr>
              <a:t>。</a:t>
            </a:r>
          </a:p>
          <a:p>
            <a:pPr marL="342900" indent="-342900">
              <a:buFont typeface="Wingdings" panose="05000000000000000000" pitchFamily="2" charset="2"/>
              <a:buChar char="n"/>
            </a:pPr>
            <a:r>
              <a:rPr lang="zh-CN" altLang="zh-CN" sz="2800" dirty="0" smtClean="0">
                <a:solidFill>
                  <a:schemeClr val="bg1"/>
                </a:solidFill>
                <a:latin typeface="+mn-ea"/>
              </a:rPr>
              <a:t>人</a:t>
            </a:r>
            <a:r>
              <a:rPr lang="zh-CN" altLang="zh-CN" sz="2800" dirty="0">
                <a:solidFill>
                  <a:schemeClr val="bg1"/>
                </a:solidFill>
                <a:latin typeface="+mn-ea"/>
              </a:rPr>
              <a:t>与</a:t>
            </a:r>
            <a:r>
              <a:rPr lang="en-US" altLang="zh-CN" sz="2800" dirty="0">
                <a:solidFill>
                  <a:schemeClr val="bg1"/>
                </a:solidFill>
                <a:latin typeface="+mn-ea"/>
              </a:rPr>
              <a:t>AI</a:t>
            </a:r>
            <a:r>
              <a:rPr lang="zh-CN" altLang="zh-CN" sz="2800" dirty="0">
                <a:solidFill>
                  <a:schemeClr val="bg1"/>
                </a:solidFill>
                <a:latin typeface="+mn-ea"/>
              </a:rPr>
              <a:t>系统相互学习。</a:t>
            </a:r>
            <a:r>
              <a:rPr lang="en-US" altLang="zh-CN" sz="2800" dirty="0">
                <a:solidFill>
                  <a:schemeClr val="bg1"/>
                </a:solidFill>
                <a:latin typeface="+mn-ea"/>
              </a:rPr>
              <a:t>2023</a:t>
            </a:r>
            <a:r>
              <a:rPr lang="zh-CN" altLang="zh-CN" sz="2800" dirty="0">
                <a:solidFill>
                  <a:schemeClr val="bg1"/>
                </a:solidFill>
                <a:latin typeface="+mn-ea"/>
              </a:rPr>
              <a:t>年</a:t>
            </a:r>
            <a:r>
              <a:rPr lang="en-US" altLang="zh-CN" sz="2800" dirty="0">
                <a:solidFill>
                  <a:schemeClr val="bg1"/>
                </a:solidFill>
                <a:latin typeface="+mn-ea"/>
              </a:rPr>
              <a:t>3</a:t>
            </a:r>
            <a:r>
              <a:rPr lang="zh-CN" altLang="zh-CN" sz="2800" dirty="0">
                <a:solidFill>
                  <a:schemeClr val="bg1"/>
                </a:solidFill>
                <a:latin typeface="+mn-ea"/>
              </a:rPr>
              <a:t>月</a:t>
            </a:r>
            <a:r>
              <a:rPr lang="en-US" altLang="zh-CN" sz="2800" dirty="0">
                <a:solidFill>
                  <a:schemeClr val="bg1"/>
                </a:solidFill>
                <a:latin typeface="+mn-ea"/>
              </a:rPr>
              <a:t>14</a:t>
            </a:r>
            <a:r>
              <a:rPr lang="zh-CN" altLang="zh-CN" sz="2800" dirty="0">
                <a:solidFill>
                  <a:schemeClr val="bg1"/>
                </a:solidFill>
                <a:latin typeface="+mn-ea"/>
              </a:rPr>
              <a:t>日，</a:t>
            </a:r>
            <a:r>
              <a:rPr lang="en-US" altLang="zh-CN" sz="2800" dirty="0">
                <a:solidFill>
                  <a:schemeClr val="bg1"/>
                </a:solidFill>
                <a:latin typeface="+mn-ea"/>
              </a:rPr>
              <a:t>GPT-4</a:t>
            </a:r>
            <a:r>
              <a:rPr lang="zh-CN" altLang="zh-CN" sz="2800" dirty="0">
                <a:solidFill>
                  <a:schemeClr val="bg1"/>
                </a:solidFill>
                <a:latin typeface="+mn-ea"/>
              </a:rPr>
              <a:t>发布，美国奥数队总教练（领队）、卡耐基梅隆大学数学系教授罗博深（</a:t>
            </a:r>
            <a:r>
              <a:rPr lang="en-US" altLang="zh-CN" sz="2800" dirty="0">
                <a:solidFill>
                  <a:schemeClr val="bg1"/>
                </a:solidFill>
                <a:latin typeface="+mn-ea"/>
              </a:rPr>
              <a:t>Po-Shen </a:t>
            </a:r>
            <a:r>
              <a:rPr lang="en-US" altLang="zh-CN" sz="2800" dirty="0" err="1">
                <a:solidFill>
                  <a:schemeClr val="bg1"/>
                </a:solidFill>
                <a:latin typeface="+mn-ea"/>
              </a:rPr>
              <a:t>Loh</a:t>
            </a:r>
            <a:r>
              <a:rPr lang="zh-CN" altLang="zh-CN" sz="2800" dirty="0" smtClean="0">
                <a:solidFill>
                  <a:schemeClr val="bg1"/>
                </a:solidFill>
                <a:latin typeface="+mn-ea"/>
              </a:rPr>
              <a:t>）问</a:t>
            </a:r>
            <a:r>
              <a:rPr lang="en-US" altLang="zh-CN" sz="2800" dirty="0" smtClean="0">
                <a:solidFill>
                  <a:schemeClr val="bg1"/>
                </a:solidFill>
                <a:latin typeface="+mn-ea"/>
              </a:rPr>
              <a:t>GPT-4</a:t>
            </a:r>
            <a:r>
              <a:rPr lang="zh-CN" altLang="zh-CN" sz="2800" dirty="0" smtClean="0">
                <a:solidFill>
                  <a:schemeClr val="bg1"/>
                </a:solidFill>
                <a:latin typeface="+mn-ea"/>
              </a:rPr>
              <a:t>，</a:t>
            </a:r>
            <a:r>
              <a:rPr lang="zh-CN" altLang="zh-CN" sz="2800" b="1" dirty="0">
                <a:solidFill>
                  <a:schemeClr val="bg1"/>
                </a:solidFill>
                <a:latin typeface="+mn-ea"/>
              </a:rPr>
              <a:t>把</a:t>
            </a:r>
            <a:r>
              <a:rPr lang="en-US" altLang="zh-CN" sz="2800" b="1" dirty="0">
                <a:solidFill>
                  <a:schemeClr val="bg1"/>
                </a:solidFill>
                <a:latin typeface="+mn-ea"/>
              </a:rPr>
              <a:t>899</a:t>
            </a:r>
            <a:r>
              <a:rPr lang="zh-CN" altLang="zh-CN" sz="2800" b="1" dirty="0">
                <a:solidFill>
                  <a:schemeClr val="bg1"/>
                </a:solidFill>
                <a:latin typeface="+mn-ea"/>
              </a:rPr>
              <a:t>因数分解成两个</a:t>
            </a:r>
            <a:r>
              <a:rPr lang="zh-CN" altLang="zh-CN" sz="2800" b="1" dirty="0" smtClean="0">
                <a:solidFill>
                  <a:schemeClr val="bg1"/>
                </a:solidFill>
                <a:latin typeface="+mn-ea"/>
              </a:rPr>
              <a:t>质数</a:t>
            </a:r>
            <a:r>
              <a:rPr lang="en-US" altLang="zh-CN" sz="2800" b="1" dirty="0" smtClean="0">
                <a:solidFill>
                  <a:schemeClr val="bg1"/>
                </a:solidFill>
                <a:latin typeface="+mn-ea"/>
              </a:rPr>
              <a:t>……</a:t>
            </a:r>
            <a:r>
              <a:rPr lang="zh-CN" altLang="zh-CN" sz="2800" b="1" dirty="0">
                <a:solidFill>
                  <a:schemeClr val="bg1"/>
                </a:solidFill>
                <a:latin typeface="+mn-ea"/>
              </a:rPr>
              <a:t>（</a:t>
            </a:r>
            <a:r>
              <a:rPr lang="en-US" altLang="zh-CN" sz="2800" b="1" dirty="0" err="1">
                <a:solidFill>
                  <a:schemeClr val="bg1"/>
                </a:solidFill>
                <a:latin typeface="+mn-ea"/>
              </a:rPr>
              <a:t>a+b</a:t>
            </a:r>
            <a:r>
              <a:rPr lang="zh-CN" altLang="zh-CN" sz="2800" b="1" dirty="0">
                <a:solidFill>
                  <a:schemeClr val="bg1"/>
                </a:solidFill>
                <a:latin typeface="+mn-ea"/>
              </a:rPr>
              <a:t>）</a:t>
            </a:r>
            <a:r>
              <a:rPr lang="en-US" altLang="zh-CN" sz="2800" b="1" dirty="0">
                <a:solidFill>
                  <a:schemeClr val="bg1"/>
                </a:solidFill>
                <a:latin typeface="+mn-ea"/>
              </a:rPr>
              <a:t>(a-b)=a</a:t>
            </a:r>
            <a:r>
              <a:rPr lang="en-US" altLang="zh-CN" sz="2800" b="1" baseline="30000" dirty="0">
                <a:solidFill>
                  <a:schemeClr val="bg1"/>
                </a:solidFill>
                <a:latin typeface="+mn-ea"/>
              </a:rPr>
              <a:t>2</a:t>
            </a:r>
            <a:r>
              <a:rPr lang="en-US" altLang="zh-CN" sz="2800" b="1" dirty="0">
                <a:solidFill>
                  <a:schemeClr val="bg1"/>
                </a:solidFill>
                <a:latin typeface="+mn-ea"/>
              </a:rPr>
              <a:t>-b</a:t>
            </a:r>
            <a:r>
              <a:rPr lang="en-US" altLang="zh-CN" sz="2800" b="1" baseline="30000" dirty="0">
                <a:solidFill>
                  <a:schemeClr val="bg1"/>
                </a:solidFill>
                <a:latin typeface="+mn-ea"/>
              </a:rPr>
              <a:t>2</a:t>
            </a:r>
            <a:endParaRPr lang="en-US" altLang="zh-CN" sz="2800" b="1" dirty="0" smtClean="0">
              <a:solidFill>
                <a:schemeClr val="bg1"/>
              </a:solidFill>
              <a:latin typeface="+mn-ea"/>
            </a:endParaRPr>
          </a:p>
          <a:p>
            <a:pPr marL="342900" indent="-342900">
              <a:buFont typeface="Wingdings" panose="05000000000000000000" pitchFamily="2" charset="2"/>
              <a:buChar char="n"/>
            </a:pPr>
            <a:r>
              <a:rPr lang="zh-CN" altLang="zh-CN" sz="2800" dirty="0" smtClean="0">
                <a:solidFill>
                  <a:schemeClr val="bg1"/>
                </a:solidFill>
                <a:latin typeface="+mn-ea"/>
              </a:rPr>
              <a:t>应用</a:t>
            </a:r>
            <a:r>
              <a:rPr lang="en-US" altLang="zh-CN" sz="2800" dirty="0">
                <a:solidFill>
                  <a:schemeClr val="bg1"/>
                </a:solidFill>
                <a:latin typeface="+mn-ea"/>
              </a:rPr>
              <a:t>AI</a:t>
            </a:r>
            <a:r>
              <a:rPr lang="zh-CN" altLang="zh-CN" sz="2800" dirty="0">
                <a:solidFill>
                  <a:schemeClr val="bg1"/>
                </a:solidFill>
                <a:latin typeface="+mn-ea"/>
              </a:rPr>
              <a:t>大</a:t>
            </a:r>
            <a:r>
              <a:rPr lang="zh-CN" altLang="zh-CN" sz="2800" dirty="0" smtClean="0">
                <a:solidFill>
                  <a:schemeClr val="bg1"/>
                </a:solidFill>
                <a:latin typeface="+mn-ea"/>
              </a:rPr>
              <a:t>模型，</a:t>
            </a:r>
            <a:r>
              <a:rPr lang="zh-CN" altLang="zh-CN" sz="2800" b="1" dirty="0">
                <a:solidFill>
                  <a:schemeClr val="bg1"/>
                </a:solidFill>
                <a:latin typeface="+mn-ea"/>
              </a:rPr>
              <a:t>在相互的思维链提示过程中也不断提升自身的能力</a:t>
            </a:r>
            <a:r>
              <a:rPr lang="zh-CN" altLang="zh-CN" sz="2800" dirty="0">
                <a:solidFill>
                  <a:schemeClr val="bg1"/>
                </a:solidFill>
                <a:latin typeface="+mn-ea"/>
              </a:rPr>
              <a:t>。</a:t>
            </a:r>
            <a:endParaRPr lang="en-US" altLang="zh-CN" sz="2800" dirty="0" smtClean="0">
              <a:solidFill>
                <a:schemeClr val="bg1"/>
              </a:solidFill>
              <a:latin typeface="+mn-ea"/>
            </a:endParaRPr>
          </a:p>
        </p:txBody>
      </p:sp>
    </p:spTree>
    <p:extLst>
      <p:ext uri="{BB962C8B-B14F-4D97-AF65-F5344CB8AC3E}">
        <p14:creationId xmlns:p14="http://schemas.microsoft.com/office/powerpoint/2010/main" val="1843152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AutoShape 4"/>
          <p:cNvSpPr>
            <a:spLocks noChangeArrowheads="1"/>
          </p:cNvSpPr>
          <p:nvPr/>
        </p:nvSpPr>
        <p:spPr bwMode="ltGray">
          <a:xfrm>
            <a:off x="2355849" y="8532886"/>
            <a:ext cx="4844449" cy="528638"/>
          </a:xfrm>
          <a:prstGeom prst="roundRect">
            <a:avLst>
              <a:gd name="adj" fmla="val 50000"/>
            </a:avLst>
          </a:prstGeom>
          <a:no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
                <a:srgbClr val="CC9900"/>
              </a:buClr>
              <a:buFont typeface="Wingdings" pitchFamily="2" charset="2"/>
              <a:buChar char="n"/>
            </a:pPr>
            <a:endParaRPr lang="zh-CN" altLang="zh-CN" b="1">
              <a:solidFill>
                <a:srgbClr val="000000"/>
              </a:solidFill>
              <a:latin typeface="华文细黑"/>
              <a:ea typeface="华文细黑"/>
            </a:endParaRPr>
          </a:p>
        </p:txBody>
      </p:sp>
      <p:sp>
        <p:nvSpPr>
          <p:cNvPr id="90" name="AutoShape 18"/>
          <p:cNvSpPr>
            <a:spLocks noChangeArrowheads="1"/>
          </p:cNvSpPr>
          <p:nvPr/>
        </p:nvSpPr>
        <p:spPr bwMode="ltGray">
          <a:xfrm>
            <a:off x="1865311" y="6665752"/>
            <a:ext cx="5084129" cy="703173"/>
          </a:xfrm>
          <a:prstGeom prst="roundRect">
            <a:avLst>
              <a:gd name="adj" fmla="val 50000"/>
            </a:avLst>
          </a:prstGeom>
          <a:no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
                <a:srgbClr val="CC9900"/>
              </a:buClr>
              <a:buFont typeface="Wingdings" pitchFamily="2" charset="2"/>
              <a:buChar char="n"/>
            </a:pPr>
            <a:endParaRPr lang="zh-CN" altLang="zh-CN" b="1">
              <a:solidFill>
                <a:schemeClr val="tx2"/>
              </a:solidFill>
              <a:latin typeface="华文细黑"/>
              <a:ea typeface="华文细黑"/>
            </a:endParaRPr>
          </a:p>
        </p:txBody>
      </p:sp>
      <p:sp>
        <p:nvSpPr>
          <p:cNvPr id="91" name="AutoShape 25"/>
          <p:cNvSpPr>
            <a:spLocks noChangeArrowheads="1"/>
          </p:cNvSpPr>
          <p:nvPr/>
        </p:nvSpPr>
        <p:spPr bwMode="ltGray">
          <a:xfrm>
            <a:off x="1874850" y="9457648"/>
            <a:ext cx="5074590" cy="716042"/>
          </a:xfrm>
          <a:prstGeom prst="roundRect">
            <a:avLst>
              <a:gd name="adj" fmla="val 50000"/>
            </a:avLst>
          </a:prstGeom>
          <a:no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
                <a:srgbClr val="CC9900"/>
              </a:buClr>
              <a:buFont typeface="Wingdings" pitchFamily="2" charset="2"/>
              <a:buChar char="n"/>
            </a:pPr>
            <a:endParaRPr lang="zh-CN" altLang="zh-CN" b="1">
              <a:solidFill>
                <a:srgbClr val="000000"/>
              </a:solidFill>
              <a:latin typeface="华文细黑"/>
              <a:ea typeface="华文细黑"/>
            </a:endParaRPr>
          </a:p>
        </p:txBody>
      </p:sp>
      <p:grpSp>
        <p:nvGrpSpPr>
          <p:cNvPr id="4" name="组合 3"/>
          <p:cNvGrpSpPr/>
          <p:nvPr/>
        </p:nvGrpSpPr>
        <p:grpSpPr>
          <a:xfrm>
            <a:off x="4827949" y="1295400"/>
            <a:ext cx="3096092" cy="2673861"/>
            <a:chOff x="6108782" y="1991076"/>
            <a:chExt cx="3096092" cy="2103491"/>
          </a:xfrm>
        </p:grpSpPr>
        <p:sp>
          <p:nvSpPr>
            <p:cNvPr id="24" name="TextBox 48"/>
            <p:cNvSpPr txBox="1"/>
            <p:nvPr/>
          </p:nvSpPr>
          <p:spPr>
            <a:xfrm>
              <a:off x="6108782" y="3610320"/>
              <a:ext cx="3096092" cy="484247"/>
            </a:xfrm>
            <a:prstGeom prst="rect">
              <a:avLst/>
            </a:prstGeom>
            <a:noFill/>
          </p:spPr>
          <p:txBody>
            <a:bodyPr wrap="square" lIns="0" tIns="0" rIns="0" bIns="0" rtlCol="0">
              <a:spAutoFit/>
            </a:bodyPr>
            <a:lstStyle/>
            <a:p>
              <a:pPr algn="ctr"/>
              <a:r>
                <a:rPr lang="zh-CN" altLang="en-US" sz="4000" b="1" dirty="0" smtClean="0">
                  <a:solidFill>
                    <a:srgbClr val="FFC000"/>
                  </a:solidFill>
                  <a:ea typeface="微软雅黑" panose="020B0503020204020204" pitchFamily="34" charset="-122"/>
                </a:rPr>
                <a:t>思维方式</a:t>
              </a:r>
              <a:endParaRPr lang="zh-CN" altLang="en-US" sz="4000" b="1" dirty="0">
                <a:solidFill>
                  <a:srgbClr val="FFC000"/>
                </a:solidFill>
                <a:ea typeface="微软雅黑" panose="020B0503020204020204" pitchFamily="34" charset="-122"/>
              </a:endParaRPr>
            </a:p>
          </p:txBody>
        </p:sp>
        <p:sp>
          <p:nvSpPr>
            <p:cNvPr id="25" name="TextBox 48"/>
            <p:cNvSpPr txBox="1"/>
            <p:nvPr/>
          </p:nvSpPr>
          <p:spPr>
            <a:xfrm>
              <a:off x="6962872" y="1991076"/>
              <a:ext cx="1403498" cy="968495"/>
            </a:xfrm>
            <a:prstGeom prst="rect">
              <a:avLst/>
            </a:prstGeom>
            <a:noFill/>
          </p:spPr>
          <p:txBody>
            <a:bodyPr wrap="square" lIns="0" tIns="0" rIns="0" bIns="0" rtlCol="0">
              <a:spAutoFit/>
            </a:bodyPr>
            <a:lstStyle/>
            <a:p>
              <a:pPr algn="ctr"/>
              <a:r>
                <a:rPr lang="en-US" altLang="zh-CN" sz="8000" b="1" dirty="0" smtClean="0">
                  <a:solidFill>
                    <a:schemeClr val="bg1"/>
                  </a:solidFill>
                  <a:latin typeface="微软雅黑" pitchFamily="34" charset="-122"/>
                  <a:ea typeface="微软雅黑" pitchFamily="34" charset="-122"/>
                  <a:cs typeface="+mn-ea"/>
                  <a:sym typeface="+mn-lt"/>
                </a:rPr>
                <a:t>03</a:t>
              </a:r>
              <a:endParaRPr lang="en-GB" altLang="zh-CN" sz="8000" b="1" dirty="0">
                <a:solidFill>
                  <a:schemeClr val="bg1"/>
                </a:solidFill>
                <a:latin typeface="微软雅黑" pitchFamily="34" charset="-122"/>
                <a:ea typeface="微软雅黑" pitchFamily="34" charset="-122"/>
                <a:cs typeface="+mn-ea"/>
                <a:sym typeface="+mn-lt"/>
              </a:endParaRPr>
            </a:p>
          </p:txBody>
        </p:sp>
      </p:grpSp>
      <p:sp>
        <p:nvSpPr>
          <p:cNvPr id="26" name="等腰三角形 25"/>
          <p:cNvSpPr/>
          <p:nvPr/>
        </p:nvSpPr>
        <p:spPr>
          <a:xfrm rot="16200000" flipH="1">
            <a:off x="3630423" y="3187360"/>
            <a:ext cx="972011" cy="880157"/>
          </a:xfrm>
          <a:prstGeom prst="triangle">
            <a:avLst/>
          </a:prstGeom>
          <a:solidFill>
            <a:srgbClr val="00B0F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cxnSp>
        <p:nvCxnSpPr>
          <p:cNvPr id="27" name="直接连接符 26"/>
          <p:cNvCxnSpPr/>
          <p:nvPr/>
        </p:nvCxnSpPr>
        <p:spPr>
          <a:xfrm flipV="1">
            <a:off x="2801275" y="4337528"/>
            <a:ext cx="2026674" cy="1045855"/>
          </a:xfrm>
          <a:prstGeom prst="line">
            <a:avLst/>
          </a:prstGeom>
          <a:gradFill>
            <a:gsLst>
              <a:gs pos="40000">
                <a:srgbClr val="0194EF">
                  <a:alpha val="14902"/>
                </a:srgbClr>
              </a:gs>
              <a:gs pos="100000">
                <a:srgbClr val="0194EF">
                  <a:alpha val="0"/>
                </a:srgbClr>
              </a:gs>
            </a:gsLst>
            <a:lin ang="5400000" scaled="0"/>
          </a:gradFill>
          <a:ln>
            <a:gradFill>
              <a:gsLst>
                <a:gs pos="11000">
                  <a:srgbClr val="00FFFF"/>
                </a:gs>
                <a:gs pos="60000">
                  <a:srgbClr val="00B0F0"/>
                </a:gs>
                <a:gs pos="100000">
                  <a:srgbClr val="00B0F0">
                    <a:alpha val="0"/>
                  </a:srgbClr>
                </a:gs>
              </a:gsLst>
              <a:lin ang="5400000" scaled="0"/>
            </a:gradFill>
          </a:ln>
        </p:spPr>
      </p:cxnSp>
      <p:cxnSp>
        <p:nvCxnSpPr>
          <p:cNvPr id="28" name="直接连接符 27"/>
          <p:cNvCxnSpPr/>
          <p:nvPr/>
        </p:nvCxnSpPr>
        <p:spPr>
          <a:xfrm flipV="1">
            <a:off x="2308331" y="4792694"/>
            <a:ext cx="2026674" cy="1045855"/>
          </a:xfrm>
          <a:prstGeom prst="line">
            <a:avLst/>
          </a:prstGeom>
          <a:gradFill>
            <a:gsLst>
              <a:gs pos="40000">
                <a:srgbClr val="0194EF">
                  <a:alpha val="14902"/>
                </a:srgbClr>
              </a:gs>
              <a:gs pos="100000">
                <a:srgbClr val="0194EF">
                  <a:alpha val="0"/>
                </a:srgbClr>
              </a:gs>
            </a:gsLst>
            <a:lin ang="5400000" scaled="0"/>
          </a:gradFill>
          <a:ln>
            <a:gradFill>
              <a:gsLst>
                <a:gs pos="11000">
                  <a:srgbClr val="00FFFF"/>
                </a:gs>
                <a:gs pos="60000">
                  <a:srgbClr val="00B0F0"/>
                </a:gs>
                <a:gs pos="100000">
                  <a:srgbClr val="00B0F0">
                    <a:alpha val="0"/>
                  </a:srgbClr>
                </a:gs>
              </a:gsLst>
              <a:lin ang="5400000" scaled="0"/>
            </a:gradFill>
          </a:ln>
        </p:spPr>
      </p:cxnSp>
      <p:cxnSp>
        <p:nvCxnSpPr>
          <p:cNvPr id="29" name="直接连接符 28"/>
          <p:cNvCxnSpPr/>
          <p:nvPr/>
        </p:nvCxnSpPr>
        <p:spPr>
          <a:xfrm flipV="1">
            <a:off x="7602793" y="1716118"/>
            <a:ext cx="2026673" cy="1045856"/>
          </a:xfrm>
          <a:prstGeom prst="line">
            <a:avLst/>
          </a:prstGeom>
          <a:gradFill>
            <a:gsLst>
              <a:gs pos="40000">
                <a:srgbClr val="0194EF">
                  <a:alpha val="14902"/>
                </a:srgbClr>
              </a:gs>
              <a:gs pos="100000">
                <a:srgbClr val="0194EF">
                  <a:alpha val="0"/>
                </a:srgbClr>
              </a:gs>
            </a:gsLst>
            <a:lin ang="5400000" scaled="0"/>
          </a:gradFill>
          <a:ln>
            <a:gradFill>
              <a:gsLst>
                <a:gs pos="11000">
                  <a:srgbClr val="00FFFF"/>
                </a:gs>
                <a:gs pos="60000">
                  <a:srgbClr val="00B0F0"/>
                </a:gs>
                <a:gs pos="100000">
                  <a:srgbClr val="00B0F0">
                    <a:alpha val="0"/>
                  </a:srgbClr>
                </a:gs>
              </a:gsLst>
              <a:lin ang="5400000" scaled="0"/>
            </a:gradFill>
          </a:ln>
        </p:spPr>
      </p:cxnSp>
      <p:cxnSp>
        <p:nvCxnSpPr>
          <p:cNvPr id="30" name="直接连接符 29"/>
          <p:cNvCxnSpPr/>
          <p:nvPr/>
        </p:nvCxnSpPr>
        <p:spPr>
          <a:xfrm flipV="1">
            <a:off x="7900801" y="1351570"/>
            <a:ext cx="2026673" cy="1045856"/>
          </a:xfrm>
          <a:prstGeom prst="line">
            <a:avLst/>
          </a:prstGeom>
          <a:gradFill>
            <a:gsLst>
              <a:gs pos="40000">
                <a:srgbClr val="0194EF">
                  <a:alpha val="14902"/>
                </a:srgbClr>
              </a:gs>
              <a:gs pos="100000">
                <a:srgbClr val="0194EF">
                  <a:alpha val="0"/>
                </a:srgbClr>
              </a:gs>
            </a:gsLst>
            <a:lin ang="5400000" scaled="0"/>
          </a:gradFill>
          <a:ln>
            <a:gradFill>
              <a:gsLst>
                <a:gs pos="11000">
                  <a:srgbClr val="00FFFF"/>
                </a:gs>
                <a:gs pos="60000">
                  <a:srgbClr val="00B0F0"/>
                </a:gs>
                <a:gs pos="100000">
                  <a:srgbClr val="00B0F0">
                    <a:alpha val="0"/>
                  </a:srgbClr>
                </a:gs>
              </a:gsLst>
              <a:lin ang="5400000" scaled="0"/>
            </a:gradFill>
          </a:ln>
        </p:spPr>
      </p:cxnSp>
      <p:sp>
        <p:nvSpPr>
          <p:cNvPr id="31" name="等腰三角形 5"/>
          <p:cNvSpPr/>
          <p:nvPr/>
        </p:nvSpPr>
        <p:spPr>
          <a:xfrm rot="5556605">
            <a:off x="1263577" y="820064"/>
            <a:ext cx="2519741" cy="3074402"/>
          </a:xfrm>
          <a:custGeom>
            <a:avLst/>
            <a:gdLst>
              <a:gd name="connsiteX0" fmla="*/ 0 w 3505200"/>
              <a:gd name="connsiteY0" fmla="*/ 3352800 h 3352800"/>
              <a:gd name="connsiteX1" fmla="*/ 1752600 w 3505200"/>
              <a:gd name="connsiteY1" fmla="*/ 0 h 3352800"/>
              <a:gd name="connsiteX2" fmla="*/ 3505200 w 3505200"/>
              <a:gd name="connsiteY2" fmla="*/ 3352800 h 3352800"/>
              <a:gd name="connsiteX3" fmla="*/ 0 w 3505200"/>
              <a:gd name="connsiteY3" fmla="*/ 3352800 h 3352800"/>
              <a:gd name="connsiteX0-1" fmla="*/ 0 w 4025900"/>
              <a:gd name="connsiteY0-2" fmla="*/ 1625600 h 3352800"/>
              <a:gd name="connsiteX1-3" fmla="*/ 2273300 w 4025900"/>
              <a:gd name="connsiteY1-4" fmla="*/ 0 h 3352800"/>
              <a:gd name="connsiteX2-5" fmla="*/ 4025900 w 4025900"/>
              <a:gd name="connsiteY2-6" fmla="*/ 3352800 h 3352800"/>
              <a:gd name="connsiteX3-7" fmla="*/ 0 w 4025900"/>
              <a:gd name="connsiteY3-8" fmla="*/ 1625600 h 3352800"/>
              <a:gd name="connsiteX0-9" fmla="*/ 0 w 4025900"/>
              <a:gd name="connsiteY0-10" fmla="*/ 1879600 h 3606800"/>
              <a:gd name="connsiteX1-11" fmla="*/ 3746500 w 4025900"/>
              <a:gd name="connsiteY1-12" fmla="*/ 0 h 3606800"/>
              <a:gd name="connsiteX2-13" fmla="*/ 4025900 w 4025900"/>
              <a:gd name="connsiteY2-14" fmla="*/ 3606800 h 3606800"/>
              <a:gd name="connsiteX3-15" fmla="*/ 0 w 4025900"/>
              <a:gd name="connsiteY3-16" fmla="*/ 1879600 h 3606800"/>
              <a:gd name="connsiteX0-17" fmla="*/ 0 w 4508500"/>
              <a:gd name="connsiteY0-18" fmla="*/ 1879600 h 3657600"/>
              <a:gd name="connsiteX1-19" fmla="*/ 3746500 w 4508500"/>
              <a:gd name="connsiteY1-20" fmla="*/ 0 h 3657600"/>
              <a:gd name="connsiteX2-21" fmla="*/ 4508500 w 4508500"/>
              <a:gd name="connsiteY2-22" fmla="*/ 3657600 h 3657600"/>
              <a:gd name="connsiteX3-23" fmla="*/ 0 w 4508500"/>
              <a:gd name="connsiteY3-24" fmla="*/ 1879600 h 3657600"/>
              <a:gd name="connsiteX0-25" fmla="*/ 0 w 4508500"/>
              <a:gd name="connsiteY0-26" fmla="*/ 480291 h 2258291"/>
              <a:gd name="connsiteX1-27" fmla="*/ 2319481 w 4508500"/>
              <a:gd name="connsiteY1-28" fmla="*/ 0 h 2258291"/>
              <a:gd name="connsiteX2-29" fmla="*/ 4508500 w 4508500"/>
              <a:gd name="connsiteY2-30" fmla="*/ 2258291 h 2258291"/>
              <a:gd name="connsiteX3-31" fmla="*/ 0 w 4508500"/>
              <a:gd name="connsiteY3-32" fmla="*/ 480291 h 2258291"/>
              <a:gd name="connsiteX0-33" fmla="*/ 0 w 4508500"/>
              <a:gd name="connsiteY0-34" fmla="*/ 1006764 h 2784764"/>
              <a:gd name="connsiteX1-35" fmla="*/ 1959263 w 4508500"/>
              <a:gd name="connsiteY1-36" fmla="*/ 0 h 2784764"/>
              <a:gd name="connsiteX2-37" fmla="*/ 4508500 w 4508500"/>
              <a:gd name="connsiteY2-38" fmla="*/ 2784764 h 2784764"/>
              <a:gd name="connsiteX3-39" fmla="*/ 0 w 4508500"/>
              <a:gd name="connsiteY3-40" fmla="*/ 1006764 h 2784764"/>
              <a:gd name="connsiteX0-41" fmla="*/ 0 w 1959263"/>
              <a:gd name="connsiteY0-42" fmla="*/ 4608946 h 4608946"/>
              <a:gd name="connsiteX1-43" fmla="*/ 1959263 w 1959263"/>
              <a:gd name="connsiteY1-44" fmla="*/ 3602182 h 4608946"/>
              <a:gd name="connsiteX2-45" fmla="*/ 1141845 w 1959263"/>
              <a:gd name="connsiteY2-46" fmla="*/ 0 h 4608946"/>
              <a:gd name="connsiteX3-47" fmla="*/ 0 w 1959263"/>
              <a:gd name="connsiteY3-48" fmla="*/ 4608946 h 4608946"/>
              <a:gd name="connsiteX0-49" fmla="*/ 0 w 1959263"/>
              <a:gd name="connsiteY0-50" fmla="*/ 4719783 h 4719783"/>
              <a:gd name="connsiteX1-51" fmla="*/ 1959263 w 1959263"/>
              <a:gd name="connsiteY1-52" fmla="*/ 3713019 h 4719783"/>
              <a:gd name="connsiteX2-53" fmla="*/ 1127991 w 1959263"/>
              <a:gd name="connsiteY2-54" fmla="*/ 0 h 4719783"/>
              <a:gd name="connsiteX3-55" fmla="*/ 0 w 1959263"/>
              <a:gd name="connsiteY3-56" fmla="*/ 4719783 h 4719783"/>
              <a:gd name="connsiteX0-57" fmla="*/ 0 w 885205"/>
              <a:gd name="connsiteY0-58" fmla="*/ 6359897 h 6359897"/>
              <a:gd name="connsiteX1-59" fmla="*/ 885205 w 885205"/>
              <a:gd name="connsiteY1-60" fmla="*/ 3713019 h 6359897"/>
              <a:gd name="connsiteX2-61" fmla="*/ 53933 w 885205"/>
              <a:gd name="connsiteY2-62" fmla="*/ 0 h 6359897"/>
              <a:gd name="connsiteX3-63" fmla="*/ 0 w 885205"/>
              <a:gd name="connsiteY3-64" fmla="*/ 6359897 h 6359897"/>
              <a:gd name="connsiteX0-65" fmla="*/ 2776353 w 3661558"/>
              <a:gd name="connsiteY0-66" fmla="*/ 4095668 h 4095668"/>
              <a:gd name="connsiteX1-67" fmla="*/ 3661558 w 3661558"/>
              <a:gd name="connsiteY1-68" fmla="*/ 1448790 h 4095668"/>
              <a:gd name="connsiteX2-69" fmla="*/ 0 w 3661558"/>
              <a:gd name="connsiteY2-70" fmla="*/ 0 h 4095668"/>
              <a:gd name="connsiteX3-71" fmla="*/ 2776353 w 3661558"/>
              <a:gd name="connsiteY3-72" fmla="*/ 4095668 h 4095668"/>
              <a:gd name="connsiteX0-73" fmla="*/ 2776353 w 2993901"/>
              <a:gd name="connsiteY0-74" fmla="*/ 4095668 h 4095668"/>
              <a:gd name="connsiteX1-75" fmla="*/ 2993901 w 2993901"/>
              <a:gd name="connsiteY1-76" fmla="*/ 2305133 h 4095668"/>
              <a:gd name="connsiteX2-77" fmla="*/ 0 w 2993901"/>
              <a:gd name="connsiteY2-78" fmla="*/ 0 h 4095668"/>
              <a:gd name="connsiteX3-79" fmla="*/ 2776353 w 2993901"/>
              <a:gd name="connsiteY3-80" fmla="*/ 4095668 h 4095668"/>
              <a:gd name="connsiteX0-81" fmla="*/ 2776353 w 3356758"/>
              <a:gd name="connsiteY0-82" fmla="*/ 4095668 h 4095668"/>
              <a:gd name="connsiteX1-83" fmla="*/ 3356758 w 3356758"/>
              <a:gd name="connsiteY1-84" fmla="*/ 1971304 h 4095668"/>
              <a:gd name="connsiteX2-85" fmla="*/ 0 w 3356758"/>
              <a:gd name="connsiteY2-86" fmla="*/ 0 h 4095668"/>
              <a:gd name="connsiteX3-87" fmla="*/ 2776353 w 3356758"/>
              <a:gd name="connsiteY3-88" fmla="*/ 4095668 h 4095668"/>
            </a:gdLst>
            <a:ahLst/>
            <a:cxnLst>
              <a:cxn ang="0">
                <a:pos x="connsiteX0-81" y="connsiteY0-82"/>
              </a:cxn>
              <a:cxn ang="0">
                <a:pos x="connsiteX1-83" y="connsiteY1-84"/>
              </a:cxn>
              <a:cxn ang="0">
                <a:pos x="connsiteX2-85" y="connsiteY2-86"/>
              </a:cxn>
              <a:cxn ang="0">
                <a:pos x="connsiteX3-87" y="connsiteY3-88"/>
              </a:cxn>
            </a:cxnLst>
            <a:rect l="l" t="t" r="r" b="b"/>
            <a:pathLst>
              <a:path w="3356758" h="4095668">
                <a:moveTo>
                  <a:pt x="2776353" y="4095668"/>
                </a:moveTo>
                <a:lnTo>
                  <a:pt x="3356758" y="1971304"/>
                </a:lnTo>
                <a:lnTo>
                  <a:pt x="0" y="0"/>
                </a:lnTo>
                <a:lnTo>
                  <a:pt x="2776353" y="4095668"/>
                </a:lnTo>
                <a:close/>
              </a:path>
            </a:pathLst>
          </a:custGeom>
          <a:gradFill>
            <a:gsLst>
              <a:gs pos="40000">
                <a:srgbClr val="0194EF">
                  <a:alpha val="14902"/>
                </a:srgbClr>
              </a:gs>
              <a:gs pos="100000">
                <a:srgbClr val="0194EF">
                  <a:alpha val="0"/>
                </a:srgbClr>
              </a:gs>
            </a:gsLst>
            <a:lin ang="5400000" scaled="0"/>
          </a:gradFill>
          <a:ln>
            <a:gradFill>
              <a:gsLst>
                <a:gs pos="11000">
                  <a:srgbClr val="00FFFF">
                    <a:alpha val="57000"/>
                  </a:srgbClr>
                </a:gs>
                <a:gs pos="60000">
                  <a:srgbClr val="00B0F0">
                    <a:alpha val="36000"/>
                  </a:srgbClr>
                </a:gs>
                <a:gs pos="100000">
                  <a:srgbClr val="00B0F0">
                    <a:alpha val="0"/>
                  </a:srgbClr>
                </a:gs>
              </a:gsLst>
              <a:lin ang="5400000" scaled="0"/>
            </a:gra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Arial" pitchFamily="34" charset="0"/>
              <a:cs typeface="Arial" pitchFamily="34" charset="0"/>
            </a:endParaRPr>
          </a:p>
        </p:txBody>
      </p:sp>
      <p:sp>
        <p:nvSpPr>
          <p:cNvPr id="32" name="等腰三角形 5"/>
          <p:cNvSpPr/>
          <p:nvPr/>
        </p:nvSpPr>
        <p:spPr>
          <a:xfrm rot="10800000">
            <a:off x="7255815" y="4705741"/>
            <a:ext cx="835827" cy="797324"/>
          </a:xfrm>
          <a:custGeom>
            <a:avLst/>
            <a:gdLst>
              <a:gd name="connsiteX0" fmla="*/ 0 w 3505200"/>
              <a:gd name="connsiteY0" fmla="*/ 3352800 h 3352800"/>
              <a:gd name="connsiteX1" fmla="*/ 1752600 w 3505200"/>
              <a:gd name="connsiteY1" fmla="*/ 0 h 3352800"/>
              <a:gd name="connsiteX2" fmla="*/ 3505200 w 3505200"/>
              <a:gd name="connsiteY2" fmla="*/ 3352800 h 3352800"/>
              <a:gd name="connsiteX3" fmla="*/ 0 w 3505200"/>
              <a:gd name="connsiteY3" fmla="*/ 3352800 h 3352800"/>
              <a:gd name="connsiteX0-1" fmla="*/ 0 w 4025900"/>
              <a:gd name="connsiteY0-2" fmla="*/ 1625600 h 3352800"/>
              <a:gd name="connsiteX1-3" fmla="*/ 2273300 w 4025900"/>
              <a:gd name="connsiteY1-4" fmla="*/ 0 h 3352800"/>
              <a:gd name="connsiteX2-5" fmla="*/ 4025900 w 4025900"/>
              <a:gd name="connsiteY2-6" fmla="*/ 3352800 h 3352800"/>
              <a:gd name="connsiteX3-7" fmla="*/ 0 w 4025900"/>
              <a:gd name="connsiteY3-8" fmla="*/ 1625600 h 3352800"/>
              <a:gd name="connsiteX0-9" fmla="*/ 0 w 4025900"/>
              <a:gd name="connsiteY0-10" fmla="*/ 1879600 h 3606800"/>
              <a:gd name="connsiteX1-11" fmla="*/ 3746500 w 4025900"/>
              <a:gd name="connsiteY1-12" fmla="*/ 0 h 3606800"/>
              <a:gd name="connsiteX2-13" fmla="*/ 4025900 w 4025900"/>
              <a:gd name="connsiteY2-14" fmla="*/ 3606800 h 3606800"/>
              <a:gd name="connsiteX3-15" fmla="*/ 0 w 4025900"/>
              <a:gd name="connsiteY3-16" fmla="*/ 1879600 h 3606800"/>
              <a:gd name="connsiteX0-17" fmla="*/ 0 w 4508500"/>
              <a:gd name="connsiteY0-18" fmla="*/ 1879600 h 3657600"/>
              <a:gd name="connsiteX1-19" fmla="*/ 3746500 w 4508500"/>
              <a:gd name="connsiteY1-20" fmla="*/ 0 h 3657600"/>
              <a:gd name="connsiteX2-21" fmla="*/ 4508500 w 4508500"/>
              <a:gd name="connsiteY2-22" fmla="*/ 3657600 h 3657600"/>
              <a:gd name="connsiteX3-23" fmla="*/ 0 w 4508500"/>
              <a:gd name="connsiteY3-24" fmla="*/ 1879600 h 3657600"/>
              <a:gd name="connsiteX0-25" fmla="*/ 0 w 4508500"/>
              <a:gd name="connsiteY0-26" fmla="*/ 480291 h 2258291"/>
              <a:gd name="connsiteX1-27" fmla="*/ 2319481 w 4508500"/>
              <a:gd name="connsiteY1-28" fmla="*/ 0 h 2258291"/>
              <a:gd name="connsiteX2-29" fmla="*/ 4508500 w 4508500"/>
              <a:gd name="connsiteY2-30" fmla="*/ 2258291 h 2258291"/>
              <a:gd name="connsiteX3-31" fmla="*/ 0 w 4508500"/>
              <a:gd name="connsiteY3-32" fmla="*/ 480291 h 2258291"/>
              <a:gd name="connsiteX0-33" fmla="*/ 0 w 4508500"/>
              <a:gd name="connsiteY0-34" fmla="*/ 1006764 h 2784764"/>
              <a:gd name="connsiteX1-35" fmla="*/ 1959263 w 4508500"/>
              <a:gd name="connsiteY1-36" fmla="*/ 0 h 2784764"/>
              <a:gd name="connsiteX2-37" fmla="*/ 4508500 w 4508500"/>
              <a:gd name="connsiteY2-38" fmla="*/ 2784764 h 2784764"/>
              <a:gd name="connsiteX3-39" fmla="*/ 0 w 4508500"/>
              <a:gd name="connsiteY3-40" fmla="*/ 1006764 h 2784764"/>
              <a:gd name="connsiteX0-41" fmla="*/ 0 w 1959263"/>
              <a:gd name="connsiteY0-42" fmla="*/ 4608946 h 4608946"/>
              <a:gd name="connsiteX1-43" fmla="*/ 1959263 w 1959263"/>
              <a:gd name="connsiteY1-44" fmla="*/ 3602182 h 4608946"/>
              <a:gd name="connsiteX2-45" fmla="*/ 1141845 w 1959263"/>
              <a:gd name="connsiteY2-46" fmla="*/ 0 h 4608946"/>
              <a:gd name="connsiteX3-47" fmla="*/ 0 w 1959263"/>
              <a:gd name="connsiteY3-48" fmla="*/ 4608946 h 4608946"/>
              <a:gd name="connsiteX0-49" fmla="*/ 0 w 1959263"/>
              <a:gd name="connsiteY0-50" fmla="*/ 4719783 h 4719783"/>
              <a:gd name="connsiteX1-51" fmla="*/ 1959263 w 1959263"/>
              <a:gd name="connsiteY1-52" fmla="*/ 3713019 h 4719783"/>
              <a:gd name="connsiteX2-53" fmla="*/ 1127991 w 1959263"/>
              <a:gd name="connsiteY2-54" fmla="*/ 0 h 4719783"/>
              <a:gd name="connsiteX3-55" fmla="*/ 0 w 1959263"/>
              <a:gd name="connsiteY3-56" fmla="*/ 4719783 h 4719783"/>
              <a:gd name="connsiteX0-57" fmla="*/ 0 w 885205"/>
              <a:gd name="connsiteY0-58" fmla="*/ 6359897 h 6359897"/>
              <a:gd name="connsiteX1-59" fmla="*/ 885205 w 885205"/>
              <a:gd name="connsiteY1-60" fmla="*/ 3713019 h 6359897"/>
              <a:gd name="connsiteX2-61" fmla="*/ 53933 w 885205"/>
              <a:gd name="connsiteY2-62" fmla="*/ 0 h 6359897"/>
              <a:gd name="connsiteX3-63" fmla="*/ 0 w 885205"/>
              <a:gd name="connsiteY3-64" fmla="*/ 6359897 h 6359897"/>
              <a:gd name="connsiteX0-65" fmla="*/ 2776353 w 3661558"/>
              <a:gd name="connsiteY0-66" fmla="*/ 4095668 h 4095668"/>
              <a:gd name="connsiteX1-67" fmla="*/ 3661558 w 3661558"/>
              <a:gd name="connsiteY1-68" fmla="*/ 1448790 h 4095668"/>
              <a:gd name="connsiteX2-69" fmla="*/ 0 w 3661558"/>
              <a:gd name="connsiteY2-70" fmla="*/ 0 h 4095668"/>
              <a:gd name="connsiteX3-71" fmla="*/ 2776353 w 3661558"/>
              <a:gd name="connsiteY3-72" fmla="*/ 4095668 h 4095668"/>
              <a:gd name="connsiteX0-73" fmla="*/ 2776353 w 2993901"/>
              <a:gd name="connsiteY0-74" fmla="*/ 4095668 h 4095668"/>
              <a:gd name="connsiteX1-75" fmla="*/ 2993901 w 2993901"/>
              <a:gd name="connsiteY1-76" fmla="*/ 2305133 h 4095668"/>
              <a:gd name="connsiteX2-77" fmla="*/ 0 w 2993901"/>
              <a:gd name="connsiteY2-78" fmla="*/ 0 h 4095668"/>
              <a:gd name="connsiteX3-79" fmla="*/ 2776353 w 2993901"/>
              <a:gd name="connsiteY3-80" fmla="*/ 4095668 h 4095668"/>
              <a:gd name="connsiteX0-81" fmla="*/ 2776353 w 3356758"/>
              <a:gd name="connsiteY0-82" fmla="*/ 4095668 h 4095668"/>
              <a:gd name="connsiteX1-83" fmla="*/ 3356758 w 3356758"/>
              <a:gd name="connsiteY1-84" fmla="*/ 1971304 h 4095668"/>
              <a:gd name="connsiteX2-85" fmla="*/ 0 w 3356758"/>
              <a:gd name="connsiteY2-86" fmla="*/ 0 h 4095668"/>
              <a:gd name="connsiteX3-87" fmla="*/ 2776353 w 3356758"/>
              <a:gd name="connsiteY3-88" fmla="*/ 4095668 h 4095668"/>
              <a:gd name="connsiteX0-89" fmla="*/ 0 w 1113475"/>
              <a:gd name="connsiteY0-90" fmla="*/ 2124364 h 2426525"/>
              <a:gd name="connsiteX1-91" fmla="*/ 580405 w 1113475"/>
              <a:gd name="connsiteY1-92" fmla="*/ 0 h 2426525"/>
              <a:gd name="connsiteX2-93" fmla="*/ 1113475 w 1113475"/>
              <a:gd name="connsiteY2-94" fmla="*/ 2426525 h 2426525"/>
              <a:gd name="connsiteX3-95" fmla="*/ 0 w 1113475"/>
              <a:gd name="connsiteY3-96" fmla="*/ 2124364 h 2426525"/>
              <a:gd name="connsiteX0-97" fmla="*/ 0 w 1113475"/>
              <a:gd name="connsiteY0-98" fmla="*/ 760021 h 1062182"/>
              <a:gd name="connsiteX1-99" fmla="*/ 28862 w 1113475"/>
              <a:gd name="connsiteY1-100" fmla="*/ 0 h 1062182"/>
              <a:gd name="connsiteX2-101" fmla="*/ 1113475 w 1113475"/>
              <a:gd name="connsiteY2-102" fmla="*/ 1062182 h 1062182"/>
              <a:gd name="connsiteX3-103" fmla="*/ 0 w 1113475"/>
              <a:gd name="connsiteY3-104" fmla="*/ 760021 h 1062182"/>
            </a:gdLst>
            <a:ahLst/>
            <a:cxnLst>
              <a:cxn ang="0">
                <a:pos x="connsiteX0-97" y="connsiteY0-98"/>
              </a:cxn>
              <a:cxn ang="0">
                <a:pos x="connsiteX1-99" y="connsiteY1-100"/>
              </a:cxn>
              <a:cxn ang="0">
                <a:pos x="connsiteX2-101" y="connsiteY2-102"/>
              </a:cxn>
              <a:cxn ang="0">
                <a:pos x="connsiteX3-103" y="connsiteY3-104"/>
              </a:cxn>
            </a:cxnLst>
            <a:rect l="l" t="t" r="r" b="b"/>
            <a:pathLst>
              <a:path w="1113475" h="1062182">
                <a:moveTo>
                  <a:pt x="0" y="760021"/>
                </a:moveTo>
                <a:lnTo>
                  <a:pt x="28862" y="0"/>
                </a:lnTo>
                <a:lnTo>
                  <a:pt x="1113475" y="1062182"/>
                </a:lnTo>
                <a:lnTo>
                  <a:pt x="0" y="760021"/>
                </a:lnTo>
                <a:close/>
              </a:path>
            </a:pathLst>
          </a:custGeom>
          <a:gradFill>
            <a:gsLst>
              <a:gs pos="40000">
                <a:srgbClr val="0194EF">
                  <a:alpha val="14902"/>
                </a:srgbClr>
              </a:gs>
              <a:gs pos="100000">
                <a:srgbClr val="0194EF">
                  <a:alpha val="0"/>
                </a:srgbClr>
              </a:gs>
            </a:gsLst>
            <a:lin ang="5400000" scaled="0"/>
          </a:gradFill>
          <a:ln>
            <a:gradFill>
              <a:gsLst>
                <a:gs pos="11000">
                  <a:srgbClr val="00FFFF"/>
                </a:gs>
                <a:gs pos="60000">
                  <a:srgbClr val="00B0F0"/>
                </a:gs>
                <a:gs pos="100000">
                  <a:srgbClr val="00B0F0">
                    <a:alpha val="0"/>
                  </a:srgbClr>
                </a:gs>
              </a:gsLst>
              <a:lin ang="5400000" scaled="0"/>
            </a:gra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65093991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1311729" y="200391"/>
            <a:ext cx="9612085" cy="803322"/>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r>
              <a:rPr lang="zh-CN" altLang="en-US" sz="3200" dirty="0" smtClean="0">
                <a:solidFill>
                  <a:schemeClr val="bg1"/>
                </a:solidFill>
              </a:rPr>
              <a:t>超越传统思维方式</a:t>
            </a:r>
            <a:r>
              <a:rPr lang="en-US" altLang="zh-CN" sz="3200" dirty="0" smtClean="0">
                <a:solidFill>
                  <a:schemeClr val="bg1"/>
                </a:solidFill>
              </a:rPr>
              <a:t>-</a:t>
            </a:r>
            <a:r>
              <a:rPr lang="zh-CN" altLang="en-US" sz="3200" dirty="0" smtClean="0">
                <a:solidFill>
                  <a:schemeClr val="bg1"/>
                </a:solidFill>
              </a:rPr>
              <a:t>批判性思维</a:t>
            </a:r>
            <a:endParaRPr lang="en-US" altLang="zh-CN" sz="3200" dirty="0">
              <a:solidFill>
                <a:schemeClr val="bg1"/>
              </a:solidFill>
            </a:endParaRPr>
          </a:p>
        </p:txBody>
      </p:sp>
      <p:sp>
        <p:nvSpPr>
          <p:cNvPr id="2" name="矩形 1"/>
          <p:cNvSpPr/>
          <p:nvPr/>
        </p:nvSpPr>
        <p:spPr>
          <a:xfrm>
            <a:off x="511629" y="1055914"/>
            <a:ext cx="11476007" cy="5258187"/>
          </a:xfrm>
          <a:prstGeom prst="rect">
            <a:avLst/>
          </a:prstGeom>
        </p:spPr>
        <p:txBody>
          <a:bodyPr wrap="square" lIns="86694" tIns="43347" rIns="86694" bIns="43347">
            <a:spAutoFit/>
          </a:bodyPr>
          <a:lstStyle/>
          <a:p>
            <a:r>
              <a:rPr lang="zh-CN" altLang="en-US" sz="3200" b="1" dirty="0">
                <a:solidFill>
                  <a:srgbClr val="FFC000"/>
                </a:solidFill>
                <a:latin typeface="微软雅黑" panose="020B0503020204020204" pitchFamily="34" charset="-122"/>
                <a:ea typeface="微软雅黑" panose="020B0503020204020204" pitchFamily="34" charset="-122"/>
              </a:rPr>
              <a:t>思维方式的培养甚至比具体知识更</a:t>
            </a:r>
            <a:r>
              <a:rPr lang="zh-CN" altLang="en-US" sz="3200" b="1" dirty="0" smtClean="0">
                <a:solidFill>
                  <a:srgbClr val="FFC000"/>
                </a:solidFill>
                <a:latin typeface="微软雅黑" panose="020B0503020204020204" pitchFamily="34" charset="-122"/>
                <a:ea typeface="微软雅黑" panose="020B0503020204020204" pitchFamily="34" charset="-122"/>
              </a:rPr>
              <a:t>重要</a:t>
            </a:r>
            <a:endParaRPr lang="en-US" altLang="zh-CN" sz="3200" b="1" dirty="0" smtClean="0">
              <a:solidFill>
                <a:srgbClr val="FFC000"/>
              </a:solidFill>
              <a:latin typeface="微软雅黑" panose="020B0503020204020204" pitchFamily="34" charset="-122"/>
              <a:ea typeface="微软雅黑" panose="020B0503020204020204" pitchFamily="34" charset="-122"/>
            </a:endParaRPr>
          </a:p>
          <a:p>
            <a:endParaRPr lang="en-US" altLang="zh-CN" sz="3200" b="1" dirty="0">
              <a:solidFill>
                <a:srgbClr val="FFC000"/>
              </a:solidFill>
              <a:latin typeface="微软雅黑" panose="020B0503020204020204" pitchFamily="34" charset="-122"/>
              <a:ea typeface="微软雅黑" panose="020B0503020204020204" pitchFamily="34" charset="-122"/>
            </a:endParaRPr>
          </a:p>
          <a:p>
            <a:r>
              <a:rPr lang="zh-CN" altLang="zh-CN" sz="3200" b="1" dirty="0">
                <a:solidFill>
                  <a:schemeClr val="bg1"/>
                </a:solidFill>
                <a:latin typeface="微软雅黑" panose="020B0503020204020204" pitchFamily="34" charset="-122"/>
                <a:ea typeface="微软雅黑" panose="020B0503020204020204" pitchFamily="34" charset="-122"/>
              </a:rPr>
              <a:t>马克</a:t>
            </a:r>
            <a:r>
              <a:rPr lang="en-US" altLang="zh-CN" sz="3200" b="1" dirty="0">
                <a:solidFill>
                  <a:schemeClr val="bg1"/>
                </a:solidFill>
                <a:latin typeface="微软雅黑" panose="020B0503020204020204" pitchFamily="34" charset="-122"/>
                <a:ea typeface="微软雅黑" panose="020B0503020204020204" pitchFamily="34" charset="-122"/>
              </a:rPr>
              <a:t>.</a:t>
            </a:r>
            <a:r>
              <a:rPr lang="zh-CN" altLang="zh-CN" sz="3200" b="1" dirty="0">
                <a:solidFill>
                  <a:schemeClr val="bg1"/>
                </a:solidFill>
                <a:latin typeface="微软雅黑" panose="020B0503020204020204" pitchFamily="34" charset="-122"/>
                <a:ea typeface="微软雅黑" panose="020B0503020204020204" pitchFamily="34" charset="-122"/>
              </a:rPr>
              <a:t>巴特斯比</a:t>
            </a:r>
            <a:r>
              <a:rPr lang="zh-CN" altLang="zh-CN" sz="3200" dirty="0">
                <a:solidFill>
                  <a:schemeClr val="bg1"/>
                </a:solidFill>
                <a:latin typeface="微软雅黑" panose="020B0503020204020204" pitchFamily="34" charset="-122"/>
                <a:ea typeface="微软雅黑" panose="020B0503020204020204" pitchFamily="34" charset="-122"/>
              </a:rPr>
              <a:t>（</a:t>
            </a:r>
            <a:r>
              <a:rPr lang="en-US" altLang="zh-CN" sz="3200" dirty="0">
                <a:solidFill>
                  <a:schemeClr val="bg1"/>
                </a:solidFill>
                <a:latin typeface="微软雅黑" panose="020B0503020204020204" pitchFamily="34" charset="-122"/>
                <a:ea typeface="微软雅黑" panose="020B0503020204020204" pitchFamily="34" charset="-122"/>
              </a:rPr>
              <a:t>Mark </a:t>
            </a:r>
            <a:r>
              <a:rPr lang="en-US" altLang="zh-CN" sz="3200" dirty="0" err="1">
                <a:solidFill>
                  <a:schemeClr val="bg1"/>
                </a:solidFill>
                <a:latin typeface="微软雅黑" panose="020B0503020204020204" pitchFamily="34" charset="-122"/>
                <a:ea typeface="微软雅黑" panose="020B0503020204020204" pitchFamily="34" charset="-122"/>
              </a:rPr>
              <a:t>Battersby</a:t>
            </a:r>
            <a:r>
              <a:rPr lang="zh-CN" altLang="zh-CN" sz="3200" dirty="0">
                <a:solidFill>
                  <a:schemeClr val="bg1"/>
                </a:solidFill>
                <a:latin typeface="微软雅黑" panose="020B0503020204020204" pitchFamily="34" charset="-122"/>
                <a:ea typeface="微软雅黑" panose="020B0503020204020204" pitchFamily="34" charset="-122"/>
              </a:rPr>
              <a:t>）</a:t>
            </a:r>
          </a:p>
          <a:p>
            <a:pPr>
              <a:buFont typeface="Wingdings" panose="05000000000000000000" pitchFamily="2" charset="2"/>
              <a:buChar char="n"/>
            </a:pPr>
            <a:r>
              <a:rPr lang="zh-CN" altLang="zh-CN" sz="3200" dirty="0">
                <a:solidFill>
                  <a:schemeClr val="bg1"/>
                </a:solidFill>
                <a:latin typeface="微软雅黑" panose="020B0503020204020204" pitchFamily="34" charset="-122"/>
                <a:ea typeface="微软雅黑" panose="020B0503020204020204" pitchFamily="34" charset="-122"/>
              </a:rPr>
              <a:t>“更多的时候，我们会对自己不认同的想法持批判态度。但真正的批判性思维不仅仅是怀疑那些你不愿意相信的东西，</a:t>
            </a:r>
            <a:r>
              <a:rPr lang="zh-CN" altLang="zh-CN" sz="3200" b="1" dirty="0">
                <a:solidFill>
                  <a:schemeClr val="bg1"/>
                </a:solidFill>
                <a:latin typeface="微软雅黑" panose="020B0503020204020204" pitchFamily="34" charset="-122"/>
                <a:ea typeface="微软雅黑" panose="020B0503020204020204" pitchFamily="34" charset="-122"/>
              </a:rPr>
              <a:t>真正的批判性思维包含理性的怀疑主义</a:t>
            </a:r>
            <a:r>
              <a:rPr lang="zh-CN" altLang="zh-CN" sz="3200" dirty="0">
                <a:solidFill>
                  <a:schemeClr val="bg1"/>
                </a:solidFill>
                <a:latin typeface="微软雅黑" panose="020B0503020204020204" pitchFamily="34" charset="-122"/>
                <a:ea typeface="微软雅黑" panose="020B0503020204020204" pitchFamily="34" charset="-122"/>
              </a:rPr>
              <a:t>——一种问以下问题的习惯</a:t>
            </a:r>
            <a:r>
              <a:rPr lang="en-US" altLang="zh-CN" sz="3200" dirty="0">
                <a:solidFill>
                  <a:schemeClr val="bg1"/>
                </a:solidFill>
                <a:latin typeface="微软雅黑" panose="020B0503020204020204" pitchFamily="34" charset="-122"/>
                <a:ea typeface="微软雅黑" panose="020B0503020204020204" pitchFamily="34" charset="-122"/>
              </a:rPr>
              <a:t>:</a:t>
            </a:r>
            <a:r>
              <a:rPr lang="zh-CN" altLang="zh-CN" sz="3200" dirty="0">
                <a:solidFill>
                  <a:schemeClr val="bg1"/>
                </a:solidFill>
                <a:latin typeface="微软雅黑" panose="020B0503020204020204" pitchFamily="34" charset="-122"/>
                <a:ea typeface="微软雅黑" panose="020B0503020204020204" pitchFamily="34" charset="-122"/>
              </a:rPr>
              <a:t>他们怎么知道这些的？这个论断的证据是什么？其概括有没有反例？” </a:t>
            </a:r>
            <a:r>
              <a:rPr lang="zh-CN" altLang="zh-CN" sz="2400" dirty="0">
                <a:solidFill>
                  <a:schemeClr val="bg1"/>
                </a:solidFill>
                <a:latin typeface="微软雅黑" panose="020B0503020204020204" pitchFamily="34" charset="-122"/>
                <a:ea typeface="微软雅黑" panose="020B0503020204020204" pitchFamily="34" charset="-122"/>
              </a:rPr>
              <a:t>张立英译，这是事实吗？——用批判性思维评估统计数据和科学信息，上海教育出版社，</a:t>
            </a:r>
            <a:r>
              <a:rPr lang="en-US" altLang="zh-CN" sz="2400" dirty="0" smtClean="0">
                <a:solidFill>
                  <a:schemeClr val="bg1"/>
                </a:solidFill>
                <a:latin typeface="微软雅黑" panose="020B0503020204020204" pitchFamily="34" charset="-122"/>
                <a:ea typeface="微软雅黑" panose="020B0503020204020204" pitchFamily="34" charset="-122"/>
              </a:rPr>
              <a:t>2017.pp.8</a:t>
            </a:r>
          </a:p>
          <a:p>
            <a:endParaRPr lang="en-US" altLang="zh-CN" sz="2400" dirty="0">
              <a:solidFill>
                <a:schemeClr val="bg1"/>
              </a:solidFill>
              <a:latin typeface="微软雅黑" panose="020B0503020204020204" pitchFamily="34" charset="-122"/>
              <a:ea typeface="微软雅黑" panose="020B0503020204020204" pitchFamily="34" charset="-122"/>
            </a:endParaRPr>
          </a:p>
          <a:p>
            <a:r>
              <a:rPr lang="zh-CN" altLang="en-US" sz="3200" dirty="0" smtClean="0">
                <a:solidFill>
                  <a:schemeClr val="bg1"/>
                </a:solidFill>
                <a:latin typeface="微软雅黑" panose="020B0503020204020204" pitchFamily="34" charset="-122"/>
                <a:ea typeface="微软雅黑" panose="020B0503020204020204" pitchFamily="34" charset="-122"/>
              </a:rPr>
              <a:t>数字智能时代，急剧变化的时代，更需要批判性思维！</a:t>
            </a:r>
            <a:endParaRPr lang="zh-CN" altLang="zh-CN" sz="32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904173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1311729" y="200391"/>
            <a:ext cx="9612085" cy="807576"/>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r>
              <a:rPr lang="zh-CN" altLang="en-US" sz="3200" dirty="0" smtClean="0">
                <a:solidFill>
                  <a:schemeClr val="bg1"/>
                </a:solidFill>
              </a:rPr>
              <a:t>超越常规性思维</a:t>
            </a:r>
            <a:r>
              <a:rPr lang="en-US" altLang="zh-CN" sz="3200" dirty="0" smtClean="0">
                <a:solidFill>
                  <a:schemeClr val="bg1"/>
                </a:solidFill>
                <a:sym typeface="Wingdings" panose="05000000000000000000" pitchFamily="2" charset="2"/>
              </a:rPr>
              <a:t></a:t>
            </a:r>
            <a:r>
              <a:rPr lang="zh-CN" altLang="en-US" sz="3200" dirty="0" smtClean="0">
                <a:solidFill>
                  <a:schemeClr val="bg1"/>
                </a:solidFill>
              </a:rPr>
              <a:t>批判性、发散性思维</a:t>
            </a:r>
            <a:endParaRPr lang="en-US" altLang="zh-CN" sz="3200" dirty="0"/>
          </a:p>
        </p:txBody>
      </p:sp>
      <p:sp>
        <p:nvSpPr>
          <p:cNvPr id="2" name="矩形 1"/>
          <p:cNvSpPr/>
          <p:nvPr/>
        </p:nvSpPr>
        <p:spPr>
          <a:xfrm>
            <a:off x="364671" y="1072243"/>
            <a:ext cx="11370129" cy="6102340"/>
          </a:xfrm>
          <a:prstGeom prst="rect">
            <a:avLst/>
          </a:prstGeom>
        </p:spPr>
        <p:txBody>
          <a:bodyPr wrap="square" lIns="86694" tIns="43347" rIns="86694" bIns="43347">
            <a:spAutoFit/>
          </a:bodyPr>
          <a:lstStyle/>
          <a:p>
            <a:pPr>
              <a:buFont typeface="Wingdings" panose="05000000000000000000" pitchFamily="2" charset="2"/>
              <a:buChar char="n"/>
            </a:pPr>
            <a:r>
              <a:rPr lang="zh-CN" altLang="en-US" sz="3200" dirty="0">
                <a:solidFill>
                  <a:schemeClr val="bg1"/>
                </a:solidFill>
                <a:latin typeface="微软雅黑" panose="020B0503020204020204" pitchFamily="34" charset="-122"/>
                <a:ea typeface="微软雅黑" panose="020B0503020204020204" pitchFamily="34" charset="-122"/>
              </a:rPr>
              <a:t>打破一切知识的藩篱，回归到事物本源去思考基础性的问题，</a:t>
            </a:r>
            <a:r>
              <a:rPr lang="zh-CN" altLang="en-US" sz="3200" b="1" dirty="0">
                <a:solidFill>
                  <a:schemeClr val="bg1"/>
                </a:solidFill>
                <a:latin typeface="微软雅黑" panose="020B0503020204020204" pitchFamily="34" charset="-122"/>
                <a:ea typeface="微软雅黑" panose="020B0503020204020204" pitchFamily="34" charset="-122"/>
              </a:rPr>
              <a:t>在不参照经验或其它的情况下，从物质</a:t>
            </a:r>
            <a:r>
              <a:rPr lang="en-US" altLang="zh-CN" sz="3200" b="1" dirty="0">
                <a:solidFill>
                  <a:schemeClr val="bg1"/>
                </a:solidFill>
                <a:latin typeface="微软雅黑" panose="020B0503020204020204" pitchFamily="34" charset="-122"/>
                <a:ea typeface="微软雅黑" panose="020B0503020204020204" pitchFamily="34" charset="-122"/>
              </a:rPr>
              <a:t>/</a:t>
            </a:r>
            <a:r>
              <a:rPr lang="zh-CN" altLang="en-US" sz="3200" b="1" dirty="0">
                <a:solidFill>
                  <a:schemeClr val="bg1"/>
                </a:solidFill>
                <a:latin typeface="微软雅黑" panose="020B0503020204020204" pitchFamily="34" charset="-122"/>
                <a:ea typeface="微软雅黑" panose="020B0503020204020204" pitchFamily="34" charset="-122"/>
              </a:rPr>
              <a:t>世界的最本源出发思考事物</a:t>
            </a:r>
            <a:r>
              <a:rPr lang="en-US" altLang="zh-CN" sz="3200" b="1" dirty="0">
                <a:solidFill>
                  <a:schemeClr val="bg1"/>
                </a:solidFill>
                <a:latin typeface="微软雅黑" panose="020B0503020204020204" pitchFamily="34" charset="-122"/>
                <a:ea typeface="微软雅黑" panose="020B0503020204020204" pitchFamily="34" charset="-122"/>
              </a:rPr>
              <a:t>/</a:t>
            </a:r>
            <a:r>
              <a:rPr lang="zh-CN" altLang="en-US" sz="3200" b="1" dirty="0">
                <a:solidFill>
                  <a:schemeClr val="bg1"/>
                </a:solidFill>
                <a:latin typeface="微软雅黑" panose="020B0503020204020204" pitchFamily="34" charset="-122"/>
                <a:ea typeface="微软雅黑" panose="020B0503020204020204" pitchFamily="34" charset="-122"/>
              </a:rPr>
              <a:t>系统。</a:t>
            </a:r>
          </a:p>
          <a:p>
            <a:pPr>
              <a:buFont typeface="Wingdings" panose="05000000000000000000" pitchFamily="2" charset="2"/>
              <a:buChar char="n"/>
            </a:pPr>
            <a:r>
              <a:rPr lang="zh-CN" altLang="en-US" sz="3200" b="1" dirty="0" smtClean="0">
                <a:solidFill>
                  <a:schemeClr val="bg1"/>
                </a:solidFill>
                <a:latin typeface="微软雅黑" panose="020B0503020204020204" pitchFamily="34" charset="-122"/>
                <a:ea typeface="微软雅黑" panose="020B0503020204020204" pitchFamily="34" charset="-122"/>
              </a:rPr>
              <a:t>马斯克</a:t>
            </a:r>
            <a:r>
              <a:rPr lang="zh-CN" altLang="en-US" sz="3200" dirty="0" smtClean="0">
                <a:solidFill>
                  <a:schemeClr val="bg1"/>
                </a:solidFill>
                <a:latin typeface="微软雅黑" panose="020B0503020204020204" pitchFamily="34" charset="-122"/>
                <a:ea typeface="微软雅黑" panose="020B0503020204020204" pitchFamily="34" charset="-122"/>
              </a:rPr>
              <a:t>：“</a:t>
            </a:r>
            <a:r>
              <a:rPr lang="zh-CN" altLang="en-US" sz="3200" dirty="0">
                <a:solidFill>
                  <a:schemeClr val="bg1"/>
                </a:solidFill>
                <a:latin typeface="微软雅黑" panose="020B0503020204020204" pitchFamily="34" charset="-122"/>
                <a:ea typeface="微软雅黑" panose="020B0503020204020204" pitchFamily="34" charset="-122"/>
              </a:rPr>
              <a:t>我相信有一种很好的思考架构，就是</a:t>
            </a:r>
            <a:r>
              <a:rPr lang="zh-CN" altLang="en-US" sz="3200" b="1" dirty="0">
                <a:solidFill>
                  <a:schemeClr val="bg1"/>
                </a:solidFill>
                <a:latin typeface="微软雅黑" panose="020B0503020204020204" pitchFamily="34" charset="-122"/>
                <a:ea typeface="微软雅黑" panose="020B0503020204020204" pitchFamily="34" charset="-122"/>
              </a:rPr>
              <a:t>第一性原理</a:t>
            </a:r>
            <a:r>
              <a:rPr lang="zh-CN" altLang="en-US" sz="3200" dirty="0">
                <a:solidFill>
                  <a:schemeClr val="bg1"/>
                </a:solidFill>
                <a:latin typeface="微软雅黑" panose="020B0503020204020204" pitchFamily="34" charset="-122"/>
                <a:ea typeface="微软雅黑" panose="020B0503020204020204" pitchFamily="34" charset="-122"/>
              </a:rPr>
              <a:t>，我们能够真正地去思考一些基础的真理，并且从中去论证，而不是类推。我们绝大多数时候都是类推地思考问题，也就是模仿别人做的事情并加以微幅更改。但当你想要做一些新的东西时，必须要运用第一性原理来思考。</a:t>
            </a:r>
            <a:r>
              <a:rPr lang="zh-CN" altLang="en-US" sz="3200" dirty="0" smtClean="0">
                <a:solidFill>
                  <a:schemeClr val="bg1"/>
                </a:solidFill>
                <a:latin typeface="微软雅黑" panose="020B0503020204020204" pitchFamily="34" charset="-122"/>
                <a:ea typeface="微软雅黑" panose="020B0503020204020204" pitchFamily="34" charset="-122"/>
              </a:rPr>
              <a:t>”他发现</a:t>
            </a:r>
            <a:r>
              <a:rPr lang="zh-CN" altLang="en-US" sz="3200" dirty="0">
                <a:solidFill>
                  <a:schemeClr val="bg1"/>
                </a:solidFill>
                <a:latin typeface="微软雅黑" panose="020B0503020204020204" pitchFamily="34" charset="-122"/>
                <a:ea typeface="微软雅黑" panose="020B0503020204020204" pitchFamily="34" charset="-122"/>
              </a:rPr>
              <a:t>发射燃料只占总成本的</a:t>
            </a:r>
            <a:r>
              <a:rPr lang="en-US" altLang="zh-CN" sz="3200" dirty="0">
                <a:solidFill>
                  <a:schemeClr val="bg1"/>
                </a:solidFill>
                <a:latin typeface="微软雅黑" panose="020B0503020204020204" pitchFamily="34" charset="-122"/>
                <a:ea typeface="微软雅黑" panose="020B0503020204020204" pitchFamily="34" charset="-122"/>
              </a:rPr>
              <a:t>2%</a:t>
            </a:r>
            <a:r>
              <a:rPr lang="zh-CN" altLang="en-US" sz="3200" dirty="0">
                <a:solidFill>
                  <a:schemeClr val="bg1"/>
                </a:solidFill>
                <a:latin typeface="微软雅黑" panose="020B0503020204020204" pitchFamily="34" charset="-122"/>
                <a:ea typeface="微软雅黑" panose="020B0503020204020204" pitchFamily="34" charset="-122"/>
              </a:rPr>
              <a:t>，最大的成本来自火箭本身，所以他才提出了可重复利用火箭。发现电动车的最大成本来自电池，通过解构和组合可以大幅降到每千瓦</a:t>
            </a:r>
            <a:r>
              <a:rPr lang="en-US" altLang="zh-CN" sz="3200" dirty="0">
                <a:solidFill>
                  <a:schemeClr val="bg1"/>
                </a:solidFill>
                <a:latin typeface="微软雅黑" panose="020B0503020204020204" pitchFamily="34" charset="-122"/>
                <a:ea typeface="微软雅黑" panose="020B0503020204020204" pitchFamily="34" charset="-122"/>
              </a:rPr>
              <a:t>80</a:t>
            </a:r>
            <a:r>
              <a:rPr lang="zh-CN" altLang="en-US" sz="3200" dirty="0">
                <a:solidFill>
                  <a:schemeClr val="bg1"/>
                </a:solidFill>
                <a:latin typeface="微软雅黑" panose="020B0503020204020204" pitchFamily="34" charset="-122"/>
                <a:ea typeface="微软雅黑" panose="020B0503020204020204" pitchFamily="34" charset="-122"/>
              </a:rPr>
              <a:t>美元</a:t>
            </a:r>
            <a:r>
              <a:rPr lang="zh-CN" altLang="en-US" sz="3200" dirty="0" smtClean="0">
                <a:solidFill>
                  <a:schemeClr val="bg1"/>
                </a:solidFill>
                <a:latin typeface="微软雅黑" panose="020B0503020204020204" pitchFamily="34" charset="-122"/>
                <a:ea typeface="微软雅黑" panose="020B0503020204020204" pitchFamily="34" charset="-122"/>
              </a:rPr>
              <a:t>。</a:t>
            </a:r>
            <a:endParaRPr lang="en-US" altLang="zh-CN" sz="3200" dirty="0" smtClean="0">
              <a:solidFill>
                <a:schemeClr val="bg1"/>
              </a:solidFill>
              <a:latin typeface="微软雅黑" panose="020B0503020204020204" pitchFamily="34" charset="-122"/>
              <a:ea typeface="微软雅黑" panose="020B0503020204020204" pitchFamily="34" charset="-122"/>
            </a:endParaRPr>
          </a:p>
          <a:p>
            <a:endParaRPr lang="en-US" altLang="zh-CN" sz="2400" b="1" dirty="0">
              <a:solidFill>
                <a:schemeClr val="bg1"/>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3718478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1311729" y="200391"/>
            <a:ext cx="9612085" cy="697680"/>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r>
              <a:rPr lang="zh-CN" altLang="en-US" sz="3200" dirty="0" smtClean="0">
                <a:solidFill>
                  <a:schemeClr val="bg1"/>
                </a:solidFill>
              </a:rPr>
              <a:t>超越常规性思维</a:t>
            </a:r>
            <a:r>
              <a:rPr lang="en-US" altLang="zh-CN" sz="3200" dirty="0" smtClean="0">
                <a:solidFill>
                  <a:schemeClr val="bg1"/>
                </a:solidFill>
                <a:sym typeface="Wingdings" panose="05000000000000000000" pitchFamily="2" charset="2"/>
              </a:rPr>
              <a:t></a:t>
            </a:r>
            <a:r>
              <a:rPr lang="zh-CN" altLang="en-US" sz="3200" dirty="0" smtClean="0">
                <a:solidFill>
                  <a:schemeClr val="bg1"/>
                </a:solidFill>
              </a:rPr>
              <a:t>批判性、发散性思维</a:t>
            </a:r>
            <a:endParaRPr lang="en-US" altLang="zh-CN" sz="3200" dirty="0">
              <a:solidFill>
                <a:schemeClr val="bg1"/>
              </a:solidFill>
            </a:endParaRPr>
          </a:p>
        </p:txBody>
      </p:sp>
      <p:sp>
        <p:nvSpPr>
          <p:cNvPr id="5" name="Rectangle 3"/>
          <p:cNvSpPr txBox="1">
            <a:spLocks noChangeArrowheads="1"/>
          </p:cNvSpPr>
          <p:nvPr/>
        </p:nvSpPr>
        <p:spPr>
          <a:xfrm>
            <a:off x="203591" y="6425586"/>
            <a:ext cx="11770935" cy="367914"/>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000" dirty="0" smtClean="0">
                <a:solidFill>
                  <a:schemeClr val="bg1"/>
                </a:solidFill>
                <a:latin typeface="微软雅黑" panose="020B0503020204020204" pitchFamily="34" charset="-122"/>
                <a:ea typeface="微软雅黑" panose="020B0503020204020204" pitchFamily="34" charset="-122"/>
              </a:rPr>
              <a:t>来源：屈</a:t>
            </a:r>
            <a:r>
              <a:rPr lang="zh-CN" altLang="en-US" sz="2000" dirty="0">
                <a:solidFill>
                  <a:schemeClr val="bg1"/>
                </a:solidFill>
                <a:latin typeface="微软雅黑" panose="020B0503020204020204" pitchFamily="34" charset="-122"/>
                <a:ea typeface="微软雅黑" panose="020B0503020204020204" pitchFamily="34" charset="-122"/>
              </a:rPr>
              <a:t>向</a:t>
            </a:r>
            <a:r>
              <a:rPr lang="zh-CN" altLang="en-US" sz="2000" dirty="0" smtClean="0">
                <a:solidFill>
                  <a:schemeClr val="bg1"/>
                </a:solidFill>
                <a:latin typeface="微软雅黑" panose="020B0503020204020204" pitchFamily="34" charset="-122"/>
                <a:ea typeface="微软雅黑" panose="020B0503020204020204" pitchFamily="34" charset="-122"/>
              </a:rPr>
              <a:t>军</a:t>
            </a:r>
            <a:endParaRPr lang="zh-CN" altLang="zh-CN" sz="2000" dirty="0">
              <a:solidFill>
                <a:schemeClr val="bg1"/>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4"/>
          <a:stretch>
            <a:fillRect/>
          </a:stretch>
        </p:blipFill>
        <p:spPr>
          <a:xfrm>
            <a:off x="131583" y="1083129"/>
            <a:ext cx="11948582" cy="5372951"/>
          </a:xfrm>
          <a:prstGeom prst="rect">
            <a:avLst/>
          </a:prstGeom>
        </p:spPr>
      </p:pic>
    </p:spTree>
    <p:extLst>
      <p:ext uri="{BB962C8B-B14F-4D97-AF65-F5344CB8AC3E}">
        <p14:creationId xmlns:p14="http://schemas.microsoft.com/office/powerpoint/2010/main" val="39938880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C8FD9-7A58-BE49-2BE8-065B13AB33FA}"/>
            </a:ext>
          </a:extLst>
        </p:cNvPr>
        <p:cNvGrpSpPr/>
        <p:nvPr/>
      </p:nvGrpSpPr>
      <p:grpSpPr>
        <a:xfrm>
          <a:off x="0" y="0"/>
          <a:ext cx="0" cy="0"/>
          <a:chOff x="0" y="0"/>
          <a:chExt cx="0" cy="0"/>
        </a:xfrm>
      </p:grpSpPr>
      <p:pic>
        <p:nvPicPr>
          <p:cNvPr id="13" name="图片 12">
            <a:extLst>
              <a:ext uri="{FF2B5EF4-FFF2-40B4-BE49-F238E27FC236}">
                <a16:creationId xmlns:a16="http://schemas.microsoft.com/office/drawing/2014/main" id="{7295A792-6CC1-3DD0-DC50-B06F07BBB0E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7" name="TextBox 48">
            <a:extLst>
              <a:ext uri="{FF2B5EF4-FFF2-40B4-BE49-F238E27FC236}">
                <a16:creationId xmlns:a16="http://schemas.microsoft.com/office/drawing/2014/main" id="{FC14565C-F6FD-9A93-BD16-7F133E55CAE6}"/>
              </a:ext>
            </a:extLst>
          </p:cNvPr>
          <p:cNvSpPr txBox="1"/>
          <p:nvPr/>
        </p:nvSpPr>
        <p:spPr>
          <a:xfrm>
            <a:off x="660064" y="2234527"/>
            <a:ext cx="10989010" cy="1107996"/>
          </a:xfrm>
          <a:prstGeom prst="rect">
            <a:avLst/>
          </a:prstGeom>
          <a:noFill/>
        </p:spPr>
        <p:txBody>
          <a:bodyPr wrap="square" lIns="0" tIns="0" rIns="0" bIns="0" rtlCol="0">
            <a:spAutoFit/>
          </a:bodyPr>
          <a:lstStyle/>
          <a:p>
            <a:pPr algn="ctr">
              <a:lnSpc>
                <a:spcPct val="150000"/>
              </a:lnSpc>
            </a:pPr>
            <a:r>
              <a:rPr lang="zh-CN" altLang="en-US" sz="4800" b="1" dirty="0" smtClean="0">
                <a:solidFill>
                  <a:srgbClr val="FFC000"/>
                </a:solidFill>
                <a:ea typeface="微软雅黑" panose="020B0503020204020204" pitchFamily="34" charset="-122"/>
              </a:rPr>
              <a:t>避免</a:t>
            </a:r>
            <a:r>
              <a:rPr lang="zh-CN" altLang="en-US" sz="4800" b="1" dirty="0">
                <a:solidFill>
                  <a:srgbClr val="FFC000"/>
                </a:solidFill>
                <a:ea typeface="微软雅黑" panose="020B0503020204020204" pitchFamily="34" charset="-122"/>
              </a:rPr>
              <a:t>“计算性思维”</a:t>
            </a:r>
            <a:endParaRPr lang="en-US" altLang="zh-CN" sz="4800" b="1" dirty="0">
              <a:solidFill>
                <a:srgbClr val="FFC000"/>
              </a:solidFill>
              <a:ea typeface="微软雅黑" panose="020B0503020204020204" pitchFamily="34" charset="-122"/>
            </a:endParaRPr>
          </a:p>
        </p:txBody>
      </p:sp>
      <p:sp>
        <p:nvSpPr>
          <p:cNvPr id="2" name="标题 1">
            <a:extLst>
              <a:ext uri="{FF2B5EF4-FFF2-40B4-BE49-F238E27FC236}">
                <a16:creationId xmlns:a16="http://schemas.microsoft.com/office/drawing/2014/main" id="{F7896A15-471C-F265-C502-18CF11442F6E}"/>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16685958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1311729" y="200391"/>
            <a:ext cx="9612085" cy="975266"/>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r>
              <a:rPr lang="zh-CN" altLang="en-US" sz="3200" dirty="0"/>
              <a:t>计算性思维？</a:t>
            </a:r>
            <a:endParaRPr lang="en-US" altLang="zh-CN" sz="3200" dirty="0"/>
          </a:p>
        </p:txBody>
      </p:sp>
      <p:sp>
        <p:nvSpPr>
          <p:cNvPr id="2" name="矩形 1"/>
          <p:cNvSpPr/>
          <p:nvPr/>
        </p:nvSpPr>
        <p:spPr>
          <a:xfrm>
            <a:off x="270294" y="1253706"/>
            <a:ext cx="11581047" cy="5319742"/>
          </a:xfrm>
          <a:prstGeom prst="rect">
            <a:avLst/>
          </a:prstGeom>
        </p:spPr>
        <p:txBody>
          <a:bodyPr wrap="square" lIns="86694" tIns="43347" rIns="86694" bIns="43347">
            <a:spAutoFit/>
          </a:bodyPr>
          <a:lstStyle/>
          <a:p>
            <a:pPr marL="457200" indent="-457200">
              <a:buFont typeface="Wingdings" panose="05000000000000000000" pitchFamily="2" charset="2"/>
              <a:buChar char="n"/>
            </a:pPr>
            <a:r>
              <a:rPr lang="zh-CN" altLang="zh-CN" sz="3200" b="1" dirty="0">
                <a:solidFill>
                  <a:schemeClr val="bg1"/>
                </a:solidFill>
                <a:latin typeface="+mn-ea"/>
              </a:rPr>
              <a:t>海德格尔</a:t>
            </a:r>
            <a:r>
              <a:rPr lang="zh-CN" altLang="zh-CN" sz="3200" dirty="0">
                <a:solidFill>
                  <a:schemeClr val="bg1"/>
                </a:solidFill>
                <a:latin typeface="+mn-ea"/>
              </a:rPr>
              <a:t>认为，人们并不是没有思考，而是在以</a:t>
            </a:r>
            <a:r>
              <a:rPr lang="en-US" altLang="zh-CN" sz="3200" dirty="0">
                <a:solidFill>
                  <a:schemeClr val="bg1"/>
                </a:solidFill>
                <a:latin typeface="+mn-ea"/>
              </a:rPr>
              <a:t>“</a:t>
            </a:r>
            <a:r>
              <a:rPr lang="zh-CN" altLang="zh-CN" sz="3200" b="1" dirty="0">
                <a:solidFill>
                  <a:srgbClr val="FFC000"/>
                </a:solidFill>
                <a:latin typeface="+mn-ea"/>
              </a:rPr>
              <a:t>计算性思维</a:t>
            </a:r>
            <a:r>
              <a:rPr lang="en-US" altLang="zh-CN" sz="3200" dirty="0">
                <a:solidFill>
                  <a:schemeClr val="bg1"/>
                </a:solidFill>
                <a:latin typeface="+mn-ea"/>
              </a:rPr>
              <a:t>”</a:t>
            </a:r>
            <a:r>
              <a:rPr lang="zh-CN" altLang="zh-CN" sz="3200" dirty="0">
                <a:solidFill>
                  <a:schemeClr val="bg1"/>
                </a:solidFill>
                <a:latin typeface="+mn-ea"/>
              </a:rPr>
              <a:t>进行思考，</a:t>
            </a:r>
            <a:r>
              <a:rPr lang="en-US" altLang="zh-CN" sz="3200" dirty="0">
                <a:solidFill>
                  <a:schemeClr val="bg1"/>
                </a:solidFill>
                <a:latin typeface="+mn-ea"/>
              </a:rPr>
              <a:t>“</a:t>
            </a:r>
            <a:r>
              <a:rPr lang="zh-CN" altLang="zh-CN" sz="3200" dirty="0">
                <a:solidFill>
                  <a:schemeClr val="bg1"/>
                </a:solidFill>
                <a:latin typeface="+mn-ea"/>
              </a:rPr>
              <a:t>计算性思维权衡利弊</a:t>
            </a:r>
            <a:r>
              <a:rPr lang="en-US" altLang="zh-CN" sz="3200" dirty="0">
                <a:solidFill>
                  <a:schemeClr val="bg1"/>
                </a:solidFill>
                <a:latin typeface="+mn-ea"/>
              </a:rPr>
              <a:t>”</a:t>
            </a:r>
            <a:r>
              <a:rPr lang="zh-CN" altLang="zh-CN" sz="3200" dirty="0">
                <a:solidFill>
                  <a:schemeClr val="bg1"/>
                </a:solidFill>
                <a:latin typeface="+mn-ea"/>
              </a:rPr>
              <a:t>，它</a:t>
            </a:r>
            <a:r>
              <a:rPr lang="en-US" altLang="zh-CN" sz="3200" dirty="0">
                <a:solidFill>
                  <a:schemeClr val="bg1"/>
                </a:solidFill>
                <a:latin typeface="+mn-ea"/>
              </a:rPr>
              <a:t>“</a:t>
            </a:r>
            <a:r>
              <a:rPr lang="zh-CN" altLang="zh-CN" sz="3200" dirty="0">
                <a:solidFill>
                  <a:schemeClr val="bg1"/>
                </a:solidFill>
                <a:latin typeface="+mn-ea"/>
              </a:rPr>
              <a:t>唆使人不停地投机</a:t>
            </a:r>
            <a:r>
              <a:rPr lang="en-US" altLang="zh-CN" sz="3200" dirty="0">
                <a:solidFill>
                  <a:schemeClr val="bg1"/>
                </a:solidFill>
                <a:latin typeface="+mn-ea"/>
              </a:rPr>
              <a:t>”</a:t>
            </a:r>
            <a:r>
              <a:rPr lang="zh-CN" altLang="zh-CN" sz="3200" dirty="0">
                <a:solidFill>
                  <a:schemeClr val="bg1"/>
                </a:solidFill>
                <a:latin typeface="+mn-ea"/>
              </a:rPr>
              <a:t>，</a:t>
            </a:r>
            <a:r>
              <a:rPr lang="en-US" altLang="zh-CN" sz="3200" dirty="0">
                <a:solidFill>
                  <a:schemeClr val="bg1"/>
                </a:solidFill>
                <a:latin typeface="+mn-ea"/>
              </a:rPr>
              <a:t>“</a:t>
            </a:r>
            <a:r>
              <a:rPr lang="zh-CN" altLang="zh-CN" sz="3200" dirty="0">
                <a:solidFill>
                  <a:schemeClr val="bg1"/>
                </a:solidFill>
                <a:latin typeface="+mn-ea"/>
              </a:rPr>
              <a:t>从不停息</a:t>
            </a:r>
            <a:r>
              <a:rPr lang="en-US" altLang="zh-CN" sz="3200" dirty="0">
                <a:solidFill>
                  <a:schemeClr val="bg1"/>
                </a:solidFill>
                <a:latin typeface="+mn-ea"/>
              </a:rPr>
              <a:t>”</a:t>
            </a:r>
            <a:r>
              <a:rPr lang="zh-CN" altLang="zh-CN" sz="3200" dirty="0">
                <a:solidFill>
                  <a:schemeClr val="bg1"/>
                </a:solidFill>
                <a:latin typeface="+mn-ea"/>
              </a:rPr>
              <a:t>却</a:t>
            </a:r>
            <a:r>
              <a:rPr lang="en-US" altLang="zh-CN" sz="3200" dirty="0">
                <a:solidFill>
                  <a:schemeClr val="bg1"/>
                </a:solidFill>
                <a:latin typeface="+mn-ea"/>
              </a:rPr>
              <a:t>“</a:t>
            </a:r>
            <a:r>
              <a:rPr lang="zh-CN" altLang="zh-CN" sz="3200" b="1" dirty="0">
                <a:solidFill>
                  <a:srgbClr val="FFC000"/>
                </a:solidFill>
                <a:latin typeface="+mn-ea"/>
              </a:rPr>
              <a:t>达不到沉思</a:t>
            </a:r>
            <a:r>
              <a:rPr lang="en-US" altLang="zh-CN" sz="3200" dirty="0">
                <a:solidFill>
                  <a:schemeClr val="bg1"/>
                </a:solidFill>
                <a:latin typeface="+mn-ea"/>
              </a:rPr>
              <a:t>”</a:t>
            </a:r>
            <a:r>
              <a:rPr lang="zh-CN" altLang="zh-CN" sz="3200" dirty="0">
                <a:solidFill>
                  <a:schemeClr val="bg1"/>
                </a:solidFill>
                <a:latin typeface="+mn-ea"/>
              </a:rPr>
              <a:t>。它不是沉思之思，</a:t>
            </a:r>
            <a:r>
              <a:rPr lang="en-US" altLang="zh-CN" sz="3200" dirty="0">
                <a:solidFill>
                  <a:schemeClr val="bg1"/>
                </a:solidFill>
                <a:latin typeface="+mn-ea"/>
              </a:rPr>
              <a:t>“</a:t>
            </a:r>
            <a:r>
              <a:rPr lang="zh-CN" altLang="zh-CN" sz="3200" dirty="0">
                <a:solidFill>
                  <a:schemeClr val="bg1"/>
                </a:solidFill>
                <a:latin typeface="+mn-ea"/>
              </a:rPr>
              <a:t>不是思索在一切存在者中起支配作用的意义的那种思想</a:t>
            </a:r>
            <a:r>
              <a:rPr lang="en-US" altLang="zh-CN" sz="3200" dirty="0">
                <a:solidFill>
                  <a:schemeClr val="bg1"/>
                </a:solidFill>
                <a:latin typeface="+mn-ea"/>
              </a:rPr>
              <a:t>”</a:t>
            </a:r>
            <a:r>
              <a:rPr lang="zh-CN" altLang="zh-CN" sz="2000" dirty="0">
                <a:solidFill>
                  <a:schemeClr val="bg1"/>
                </a:solidFill>
                <a:latin typeface="+mn-ea"/>
              </a:rPr>
              <a:t>海德格尔</a:t>
            </a:r>
            <a:r>
              <a:rPr lang="en-US" altLang="zh-CN" sz="2000" dirty="0">
                <a:solidFill>
                  <a:schemeClr val="bg1"/>
                </a:solidFill>
                <a:latin typeface="+mn-ea"/>
              </a:rPr>
              <a:t>.</a:t>
            </a:r>
            <a:r>
              <a:rPr lang="zh-CN" altLang="zh-CN" sz="2000" dirty="0">
                <a:solidFill>
                  <a:schemeClr val="bg1"/>
                </a:solidFill>
                <a:latin typeface="+mn-ea"/>
              </a:rPr>
              <a:t>海德格尔选集</a:t>
            </a:r>
            <a:r>
              <a:rPr lang="en-US" altLang="zh-CN" sz="2000" dirty="0">
                <a:solidFill>
                  <a:schemeClr val="bg1"/>
                </a:solidFill>
                <a:latin typeface="+mn-ea"/>
              </a:rPr>
              <a:t>[M].</a:t>
            </a:r>
            <a:r>
              <a:rPr lang="zh-CN" altLang="zh-CN" sz="2000" dirty="0">
                <a:solidFill>
                  <a:schemeClr val="bg1"/>
                </a:solidFill>
                <a:latin typeface="+mn-ea"/>
              </a:rPr>
              <a:t>孙周兴译</a:t>
            </a:r>
            <a:r>
              <a:rPr lang="en-US" altLang="zh-CN" sz="2000" dirty="0">
                <a:solidFill>
                  <a:schemeClr val="bg1"/>
                </a:solidFill>
                <a:latin typeface="+mn-ea"/>
              </a:rPr>
              <a:t>,</a:t>
            </a:r>
            <a:r>
              <a:rPr lang="zh-CN" altLang="zh-CN" sz="2000" dirty="0">
                <a:solidFill>
                  <a:schemeClr val="bg1"/>
                </a:solidFill>
                <a:latin typeface="+mn-ea"/>
              </a:rPr>
              <a:t>上海</a:t>
            </a:r>
            <a:r>
              <a:rPr lang="en-US" altLang="zh-CN" sz="2000" dirty="0">
                <a:solidFill>
                  <a:schemeClr val="bg1"/>
                </a:solidFill>
                <a:latin typeface="+mn-ea"/>
              </a:rPr>
              <a:t>:</a:t>
            </a:r>
            <a:r>
              <a:rPr lang="zh-CN" altLang="zh-CN" sz="2000" dirty="0">
                <a:solidFill>
                  <a:schemeClr val="bg1"/>
                </a:solidFill>
                <a:latin typeface="+mn-ea"/>
              </a:rPr>
              <a:t>上海三联书店出版社</a:t>
            </a:r>
            <a:r>
              <a:rPr lang="en-US" altLang="zh-CN" sz="2000" dirty="0">
                <a:solidFill>
                  <a:schemeClr val="bg1"/>
                </a:solidFill>
                <a:latin typeface="+mn-ea"/>
              </a:rPr>
              <a:t>,1996</a:t>
            </a:r>
            <a:r>
              <a:rPr lang="zh-CN" altLang="en-US" sz="2000" dirty="0">
                <a:solidFill>
                  <a:schemeClr val="bg1"/>
                </a:solidFill>
                <a:latin typeface="+mn-ea"/>
              </a:rPr>
              <a:t>：</a:t>
            </a:r>
            <a:r>
              <a:rPr lang="en-US" altLang="zh-CN" sz="2000" dirty="0">
                <a:solidFill>
                  <a:schemeClr val="bg1"/>
                </a:solidFill>
                <a:latin typeface="+mn-ea"/>
              </a:rPr>
              <a:t>1238</a:t>
            </a:r>
          </a:p>
          <a:p>
            <a:endParaRPr lang="en-US" altLang="zh-CN" sz="2000" dirty="0">
              <a:solidFill>
                <a:schemeClr val="bg1"/>
              </a:solidFill>
              <a:latin typeface="+mn-ea"/>
            </a:endParaRPr>
          </a:p>
          <a:p>
            <a:pPr marL="457200" indent="-457200">
              <a:buFont typeface="Wingdings" panose="05000000000000000000" pitchFamily="2" charset="2"/>
              <a:buChar char="n"/>
            </a:pPr>
            <a:r>
              <a:rPr lang="zh-CN" altLang="en-US" sz="3200" dirty="0">
                <a:solidFill>
                  <a:schemeClr val="bg1"/>
                </a:solidFill>
                <a:latin typeface="+mn-ea"/>
                <a:sym typeface="Wingdings" panose="05000000000000000000" pitchFamily="2" charset="2"/>
              </a:rPr>
              <a:t>“知识导向”</a:t>
            </a:r>
            <a:r>
              <a:rPr lang="en-US" altLang="zh-CN" sz="3200" dirty="0">
                <a:solidFill>
                  <a:schemeClr val="bg1"/>
                </a:solidFill>
                <a:latin typeface="+mn-ea"/>
                <a:sym typeface="Wingdings" panose="05000000000000000000" pitchFamily="2" charset="2"/>
              </a:rPr>
              <a:t></a:t>
            </a:r>
            <a:r>
              <a:rPr lang="zh-CN" altLang="en-US" sz="3200" dirty="0">
                <a:solidFill>
                  <a:schemeClr val="bg1"/>
                </a:solidFill>
                <a:latin typeface="+mn-ea"/>
                <a:sym typeface="Wingdings" panose="05000000000000000000" pitchFamily="2" charset="2"/>
              </a:rPr>
              <a:t>计算性思维（少趣）</a:t>
            </a:r>
            <a:r>
              <a:rPr lang="en-US" altLang="zh-CN" sz="3200" b="1" dirty="0">
                <a:solidFill>
                  <a:schemeClr val="bg1"/>
                </a:solidFill>
                <a:latin typeface="+mn-ea"/>
              </a:rPr>
              <a:t>——</a:t>
            </a:r>
            <a:r>
              <a:rPr lang="zh-CN" altLang="en-US" sz="3200" dirty="0">
                <a:solidFill>
                  <a:schemeClr val="bg1"/>
                </a:solidFill>
                <a:latin typeface="+mn-ea"/>
              </a:rPr>
              <a:t>欠缺对隐性、潜在、本质问题的“沉思”</a:t>
            </a:r>
            <a:endParaRPr lang="en-US" altLang="zh-CN" sz="3200" dirty="0">
              <a:solidFill>
                <a:schemeClr val="bg1"/>
              </a:solidFill>
              <a:latin typeface="+mn-ea"/>
            </a:endParaRPr>
          </a:p>
          <a:p>
            <a:pPr marL="457200" indent="-457200">
              <a:buFont typeface="Wingdings" panose="05000000000000000000" pitchFamily="2" charset="2"/>
              <a:buChar char="n"/>
            </a:pPr>
            <a:r>
              <a:rPr lang="zh-CN" altLang="en-US" sz="3200" dirty="0">
                <a:solidFill>
                  <a:schemeClr val="bg1"/>
                </a:solidFill>
                <a:latin typeface="+mn-ea"/>
              </a:rPr>
              <a:t>“问题导向” ：有更多的机会“沉思”，</a:t>
            </a:r>
            <a:r>
              <a:rPr lang="zh-CN" altLang="en-US" sz="3200" b="1" dirty="0">
                <a:solidFill>
                  <a:schemeClr val="bg1"/>
                </a:solidFill>
                <a:latin typeface="+mn-ea"/>
              </a:rPr>
              <a:t>使人更容易接近隐性、潜在问题，或问题本质</a:t>
            </a:r>
            <a:endParaRPr lang="en-US" altLang="zh-CN" sz="3200" b="1" dirty="0">
              <a:solidFill>
                <a:schemeClr val="bg1"/>
              </a:solidFill>
              <a:latin typeface="+mn-ea"/>
            </a:endParaRPr>
          </a:p>
          <a:p>
            <a:pPr marL="457200" indent="-457200">
              <a:buFont typeface="Wingdings" panose="05000000000000000000" pitchFamily="2" charset="2"/>
              <a:buChar char="n"/>
            </a:pPr>
            <a:r>
              <a:rPr lang="zh-CN" altLang="en-US" sz="3200" dirty="0">
                <a:solidFill>
                  <a:schemeClr val="bg1"/>
                </a:solidFill>
                <a:latin typeface="+mn-ea"/>
                <a:sym typeface="Wingdings" panose="05000000000000000000" pitchFamily="2" charset="2"/>
              </a:rPr>
              <a:t>问题导向</a:t>
            </a:r>
            <a:r>
              <a:rPr lang="en-US" altLang="zh-CN" sz="3200" dirty="0">
                <a:solidFill>
                  <a:schemeClr val="bg1"/>
                </a:solidFill>
                <a:latin typeface="+mn-ea"/>
                <a:sym typeface="Wingdings" panose="05000000000000000000" pitchFamily="2" charset="2"/>
              </a:rPr>
              <a:t></a:t>
            </a:r>
            <a:r>
              <a:rPr lang="zh-CN" altLang="en-US" sz="3200" b="1" dirty="0">
                <a:solidFill>
                  <a:schemeClr val="bg1"/>
                </a:solidFill>
                <a:latin typeface="+mn-ea"/>
                <a:sym typeface="Wingdings" panose="05000000000000000000" pitchFamily="2" charset="2"/>
              </a:rPr>
              <a:t>发散性思维</a:t>
            </a:r>
            <a:endParaRPr lang="en-US" altLang="zh-CN" sz="3200" b="1" dirty="0">
              <a:solidFill>
                <a:schemeClr val="bg1"/>
              </a:solidFill>
              <a:latin typeface="+mn-ea"/>
              <a:sym typeface="Wingdings" panose="05000000000000000000" pitchFamily="2" charset="2"/>
            </a:endParaRPr>
          </a:p>
        </p:txBody>
      </p:sp>
    </p:spTree>
    <p:extLst>
      <p:ext uri="{BB962C8B-B14F-4D97-AF65-F5344CB8AC3E}">
        <p14:creationId xmlns:p14="http://schemas.microsoft.com/office/powerpoint/2010/main" val="26830240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7" name="TextBox 48"/>
          <p:cNvSpPr txBox="1"/>
          <p:nvPr/>
        </p:nvSpPr>
        <p:spPr>
          <a:xfrm>
            <a:off x="627529" y="814451"/>
            <a:ext cx="10887636" cy="6155531"/>
          </a:xfrm>
          <a:prstGeom prst="rect">
            <a:avLst/>
          </a:prstGeom>
          <a:noFill/>
        </p:spPr>
        <p:txBody>
          <a:bodyPr wrap="square" lIns="0" tIns="0" rIns="0" bIns="0" rtlCol="0">
            <a:spAutoFit/>
          </a:bodyPr>
          <a:lstStyle/>
          <a:p>
            <a:pPr marL="457200" indent="-457200" algn="just">
              <a:lnSpc>
                <a:spcPct val="150000"/>
              </a:lnSpc>
              <a:buFont typeface="Wingdings" panose="05000000000000000000" pitchFamily="2" charset="2"/>
              <a:buChar char="n"/>
            </a:pPr>
            <a:r>
              <a:rPr lang="zh-CN" altLang="en-US" sz="3200" b="1" dirty="0">
                <a:solidFill>
                  <a:schemeClr val="bg1"/>
                </a:solidFill>
                <a:ea typeface="微软雅黑" panose="020B0503020204020204" pitchFamily="34" charset="-122"/>
              </a:rPr>
              <a:t>传统教育及工程问题处理模式基本上是“知识导向” ：</a:t>
            </a:r>
            <a:endParaRPr lang="en-US" altLang="zh-CN" sz="3200" b="1" dirty="0">
              <a:solidFill>
                <a:schemeClr val="bg1"/>
              </a:solidFill>
              <a:ea typeface="微软雅黑" panose="020B0503020204020204" pitchFamily="34" charset="-122"/>
            </a:endParaRPr>
          </a:p>
          <a:p>
            <a:pPr marL="1028700" lvl="1" indent="-571500" algn="just">
              <a:buFont typeface="Wingdings" panose="05000000000000000000" pitchFamily="2" charset="2"/>
              <a:buChar char="l"/>
            </a:pPr>
            <a:r>
              <a:rPr lang="zh-CN" altLang="en-US" sz="3200" b="1" dirty="0">
                <a:solidFill>
                  <a:srgbClr val="FFC000"/>
                </a:solidFill>
              </a:rPr>
              <a:t>传统知识观</a:t>
            </a:r>
            <a:r>
              <a:rPr lang="zh-CN" altLang="en-US" sz="3200" b="1" dirty="0">
                <a:solidFill>
                  <a:schemeClr val="bg1"/>
                </a:solidFill>
              </a:rPr>
              <a:t>强调的是</a:t>
            </a:r>
            <a:r>
              <a:rPr lang="zh-CN" altLang="en-US" sz="3200" b="1" dirty="0">
                <a:solidFill>
                  <a:srgbClr val="FFC000"/>
                </a:solidFill>
              </a:rPr>
              <a:t>命题导向的知识</a:t>
            </a:r>
            <a:endParaRPr lang="en-US" altLang="zh-CN" sz="3200" b="1" dirty="0">
              <a:solidFill>
                <a:srgbClr val="FFC000"/>
              </a:solidFill>
            </a:endParaRPr>
          </a:p>
          <a:p>
            <a:pPr marL="1028700" lvl="1" indent="-571500" algn="just">
              <a:buFont typeface="Wingdings" panose="05000000000000000000" pitchFamily="2" charset="2"/>
              <a:buChar char="l"/>
            </a:pPr>
            <a:r>
              <a:rPr lang="zh-CN" altLang="en-US" sz="3200" dirty="0" smtClean="0">
                <a:solidFill>
                  <a:schemeClr val="bg1"/>
                </a:solidFill>
              </a:rPr>
              <a:t>研究者、</a:t>
            </a:r>
            <a:r>
              <a:rPr lang="zh-CN" altLang="en-US" sz="3200" dirty="0">
                <a:solidFill>
                  <a:schemeClr val="bg1"/>
                </a:solidFill>
              </a:rPr>
              <a:t>工程师多关注显性问题（属于命题导向的知识）</a:t>
            </a:r>
            <a:endParaRPr lang="en-US" altLang="zh-CN" sz="3200" dirty="0">
              <a:solidFill>
                <a:schemeClr val="bg1"/>
              </a:solidFill>
            </a:endParaRPr>
          </a:p>
          <a:p>
            <a:pPr marL="1028700" lvl="1" indent="-571500" algn="just">
              <a:buFont typeface="Wingdings" panose="05000000000000000000" pitchFamily="2" charset="2"/>
              <a:buChar char="l"/>
            </a:pPr>
            <a:r>
              <a:rPr lang="zh-CN" altLang="zh-CN" sz="3200" b="1" dirty="0">
                <a:solidFill>
                  <a:schemeClr val="bg1"/>
                </a:solidFill>
              </a:rPr>
              <a:t>其思维方式容易显现为收敛式、集中式。</a:t>
            </a:r>
            <a:r>
              <a:rPr lang="zh-CN" altLang="zh-CN" sz="3200" dirty="0">
                <a:solidFill>
                  <a:schemeClr val="bg1"/>
                </a:solidFill>
              </a:rPr>
              <a:t>按照既有的知识、逻辑，沿袭固有的途径，解决既定的问题</a:t>
            </a:r>
            <a:r>
              <a:rPr lang="zh-CN" altLang="en-US" sz="3200" dirty="0">
                <a:solidFill>
                  <a:schemeClr val="bg1"/>
                </a:solidFill>
              </a:rPr>
              <a:t>（不能说传统</a:t>
            </a:r>
            <a:r>
              <a:rPr lang="zh-CN" altLang="zh-CN" sz="3200" dirty="0">
                <a:solidFill>
                  <a:schemeClr val="bg1"/>
                </a:solidFill>
              </a:rPr>
              <a:t>教育中传授的知识与问题</a:t>
            </a:r>
            <a:r>
              <a:rPr lang="zh-CN" altLang="en-US" sz="3200" dirty="0">
                <a:solidFill>
                  <a:schemeClr val="bg1"/>
                </a:solidFill>
              </a:rPr>
              <a:t>无</a:t>
            </a:r>
            <a:r>
              <a:rPr lang="zh-CN" altLang="zh-CN" sz="3200" dirty="0">
                <a:solidFill>
                  <a:schemeClr val="bg1"/>
                </a:solidFill>
              </a:rPr>
              <a:t>关</a:t>
            </a:r>
            <a:r>
              <a:rPr lang="zh-CN" altLang="en-US" sz="3200" dirty="0">
                <a:solidFill>
                  <a:schemeClr val="bg1"/>
                </a:solidFill>
              </a:rPr>
              <a:t>）</a:t>
            </a:r>
            <a:r>
              <a:rPr lang="en-US" altLang="zh-CN" sz="3200" dirty="0">
                <a:solidFill>
                  <a:schemeClr val="bg1"/>
                </a:solidFill>
              </a:rPr>
              <a:t>——</a:t>
            </a:r>
            <a:r>
              <a:rPr lang="zh-CN" altLang="zh-CN" sz="3200" b="1" dirty="0">
                <a:solidFill>
                  <a:schemeClr val="bg1"/>
                </a:solidFill>
              </a:rPr>
              <a:t>处理一般问题是有效的</a:t>
            </a:r>
            <a:r>
              <a:rPr lang="zh-CN" altLang="zh-CN" sz="3200" dirty="0" smtClean="0">
                <a:solidFill>
                  <a:schemeClr val="bg1"/>
                </a:solidFill>
              </a:rPr>
              <a:t>。</a:t>
            </a:r>
            <a:endParaRPr lang="en-US" altLang="zh-CN" sz="3200" dirty="0" smtClean="0">
              <a:solidFill>
                <a:schemeClr val="bg1"/>
              </a:solidFill>
            </a:endParaRPr>
          </a:p>
          <a:p>
            <a:pPr lvl="1" algn="just"/>
            <a:r>
              <a:rPr lang="en-US" altLang="zh-CN" sz="3200" dirty="0" smtClean="0">
                <a:solidFill>
                  <a:schemeClr val="bg1"/>
                </a:solidFill>
                <a:sym typeface="Wingdings" panose="05000000000000000000" pitchFamily="2" charset="2"/>
              </a:rPr>
              <a:t></a:t>
            </a:r>
            <a:r>
              <a:rPr lang="zh-CN" altLang="en-US" sz="3200" b="1" dirty="0" smtClean="0">
                <a:solidFill>
                  <a:schemeClr val="bg1"/>
                </a:solidFill>
                <a:sym typeface="Wingdings" panose="05000000000000000000" pitchFamily="2" charset="2"/>
              </a:rPr>
              <a:t>计算性思维</a:t>
            </a:r>
            <a:endParaRPr lang="en-US" altLang="zh-CN" sz="3200" b="1" dirty="0">
              <a:solidFill>
                <a:schemeClr val="bg1"/>
              </a:solidFill>
            </a:endParaRPr>
          </a:p>
          <a:p>
            <a:pPr lvl="1" algn="just"/>
            <a:endParaRPr lang="en-US" altLang="zh-CN" sz="3200" b="1" dirty="0">
              <a:solidFill>
                <a:schemeClr val="bg1"/>
              </a:solidFill>
              <a:latin typeface="+mn-ea"/>
              <a:sym typeface="Wingdings" panose="05000000000000000000" pitchFamily="2" charset="2"/>
            </a:endParaRPr>
          </a:p>
          <a:p>
            <a:pPr marL="571500" indent="-571500" algn="just">
              <a:buFont typeface="Wingdings" panose="05000000000000000000" pitchFamily="2" charset="2"/>
              <a:buChar char="n"/>
            </a:pPr>
            <a:r>
              <a:rPr lang="zh-CN" altLang="en-US" sz="3200" b="1" dirty="0">
                <a:solidFill>
                  <a:srgbClr val="FFC000"/>
                </a:solidFill>
                <a:latin typeface="+mn-ea"/>
                <a:sym typeface="Wingdings" panose="05000000000000000000" pitchFamily="2" charset="2"/>
              </a:rPr>
              <a:t>实践的知识观更需要</a:t>
            </a:r>
            <a:r>
              <a:rPr lang="zh-CN" altLang="zh-CN" sz="3200" b="1" dirty="0">
                <a:solidFill>
                  <a:srgbClr val="FFC000"/>
                </a:solidFill>
                <a:latin typeface="+mn-ea"/>
              </a:rPr>
              <a:t>“问题导向”</a:t>
            </a:r>
            <a:r>
              <a:rPr lang="zh-CN" altLang="en-US" sz="3200" dirty="0">
                <a:solidFill>
                  <a:schemeClr val="bg1"/>
                </a:solidFill>
                <a:latin typeface="+mn-ea"/>
              </a:rPr>
              <a:t>（如需要</a:t>
            </a:r>
            <a:r>
              <a:rPr lang="zh-CN" altLang="en-US" sz="3200" dirty="0">
                <a:solidFill>
                  <a:schemeClr val="bg1"/>
                </a:solidFill>
                <a:ea typeface="微软雅黑" panose="020B0503020204020204" pitchFamily="34" charset="-122"/>
              </a:rPr>
              <a:t>注视实际中潜在、隐性问题，想象问题以及问题关联</a:t>
            </a:r>
            <a:r>
              <a:rPr lang="en-US" altLang="zh-CN" sz="3200" dirty="0">
                <a:solidFill>
                  <a:schemeClr val="bg1"/>
                </a:solidFill>
                <a:ea typeface="微软雅黑" panose="020B0503020204020204" pitchFamily="34" charset="-122"/>
              </a:rPr>
              <a:t>……</a:t>
            </a:r>
            <a:r>
              <a:rPr lang="zh-CN" altLang="en-US" sz="3200" dirty="0">
                <a:solidFill>
                  <a:schemeClr val="bg1"/>
                </a:solidFill>
                <a:latin typeface="+mn-ea"/>
              </a:rPr>
              <a:t>）</a:t>
            </a:r>
            <a:endParaRPr lang="en-US" altLang="zh-CN" sz="3200" dirty="0">
              <a:solidFill>
                <a:schemeClr val="bg1"/>
              </a:solidFill>
              <a:ea typeface="微软雅黑" panose="020B0503020204020204" pitchFamily="34" charset="-122"/>
            </a:endParaRPr>
          </a:p>
          <a:p>
            <a:pPr algn="just"/>
            <a:endParaRPr lang="en-US" altLang="zh-CN" sz="3200" b="1" dirty="0">
              <a:solidFill>
                <a:schemeClr val="bg1"/>
              </a:solidFill>
              <a:latin typeface="+mn-ea"/>
              <a:sym typeface="Wingdings" panose="05000000000000000000" pitchFamily="2" charset="2"/>
            </a:endParaRPr>
          </a:p>
        </p:txBody>
      </p:sp>
    </p:spTree>
    <p:extLst>
      <p:ext uri="{BB962C8B-B14F-4D97-AF65-F5344CB8AC3E}">
        <p14:creationId xmlns:p14="http://schemas.microsoft.com/office/powerpoint/2010/main" val="4262488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511629" y="154676"/>
            <a:ext cx="10591800" cy="928046"/>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pPr marL="0" lvl="1" algn="ctr"/>
            <a:r>
              <a:rPr lang="zh-CN" altLang="en-US" sz="3200" b="1" dirty="0" smtClean="0">
                <a:solidFill>
                  <a:srgbClr val="FFC000"/>
                </a:solidFill>
                <a:latin typeface="+mn-ea"/>
              </a:rPr>
              <a:t>问题导向有助于形成发散思维</a:t>
            </a:r>
            <a:endParaRPr lang="zh-CN" altLang="zh-CN" sz="3200" b="1" dirty="0">
              <a:solidFill>
                <a:srgbClr val="FFFF00"/>
              </a:solidFill>
            </a:endParaRPr>
          </a:p>
        </p:txBody>
      </p:sp>
      <p:sp>
        <p:nvSpPr>
          <p:cNvPr id="2" name="矩形 1"/>
          <p:cNvSpPr/>
          <p:nvPr/>
        </p:nvSpPr>
        <p:spPr>
          <a:xfrm>
            <a:off x="910005" y="2110154"/>
            <a:ext cx="9961684" cy="3042196"/>
          </a:xfrm>
          <a:prstGeom prst="rect">
            <a:avLst/>
          </a:prstGeom>
          <a:noFill/>
        </p:spPr>
        <p:txBody>
          <a:bodyPr wrap="square" lIns="86694" tIns="43347" rIns="86694" bIns="43347">
            <a:spAutoFit/>
          </a:bodyPr>
          <a:lstStyle/>
          <a:p>
            <a:r>
              <a:rPr lang="zh-CN" altLang="en-US" sz="3200" b="1" dirty="0" smtClean="0">
                <a:solidFill>
                  <a:schemeClr val="bg1"/>
                </a:solidFill>
              </a:rPr>
              <a:t>发散思维</a:t>
            </a:r>
            <a:r>
              <a:rPr lang="zh-CN" altLang="en-US" sz="3200" dirty="0">
                <a:solidFill>
                  <a:schemeClr val="bg1"/>
                </a:solidFill>
                <a:latin typeface="+mn-ea"/>
              </a:rPr>
              <a:t>（</a:t>
            </a:r>
            <a:r>
              <a:rPr lang="en-US" altLang="zh-CN" sz="3200" dirty="0">
                <a:solidFill>
                  <a:schemeClr val="bg1"/>
                </a:solidFill>
                <a:latin typeface="+mn-ea"/>
              </a:rPr>
              <a:t>divergent thinking</a:t>
            </a:r>
            <a:r>
              <a:rPr lang="zh-CN" altLang="en-US" sz="3200" dirty="0" smtClean="0">
                <a:solidFill>
                  <a:schemeClr val="bg1"/>
                </a:solidFill>
                <a:latin typeface="+mn-ea"/>
              </a:rPr>
              <a:t>）</a:t>
            </a:r>
            <a:endParaRPr lang="en-US" altLang="zh-CN" sz="3200" dirty="0" smtClean="0">
              <a:solidFill>
                <a:schemeClr val="bg1"/>
              </a:solidFill>
            </a:endParaRPr>
          </a:p>
          <a:p>
            <a:endParaRPr lang="en-US" altLang="zh-CN" sz="3200" dirty="0" smtClean="0">
              <a:solidFill>
                <a:schemeClr val="bg1"/>
              </a:solidFill>
            </a:endParaRPr>
          </a:p>
          <a:p>
            <a:pPr marL="457200" indent="-457200">
              <a:buFont typeface="Wingdings" panose="05000000000000000000" pitchFamily="2" charset="2"/>
              <a:buChar char="n"/>
            </a:pPr>
            <a:r>
              <a:rPr lang="zh-CN" altLang="zh-CN" sz="3200" b="1" dirty="0" smtClean="0">
                <a:solidFill>
                  <a:schemeClr val="bg1"/>
                </a:solidFill>
              </a:rPr>
              <a:t>发散思维</a:t>
            </a:r>
            <a:r>
              <a:rPr lang="zh-CN" altLang="zh-CN" sz="3200" b="1" dirty="0">
                <a:solidFill>
                  <a:schemeClr val="bg1"/>
                </a:solidFill>
              </a:rPr>
              <a:t>却是</a:t>
            </a:r>
            <a:r>
              <a:rPr lang="zh-CN" altLang="zh-CN" sz="3200" b="1" dirty="0" smtClean="0">
                <a:solidFill>
                  <a:schemeClr val="bg1"/>
                </a:solidFill>
              </a:rPr>
              <a:t>创造性思维的</a:t>
            </a:r>
            <a:r>
              <a:rPr lang="zh-CN" altLang="zh-CN" sz="3200" b="1" dirty="0">
                <a:solidFill>
                  <a:schemeClr val="bg1"/>
                </a:solidFill>
              </a:rPr>
              <a:t>重要内容，它是扩散的、求异</a:t>
            </a:r>
            <a:r>
              <a:rPr lang="zh-CN" altLang="zh-CN" sz="3200" b="1" dirty="0" smtClean="0">
                <a:solidFill>
                  <a:schemeClr val="bg1"/>
                </a:solidFill>
              </a:rPr>
              <a:t>的</a:t>
            </a:r>
            <a:endParaRPr lang="en-US" altLang="zh-CN" sz="3200" b="1" dirty="0" smtClean="0">
              <a:solidFill>
                <a:schemeClr val="bg1"/>
              </a:solidFill>
            </a:endParaRPr>
          </a:p>
          <a:p>
            <a:pPr marL="457200" indent="-457200">
              <a:buFont typeface="Wingdings" panose="05000000000000000000" pitchFamily="2" charset="2"/>
              <a:buChar char="n"/>
            </a:pPr>
            <a:r>
              <a:rPr lang="zh-CN" altLang="zh-CN" sz="3200" dirty="0" smtClean="0">
                <a:solidFill>
                  <a:schemeClr val="bg1"/>
                </a:solidFill>
              </a:rPr>
              <a:t>大脑</a:t>
            </a:r>
            <a:r>
              <a:rPr lang="zh-CN" altLang="zh-CN" sz="3200" dirty="0">
                <a:solidFill>
                  <a:schemeClr val="bg1"/>
                </a:solidFill>
              </a:rPr>
              <a:t>处于一种发散状态时</a:t>
            </a:r>
            <a:r>
              <a:rPr lang="zh-CN" altLang="zh-CN" sz="3200" dirty="0" smtClean="0">
                <a:solidFill>
                  <a:schemeClr val="bg1"/>
                </a:solidFill>
              </a:rPr>
              <a:t>，思路活跃开阔</a:t>
            </a:r>
            <a:r>
              <a:rPr lang="zh-CN" altLang="zh-CN" sz="3200" dirty="0">
                <a:solidFill>
                  <a:schemeClr val="bg1"/>
                </a:solidFill>
              </a:rPr>
              <a:t>，</a:t>
            </a:r>
            <a:r>
              <a:rPr lang="zh-CN" altLang="zh-CN" sz="3200" dirty="0" smtClean="0">
                <a:solidFill>
                  <a:schemeClr val="bg1"/>
                </a:solidFill>
              </a:rPr>
              <a:t>视野宽广，</a:t>
            </a:r>
            <a:r>
              <a:rPr lang="zh-CN" altLang="en-US" sz="3200" b="1" dirty="0" smtClean="0">
                <a:solidFill>
                  <a:schemeClr val="bg1"/>
                </a:solidFill>
              </a:rPr>
              <a:t>善于想象问题</a:t>
            </a:r>
            <a:r>
              <a:rPr lang="en-US" altLang="zh-CN" sz="3200" dirty="0" smtClean="0">
                <a:solidFill>
                  <a:schemeClr val="bg1"/>
                </a:solidFill>
                <a:sym typeface="Wingdings" panose="05000000000000000000" pitchFamily="2" charset="2"/>
              </a:rPr>
              <a:t></a:t>
            </a:r>
            <a:r>
              <a:rPr lang="zh-CN" altLang="en-US" sz="3200" dirty="0">
                <a:solidFill>
                  <a:schemeClr val="bg1"/>
                </a:solidFill>
                <a:sym typeface="Wingdings" panose="05000000000000000000" pitchFamily="2" charset="2"/>
              </a:rPr>
              <a:t>有利于</a:t>
            </a:r>
            <a:r>
              <a:rPr lang="zh-CN" altLang="zh-CN" sz="3200" dirty="0" smtClean="0">
                <a:solidFill>
                  <a:schemeClr val="bg1"/>
                </a:solidFill>
              </a:rPr>
              <a:t>创造力形成。</a:t>
            </a:r>
            <a:endParaRPr lang="en-US" altLang="zh-CN" sz="3200" dirty="0" smtClean="0">
              <a:solidFill>
                <a:schemeClr val="bg1"/>
              </a:solidFill>
            </a:endParaRPr>
          </a:p>
        </p:txBody>
      </p:sp>
    </p:spTree>
    <p:extLst>
      <p:ext uri="{BB962C8B-B14F-4D97-AF65-F5344CB8AC3E}">
        <p14:creationId xmlns:p14="http://schemas.microsoft.com/office/powerpoint/2010/main" val="4424372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8" name="诗意地成长在智能时代-初稿.009.jpeg" descr="诗意地成长在智能时代-初稿.009.jpeg"/>
          <p:cNvPicPr>
            <a:picLocks noChangeAspect="1"/>
          </p:cNvPicPr>
          <p:nvPr/>
        </p:nvPicPr>
        <p:blipFill>
          <a:blip r:embed="rId3"/>
          <a:stretch>
            <a:fillRect/>
          </a:stretch>
        </p:blipFill>
        <p:spPr>
          <a:xfrm>
            <a:off x="53788" y="676835"/>
            <a:ext cx="12192000" cy="6096000"/>
          </a:xfrm>
          <a:prstGeom prst="rect">
            <a:avLst/>
          </a:prstGeom>
          <a:ln w="3175">
            <a:miter lim="400000"/>
            <a:headEnd/>
            <a:tailEnd/>
          </a:ln>
        </p:spPr>
      </p:pic>
      <p:sp>
        <p:nvSpPr>
          <p:cNvPr id="2" name="文本框 1"/>
          <p:cNvSpPr txBox="1"/>
          <p:nvPr/>
        </p:nvSpPr>
        <p:spPr>
          <a:xfrm>
            <a:off x="1470212" y="5557228"/>
            <a:ext cx="1783976" cy="400110"/>
          </a:xfrm>
          <a:prstGeom prst="rect">
            <a:avLst/>
          </a:prstGeom>
          <a:noFill/>
        </p:spPr>
        <p:txBody>
          <a:bodyPr wrap="square" rtlCol="0">
            <a:spAutoFit/>
          </a:bodyPr>
          <a:lstStyle/>
          <a:p>
            <a:r>
              <a:rPr lang="zh-CN" altLang="en-US" sz="2000" dirty="0" smtClean="0">
                <a:solidFill>
                  <a:srgbClr val="FF0000"/>
                </a:solidFill>
              </a:rPr>
              <a:t>（计算性思维）</a:t>
            </a:r>
            <a:endParaRPr lang="zh-CN" altLang="en-US" sz="2000" dirty="0">
              <a:solidFill>
                <a:srgbClr val="FF0000"/>
              </a:solidFill>
            </a:endParaRPr>
          </a:p>
        </p:txBody>
      </p:sp>
      <p:sp>
        <p:nvSpPr>
          <p:cNvPr id="3" name="矩形 2"/>
          <p:cNvSpPr/>
          <p:nvPr/>
        </p:nvSpPr>
        <p:spPr>
          <a:xfrm>
            <a:off x="8943000" y="5557229"/>
            <a:ext cx="1980029" cy="400110"/>
          </a:xfrm>
          <a:prstGeom prst="rect">
            <a:avLst/>
          </a:prstGeom>
        </p:spPr>
        <p:txBody>
          <a:bodyPr wrap="none">
            <a:spAutoFit/>
          </a:bodyPr>
          <a:lstStyle/>
          <a:p>
            <a:r>
              <a:rPr lang="zh-CN" altLang="en-US" sz="2000" dirty="0" smtClean="0">
                <a:solidFill>
                  <a:srgbClr val="FF0000"/>
                </a:solidFill>
              </a:rPr>
              <a:t>（</a:t>
            </a:r>
            <a:r>
              <a:rPr lang="zh-CN" altLang="en-US" sz="2000" dirty="0">
                <a:solidFill>
                  <a:srgbClr val="FF0000"/>
                </a:solidFill>
              </a:rPr>
              <a:t>发散</a:t>
            </a:r>
            <a:r>
              <a:rPr lang="zh-CN" altLang="en-US" sz="2000" dirty="0" smtClean="0">
                <a:solidFill>
                  <a:srgbClr val="FF0000"/>
                </a:solidFill>
              </a:rPr>
              <a:t>性</a:t>
            </a:r>
            <a:r>
              <a:rPr lang="zh-CN" altLang="en-US" sz="2000" dirty="0">
                <a:solidFill>
                  <a:srgbClr val="FF0000"/>
                </a:solidFill>
              </a:rPr>
              <a:t>思维）</a:t>
            </a:r>
          </a:p>
        </p:txBody>
      </p:sp>
    </p:spTree>
    <p:extLst>
      <p:ext uri="{BB962C8B-B14F-4D97-AF65-F5344CB8AC3E}">
        <p14:creationId xmlns:p14="http://schemas.microsoft.com/office/powerpoint/2010/main" val="2254377322"/>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7" name="TextBox 48"/>
          <p:cNvSpPr txBox="1"/>
          <p:nvPr/>
        </p:nvSpPr>
        <p:spPr>
          <a:xfrm>
            <a:off x="1667186" y="2645380"/>
            <a:ext cx="8911168" cy="976229"/>
          </a:xfrm>
          <a:prstGeom prst="rect">
            <a:avLst/>
          </a:prstGeom>
          <a:noFill/>
        </p:spPr>
        <p:txBody>
          <a:bodyPr wrap="square" lIns="0" tIns="0" rIns="0" bIns="0" rtlCol="0">
            <a:spAutoFit/>
          </a:bodyPr>
          <a:lstStyle/>
          <a:p>
            <a:pPr algn="ctr">
              <a:lnSpc>
                <a:spcPct val="150000"/>
              </a:lnSpc>
            </a:pPr>
            <a:r>
              <a:rPr lang="zh-CN" altLang="en-US" sz="4800" b="1" dirty="0" smtClean="0">
                <a:solidFill>
                  <a:srgbClr val="FFC000"/>
                </a:solidFill>
                <a:ea typeface="微软雅黑" panose="020B0503020204020204" pitchFamily="34" charset="-122"/>
              </a:rPr>
              <a:t>悖论</a:t>
            </a:r>
            <a:endParaRPr lang="en-US" altLang="zh-CN" sz="4800" b="1" dirty="0">
              <a:solidFill>
                <a:srgbClr val="FFC000"/>
              </a:solidFill>
              <a:ea typeface="微软雅黑" panose="020B0503020204020204" pitchFamily="34" charset="-122"/>
            </a:endParaRPr>
          </a:p>
        </p:txBody>
      </p:sp>
      <p:sp>
        <p:nvSpPr>
          <p:cNvPr id="2" name="标题 1"/>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42227680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08940" y="374650"/>
            <a:ext cx="6983095" cy="521970"/>
          </a:xfrm>
          <a:prstGeom prst="rect">
            <a:avLst/>
          </a:prstGeom>
          <a:noFill/>
        </p:spPr>
        <p:txBody>
          <a:bodyPr wrap="square" rtlCol="0" anchor="t">
            <a:spAutoFit/>
          </a:bodyPr>
          <a:lstStyle/>
          <a:p>
            <a:pPr lvl="0" algn="l">
              <a:buClrTx/>
              <a:buSzTx/>
              <a:buFontTx/>
            </a:pPr>
            <a:r>
              <a:rPr lang="zh-CN" altLang="en-US" sz="2800" b="1" dirty="0">
                <a:solidFill>
                  <a:srgbClr val="FFC000"/>
                </a:solidFill>
                <a:latin typeface="微软雅黑" panose="020B0503020204020204" charset="-122"/>
                <a:ea typeface="微软雅黑" panose="020B0503020204020204" charset="-122"/>
                <a:cs typeface="微软雅黑" panose="020B0503020204020204" charset="-122"/>
                <a:sym typeface="+mn-ea"/>
              </a:rPr>
              <a:t>新奇性搜索-</a:t>
            </a:r>
            <a:r>
              <a:rPr lang="zh-CN" altLang="en-US" sz="2800" b="1" dirty="0">
                <a:solidFill>
                  <a:srgbClr val="FFFF00"/>
                </a:solidFill>
                <a:latin typeface="微软雅黑" panose="020B0503020204020204" charset="-122"/>
                <a:ea typeface="微软雅黑" panose="020B0503020204020204" charset="-122"/>
                <a:cs typeface="微软雅黑" panose="020B0503020204020204" charset="-122"/>
                <a:sym typeface="+mn-ea"/>
              </a:rPr>
              <a:t>目标悖论</a:t>
            </a:r>
          </a:p>
        </p:txBody>
      </p:sp>
      <p:sp>
        <p:nvSpPr>
          <p:cNvPr id="4" name="文本框 3"/>
          <p:cNvSpPr txBox="1"/>
          <p:nvPr/>
        </p:nvSpPr>
        <p:spPr>
          <a:xfrm>
            <a:off x="255184" y="1182340"/>
            <a:ext cx="5899432" cy="4401205"/>
          </a:xfrm>
          <a:prstGeom prst="rect">
            <a:avLst/>
          </a:prstGeom>
          <a:noFill/>
        </p:spPr>
        <p:txBody>
          <a:bodyPr wrap="square" rtlCol="0" anchor="t">
            <a:spAutoFit/>
          </a:bodyPr>
          <a:lstStyle/>
          <a:p>
            <a:pPr marL="457200" indent="-457200" algn="just">
              <a:buFont typeface="Wingdings" panose="05000000000000000000" pitchFamily="2" charset="2"/>
              <a:buChar char="l"/>
            </a:pPr>
            <a:r>
              <a:rPr lang="zh-CN" altLang="en-US" sz="2800" dirty="0">
                <a:solidFill>
                  <a:schemeClr val="bg1"/>
                </a:solidFill>
                <a:latin typeface="微软雅黑" panose="020B0503020204020204" charset="-122"/>
                <a:ea typeface="微软雅黑" panose="020B0503020204020204" charset="-122"/>
                <a:cs typeface="微软雅黑" panose="020B0503020204020204" charset="-122"/>
                <a:sym typeface="+mn-ea"/>
              </a:rPr>
              <a:t>肯尼斯和乔尔发明的“ </a:t>
            </a:r>
            <a:r>
              <a:rPr lang="zh-CN" altLang="en-US" sz="2800" b="1" dirty="0">
                <a:solidFill>
                  <a:schemeClr val="bg1"/>
                </a:solidFill>
                <a:latin typeface="微软雅黑" panose="020B0503020204020204" charset="-122"/>
                <a:ea typeface="微软雅黑" panose="020B0503020204020204" charset="-122"/>
                <a:cs typeface="微软雅黑" panose="020B0503020204020204" charset="-122"/>
                <a:sym typeface="+mn-ea"/>
              </a:rPr>
              <a:t>新奇性搜索 </a:t>
            </a:r>
            <a:r>
              <a:rPr lang="zh-CN" altLang="en-US" sz="2800" dirty="0">
                <a:solidFill>
                  <a:schemeClr val="bg1"/>
                </a:solidFill>
                <a:latin typeface="微软雅黑" panose="020B0503020204020204" charset="-122"/>
                <a:ea typeface="微软雅黑" panose="020B0503020204020204" charset="-122"/>
                <a:cs typeface="微软雅黑" panose="020B0503020204020204" charset="-122"/>
                <a:sym typeface="+mn-ea"/>
              </a:rPr>
              <a:t>”</a:t>
            </a:r>
            <a:r>
              <a:rPr lang="en-US" altLang="zh-CN" sz="2800" dirty="0">
                <a:solidFill>
                  <a:schemeClr val="bg1"/>
                </a:solidFill>
                <a:latin typeface="微软雅黑" panose="020B0503020204020204" charset="-122"/>
                <a:ea typeface="微软雅黑" panose="020B0503020204020204" charset="-122"/>
                <a:cs typeface="微软雅黑" panose="020B0503020204020204" charset="-122"/>
                <a:sym typeface="+mn-ea"/>
              </a:rPr>
              <a:t>(Novel Search)</a:t>
            </a:r>
            <a:r>
              <a:rPr lang="zh-CN" altLang="en-US" sz="2800" dirty="0">
                <a:solidFill>
                  <a:schemeClr val="bg1"/>
                </a:solidFill>
                <a:latin typeface="微软雅黑" panose="020B0503020204020204" charset="-122"/>
                <a:ea typeface="微软雅黑" panose="020B0503020204020204" charset="-122"/>
                <a:cs typeface="微软雅黑" panose="020B0503020204020204" charset="-122"/>
                <a:sym typeface="+mn-ea"/>
              </a:rPr>
              <a:t>算法，</a:t>
            </a:r>
            <a:r>
              <a:rPr lang="en-US" altLang="zh-CN" sz="2800" dirty="0">
                <a:solidFill>
                  <a:schemeClr val="bg1"/>
                </a:solidFill>
                <a:latin typeface="微软雅黑" panose="020B0503020204020204" charset="-122"/>
                <a:ea typeface="微软雅黑" panose="020B0503020204020204" charset="-122"/>
                <a:cs typeface="微软雅黑" panose="020B0503020204020204" charset="-122"/>
                <a:sym typeface="+mn-ea"/>
              </a:rPr>
              <a:t>2008</a:t>
            </a:r>
            <a:r>
              <a:rPr lang="zh-CN" altLang="en-US" sz="2800" dirty="0">
                <a:solidFill>
                  <a:schemeClr val="bg1"/>
                </a:solidFill>
                <a:latin typeface="微软雅黑" panose="020B0503020204020204" charset="-122"/>
                <a:ea typeface="微软雅黑" panose="020B0503020204020204" charset="-122"/>
                <a:cs typeface="微软雅黑" panose="020B0503020204020204" charset="-122"/>
                <a:sym typeface="+mn-ea"/>
              </a:rPr>
              <a:t>年推出。通过评估新奇性并保留新奇性比较高的方案，像生物演化一样发生变异，往复循环。只要是新奇的就留下</a:t>
            </a:r>
            <a:r>
              <a:rPr lang="en-US" altLang="zh-CN" sz="2800" dirty="0">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sz="2800" b="1" dirty="0">
                <a:solidFill>
                  <a:srgbClr val="FFC000"/>
                </a:solidFill>
                <a:latin typeface="微软雅黑" panose="020B0503020204020204" charset="-122"/>
                <a:ea typeface="微软雅黑" panose="020B0503020204020204" charset="-122"/>
                <a:cs typeface="微软雅黑" panose="020B0503020204020204" charset="-122"/>
                <a:sym typeface="+mn-ea"/>
              </a:rPr>
              <a:t>只问新不新，不问好不好</a:t>
            </a:r>
            <a:endParaRPr lang="en-US" altLang="zh-CN" sz="2800" b="1" dirty="0">
              <a:solidFill>
                <a:srgbClr val="FFC000"/>
              </a:solidFill>
              <a:latin typeface="微软雅黑" panose="020B0503020204020204" charset="-122"/>
              <a:ea typeface="微软雅黑" panose="020B0503020204020204" charset="-122"/>
              <a:cs typeface="微软雅黑" panose="020B0503020204020204" charset="-122"/>
            </a:endParaRPr>
          </a:p>
          <a:p>
            <a:pPr marL="457200" indent="-457200" algn="just">
              <a:buFont typeface="Wingdings" panose="05000000000000000000" pitchFamily="2" charset="2"/>
              <a:buChar char="l"/>
            </a:pPr>
            <a:r>
              <a:rPr lang="zh-CN" altLang="en-US" sz="2800" b="1" dirty="0">
                <a:solidFill>
                  <a:schemeClr val="bg1"/>
                </a:solidFill>
                <a:latin typeface="微软雅黑" panose="020B0503020204020204" charset="-122"/>
                <a:ea typeface="微软雅黑" panose="020B0503020204020204" charset="-122"/>
                <a:cs typeface="微软雅黑" panose="020B0503020204020204" charset="-122"/>
                <a:sym typeface="+mn-ea"/>
              </a:rPr>
              <a:t>只有在明确的目标被忽视、探索的缰绳被彻底松开时，我们才有可能征服最遥远的未知边界。 </a:t>
            </a:r>
            <a:endParaRPr lang="zh-CN" altLang="en-US" sz="2800" dirty="0">
              <a:latin typeface="微软雅黑" panose="020B0503020204020204" charset="-122"/>
              <a:ea typeface="微软雅黑" panose="020B0503020204020204" charset="-122"/>
              <a:cs typeface="微软雅黑" panose="020B0503020204020204" charset="-122"/>
            </a:endParaRPr>
          </a:p>
        </p:txBody>
      </p:sp>
      <p:pic>
        <p:nvPicPr>
          <p:cNvPr id="6" name="图片 5"/>
          <p:cNvPicPr>
            <a:picLocks noChangeAspect="1"/>
          </p:cNvPicPr>
          <p:nvPr/>
        </p:nvPicPr>
        <p:blipFill>
          <a:blip r:embed="rId2"/>
          <a:srcRect r="34586"/>
          <a:stretch>
            <a:fillRect/>
          </a:stretch>
        </p:blipFill>
        <p:spPr>
          <a:xfrm>
            <a:off x="6356838" y="1182340"/>
            <a:ext cx="5734507" cy="4401205"/>
          </a:xfrm>
          <a:prstGeom prst="rect">
            <a:avLst/>
          </a:prstGeom>
        </p:spPr>
      </p:pic>
      <p:sp>
        <p:nvSpPr>
          <p:cNvPr id="7" name="文本框 6"/>
          <p:cNvSpPr txBox="1"/>
          <p:nvPr/>
        </p:nvSpPr>
        <p:spPr>
          <a:xfrm>
            <a:off x="668215" y="5706208"/>
            <a:ext cx="10463336" cy="424732"/>
          </a:xfrm>
          <a:prstGeom prst="rect">
            <a:avLst/>
          </a:prstGeom>
          <a:noFill/>
        </p:spPr>
        <p:txBody>
          <a:bodyPr wrap="square" rtlCol="0" anchor="t">
            <a:spAutoFit/>
          </a:bodyPr>
          <a:lstStyle/>
          <a:p>
            <a:pPr>
              <a:lnSpc>
                <a:spcPct val="120000"/>
              </a:lnSpc>
            </a:pPr>
            <a:r>
              <a:rPr lang="en-US" altLang="zh-CN" dirty="0">
                <a:solidFill>
                  <a:schemeClr val="bg1">
                    <a:lumMod val="85000"/>
                  </a:schemeClr>
                </a:solidFill>
                <a:latin typeface="微软雅黑" panose="020B0503020204020204" charset="-122"/>
                <a:ea typeface="微软雅黑" panose="020B0503020204020204" charset="-122"/>
                <a:cs typeface="微软雅黑" panose="020B0503020204020204" charset="-122"/>
                <a:sym typeface="+mn-ea"/>
              </a:rPr>
              <a:t>——</a:t>
            </a:r>
            <a:r>
              <a:rPr lang="zh-CN" altLang="en-US" dirty="0">
                <a:solidFill>
                  <a:schemeClr val="bg1">
                    <a:lumMod val="85000"/>
                  </a:schemeClr>
                </a:solidFill>
                <a:latin typeface="微软雅黑" panose="020B0503020204020204" charset="-122"/>
                <a:ea typeface="微软雅黑" panose="020B0503020204020204" charset="-122"/>
                <a:cs typeface="微软雅黑" panose="020B0503020204020204" charset="-122"/>
                <a:sym typeface="+mn-ea"/>
              </a:rPr>
              <a:t>肯尼斯</a:t>
            </a:r>
            <a:r>
              <a:rPr lang="en-US" altLang="zh-CN" dirty="0">
                <a:solidFill>
                  <a:schemeClr val="bg1">
                    <a:lumMod val="85000"/>
                  </a:schemeClr>
                </a:solidFill>
                <a:latin typeface="微软雅黑" panose="020B0503020204020204" charset="-122"/>
                <a:ea typeface="微软雅黑" panose="020B0503020204020204" charset="-122"/>
                <a:cs typeface="微软雅黑" panose="020B0503020204020204" charset="-122"/>
                <a:sym typeface="+mn-ea"/>
              </a:rPr>
              <a:t>.</a:t>
            </a:r>
            <a:r>
              <a:rPr lang="zh-CN" altLang="en-US" dirty="0">
                <a:solidFill>
                  <a:schemeClr val="bg1">
                    <a:lumMod val="85000"/>
                  </a:schemeClr>
                </a:solidFill>
                <a:latin typeface="微软雅黑" panose="020B0503020204020204" charset="-122"/>
                <a:ea typeface="微软雅黑" panose="020B0503020204020204" charset="-122"/>
                <a:cs typeface="微软雅黑" panose="020B0503020204020204" charset="-122"/>
                <a:sym typeface="+mn-ea"/>
              </a:rPr>
              <a:t>斯坦利，乔尔</a:t>
            </a:r>
            <a:r>
              <a:rPr lang="en-US" altLang="zh-CN" dirty="0">
                <a:solidFill>
                  <a:schemeClr val="bg1">
                    <a:lumMod val="85000"/>
                  </a:schemeClr>
                </a:solidFill>
                <a:latin typeface="微软雅黑" panose="020B0503020204020204" charset="-122"/>
                <a:ea typeface="微软雅黑" panose="020B0503020204020204" charset="-122"/>
                <a:cs typeface="微软雅黑" panose="020B0503020204020204" charset="-122"/>
                <a:sym typeface="+mn-ea"/>
              </a:rPr>
              <a:t>.</a:t>
            </a:r>
            <a:r>
              <a:rPr lang="zh-CN" altLang="en-US" dirty="0">
                <a:solidFill>
                  <a:schemeClr val="bg1">
                    <a:lumMod val="85000"/>
                  </a:schemeClr>
                </a:solidFill>
                <a:latin typeface="微软雅黑" panose="020B0503020204020204" charset="-122"/>
                <a:ea typeface="微软雅黑" panose="020B0503020204020204" charset="-122"/>
                <a:cs typeface="微软雅黑" panose="020B0503020204020204" charset="-122"/>
                <a:sym typeface="+mn-ea"/>
              </a:rPr>
              <a:t>雷曼</a:t>
            </a:r>
            <a:r>
              <a:rPr lang="en-US" altLang="zh-CN" dirty="0">
                <a:solidFill>
                  <a:schemeClr val="bg1">
                    <a:lumMod val="85000"/>
                  </a:schemeClr>
                </a:solidFill>
                <a:latin typeface="微软雅黑" panose="020B0503020204020204" charset="-122"/>
                <a:ea typeface="微软雅黑" panose="020B0503020204020204" charset="-122"/>
                <a:cs typeface="微软雅黑" panose="020B0503020204020204" charset="-122"/>
                <a:sym typeface="+mn-ea"/>
              </a:rPr>
              <a:t>.</a:t>
            </a:r>
            <a:r>
              <a:rPr lang="zh-CN" altLang="en-US" dirty="0">
                <a:solidFill>
                  <a:schemeClr val="bg1">
                    <a:lumMod val="85000"/>
                  </a:schemeClr>
                </a:solidFill>
                <a:latin typeface="微软雅黑" panose="020B0503020204020204" charset="-122"/>
                <a:ea typeface="微软雅黑" panose="020B0503020204020204" charset="-122"/>
                <a:cs typeface="微软雅黑" panose="020B0503020204020204" charset="-122"/>
                <a:sym typeface="+mn-ea"/>
              </a:rPr>
              <a:t>彭相珍 译</a:t>
            </a:r>
            <a:r>
              <a:rPr lang="en-US" altLang="zh-CN" dirty="0">
                <a:solidFill>
                  <a:schemeClr val="bg1">
                    <a:lumMod val="85000"/>
                  </a:schemeClr>
                </a:solidFill>
                <a:latin typeface="微软雅黑" panose="020B0503020204020204" charset="-122"/>
                <a:ea typeface="微软雅黑" panose="020B0503020204020204" charset="-122"/>
                <a:cs typeface="微软雅黑" panose="020B0503020204020204" charset="-122"/>
                <a:sym typeface="+mn-ea"/>
              </a:rPr>
              <a:t>.</a:t>
            </a:r>
            <a:r>
              <a:rPr lang="zh-CN" altLang="en-US" dirty="0">
                <a:solidFill>
                  <a:schemeClr val="bg1">
                    <a:lumMod val="85000"/>
                  </a:schemeClr>
                </a:solidFill>
                <a:latin typeface="微软雅黑" panose="020B0503020204020204" charset="-122"/>
                <a:ea typeface="微软雅黑" panose="020B0503020204020204" charset="-122"/>
                <a:cs typeface="微软雅黑" panose="020B0503020204020204" charset="-122"/>
                <a:sym typeface="+mn-ea"/>
              </a:rPr>
              <a:t>为什么伟大不能被计划</a:t>
            </a:r>
            <a:r>
              <a:rPr lang="en-US" altLang="zh-CN" dirty="0">
                <a:solidFill>
                  <a:schemeClr val="bg1">
                    <a:lumMod val="85000"/>
                  </a:schemeClr>
                </a:solidFill>
                <a:latin typeface="微软雅黑" panose="020B0503020204020204" charset="-122"/>
                <a:ea typeface="微软雅黑" panose="020B0503020204020204" charset="-122"/>
                <a:cs typeface="微软雅黑" panose="020B0503020204020204" charset="-122"/>
                <a:sym typeface="+mn-ea"/>
              </a:rPr>
              <a:t>.</a:t>
            </a:r>
            <a:r>
              <a:rPr lang="zh-CN" altLang="en-US" dirty="0">
                <a:solidFill>
                  <a:schemeClr val="bg1">
                    <a:lumMod val="85000"/>
                  </a:schemeClr>
                </a:solidFill>
                <a:latin typeface="微软雅黑" panose="020B0503020204020204" charset="-122"/>
                <a:ea typeface="微软雅黑" panose="020B0503020204020204" charset="-122"/>
                <a:cs typeface="微软雅黑" panose="020B0503020204020204" charset="-122"/>
                <a:sym typeface="+mn-ea"/>
              </a:rPr>
              <a:t>中国出版集团中译出版社，</a:t>
            </a:r>
            <a:r>
              <a:rPr lang="en-US" altLang="zh-CN" dirty="0">
                <a:solidFill>
                  <a:schemeClr val="bg1">
                    <a:lumMod val="85000"/>
                  </a:schemeClr>
                </a:solidFill>
                <a:latin typeface="微软雅黑" panose="020B0503020204020204" charset="-122"/>
                <a:ea typeface="微软雅黑" panose="020B0503020204020204" charset="-122"/>
                <a:cs typeface="微软雅黑" panose="020B0503020204020204" charset="-122"/>
                <a:sym typeface="+mn-ea"/>
              </a:rPr>
              <a:t>2023.</a:t>
            </a:r>
          </a:p>
        </p:txBody>
      </p:sp>
      <p:pic>
        <p:nvPicPr>
          <p:cNvPr id="10" name="图片 9" descr="华科and智装院-02-02"/>
          <p:cNvPicPr>
            <a:picLocks noChangeAspect="1"/>
          </p:cNvPicPr>
          <p:nvPr/>
        </p:nvPicPr>
        <p:blipFill rotWithShape="1">
          <a:blip r:embed="rId3"/>
          <a:srcRect r="70674" b="-4980"/>
          <a:stretch/>
        </p:blipFill>
        <p:spPr>
          <a:xfrm>
            <a:off x="10855177" y="145991"/>
            <a:ext cx="857650" cy="704614"/>
          </a:xfrm>
          <a:prstGeom prst="rect">
            <a:avLst/>
          </a:prstGeom>
        </p:spPr>
      </p:pic>
    </p:spTree>
    <p:extLst>
      <p:ext uri="{BB962C8B-B14F-4D97-AF65-F5344CB8AC3E}">
        <p14:creationId xmlns:p14="http://schemas.microsoft.com/office/powerpoint/2010/main" val="13258154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511629" y="154676"/>
            <a:ext cx="10591800" cy="928046"/>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pPr marL="0" lvl="1" algn="ctr"/>
            <a:r>
              <a:rPr lang="zh-CN" altLang="en-US" sz="3200" b="1" dirty="0">
                <a:solidFill>
                  <a:srgbClr val="FFFF00"/>
                </a:solidFill>
                <a:latin typeface="+mn-ea"/>
              </a:rPr>
              <a:t>单一目标导向？</a:t>
            </a:r>
            <a:endParaRPr lang="zh-CN" altLang="zh-CN" sz="3200" b="1" dirty="0">
              <a:solidFill>
                <a:srgbClr val="FFFF00"/>
              </a:solidFill>
            </a:endParaRPr>
          </a:p>
        </p:txBody>
      </p:sp>
      <p:sp>
        <p:nvSpPr>
          <p:cNvPr id="2" name="矩形 1"/>
          <p:cNvSpPr/>
          <p:nvPr/>
        </p:nvSpPr>
        <p:spPr>
          <a:xfrm>
            <a:off x="600500" y="1273792"/>
            <a:ext cx="10890915" cy="5011966"/>
          </a:xfrm>
          <a:prstGeom prst="rect">
            <a:avLst/>
          </a:prstGeom>
          <a:noFill/>
        </p:spPr>
        <p:txBody>
          <a:bodyPr wrap="square" lIns="86694" tIns="43347" rIns="86694" bIns="43347">
            <a:spAutoFit/>
          </a:bodyPr>
          <a:lstStyle/>
          <a:p>
            <a:r>
              <a:rPr lang="zh-CN" altLang="zh-CN" sz="2800" b="1" dirty="0">
                <a:solidFill>
                  <a:schemeClr val="bg1"/>
                </a:solidFill>
                <a:latin typeface="+mn-ea"/>
              </a:rPr>
              <a:t>知识导向容易导致</a:t>
            </a:r>
            <a:r>
              <a:rPr lang="zh-CN" altLang="en-US" sz="2800" b="1" dirty="0">
                <a:solidFill>
                  <a:schemeClr val="bg1"/>
                </a:solidFill>
                <a:latin typeface="+mn-ea"/>
              </a:rPr>
              <a:t>人</a:t>
            </a:r>
            <a:r>
              <a:rPr lang="zh-CN" altLang="zh-CN" sz="2800" b="1" dirty="0">
                <a:solidFill>
                  <a:schemeClr val="bg1"/>
                </a:solidFill>
                <a:latin typeface="+mn-ea"/>
              </a:rPr>
              <a:t>在解决工程问题时围绕既有或固有的目标。</a:t>
            </a:r>
            <a:r>
              <a:rPr lang="en-US" altLang="zh-CN" sz="2800" dirty="0" err="1">
                <a:solidFill>
                  <a:schemeClr val="bg1"/>
                </a:solidFill>
                <a:latin typeface="+mn-ea"/>
              </a:rPr>
              <a:t>OpenAI</a:t>
            </a:r>
            <a:r>
              <a:rPr lang="zh-CN" altLang="zh-CN" sz="2800" dirty="0">
                <a:solidFill>
                  <a:schemeClr val="bg1"/>
                </a:solidFill>
                <a:latin typeface="+mn-ea"/>
              </a:rPr>
              <a:t>研究员肯尼斯·斯坦利指出</a:t>
            </a:r>
            <a:r>
              <a:rPr lang="en-US" altLang="zh-CN" sz="2800" baseline="30000" dirty="0">
                <a:solidFill>
                  <a:schemeClr val="bg1"/>
                </a:solidFill>
                <a:latin typeface="+mn-ea"/>
              </a:rPr>
              <a:t> </a:t>
            </a:r>
            <a:r>
              <a:rPr lang="en-US" altLang="zh-CN" sz="2800" dirty="0">
                <a:solidFill>
                  <a:schemeClr val="bg1"/>
                </a:solidFill>
                <a:latin typeface="+mn-ea"/>
              </a:rPr>
              <a:t>“</a:t>
            </a:r>
            <a:r>
              <a:rPr lang="zh-CN" altLang="zh-CN" sz="2800" b="1" dirty="0">
                <a:solidFill>
                  <a:srgbClr val="FFC000"/>
                </a:solidFill>
                <a:latin typeface="+mn-ea"/>
              </a:rPr>
              <a:t>单一的目标导向思维会阻碍创造力和创新</a:t>
            </a:r>
            <a:r>
              <a:rPr lang="en-US" altLang="zh-CN" sz="2800" dirty="0">
                <a:solidFill>
                  <a:schemeClr val="bg1"/>
                </a:solidFill>
                <a:latin typeface="+mn-ea"/>
              </a:rPr>
              <a:t>”</a:t>
            </a:r>
            <a:r>
              <a:rPr lang="zh-CN" altLang="zh-CN" sz="2800" dirty="0">
                <a:solidFill>
                  <a:schemeClr val="bg1"/>
                </a:solidFill>
                <a:latin typeface="+mn-ea"/>
              </a:rPr>
              <a:t>。在</a:t>
            </a:r>
            <a:r>
              <a:rPr lang="en-US" altLang="zh-CN" sz="2800" dirty="0">
                <a:solidFill>
                  <a:schemeClr val="bg1"/>
                </a:solidFill>
                <a:latin typeface="+mn-ea"/>
              </a:rPr>
              <a:t>AI</a:t>
            </a:r>
            <a:r>
              <a:rPr lang="zh-CN" altLang="zh-CN" sz="2800" dirty="0">
                <a:solidFill>
                  <a:schemeClr val="bg1"/>
                </a:solidFill>
                <a:latin typeface="+mn-ea"/>
              </a:rPr>
              <a:t>时代</a:t>
            </a:r>
            <a:r>
              <a:rPr lang="en-US" altLang="zh-CN" sz="2800" dirty="0">
                <a:solidFill>
                  <a:schemeClr val="bg1"/>
                </a:solidFill>
                <a:latin typeface="+mn-ea"/>
              </a:rPr>
              <a:t>,</a:t>
            </a:r>
            <a:r>
              <a:rPr lang="zh-CN" altLang="zh-CN" sz="2800" dirty="0">
                <a:solidFill>
                  <a:schemeClr val="bg1"/>
                </a:solidFill>
                <a:latin typeface="+mn-ea"/>
              </a:rPr>
              <a:t>个人如何保持创新？斯坦利认为：</a:t>
            </a:r>
          </a:p>
          <a:p>
            <a:pPr marL="457200" lvl="0" indent="-457200">
              <a:buFont typeface="Wingdings" panose="05000000000000000000" pitchFamily="2" charset="2"/>
              <a:buChar char="Ø"/>
            </a:pPr>
            <a:r>
              <a:rPr lang="zh-CN" altLang="zh-CN" sz="2400" dirty="0">
                <a:solidFill>
                  <a:schemeClr val="bg1"/>
                </a:solidFill>
                <a:latin typeface="+mn-ea"/>
              </a:rPr>
              <a:t>看到这条路的前景，也要超越眼前的道路；</a:t>
            </a:r>
          </a:p>
          <a:p>
            <a:pPr marL="457200" lvl="0" indent="-457200">
              <a:buFont typeface="Wingdings" panose="05000000000000000000" pitchFamily="2" charset="2"/>
              <a:buChar char="Ø"/>
            </a:pPr>
            <a:r>
              <a:rPr lang="zh-CN" altLang="zh-CN" sz="2400" dirty="0">
                <a:solidFill>
                  <a:schemeClr val="bg1"/>
                </a:solidFill>
                <a:latin typeface="+mn-ea"/>
              </a:rPr>
              <a:t>期待惊喜的出现；</a:t>
            </a:r>
          </a:p>
          <a:p>
            <a:pPr marL="457200" lvl="0" indent="-457200">
              <a:buFont typeface="Wingdings" panose="05000000000000000000" pitchFamily="2" charset="2"/>
              <a:buChar char="Ø"/>
            </a:pPr>
            <a:r>
              <a:rPr lang="zh-CN" altLang="zh-CN" sz="2400" dirty="0">
                <a:solidFill>
                  <a:schemeClr val="bg1"/>
                </a:solidFill>
                <a:latin typeface="+mn-ea"/>
              </a:rPr>
              <a:t>准备好接受欺骗。即使看起来是在做正确的事情，结果也会是错误的，或者看起来是错的结果却是对的；</a:t>
            </a:r>
          </a:p>
          <a:p>
            <a:pPr marL="457200" lvl="0" indent="-457200">
              <a:buFont typeface="Wingdings" panose="05000000000000000000" pitchFamily="2" charset="2"/>
              <a:buChar char="Ø"/>
            </a:pPr>
            <a:r>
              <a:rPr lang="zh-CN" altLang="zh-CN" sz="2400" dirty="0">
                <a:solidFill>
                  <a:schemeClr val="bg1"/>
                </a:solidFill>
                <a:latin typeface="+mn-ea"/>
              </a:rPr>
              <a:t>相信有趣的事物，质疑所谓的标准；</a:t>
            </a:r>
          </a:p>
          <a:p>
            <a:pPr marL="457200" lvl="0" indent="-457200">
              <a:buFont typeface="Wingdings" panose="05000000000000000000" pitchFamily="2" charset="2"/>
              <a:buChar char="Ø"/>
            </a:pPr>
            <a:r>
              <a:rPr lang="zh-CN" altLang="zh-CN" sz="2400" b="1" dirty="0">
                <a:solidFill>
                  <a:schemeClr val="bg1"/>
                </a:solidFill>
                <a:latin typeface="+mn-ea"/>
              </a:rPr>
              <a:t>不要随波逐流，而要</a:t>
            </a:r>
            <a:r>
              <a:rPr lang="zh-CN" altLang="zh-CN" sz="2400" b="1" dirty="0">
                <a:solidFill>
                  <a:srgbClr val="FFC000"/>
                </a:solidFill>
                <a:latin typeface="+mn-ea"/>
              </a:rPr>
              <a:t>追随有趣</a:t>
            </a:r>
            <a:r>
              <a:rPr lang="zh-CN" altLang="zh-CN" sz="2400" dirty="0">
                <a:solidFill>
                  <a:schemeClr val="bg1"/>
                </a:solidFill>
                <a:latin typeface="+mn-ea"/>
              </a:rPr>
              <a:t>；</a:t>
            </a:r>
          </a:p>
          <a:p>
            <a:pPr marL="457200" lvl="0" indent="-457200">
              <a:buFont typeface="Wingdings" panose="05000000000000000000" pitchFamily="2" charset="2"/>
              <a:buChar char="Ø"/>
            </a:pPr>
            <a:r>
              <a:rPr lang="zh-CN" altLang="zh-CN" sz="2400" b="1" dirty="0">
                <a:solidFill>
                  <a:schemeClr val="bg1"/>
                </a:solidFill>
                <a:latin typeface="+mn-ea"/>
              </a:rPr>
              <a:t>不起眼的事物可能带领人们去到全新的领域，即使当下我们未能察觉；</a:t>
            </a:r>
          </a:p>
          <a:p>
            <a:pPr marL="457200" indent="-457200">
              <a:buFont typeface="Wingdings" panose="05000000000000000000" pitchFamily="2" charset="2"/>
              <a:buChar char="Ø"/>
            </a:pPr>
            <a:r>
              <a:rPr lang="zh-CN" altLang="zh-CN" sz="2400" dirty="0">
                <a:solidFill>
                  <a:schemeClr val="bg1"/>
                </a:solidFill>
                <a:latin typeface="+mn-ea"/>
              </a:rPr>
              <a:t>必须学会接受一定程度的风险。追求有趣的事物，并不能保证你一定会做出惊人的成就，你只是有取得成功的可能。</a:t>
            </a:r>
            <a:endParaRPr lang="en-US" altLang="zh-CN" sz="2400" dirty="0">
              <a:solidFill>
                <a:schemeClr val="bg1"/>
              </a:solidFill>
              <a:latin typeface="+mn-ea"/>
            </a:endParaRPr>
          </a:p>
          <a:p>
            <a:r>
              <a:rPr lang="zh-CN" altLang="zh-CN" sz="2000" dirty="0">
                <a:solidFill>
                  <a:schemeClr val="bg1"/>
                </a:solidFill>
                <a:latin typeface="+mn-ea"/>
              </a:rPr>
              <a:t>肯尼斯·斯坦利：我从</a:t>
            </a:r>
            <a:r>
              <a:rPr lang="en-US" altLang="zh-CN" sz="2000" dirty="0">
                <a:solidFill>
                  <a:schemeClr val="bg1"/>
                </a:solidFill>
                <a:latin typeface="+mn-ea"/>
              </a:rPr>
              <a:t>AI</a:t>
            </a:r>
            <a:r>
              <a:rPr lang="zh-CN" altLang="zh-CN" sz="2000" dirty="0">
                <a:solidFill>
                  <a:schemeClr val="bg1"/>
                </a:solidFill>
                <a:latin typeface="+mn-ea"/>
              </a:rPr>
              <a:t>研究中，发现了人类思维的</a:t>
            </a:r>
            <a:r>
              <a:rPr lang="en-US" altLang="zh-CN" sz="2000" dirty="0">
                <a:solidFill>
                  <a:schemeClr val="bg1"/>
                </a:solidFill>
                <a:latin typeface="+mn-ea"/>
              </a:rPr>
              <a:t>BUG. </a:t>
            </a:r>
            <a:r>
              <a:rPr lang="zh-CN" altLang="zh-CN" sz="2000" dirty="0">
                <a:solidFill>
                  <a:schemeClr val="bg1"/>
                </a:solidFill>
                <a:latin typeface="+mn-ea"/>
              </a:rPr>
              <a:t>混沌学园</a:t>
            </a:r>
            <a:r>
              <a:rPr lang="en-US" altLang="zh-CN" sz="2000" dirty="0">
                <a:solidFill>
                  <a:schemeClr val="bg1"/>
                </a:solidFill>
                <a:latin typeface="+mn-ea"/>
              </a:rPr>
              <a:t>,2023-07-09.</a:t>
            </a:r>
          </a:p>
        </p:txBody>
      </p:sp>
    </p:spTree>
    <p:extLst>
      <p:ext uri="{BB962C8B-B14F-4D97-AF65-F5344CB8AC3E}">
        <p14:creationId xmlns:p14="http://schemas.microsoft.com/office/powerpoint/2010/main" val="41290653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1387929" y="255815"/>
            <a:ext cx="9503227" cy="843642"/>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r>
              <a:rPr lang="zh-CN" altLang="zh-CN" sz="3200" dirty="0">
                <a:latin typeface="+mn-ea"/>
              </a:rPr>
              <a:t>目标悖论</a:t>
            </a:r>
            <a:r>
              <a:rPr lang="zh-CN" altLang="en-US" sz="3200" dirty="0">
                <a:latin typeface="+mn-ea"/>
              </a:rPr>
              <a:t>：</a:t>
            </a:r>
            <a:r>
              <a:rPr lang="zh-CN" altLang="zh-CN" sz="3200" dirty="0">
                <a:solidFill>
                  <a:srgbClr val="FFFF00"/>
                </a:solidFill>
                <a:latin typeface="+mn-ea"/>
              </a:rPr>
              <a:t>拥有一个目标，会妨碍你实现目标</a:t>
            </a:r>
            <a:endParaRPr lang="en-US" altLang="zh-CN" sz="3200" dirty="0">
              <a:solidFill>
                <a:srgbClr val="FFFF00"/>
              </a:solidFill>
            </a:endParaRPr>
          </a:p>
        </p:txBody>
      </p:sp>
      <p:sp>
        <p:nvSpPr>
          <p:cNvPr id="2" name="矩形 1"/>
          <p:cNvSpPr/>
          <p:nvPr/>
        </p:nvSpPr>
        <p:spPr>
          <a:xfrm>
            <a:off x="316333" y="1408670"/>
            <a:ext cx="11457185" cy="5319742"/>
          </a:xfrm>
          <a:prstGeom prst="rect">
            <a:avLst/>
          </a:prstGeom>
        </p:spPr>
        <p:txBody>
          <a:bodyPr wrap="square" lIns="86694" tIns="43347" rIns="86694" bIns="43347">
            <a:spAutoFit/>
          </a:bodyPr>
          <a:lstStyle/>
          <a:p>
            <a:pPr marL="457200" lvl="0" indent="-457200" algn="just" eaLnBrk="0" fontAlgn="base" hangingPunct="0">
              <a:spcBef>
                <a:spcPct val="0"/>
              </a:spcBef>
              <a:spcAft>
                <a:spcPct val="0"/>
              </a:spcAft>
              <a:buFont typeface="Wingdings" panose="05000000000000000000" pitchFamily="2" charset="2"/>
              <a:buChar char="n"/>
            </a:pPr>
            <a:r>
              <a:rPr lang="zh-CN" altLang="zh-CN" sz="3200" dirty="0">
                <a:solidFill>
                  <a:schemeClr val="bg1"/>
                </a:solidFill>
                <a:latin typeface="+mn-ea"/>
              </a:rPr>
              <a:t>人类在人工智能或机器学习领域的许多基准文化可能已落入歧途</a:t>
            </a:r>
            <a:endParaRPr lang="en-US" altLang="zh-CN" sz="3200" dirty="0">
              <a:solidFill>
                <a:schemeClr val="bg1"/>
              </a:solidFill>
              <a:latin typeface="+mn-ea"/>
            </a:endParaRPr>
          </a:p>
          <a:p>
            <a:pPr marL="457200" lvl="0" indent="-457200" algn="just" eaLnBrk="0" fontAlgn="base" hangingPunct="0">
              <a:spcBef>
                <a:spcPct val="0"/>
              </a:spcBef>
              <a:spcAft>
                <a:spcPct val="0"/>
              </a:spcAft>
              <a:buFont typeface="Wingdings" panose="05000000000000000000" pitchFamily="2" charset="2"/>
              <a:buChar char="n"/>
            </a:pPr>
            <a:r>
              <a:rPr lang="zh-CN" altLang="zh-CN" sz="3200" dirty="0">
                <a:solidFill>
                  <a:schemeClr val="bg1"/>
                </a:solidFill>
                <a:latin typeface="+mn-ea"/>
              </a:rPr>
              <a:t>算法的强大力量，并不在于当你真正建立一个目标时，它们做事情的能力；而在于，当你没有设定目标的时候，它们做事情的能力。</a:t>
            </a:r>
            <a:endParaRPr lang="en-US" altLang="zh-CN" sz="3200" dirty="0">
              <a:solidFill>
                <a:schemeClr val="bg1"/>
              </a:solidFill>
              <a:latin typeface="+mn-ea"/>
            </a:endParaRPr>
          </a:p>
          <a:p>
            <a:pPr marL="457200" lvl="0" indent="-457200" algn="just" eaLnBrk="0" fontAlgn="base" hangingPunct="0">
              <a:spcBef>
                <a:spcPct val="0"/>
              </a:spcBef>
              <a:spcAft>
                <a:spcPct val="0"/>
              </a:spcAft>
              <a:buFont typeface="Wingdings" panose="05000000000000000000" pitchFamily="2" charset="2"/>
              <a:buChar char="n"/>
            </a:pPr>
            <a:r>
              <a:rPr lang="zh-CN" altLang="zh-CN" sz="3200" dirty="0">
                <a:solidFill>
                  <a:schemeClr val="bg1"/>
                </a:solidFill>
                <a:latin typeface="+mn-ea"/>
              </a:rPr>
              <a:t>目标悖论并不是要你没有目标，而是说当你</a:t>
            </a:r>
            <a:r>
              <a:rPr lang="zh-CN" altLang="zh-CN" sz="3200" b="1" dirty="0">
                <a:solidFill>
                  <a:schemeClr val="bg1"/>
                </a:solidFill>
                <a:latin typeface="+mn-ea"/>
              </a:rPr>
              <a:t>没有目标的时候，更有可能实现创新。</a:t>
            </a:r>
            <a:endParaRPr lang="en-US" altLang="zh-CN" sz="3200" b="1" dirty="0">
              <a:solidFill>
                <a:schemeClr val="bg1"/>
              </a:solidFill>
              <a:latin typeface="+mn-ea"/>
            </a:endParaRPr>
          </a:p>
          <a:p>
            <a:pPr marL="457200" lvl="0" indent="-457200" algn="just" eaLnBrk="0" fontAlgn="base" hangingPunct="0">
              <a:spcBef>
                <a:spcPct val="0"/>
              </a:spcBef>
              <a:spcAft>
                <a:spcPct val="0"/>
              </a:spcAft>
              <a:buFont typeface="Wingdings" panose="05000000000000000000" pitchFamily="2" charset="2"/>
              <a:buChar char="n"/>
            </a:pPr>
            <a:r>
              <a:rPr lang="zh-CN" altLang="zh-CN" sz="3200" dirty="0">
                <a:solidFill>
                  <a:schemeClr val="bg1"/>
                </a:solidFill>
                <a:latin typeface="+mn-ea"/>
              </a:rPr>
              <a:t>目标只会在简单的、非欺骗性空间里生效，</a:t>
            </a:r>
            <a:r>
              <a:rPr lang="zh-CN" altLang="zh-CN" sz="3200" b="1" dirty="0">
                <a:solidFill>
                  <a:schemeClr val="bg1"/>
                </a:solidFill>
                <a:latin typeface="+mn-ea"/>
              </a:rPr>
              <a:t>解答容易的问题，有一个适度的目标并没有错。</a:t>
            </a:r>
            <a:endParaRPr lang="en-US" altLang="zh-CN" sz="3200" b="1" dirty="0">
              <a:solidFill>
                <a:schemeClr val="bg1"/>
              </a:solidFill>
              <a:latin typeface="+mn-ea"/>
            </a:endParaRPr>
          </a:p>
          <a:p>
            <a:pPr marL="457200" lvl="0" indent="-457200" algn="just" eaLnBrk="0" fontAlgn="base" hangingPunct="0">
              <a:spcBef>
                <a:spcPct val="0"/>
              </a:spcBef>
              <a:spcAft>
                <a:spcPct val="0"/>
              </a:spcAft>
              <a:buFont typeface="Wingdings" panose="05000000000000000000" pitchFamily="2" charset="2"/>
              <a:buChar char="n"/>
            </a:pPr>
            <a:r>
              <a:rPr lang="zh-CN" altLang="zh-CN" sz="3200" b="1" dirty="0">
                <a:solidFill>
                  <a:srgbClr val="FFC000"/>
                </a:solidFill>
                <a:latin typeface="+mn-ea"/>
              </a:rPr>
              <a:t>当你放弃目标的时候，你可能会做成伟大的事情</a:t>
            </a:r>
            <a:endParaRPr lang="en-US" altLang="zh-CN" sz="2800" dirty="0">
              <a:solidFill>
                <a:srgbClr val="FFC000"/>
              </a:solidFill>
              <a:latin typeface="+mn-ea"/>
            </a:endParaRPr>
          </a:p>
          <a:p>
            <a:r>
              <a:rPr lang="en-US" altLang="zh-CN" sz="2000" dirty="0" err="1">
                <a:solidFill>
                  <a:schemeClr val="bg1"/>
                </a:solidFill>
                <a:latin typeface="+mn-ea"/>
              </a:rPr>
              <a:t>OpenAI</a:t>
            </a:r>
            <a:r>
              <a:rPr lang="zh-CN" altLang="en-US" sz="2000" dirty="0">
                <a:solidFill>
                  <a:schemeClr val="bg1"/>
                </a:solidFill>
                <a:latin typeface="+mn-ea"/>
              </a:rPr>
              <a:t>研究员肯尼斯</a:t>
            </a:r>
            <a:r>
              <a:rPr lang="en-US" altLang="zh-CN" sz="2000" dirty="0">
                <a:solidFill>
                  <a:schemeClr val="bg1"/>
                </a:solidFill>
                <a:latin typeface="+mn-ea"/>
              </a:rPr>
              <a:t>·</a:t>
            </a:r>
            <a:r>
              <a:rPr lang="zh-CN" altLang="en-US" sz="2000" dirty="0">
                <a:solidFill>
                  <a:schemeClr val="bg1"/>
                </a:solidFill>
                <a:latin typeface="+mn-ea"/>
              </a:rPr>
              <a:t>斯坦利：我从</a:t>
            </a:r>
            <a:r>
              <a:rPr lang="en-US" altLang="zh-CN" sz="2000" dirty="0">
                <a:solidFill>
                  <a:schemeClr val="bg1"/>
                </a:solidFill>
                <a:latin typeface="+mn-ea"/>
              </a:rPr>
              <a:t>AI</a:t>
            </a:r>
            <a:r>
              <a:rPr lang="zh-CN" altLang="en-US" sz="2000" dirty="0">
                <a:solidFill>
                  <a:schemeClr val="bg1"/>
                </a:solidFill>
                <a:latin typeface="+mn-ea"/>
              </a:rPr>
              <a:t>研究中，发现了人类思维的根本</a:t>
            </a:r>
            <a:r>
              <a:rPr lang="en-US" altLang="zh-CN" sz="2000" dirty="0">
                <a:solidFill>
                  <a:schemeClr val="bg1"/>
                </a:solidFill>
                <a:latin typeface="+mn-ea"/>
              </a:rPr>
              <a:t>BUG. </a:t>
            </a:r>
            <a:r>
              <a:rPr lang="zh-CN" altLang="en-US" sz="2000" dirty="0">
                <a:solidFill>
                  <a:schemeClr val="bg1"/>
                </a:solidFill>
                <a:latin typeface="+mn-ea"/>
              </a:rPr>
              <a:t>混沌学园 </a:t>
            </a:r>
            <a:r>
              <a:rPr lang="en-US" altLang="zh-CN" sz="2000" dirty="0">
                <a:solidFill>
                  <a:schemeClr val="bg1"/>
                </a:solidFill>
                <a:latin typeface="+mn-ea"/>
              </a:rPr>
              <a:t>2023-07-09</a:t>
            </a:r>
          </a:p>
        </p:txBody>
      </p:sp>
    </p:spTree>
    <p:extLst>
      <p:ext uri="{BB962C8B-B14F-4D97-AF65-F5344CB8AC3E}">
        <p14:creationId xmlns:p14="http://schemas.microsoft.com/office/powerpoint/2010/main" val="16910176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1387929" y="255815"/>
            <a:ext cx="9503227" cy="843642"/>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r>
              <a:rPr lang="zh-CN" altLang="en-US" sz="3200" dirty="0">
                <a:latin typeface="+mn-ea"/>
              </a:rPr>
              <a:t>协作、共识、多样性</a:t>
            </a:r>
            <a:endParaRPr lang="en-US" altLang="zh-CN" sz="3200" dirty="0">
              <a:solidFill>
                <a:srgbClr val="FFFF00"/>
              </a:solidFill>
            </a:endParaRPr>
          </a:p>
        </p:txBody>
      </p:sp>
      <p:sp>
        <p:nvSpPr>
          <p:cNvPr id="2" name="矩形 1"/>
          <p:cNvSpPr/>
          <p:nvPr/>
        </p:nvSpPr>
        <p:spPr>
          <a:xfrm>
            <a:off x="499212" y="1571779"/>
            <a:ext cx="11111197" cy="4642634"/>
          </a:xfrm>
          <a:prstGeom prst="rect">
            <a:avLst/>
          </a:prstGeom>
        </p:spPr>
        <p:txBody>
          <a:bodyPr wrap="square" lIns="86694" tIns="43347" rIns="86694" bIns="43347">
            <a:spAutoFit/>
          </a:bodyPr>
          <a:lstStyle/>
          <a:p>
            <a:pPr marL="457200" lvl="0" indent="-457200" algn="just" eaLnBrk="0" fontAlgn="base" hangingPunct="0">
              <a:spcBef>
                <a:spcPct val="0"/>
              </a:spcBef>
              <a:spcAft>
                <a:spcPct val="0"/>
              </a:spcAft>
              <a:buFont typeface="Wingdings" panose="05000000000000000000" pitchFamily="2" charset="2"/>
              <a:buChar char="n"/>
            </a:pPr>
            <a:r>
              <a:rPr lang="zh-CN" altLang="zh-CN" sz="3200" dirty="0">
                <a:solidFill>
                  <a:schemeClr val="bg1"/>
                </a:solidFill>
                <a:latin typeface="+mn-ea"/>
              </a:rPr>
              <a:t>在一个</a:t>
            </a:r>
            <a:r>
              <a:rPr lang="zh-CN" altLang="zh-CN" sz="3200" b="1" dirty="0">
                <a:solidFill>
                  <a:schemeClr val="bg1"/>
                </a:solidFill>
                <a:latin typeface="+mn-ea"/>
              </a:rPr>
              <a:t>非目标导向的世界里</a:t>
            </a:r>
            <a:r>
              <a:rPr lang="zh-CN" altLang="zh-CN" sz="3200" dirty="0">
                <a:solidFill>
                  <a:schemeClr val="bg1"/>
                </a:solidFill>
                <a:latin typeface="+mn-ea"/>
              </a:rPr>
              <a:t>，人类的本能之一就是想要</a:t>
            </a:r>
            <a:r>
              <a:rPr lang="zh-CN" altLang="zh-CN" sz="3200" b="1" dirty="0">
                <a:solidFill>
                  <a:schemeClr val="bg1"/>
                </a:solidFill>
                <a:latin typeface="+mn-ea"/>
              </a:rPr>
              <a:t>追随有趣的事物，因为有趣可以驱动进一步探索。</a:t>
            </a:r>
          </a:p>
          <a:p>
            <a:pPr marL="457200" lvl="0" indent="-457200" algn="just" eaLnBrk="0" fontAlgn="base" hangingPunct="0">
              <a:spcBef>
                <a:spcPct val="0"/>
              </a:spcBef>
              <a:spcAft>
                <a:spcPct val="0"/>
              </a:spcAft>
              <a:buFont typeface="Wingdings" panose="05000000000000000000" pitchFamily="2" charset="2"/>
              <a:buChar char="n"/>
            </a:pPr>
            <a:r>
              <a:rPr lang="zh-CN" altLang="zh-CN" sz="3200" dirty="0">
                <a:solidFill>
                  <a:schemeClr val="bg1"/>
                </a:solidFill>
                <a:latin typeface="+mn-ea"/>
              </a:rPr>
              <a:t>要想实现最高目标，必须先愿意放弃目标。只有当我们没有真正想着这些目标时，或者当别人没有遵循你所谓的正确的道路以及符合你的利益时，才可能实现目标。</a:t>
            </a:r>
            <a:endParaRPr lang="en-US" altLang="zh-CN" sz="3200" dirty="0">
              <a:solidFill>
                <a:schemeClr val="bg1"/>
              </a:solidFill>
              <a:latin typeface="+mn-ea"/>
            </a:endParaRPr>
          </a:p>
          <a:p>
            <a:pPr marL="457200" lvl="0" indent="-457200" algn="just" eaLnBrk="0" fontAlgn="base" hangingPunct="0">
              <a:spcBef>
                <a:spcPct val="0"/>
              </a:spcBef>
              <a:spcAft>
                <a:spcPct val="0"/>
              </a:spcAft>
              <a:buFont typeface="Wingdings" panose="05000000000000000000" pitchFamily="2" charset="2"/>
              <a:buChar char="n"/>
            </a:pPr>
            <a:r>
              <a:rPr lang="zh-CN" altLang="zh-CN" sz="3200" b="1" dirty="0">
                <a:solidFill>
                  <a:srgbClr val="FFC000"/>
                </a:solidFill>
                <a:latin typeface="+mn-ea"/>
              </a:rPr>
              <a:t>合作可以导致趋同和共识</a:t>
            </a:r>
            <a:r>
              <a:rPr lang="zh-CN" altLang="zh-CN" sz="3200" dirty="0">
                <a:solidFill>
                  <a:schemeClr val="bg1"/>
                </a:solidFill>
                <a:latin typeface="+mn-ea"/>
              </a:rPr>
              <a:t>，但是也将消除通向伟大事物的“踏脚石”</a:t>
            </a:r>
            <a:r>
              <a:rPr lang="en-US" altLang="zh-CN" sz="3200" dirty="0">
                <a:solidFill>
                  <a:schemeClr val="bg1"/>
                </a:solidFill>
                <a:latin typeface="+mn-ea"/>
              </a:rPr>
              <a:t>——</a:t>
            </a:r>
            <a:r>
              <a:rPr lang="zh-CN" altLang="zh-CN" sz="3200" dirty="0">
                <a:solidFill>
                  <a:schemeClr val="bg1"/>
                </a:solidFill>
                <a:latin typeface="+mn-ea"/>
              </a:rPr>
              <a:t>想要找到某种正确的道路，这就</a:t>
            </a:r>
            <a:r>
              <a:rPr lang="zh-CN" altLang="zh-CN" sz="3200" b="1" dirty="0">
                <a:solidFill>
                  <a:srgbClr val="FFC000"/>
                </a:solidFill>
                <a:latin typeface="+mn-ea"/>
              </a:rPr>
              <a:t>导致了多样性的缺失</a:t>
            </a:r>
            <a:r>
              <a:rPr lang="zh-CN" altLang="zh-CN" sz="3200" dirty="0">
                <a:solidFill>
                  <a:schemeClr val="bg1"/>
                </a:solidFill>
                <a:latin typeface="+mn-ea"/>
              </a:rPr>
              <a:t>，也带来了妥协。</a:t>
            </a:r>
            <a:endParaRPr lang="en-US" altLang="zh-CN" sz="3200" dirty="0">
              <a:solidFill>
                <a:schemeClr val="bg1"/>
              </a:solidFill>
              <a:latin typeface="+mn-ea"/>
            </a:endParaRPr>
          </a:p>
          <a:p>
            <a:r>
              <a:rPr lang="en-US" altLang="zh-CN" sz="2000" dirty="0" err="1">
                <a:solidFill>
                  <a:schemeClr val="bg1"/>
                </a:solidFill>
                <a:latin typeface="+mn-ea"/>
              </a:rPr>
              <a:t>OpenAI</a:t>
            </a:r>
            <a:r>
              <a:rPr lang="zh-CN" altLang="en-US" sz="2000" dirty="0">
                <a:solidFill>
                  <a:schemeClr val="bg1"/>
                </a:solidFill>
                <a:latin typeface="+mn-ea"/>
              </a:rPr>
              <a:t>研究员肯尼斯</a:t>
            </a:r>
            <a:r>
              <a:rPr lang="en-US" altLang="zh-CN" sz="2000" dirty="0">
                <a:solidFill>
                  <a:schemeClr val="bg1"/>
                </a:solidFill>
                <a:latin typeface="+mn-ea"/>
              </a:rPr>
              <a:t>·</a:t>
            </a:r>
            <a:r>
              <a:rPr lang="zh-CN" altLang="en-US" sz="2000" dirty="0">
                <a:solidFill>
                  <a:schemeClr val="bg1"/>
                </a:solidFill>
                <a:latin typeface="+mn-ea"/>
              </a:rPr>
              <a:t>斯坦利：我从</a:t>
            </a:r>
            <a:r>
              <a:rPr lang="en-US" altLang="zh-CN" sz="2000" dirty="0">
                <a:solidFill>
                  <a:schemeClr val="bg1"/>
                </a:solidFill>
                <a:latin typeface="+mn-ea"/>
              </a:rPr>
              <a:t>AI</a:t>
            </a:r>
            <a:r>
              <a:rPr lang="zh-CN" altLang="en-US" sz="2000" dirty="0">
                <a:solidFill>
                  <a:schemeClr val="bg1"/>
                </a:solidFill>
                <a:latin typeface="+mn-ea"/>
              </a:rPr>
              <a:t>研究中，发现了人类思维的根本</a:t>
            </a:r>
            <a:r>
              <a:rPr lang="en-US" altLang="zh-CN" sz="2000" dirty="0">
                <a:solidFill>
                  <a:schemeClr val="bg1"/>
                </a:solidFill>
                <a:latin typeface="+mn-ea"/>
              </a:rPr>
              <a:t>BUG. </a:t>
            </a:r>
            <a:r>
              <a:rPr lang="zh-CN" altLang="en-US" sz="2000" dirty="0">
                <a:solidFill>
                  <a:schemeClr val="bg1"/>
                </a:solidFill>
                <a:latin typeface="+mn-ea"/>
              </a:rPr>
              <a:t>混沌学园 </a:t>
            </a:r>
            <a:r>
              <a:rPr lang="en-US" altLang="zh-CN" sz="2000" dirty="0">
                <a:solidFill>
                  <a:schemeClr val="bg1"/>
                </a:solidFill>
                <a:latin typeface="+mn-ea"/>
              </a:rPr>
              <a:t>2023-07-09</a:t>
            </a:r>
          </a:p>
        </p:txBody>
      </p:sp>
    </p:spTree>
    <p:extLst>
      <p:ext uri="{BB962C8B-B14F-4D97-AF65-F5344CB8AC3E}">
        <p14:creationId xmlns:p14="http://schemas.microsoft.com/office/powerpoint/2010/main" val="31208193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1387929" y="255815"/>
            <a:ext cx="9503227" cy="843642"/>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r>
              <a:rPr lang="zh-CN" altLang="zh-CN" sz="3200" dirty="0">
                <a:latin typeface="+mn-ea"/>
              </a:rPr>
              <a:t>发散寻宝</a:t>
            </a:r>
            <a:endParaRPr lang="en-US" altLang="zh-CN" sz="3200" dirty="0"/>
          </a:p>
        </p:txBody>
      </p:sp>
      <p:sp>
        <p:nvSpPr>
          <p:cNvPr id="2" name="矩形 1"/>
          <p:cNvSpPr/>
          <p:nvPr/>
        </p:nvSpPr>
        <p:spPr>
          <a:xfrm>
            <a:off x="499212" y="1571779"/>
            <a:ext cx="11373961" cy="4334857"/>
          </a:xfrm>
          <a:prstGeom prst="rect">
            <a:avLst/>
          </a:prstGeom>
        </p:spPr>
        <p:txBody>
          <a:bodyPr wrap="square" lIns="86694" tIns="43347" rIns="86694" bIns="43347">
            <a:spAutoFit/>
          </a:bodyPr>
          <a:lstStyle/>
          <a:p>
            <a:pPr marL="457200" lvl="0" indent="-457200" algn="just" eaLnBrk="0" fontAlgn="base" hangingPunct="0">
              <a:spcBef>
                <a:spcPct val="0"/>
              </a:spcBef>
              <a:spcAft>
                <a:spcPct val="0"/>
              </a:spcAft>
              <a:buFont typeface="Wingdings" panose="05000000000000000000" pitchFamily="2" charset="2"/>
              <a:buChar char="n"/>
            </a:pPr>
            <a:r>
              <a:rPr lang="zh-CN" altLang="zh-CN" sz="3200" b="1" dirty="0">
                <a:solidFill>
                  <a:schemeClr val="bg1"/>
                </a:solidFill>
                <a:latin typeface="+mn-ea"/>
              </a:rPr>
              <a:t>不达成共识也是很重要的</a:t>
            </a:r>
            <a:r>
              <a:rPr lang="zh-CN" altLang="zh-CN" sz="3200" dirty="0">
                <a:solidFill>
                  <a:schemeClr val="bg1"/>
                </a:solidFill>
                <a:latin typeface="+mn-ea"/>
              </a:rPr>
              <a:t>，人们必须</a:t>
            </a:r>
            <a:r>
              <a:rPr lang="zh-CN" altLang="zh-CN" sz="3200" b="1" dirty="0">
                <a:solidFill>
                  <a:schemeClr val="bg1"/>
                </a:solidFill>
                <a:latin typeface="+mn-ea"/>
              </a:rPr>
              <a:t>跟随直觉</a:t>
            </a:r>
            <a:r>
              <a:rPr lang="zh-CN" altLang="zh-CN" sz="3200" dirty="0">
                <a:solidFill>
                  <a:schemeClr val="bg1"/>
                </a:solidFill>
                <a:latin typeface="+mn-ea"/>
              </a:rPr>
              <a:t>，才能到达某种地点。</a:t>
            </a:r>
            <a:endParaRPr lang="en-US" altLang="zh-CN" sz="3200" dirty="0">
              <a:solidFill>
                <a:schemeClr val="bg1"/>
              </a:solidFill>
              <a:latin typeface="+mn-ea"/>
            </a:endParaRPr>
          </a:p>
          <a:p>
            <a:pPr marL="457200" lvl="0" indent="-457200" algn="just" eaLnBrk="0" fontAlgn="base" hangingPunct="0">
              <a:spcBef>
                <a:spcPct val="0"/>
              </a:spcBef>
              <a:spcAft>
                <a:spcPct val="0"/>
              </a:spcAft>
              <a:buFont typeface="Wingdings" panose="05000000000000000000" pitchFamily="2" charset="2"/>
              <a:buChar char="n"/>
            </a:pPr>
            <a:r>
              <a:rPr lang="zh-CN" altLang="en-US" sz="3200" dirty="0">
                <a:solidFill>
                  <a:schemeClr val="bg1"/>
                </a:solidFill>
                <a:latin typeface="+mn-ea"/>
              </a:rPr>
              <a:t>发散</a:t>
            </a:r>
            <a:r>
              <a:rPr lang="zh-CN" altLang="zh-CN" sz="3200" dirty="0">
                <a:solidFill>
                  <a:schemeClr val="bg1"/>
                </a:solidFill>
                <a:latin typeface="+mn-ea"/>
              </a:rPr>
              <a:t>寻宝的人只是随便看，并不知道会找到什么。</a:t>
            </a:r>
            <a:r>
              <a:rPr lang="zh-CN" altLang="zh-CN" sz="3200" b="1" dirty="0">
                <a:solidFill>
                  <a:schemeClr val="bg1"/>
                </a:solidFill>
                <a:latin typeface="+mn-ea"/>
              </a:rPr>
              <a:t>发散是因为每个人都有不同的方向。</a:t>
            </a:r>
          </a:p>
          <a:p>
            <a:pPr marL="457200" lvl="0" indent="-457200" algn="just" eaLnBrk="0" fontAlgn="base" hangingPunct="0">
              <a:spcBef>
                <a:spcPct val="0"/>
              </a:spcBef>
              <a:spcAft>
                <a:spcPct val="0"/>
              </a:spcAft>
              <a:buFont typeface="Wingdings" panose="05000000000000000000" pitchFamily="2" charset="2"/>
              <a:buChar char="n"/>
            </a:pPr>
            <a:r>
              <a:rPr lang="zh-CN" altLang="zh-CN" sz="3200" dirty="0">
                <a:solidFill>
                  <a:schemeClr val="bg1"/>
                </a:solidFill>
                <a:latin typeface="+mn-ea"/>
              </a:rPr>
              <a:t>这样的搜索过程没有目标，只是</a:t>
            </a:r>
            <a:r>
              <a:rPr lang="zh-CN" altLang="zh-CN" sz="3200" b="1" dirty="0">
                <a:solidFill>
                  <a:srgbClr val="FFC000"/>
                </a:solidFill>
                <a:latin typeface="+mn-ea"/>
              </a:rPr>
              <a:t>凭直觉在荒野中漫步，去发现有趣的事物。</a:t>
            </a:r>
            <a:endParaRPr lang="en-US" altLang="zh-CN" sz="3200" b="1" dirty="0">
              <a:solidFill>
                <a:srgbClr val="FFC000"/>
              </a:solidFill>
              <a:latin typeface="+mn-ea"/>
            </a:endParaRPr>
          </a:p>
          <a:p>
            <a:pPr marL="457200" lvl="0" indent="-457200" algn="just" eaLnBrk="0" fontAlgn="base" hangingPunct="0">
              <a:spcBef>
                <a:spcPct val="0"/>
              </a:spcBef>
              <a:spcAft>
                <a:spcPct val="0"/>
              </a:spcAft>
              <a:buFont typeface="Wingdings" panose="05000000000000000000" pitchFamily="2" charset="2"/>
              <a:buChar char="n"/>
            </a:pPr>
            <a:r>
              <a:rPr lang="zh-CN" altLang="zh-CN" sz="3200" dirty="0">
                <a:solidFill>
                  <a:schemeClr val="bg1"/>
                </a:solidFill>
                <a:latin typeface="+mn-ea"/>
              </a:rPr>
              <a:t>出于一定的喜好，而你的喜好一定不是随机的，而是由你的生活经历决定的。</a:t>
            </a:r>
            <a:endParaRPr lang="en-US" altLang="zh-CN" sz="2000" dirty="0">
              <a:solidFill>
                <a:schemeClr val="bg1"/>
              </a:solidFill>
              <a:latin typeface="+mn-ea"/>
            </a:endParaRPr>
          </a:p>
          <a:p>
            <a:r>
              <a:rPr lang="en-US" altLang="zh-CN" sz="2000" dirty="0" err="1">
                <a:solidFill>
                  <a:schemeClr val="bg1"/>
                </a:solidFill>
                <a:latin typeface="+mn-ea"/>
              </a:rPr>
              <a:t>OpenAI</a:t>
            </a:r>
            <a:r>
              <a:rPr lang="zh-CN" altLang="en-US" sz="2000" dirty="0">
                <a:solidFill>
                  <a:schemeClr val="bg1"/>
                </a:solidFill>
                <a:latin typeface="+mn-ea"/>
              </a:rPr>
              <a:t>研究员肯尼斯</a:t>
            </a:r>
            <a:r>
              <a:rPr lang="en-US" altLang="zh-CN" sz="2000" dirty="0">
                <a:solidFill>
                  <a:schemeClr val="bg1"/>
                </a:solidFill>
                <a:latin typeface="+mn-ea"/>
              </a:rPr>
              <a:t>·</a:t>
            </a:r>
            <a:r>
              <a:rPr lang="zh-CN" altLang="en-US" sz="2000" dirty="0">
                <a:solidFill>
                  <a:schemeClr val="bg1"/>
                </a:solidFill>
                <a:latin typeface="+mn-ea"/>
              </a:rPr>
              <a:t>斯坦利：我从</a:t>
            </a:r>
            <a:r>
              <a:rPr lang="en-US" altLang="zh-CN" sz="2000" dirty="0">
                <a:solidFill>
                  <a:schemeClr val="bg1"/>
                </a:solidFill>
                <a:latin typeface="+mn-ea"/>
              </a:rPr>
              <a:t>AI</a:t>
            </a:r>
            <a:r>
              <a:rPr lang="zh-CN" altLang="en-US" sz="2000" dirty="0">
                <a:solidFill>
                  <a:schemeClr val="bg1"/>
                </a:solidFill>
                <a:latin typeface="+mn-ea"/>
              </a:rPr>
              <a:t>研究中，发现了人类思维的根本</a:t>
            </a:r>
            <a:r>
              <a:rPr lang="en-US" altLang="zh-CN" sz="2000" dirty="0">
                <a:solidFill>
                  <a:schemeClr val="bg1"/>
                </a:solidFill>
                <a:latin typeface="+mn-ea"/>
              </a:rPr>
              <a:t>BUG. </a:t>
            </a:r>
            <a:r>
              <a:rPr lang="zh-CN" altLang="en-US" sz="2000" dirty="0">
                <a:solidFill>
                  <a:schemeClr val="bg1"/>
                </a:solidFill>
                <a:latin typeface="+mn-ea"/>
              </a:rPr>
              <a:t>混沌学园 </a:t>
            </a:r>
            <a:r>
              <a:rPr lang="en-US" altLang="zh-CN" sz="2000" dirty="0">
                <a:solidFill>
                  <a:schemeClr val="bg1"/>
                </a:solidFill>
                <a:latin typeface="+mn-ea"/>
              </a:rPr>
              <a:t>2023-07-09</a:t>
            </a:r>
          </a:p>
        </p:txBody>
      </p:sp>
    </p:spTree>
    <p:extLst>
      <p:ext uri="{BB962C8B-B14F-4D97-AF65-F5344CB8AC3E}">
        <p14:creationId xmlns:p14="http://schemas.microsoft.com/office/powerpoint/2010/main" val="12969343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1387929" y="255815"/>
            <a:ext cx="9503227" cy="843642"/>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r>
              <a:rPr lang="en-US" altLang="zh-CN" sz="3200" dirty="0" smtClean="0">
                <a:latin typeface="Arial" panose="020B0604020202020204" pitchFamily="34" charset="0"/>
              </a:rPr>
              <a:t>P</a:t>
            </a:r>
            <a:r>
              <a:rPr lang="zh-CN" altLang="zh-CN" sz="3200" dirty="0" smtClean="0">
                <a:latin typeface="Arial" panose="020B0604020202020204" pitchFamily="34" charset="0"/>
              </a:rPr>
              <a:t>rompt工程</a:t>
            </a:r>
            <a:r>
              <a:rPr lang="zh-CN" altLang="en-US" sz="3200" dirty="0" smtClean="0">
                <a:latin typeface="+mn-ea"/>
              </a:rPr>
              <a:t>与技术债</a:t>
            </a:r>
            <a:endParaRPr lang="en-US" altLang="zh-CN" sz="3200" dirty="0"/>
          </a:p>
        </p:txBody>
      </p:sp>
      <p:sp>
        <p:nvSpPr>
          <p:cNvPr id="2" name="矩形 1"/>
          <p:cNvSpPr/>
          <p:nvPr/>
        </p:nvSpPr>
        <p:spPr>
          <a:xfrm>
            <a:off x="404037" y="1497063"/>
            <a:ext cx="11342813" cy="4273302"/>
          </a:xfrm>
          <a:prstGeom prst="rect">
            <a:avLst/>
          </a:prstGeom>
        </p:spPr>
        <p:txBody>
          <a:bodyPr wrap="square" lIns="86694" tIns="43347" rIns="86694" bIns="43347">
            <a:spAutoFit/>
          </a:bodyPr>
          <a:lstStyle/>
          <a:p>
            <a:pPr marL="457200" lvl="0" indent="-457200" algn="just" eaLnBrk="0" fontAlgn="base" hangingPunct="0">
              <a:spcBef>
                <a:spcPct val="0"/>
              </a:spcBef>
              <a:spcAft>
                <a:spcPct val="0"/>
              </a:spcAft>
              <a:buFont typeface="Wingdings" panose="05000000000000000000" pitchFamily="2" charset="2"/>
              <a:buChar char="l"/>
            </a:pPr>
            <a:r>
              <a:rPr lang="zh-CN" altLang="zh-CN" sz="2800" b="1" dirty="0">
                <a:solidFill>
                  <a:schemeClr val="bg1"/>
                </a:solidFill>
                <a:latin typeface="Arial" panose="020B0604020202020204" pitchFamily="34" charset="0"/>
              </a:rPr>
              <a:t>技术债指的是为了短期利益而采用次优解决方案所带来的长期成本</a:t>
            </a:r>
            <a:r>
              <a:rPr lang="zh-CN" altLang="zh-CN" sz="2800" dirty="0">
                <a:solidFill>
                  <a:schemeClr val="bg1"/>
                </a:solidFill>
                <a:latin typeface="Arial" panose="020B0604020202020204" pitchFamily="34" charset="0"/>
              </a:rPr>
              <a:t>。就像信用卡债务一样，技术债会随着时间的推移而累积，最终可能导致系统的崩溃。</a:t>
            </a:r>
          </a:p>
          <a:p>
            <a:pPr marL="457200" lvl="0" indent="-457200" algn="just" eaLnBrk="0" fontAlgn="base" hangingPunct="0">
              <a:spcBef>
                <a:spcPct val="0"/>
              </a:spcBef>
              <a:spcAft>
                <a:spcPct val="0"/>
              </a:spcAft>
              <a:buFont typeface="Wingdings" panose="05000000000000000000" pitchFamily="2" charset="2"/>
              <a:buChar char="l"/>
            </a:pPr>
            <a:r>
              <a:rPr lang="zh-CN" altLang="zh-CN" sz="2800" b="1" dirty="0" smtClean="0">
                <a:solidFill>
                  <a:schemeClr val="bg1"/>
                </a:solidFill>
                <a:latin typeface="Arial" panose="020B0604020202020204" pitchFamily="34" charset="0"/>
              </a:rPr>
              <a:t>McKinsey</a:t>
            </a:r>
            <a:r>
              <a:rPr lang="zh-CN" altLang="zh-CN" sz="2800" b="1" dirty="0">
                <a:solidFill>
                  <a:schemeClr val="bg1"/>
                </a:solidFill>
                <a:latin typeface="Arial" panose="020B0604020202020204" pitchFamily="34" charset="0"/>
              </a:rPr>
              <a:t>的一项</a:t>
            </a:r>
            <a:r>
              <a:rPr lang="zh-CN" altLang="zh-CN" sz="2800" b="1" dirty="0" smtClean="0">
                <a:solidFill>
                  <a:schemeClr val="bg1"/>
                </a:solidFill>
                <a:latin typeface="Arial" panose="020B0604020202020204" pitchFamily="34" charset="0"/>
              </a:rPr>
              <a:t>研究</a:t>
            </a:r>
            <a:r>
              <a:rPr lang="zh-CN" altLang="zh-CN" sz="2800" dirty="0" smtClean="0">
                <a:solidFill>
                  <a:schemeClr val="bg1"/>
                </a:solidFill>
                <a:latin typeface="Arial" panose="020B0604020202020204" pitchFamily="34" charset="0"/>
              </a:rPr>
              <a:t>显示</a:t>
            </a:r>
            <a:r>
              <a:rPr lang="zh-CN" altLang="zh-CN" sz="2800" dirty="0">
                <a:solidFill>
                  <a:schemeClr val="bg1"/>
                </a:solidFill>
                <a:latin typeface="Arial" panose="020B0604020202020204" pitchFamily="34" charset="0"/>
              </a:rPr>
              <a:t>，组织通常会分配10-20%的新项目预算来解决技术债务。这不仅耗费了大量的财务资源，还分散了开发团队的注意力，导致创新和战略性计划的延迟。</a:t>
            </a:r>
          </a:p>
          <a:p>
            <a:pPr marL="457200" lvl="0" indent="-457200" algn="just" eaLnBrk="0" fontAlgn="base" hangingPunct="0">
              <a:spcBef>
                <a:spcPct val="0"/>
              </a:spcBef>
              <a:spcAft>
                <a:spcPct val="0"/>
              </a:spcAft>
              <a:buFont typeface="Wingdings" panose="05000000000000000000" pitchFamily="2" charset="2"/>
              <a:buChar char="l"/>
            </a:pPr>
            <a:r>
              <a:rPr lang="zh-CN" altLang="zh-CN" sz="2800" b="1" dirty="0">
                <a:solidFill>
                  <a:schemeClr val="bg1"/>
                </a:solidFill>
                <a:latin typeface="Arial" panose="020B0604020202020204" pitchFamily="34" charset="0"/>
              </a:rPr>
              <a:t>技术债不仅会增加维护成本，还会严重限制系统的可扩展性和创新能力</a:t>
            </a:r>
            <a:r>
              <a:rPr lang="zh-CN" altLang="zh-CN" sz="2800" dirty="0">
                <a:solidFill>
                  <a:schemeClr val="bg1"/>
                </a:solidFill>
                <a:latin typeface="Arial" panose="020B0604020202020204" pitchFamily="34" charset="0"/>
              </a:rPr>
              <a:t>。当开发者花费大量时间处理遗留问题时，他们就没有精力去开发新功能或优化系统架构。</a:t>
            </a:r>
          </a:p>
          <a:p>
            <a:pPr>
              <a:spcAft>
                <a:spcPts val="1050"/>
              </a:spcAft>
            </a:pPr>
            <a:r>
              <a:rPr lang="en-US" altLang="zh-CN" sz="2000" dirty="0" err="1" smtClean="0">
                <a:solidFill>
                  <a:schemeClr val="bg1"/>
                </a:solidFill>
                <a:latin typeface="+mn-ea"/>
              </a:rPr>
              <a:t>Chouti</a:t>
            </a:r>
            <a:r>
              <a:rPr lang="en-US" altLang="zh-CN" sz="2000" dirty="0">
                <a:solidFill>
                  <a:schemeClr val="bg1"/>
                </a:solidFill>
                <a:latin typeface="+mn-ea"/>
              </a:rPr>
              <a:t>.  Prompt</a:t>
            </a:r>
            <a:r>
              <a:rPr lang="zh-CN" altLang="en-US" sz="2000" dirty="0">
                <a:solidFill>
                  <a:schemeClr val="bg1"/>
                </a:solidFill>
                <a:latin typeface="+mn-ea"/>
              </a:rPr>
              <a:t>工程：</a:t>
            </a:r>
            <a:r>
              <a:rPr lang="en-US" altLang="zh-CN" sz="2000" dirty="0">
                <a:solidFill>
                  <a:schemeClr val="bg1"/>
                </a:solidFill>
                <a:latin typeface="+mn-ea"/>
              </a:rPr>
              <a:t>AI</a:t>
            </a:r>
            <a:r>
              <a:rPr lang="zh-CN" altLang="en-US" sz="2000" dirty="0">
                <a:solidFill>
                  <a:schemeClr val="bg1"/>
                </a:solidFill>
                <a:latin typeface="+mn-ea"/>
              </a:rPr>
              <a:t>时代的技术债陷阱</a:t>
            </a:r>
            <a:r>
              <a:rPr lang="en-US" altLang="zh-CN" sz="2000" dirty="0">
                <a:solidFill>
                  <a:schemeClr val="bg1"/>
                </a:solidFill>
                <a:latin typeface="+mn-ea"/>
              </a:rPr>
              <a:t>.</a:t>
            </a:r>
            <a:r>
              <a:rPr lang="zh-CN" altLang="en-US" sz="2000" dirty="0">
                <a:solidFill>
                  <a:schemeClr val="bg1"/>
                </a:solidFill>
                <a:latin typeface="+mn-ea"/>
              </a:rPr>
              <a:t>涌现聚点</a:t>
            </a:r>
            <a:r>
              <a:rPr lang="en-US" altLang="zh-CN" sz="2000" dirty="0">
                <a:solidFill>
                  <a:schemeClr val="bg1"/>
                </a:solidFill>
                <a:latin typeface="+mn-ea"/>
              </a:rPr>
              <a:t>.</a:t>
            </a:r>
            <a:r>
              <a:rPr lang="zh-CN" altLang="en-US" sz="2000" dirty="0">
                <a:solidFill>
                  <a:schemeClr val="bg1"/>
                </a:solidFill>
                <a:latin typeface="+mn-ea"/>
              </a:rPr>
              <a:t> </a:t>
            </a:r>
            <a:r>
              <a:rPr lang="en-US" altLang="zh-CN" sz="2000" dirty="0">
                <a:solidFill>
                  <a:schemeClr val="bg1"/>
                </a:solidFill>
                <a:latin typeface="+mn-ea"/>
              </a:rPr>
              <a:t>2025</a:t>
            </a:r>
            <a:r>
              <a:rPr lang="zh-CN" altLang="en-US" sz="2000" dirty="0">
                <a:solidFill>
                  <a:schemeClr val="bg1"/>
                </a:solidFill>
                <a:latin typeface="+mn-ea"/>
              </a:rPr>
              <a:t>年</a:t>
            </a:r>
            <a:r>
              <a:rPr lang="en-US" altLang="zh-CN" sz="2000" dirty="0">
                <a:solidFill>
                  <a:schemeClr val="bg1"/>
                </a:solidFill>
                <a:latin typeface="+mn-ea"/>
              </a:rPr>
              <a:t>01</a:t>
            </a:r>
            <a:r>
              <a:rPr lang="zh-CN" altLang="en-US" sz="2000" dirty="0">
                <a:solidFill>
                  <a:schemeClr val="bg1"/>
                </a:solidFill>
                <a:latin typeface="+mn-ea"/>
              </a:rPr>
              <a:t>月</a:t>
            </a:r>
            <a:r>
              <a:rPr lang="en-US" altLang="zh-CN" sz="2000" dirty="0">
                <a:solidFill>
                  <a:schemeClr val="bg1"/>
                </a:solidFill>
                <a:latin typeface="+mn-ea"/>
              </a:rPr>
              <a:t>04</a:t>
            </a:r>
            <a:r>
              <a:rPr lang="zh-CN" altLang="en-US" sz="2000" dirty="0">
                <a:solidFill>
                  <a:schemeClr val="bg1"/>
                </a:solidFill>
                <a:latin typeface="+mn-ea"/>
              </a:rPr>
              <a:t>日</a:t>
            </a:r>
          </a:p>
        </p:txBody>
      </p:sp>
    </p:spTree>
    <p:extLst>
      <p:ext uri="{BB962C8B-B14F-4D97-AF65-F5344CB8AC3E}">
        <p14:creationId xmlns:p14="http://schemas.microsoft.com/office/powerpoint/2010/main" val="7451699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1387929" y="255815"/>
            <a:ext cx="9503227" cy="843642"/>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r>
              <a:rPr lang="en-US" altLang="zh-CN" sz="3200" dirty="0" smtClean="0">
                <a:latin typeface="Arial" panose="020B0604020202020204" pitchFamily="34" charset="0"/>
              </a:rPr>
              <a:t>P</a:t>
            </a:r>
            <a:r>
              <a:rPr lang="zh-CN" altLang="zh-CN" sz="3200" dirty="0" smtClean="0">
                <a:latin typeface="Arial" panose="020B0604020202020204" pitchFamily="34" charset="0"/>
              </a:rPr>
              <a:t>rompt工程</a:t>
            </a:r>
            <a:r>
              <a:rPr lang="zh-CN" altLang="en-US" sz="3200" dirty="0" smtClean="0">
                <a:latin typeface="+mn-ea"/>
              </a:rPr>
              <a:t>与技术债</a:t>
            </a:r>
            <a:endParaRPr lang="en-US" altLang="zh-CN" sz="3200" dirty="0"/>
          </a:p>
        </p:txBody>
      </p:sp>
      <p:sp>
        <p:nvSpPr>
          <p:cNvPr id="2" name="矩形 1"/>
          <p:cNvSpPr/>
          <p:nvPr/>
        </p:nvSpPr>
        <p:spPr>
          <a:xfrm>
            <a:off x="289206" y="1318437"/>
            <a:ext cx="11583967" cy="4704189"/>
          </a:xfrm>
          <a:prstGeom prst="rect">
            <a:avLst/>
          </a:prstGeom>
        </p:spPr>
        <p:txBody>
          <a:bodyPr wrap="square" lIns="86694" tIns="43347" rIns="86694" bIns="43347">
            <a:spAutoFit/>
          </a:bodyPr>
          <a:lstStyle/>
          <a:p>
            <a:pPr marL="457200" lvl="0" indent="-457200" algn="just" eaLnBrk="0" fontAlgn="base" hangingPunct="0">
              <a:spcBef>
                <a:spcPct val="0"/>
              </a:spcBef>
              <a:spcAft>
                <a:spcPct val="0"/>
              </a:spcAft>
              <a:buFont typeface="Wingdings" panose="05000000000000000000" pitchFamily="2" charset="2"/>
              <a:buChar char="l"/>
            </a:pPr>
            <a:r>
              <a:rPr lang="zh-CN" altLang="zh-CN" sz="2800" dirty="0">
                <a:solidFill>
                  <a:schemeClr val="bg1"/>
                </a:solidFill>
                <a:latin typeface="+mn-ea"/>
              </a:rPr>
              <a:t>2019年，一位名叫John Smith的软件工程师正在为一家大型电商公司开发一个客户服务AI</a:t>
            </a:r>
            <a:r>
              <a:rPr lang="zh-CN" altLang="zh-CN" sz="2800" dirty="0" smtClean="0">
                <a:solidFill>
                  <a:schemeClr val="bg1"/>
                </a:solidFill>
                <a:latin typeface="+mn-ea"/>
              </a:rPr>
              <a:t>。发现</a:t>
            </a:r>
            <a:r>
              <a:rPr lang="zh-CN" altLang="zh-CN" sz="2800" dirty="0">
                <a:solidFill>
                  <a:schemeClr val="bg1"/>
                </a:solidFill>
                <a:latin typeface="+mn-ea"/>
              </a:rPr>
              <a:t>，只要稍微调整输入提示，AI的回答就能变得更加准确和贴切</a:t>
            </a:r>
            <a:r>
              <a:rPr lang="zh-CN" altLang="zh-CN" sz="2800" dirty="0" smtClean="0">
                <a:solidFill>
                  <a:schemeClr val="bg1"/>
                </a:solidFill>
                <a:latin typeface="+mn-ea"/>
              </a:rPr>
              <a:t>。</a:t>
            </a:r>
            <a:endParaRPr lang="en-US" altLang="zh-CN" sz="2800" dirty="0" smtClean="0">
              <a:solidFill>
                <a:schemeClr val="bg1"/>
              </a:solidFill>
              <a:latin typeface="+mn-ea"/>
            </a:endParaRPr>
          </a:p>
          <a:p>
            <a:pPr marL="457200" lvl="0" indent="-457200" algn="just" eaLnBrk="0" fontAlgn="base" hangingPunct="0">
              <a:spcBef>
                <a:spcPct val="0"/>
              </a:spcBef>
              <a:spcAft>
                <a:spcPct val="0"/>
              </a:spcAft>
              <a:buFont typeface="Wingdings" panose="05000000000000000000" pitchFamily="2" charset="2"/>
              <a:buChar char="l"/>
            </a:pPr>
            <a:r>
              <a:rPr lang="zh-CN" altLang="zh-CN" sz="2800" b="1" dirty="0" smtClean="0">
                <a:solidFill>
                  <a:schemeClr val="bg1"/>
                </a:solidFill>
                <a:latin typeface="+mn-ea"/>
              </a:rPr>
              <a:t>Prompt</a:t>
            </a:r>
            <a:r>
              <a:rPr lang="zh-CN" altLang="zh-CN" sz="2800" b="1" dirty="0">
                <a:solidFill>
                  <a:schemeClr val="bg1"/>
                </a:solidFill>
                <a:latin typeface="+mn-ea"/>
              </a:rPr>
              <a:t>工程，简而言之，就是通过精心设计输入指令来优化AI模型的输出</a:t>
            </a:r>
            <a:r>
              <a:rPr lang="zh-CN" altLang="zh-CN" sz="2800" b="1" dirty="0" smtClean="0">
                <a:solidFill>
                  <a:schemeClr val="bg1"/>
                </a:solidFill>
                <a:latin typeface="+mn-ea"/>
              </a:rPr>
              <a:t>。它</a:t>
            </a:r>
            <a:r>
              <a:rPr lang="zh-CN" altLang="zh-CN" sz="2800" b="1" dirty="0">
                <a:solidFill>
                  <a:schemeClr val="bg1"/>
                </a:solidFill>
                <a:latin typeface="+mn-ea"/>
              </a:rPr>
              <a:t>简单、直接、见效快。开发者不需要深入了解模型的内部机制，只需要不断调整输入，直到得到满意的结果。</a:t>
            </a:r>
            <a:endParaRPr lang="zh-CN" altLang="zh-CN" sz="2800" dirty="0">
              <a:solidFill>
                <a:schemeClr val="bg1"/>
              </a:solidFill>
              <a:latin typeface="+mn-ea"/>
            </a:endParaRPr>
          </a:p>
          <a:p>
            <a:pPr marL="457200" lvl="0" indent="-457200" algn="just" eaLnBrk="0" fontAlgn="base" hangingPunct="0">
              <a:spcBef>
                <a:spcPct val="0"/>
              </a:spcBef>
              <a:spcAft>
                <a:spcPct val="0"/>
              </a:spcAft>
              <a:buFont typeface="Wingdings" panose="05000000000000000000" pitchFamily="2" charset="2"/>
              <a:buChar char="l"/>
            </a:pPr>
            <a:r>
              <a:rPr lang="zh-CN" altLang="zh-CN" sz="2800" dirty="0">
                <a:solidFill>
                  <a:schemeClr val="bg1"/>
                </a:solidFill>
                <a:latin typeface="+mn-ea"/>
              </a:rPr>
              <a:t>然而，这种表面上的便利性掩盖了一个严重的问题：我们是在教会AI真正理解和解决问题，还是仅仅在教它如何应对特定的提示？就像那个依赖"聪明药"的人可能会失去独立思考的能力，</a:t>
            </a:r>
            <a:r>
              <a:rPr lang="zh-CN" altLang="zh-CN" sz="2800" b="1" dirty="0">
                <a:solidFill>
                  <a:srgbClr val="FFC000"/>
                </a:solidFill>
                <a:latin typeface="+mn-ea"/>
              </a:rPr>
              <a:t>过度依赖prompt工程的AI系统可能永远无法达到真正的智能。</a:t>
            </a:r>
          </a:p>
          <a:p>
            <a:pPr>
              <a:spcAft>
                <a:spcPts val="1050"/>
              </a:spcAft>
            </a:pPr>
            <a:r>
              <a:rPr lang="en-US" altLang="zh-CN" sz="2000" dirty="0" err="1">
                <a:solidFill>
                  <a:schemeClr val="bg1"/>
                </a:solidFill>
                <a:latin typeface="+mn-ea"/>
              </a:rPr>
              <a:t>Chouti</a:t>
            </a:r>
            <a:r>
              <a:rPr lang="en-US" altLang="zh-CN" sz="2000" dirty="0">
                <a:solidFill>
                  <a:schemeClr val="bg1"/>
                </a:solidFill>
                <a:latin typeface="+mn-ea"/>
              </a:rPr>
              <a:t>.  Prompt</a:t>
            </a:r>
            <a:r>
              <a:rPr lang="zh-CN" altLang="en-US" sz="2000" dirty="0">
                <a:solidFill>
                  <a:schemeClr val="bg1"/>
                </a:solidFill>
                <a:latin typeface="+mn-ea"/>
              </a:rPr>
              <a:t>工程：</a:t>
            </a:r>
            <a:r>
              <a:rPr lang="en-US" altLang="zh-CN" sz="2000" dirty="0">
                <a:solidFill>
                  <a:schemeClr val="bg1"/>
                </a:solidFill>
                <a:latin typeface="+mn-ea"/>
              </a:rPr>
              <a:t>AI</a:t>
            </a:r>
            <a:r>
              <a:rPr lang="zh-CN" altLang="en-US" sz="2000" dirty="0">
                <a:solidFill>
                  <a:schemeClr val="bg1"/>
                </a:solidFill>
                <a:latin typeface="+mn-ea"/>
              </a:rPr>
              <a:t>时代的技术债陷阱</a:t>
            </a:r>
            <a:r>
              <a:rPr lang="en-US" altLang="zh-CN" sz="2000" dirty="0">
                <a:solidFill>
                  <a:schemeClr val="bg1"/>
                </a:solidFill>
                <a:latin typeface="+mn-ea"/>
              </a:rPr>
              <a:t>.</a:t>
            </a:r>
            <a:r>
              <a:rPr lang="zh-CN" altLang="en-US" sz="2000" dirty="0">
                <a:solidFill>
                  <a:schemeClr val="bg1"/>
                </a:solidFill>
                <a:latin typeface="+mn-ea"/>
              </a:rPr>
              <a:t>涌现聚点</a:t>
            </a:r>
            <a:r>
              <a:rPr lang="en-US" altLang="zh-CN" sz="2000" dirty="0">
                <a:solidFill>
                  <a:schemeClr val="bg1"/>
                </a:solidFill>
                <a:latin typeface="+mn-ea"/>
              </a:rPr>
              <a:t>.</a:t>
            </a:r>
            <a:r>
              <a:rPr lang="zh-CN" altLang="en-US" sz="2000" dirty="0">
                <a:solidFill>
                  <a:schemeClr val="bg1"/>
                </a:solidFill>
                <a:latin typeface="+mn-ea"/>
              </a:rPr>
              <a:t> </a:t>
            </a:r>
            <a:r>
              <a:rPr lang="en-US" altLang="zh-CN" sz="2000" dirty="0">
                <a:solidFill>
                  <a:schemeClr val="bg1"/>
                </a:solidFill>
                <a:latin typeface="+mn-ea"/>
              </a:rPr>
              <a:t>2025</a:t>
            </a:r>
            <a:r>
              <a:rPr lang="zh-CN" altLang="en-US" sz="2000" dirty="0">
                <a:solidFill>
                  <a:schemeClr val="bg1"/>
                </a:solidFill>
                <a:latin typeface="+mn-ea"/>
              </a:rPr>
              <a:t>年</a:t>
            </a:r>
            <a:r>
              <a:rPr lang="en-US" altLang="zh-CN" sz="2000" dirty="0">
                <a:solidFill>
                  <a:schemeClr val="bg1"/>
                </a:solidFill>
                <a:latin typeface="+mn-ea"/>
              </a:rPr>
              <a:t>01</a:t>
            </a:r>
            <a:r>
              <a:rPr lang="zh-CN" altLang="en-US" sz="2000" dirty="0">
                <a:solidFill>
                  <a:schemeClr val="bg1"/>
                </a:solidFill>
                <a:latin typeface="+mn-ea"/>
              </a:rPr>
              <a:t>月</a:t>
            </a:r>
            <a:r>
              <a:rPr lang="en-US" altLang="zh-CN" sz="2000" dirty="0">
                <a:solidFill>
                  <a:schemeClr val="bg1"/>
                </a:solidFill>
                <a:latin typeface="+mn-ea"/>
              </a:rPr>
              <a:t>04</a:t>
            </a:r>
            <a:r>
              <a:rPr lang="zh-CN" altLang="en-US" sz="2000" dirty="0">
                <a:solidFill>
                  <a:schemeClr val="bg1"/>
                </a:solidFill>
                <a:latin typeface="+mn-ea"/>
              </a:rPr>
              <a:t>日</a:t>
            </a:r>
          </a:p>
        </p:txBody>
      </p:sp>
    </p:spTree>
    <p:extLst>
      <p:ext uri="{BB962C8B-B14F-4D97-AF65-F5344CB8AC3E}">
        <p14:creationId xmlns:p14="http://schemas.microsoft.com/office/powerpoint/2010/main" val="7179055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1387929" y="255815"/>
            <a:ext cx="9503227" cy="843642"/>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r>
              <a:rPr lang="en-US" altLang="zh-CN" sz="3200" dirty="0" smtClean="0">
                <a:latin typeface="Arial" panose="020B0604020202020204" pitchFamily="34" charset="0"/>
              </a:rPr>
              <a:t>P</a:t>
            </a:r>
            <a:r>
              <a:rPr lang="zh-CN" altLang="zh-CN" sz="3200" dirty="0" smtClean="0">
                <a:latin typeface="Arial" panose="020B0604020202020204" pitchFamily="34" charset="0"/>
              </a:rPr>
              <a:t>rompt工程</a:t>
            </a:r>
            <a:r>
              <a:rPr lang="zh-CN" altLang="en-US" sz="3200" dirty="0" smtClean="0">
                <a:latin typeface="+mn-ea"/>
              </a:rPr>
              <a:t>与技术债</a:t>
            </a:r>
            <a:endParaRPr lang="en-US" altLang="zh-CN" sz="3200" dirty="0"/>
          </a:p>
        </p:txBody>
      </p:sp>
      <p:sp>
        <p:nvSpPr>
          <p:cNvPr id="2" name="矩形 1"/>
          <p:cNvSpPr/>
          <p:nvPr/>
        </p:nvSpPr>
        <p:spPr>
          <a:xfrm>
            <a:off x="289206" y="1318437"/>
            <a:ext cx="11583967" cy="4704189"/>
          </a:xfrm>
          <a:prstGeom prst="rect">
            <a:avLst/>
          </a:prstGeom>
        </p:spPr>
        <p:txBody>
          <a:bodyPr wrap="square" lIns="86694" tIns="43347" rIns="86694" bIns="43347">
            <a:spAutoFit/>
          </a:bodyPr>
          <a:lstStyle/>
          <a:p>
            <a:pPr marL="457200" lvl="0" indent="-457200" algn="just" eaLnBrk="0" fontAlgn="base" hangingPunct="0">
              <a:spcBef>
                <a:spcPct val="0"/>
              </a:spcBef>
              <a:spcAft>
                <a:spcPct val="0"/>
              </a:spcAft>
              <a:buFont typeface="Wingdings" panose="05000000000000000000" pitchFamily="2" charset="2"/>
              <a:buChar char="l"/>
            </a:pPr>
            <a:r>
              <a:rPr lang="zh-CN" altLang="zh-CN" sz="2800" b="1" dirty="0">
                <a:solidFill>
                  <a:schemeClr val="bg1"/>
                </a:solidFill>
                <a:latin typeface="Arial" panose="020B0604020202020204" pitchFamily="34" charset="0"/>
              </a:rPr>
              <a:t>Agent系统的核心仍然依赖于prompt工程。虽然它们看起来更加复杂和智能，但本质上仍然是在通过精心设计的提示来引导AI的行为。这种方法不仅没有解决prompt工程的根本问题，反而可能会加剧技术债的累积。</a:t>
            </a:r>
            <a:endParaRPr lang="zh-CN" altLang="zh-CN" sz="2800" dirty="0">
              <a:solidFill>
                <a:schemeClr val="bg1"/>
              </a:solidFill>
              <a:latin typeface="Arial" panose="020B0604020202020204" pitchFamily="34" charset="0"/>
            </a:endParaRPr>
          </a:p>
          <a:p>
            <a:pPr marL="457200" lvl="0" indent="-457200" algn="just" eaLnBrk="0" fontAlgn="base" hangingPunct="0">
              <a:spcBef>
                <a:spcPct val="0"/>
              </a:spcBef>
              <a:spcAft>
                <a:spcPct val="0"/>
              </a:spcAft>
              <a:buFont typeface="Wingdings" panose="05000000000000000000" pitchFamily="2" charset="2"/>
              <a:buChar char="l"/>
            </a:pPr>
            <a:r>
              <a:rPr lang="zh-CN" altLang="zh-CN" sz="2800" dirty="0">
                <a:solidFill>
                  <a:schemeClr val="bg1"/>
                </a:solidFill>
                <a:latin typeface="Arial" panose="020B0604020202020204" pitchFamily="34" charset="0"/>
              </a:rPr>
              <a:t>想象一个由多个agent组成的复杂系统，每个agent都依赖于特定的prompt来完成任务</a:t>
            </a:r>
            <a:r>
              <a:rPr lang="zh-CN" altLang="zh-CN" sz="2800" dirty="0" smtClean="0">
                <a:solidFill>
                  <a:schemeClr val="bg1"/>
                </a:solidFill>
                <a:latin typeface="Arial" panose="020B0604020202020204" pitchFamily="34" charset="0"/>
              </a:rPr>
              <a:t>。系统</a:t>
            </a:r>
            <a:r>
              <a:rPr lang="zh-CN" altLang="zh-CN" sz="2800" dirty="0">
                <a:solidFill>
                  <a:schemeClr val="bg1"/>
                </a:solidFill>
                <a:latin typeface="Arial" panose="020B0604020202020204" pitchFamily="34" charset="0"/>
              </a:rPr>
              <a:t>不仅难以维护，而且极易出错。一个agent的微小失误可能会在整个系统中产生连锁反应，导致灾难性的后果。</a:t>
            </a:r>
          </a:p>
          <a:p>
            <a:pPr marL="457200" lvl="0" indent="-457200" algn="just" eaLnBrk="0" fontAlgn="base" hangingPunct="0">
              <a:spcBef>
                <a:spcPct val="0"/>
              </a:spcBef>
              <a:spcAft>
                <a:spcPct val="0"/>
              </a:spcAft>
              <a:buFont typeface="Wingdings" panose="05000000000000000000" pitchFamily="2" charset="2"/>
              <a:buChar char="l"/>
            </a:pPr>
            <a:r>
              <a:rPr lang="zh-CN" altLang="zh-CN" sz="2800" dirty="0">
                <a:solidFill>
                  <a:schemeClr val="bg1"/>
                </a:solidFill>
                <a:latin typeface="Arial" panose="020B0604020202020204" pitchFamily="34" charset="0"/>
              </a:rPr>
              <a:t>更糟糕的是，这种复杂性可能会给我们一种虚假的安全感</a:t>
            </a:r>
            <a:r>
              <a:rPr lang="zh-CN" altLang="zh-CN" sz="2800" dirty="0" smtClean="0">
                <a:solidFill>
                  <a:schemeClr val="bg1"/>
                </a:solidFill>
                <a:latin typeface="Arial" panose="020B0604020202020204" pitchFamily="34" charset="0"/>
              </a:rPr>
              <a:t>。可能误</a:t>
            </a:r>
            <a:r>
              <a:rPr lang="zh-CN" altLang="zh-CN" sz="2800" dirty="0">
                <a:solidFill>
                  <a:schemeClr val="bg1"/>
                </a:solidFill>
                <a:latin typeface="Arial" panose="020B0604020202020204" pitchFamily="34" charset="0"/>
              </a:rPr>
              <a:t>以为，通过堆砌更多的agent和更复杂的工作流，我们就能解决AI的根本局限性。然而，这种方法可能只会让我们陷入更深的技术债陷阱</a:t>
            </a:r>
          </a:p>
          <a:p>
            <a:pPr>
              <a:spcAft>
                <a:spcPts val="1050"/>
              </a:spcAft>
            </a:pPr>
            <a:r>
              <a:rPr lang="en-US" altLang="zh-CN" sz="2000" dirty="0" err="1" smtClean="0">
                <a:solidFill>
                  <a:schemeClr val="bg1"/>
                </a:solidFill>
                <a:latin typeface="+mn-ea"/>
              </a:rPr>
              <a:t>Chouti</a:t>
            </a:r>
            <a:r>
              <a:rPr lang="en-US" altLang="zh-CN" sz="2000" dirty="0">
                <a:solidFill>
                  <a:schemeClr val="bg1"/>
                </a:solidFill>
                <a:latin typeface="+mn-ea"/>
              </a:rPr>
              <a:t>.  Prompt</a:t>
            </a:r>
            <a:r>
              <a:rPr lang="zh-CN" altLang="en-US" sz="2000" dirty="0">
                <a:solidFill>
                  <a:schemeClr val="bg1"/>
                </a:solidFill>
                <a:latin typeface="+mn-ea"/>
              </a:rPr>
              <a:t>工程：</a:t>
            </a:r>
            <a:r>
              <a:rPr lang="en-US" altLang="zh-CN" sz="2000" dirty="0">
                <a:solidFill>
                  <a:schemeClr val="bg1"/>
                </a:solidFill>
                <a:latin typeface="+mn-ea"/>
              </a:rPr>
              <a:t>AI</a:t>
            </a:r>
            <a:r>
              <a:rPr lang="zh-CN" altLang="en-US" sz="2000" dirty="0">
                <a:solidFill>
                  <a:schemeClr val="bg1"/>
                </a:solidFill>
                <a:latin typeface="+mn-ea"/>
              </a:rPr>
              <a:t>时代的技术债陷阱</a:t>
            </a:r>
            <a:r>
              <a:rPr lang="en-US" altLang="zh-CN" sz="2000" dirty="0">
                <a:solidFill>
                  <a:schemeClr val="bg1"/>
                </a:solidFill>
                <a:latin typeface="+mn-ea"/>
              </a:rPr>
              <a:t>.</a:t>
            </a:r>
            <a:r>
              <a:rPr lang="zh-CN" altLang="en-US" sz="2000" dirty="0">
                <a:solidFill>
                  <a:schemeClr val="bg1"/>
                </a:solidFill>
                <a:latin typeface="+mn-ea"/>
              </a:rPr>
              <a:t>涌现聚点</a:t>
            </a:r>
            <a:r>
              <a:rPr lang="en-US" altLang="zh-CN" sz="2000" dirty="0">
                <a:solidFill>
                  <a:schemeClr val="bg1"/>
                </a:solidFill>
                <a:latin typeface="+mn-ea"/>
              </a:rPr>
              <a:t>.</a:t>
            </a:r>
            <a:r>
              <a:rPr lang="zh-CN" altLang="en-US" sz="2000" dirty="0">
                <a:solidFill>
                  <a:schemeClr val="bg1"/>
                </a:solidFill>
                <a:latin typeface="+mn-ea"/>
              </a:rPr>
              <a:t> </a:t>
            </a:r>
            <a:r>
              <a:rPr lang="en-US" altLang="zh-CN" sz="2000" dirty="0">
                <a:solidFill>
                  <a:schemeClr val="bg1"/>
                </a:solidFill>
                <a:latin typeface="+mn-ea"/>
              </a:rPr>
              <a:t>2025</a:t>
            </a:r>
            <a:r>
              <a:rPr lang="zh-CN" altLang="en-US" sz="2000" dirty="0">
                <a:solidFill>
                  <a:schemeClr val="bg1"/>
                </a:solidFill>
                <a:latin typeface="+mn-ea"/>
              </a:rPr>
              <a:t>年</a:t>
            </a:r>
            <a:r>
              <a:rPr lang="en-US" altLang="zh-CN" sz="2000" dirty="0">
                <a:solidFill>
                  <a:schemeClr val="bg1"/>
                </a:solidFill>
                <a:latin typeface="+mn-ea"/>
              </a:rPr>
              <a:t>01</a:t>
            </a:r>
            <a:r>
              <a:rPr lang="zh-CN" altLang="en-US" sz="2000" dirty="0">
                <a:solidFill>
                  <a:schemeClr val="bg1"/>
                </a:solidFill>
                <a:latin typeface="+mn-ea"/>
              </a:rPr>
              <a:t>月</a:t>
            </a:r>
            <a:r>
              <a:rPr lang="en-US" altLang="zh-CN" sz="2000" dirty="0">
                <a:solidFill>
                  <a:schemeClr val="bg1"/>
                </a:solidFill>
                <a:latin typeface="+mn-ea"/>
              </a:rPr>
              <a:t>04</a:t>
            </a:r>
            <a:r>
              <a:rPr lang="zh-CN" altLang="en-US" sz="2000" dirty="0">
                <a:solidFill>
                  <a:schemeClr val="bg1"/>
                </a:solidFill>
                <a:latin typeface="+mn-ea"/>
              </a:rPr>
              <a:t>日</a:t>
            </a:r>
          </a:p>
        </p:txBody>
      </p:sp>
    </p:spTree>
    <p:extLst>
      <p:ext uri="{BB962C8B-B14F-4D97-AF65-F5344CB8AC3E}">
        <p14:creationId xmlns:p14="http://schemas.microsoft.com/office/powerpoint/2010/main" val="37599383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2" name="矩形 1"/>
          <p:cNvSpPr/>
          <p:nvPr/>
        </p:nvSpPr>
        <p:spPr>
          <a:xfrm>
            <a:off x="809767" y="2529384"/>
            <a:ext cx="10681647" cy="1010870"/>
          </a:xfrm>
          <a:prstGeom prst="rect">
            <a:avLst/>
          </a:prstGeom>
          <a:noFill/>
        </p:spPr>
        <p:txBody>
          <a:bodyPr wrap="square" lIns="86694" tIns="43347" rIns="86694" bIns="43347">
            <a:spAutoFit/>
          </a:bodyPr>
          <a:lstStyle/>
          <a:p>
            <a:pPr algn="ctr"/>
            <a:r>
              <a:rPr lang="zh-CN" altLang="en-US" sz="6000" b="1" dirty="0" smtClean="0">
                <a:solidFill>
                  <a:srgbClr val="FFC000"/>
                </a:solidFill>
              </a:rPr>
              <a:t>意识流</a:t>
            </a:r>
            <a:endParaRPr lang="en-US" altLang="zh-CN" sz="6000" b="1" dirty="0">
              <a:solidFill>
                <a:srgbClr val="FFC000"/>
              </a:solidFill>
              <a:latin typeface="+mn-ea"/>
            </a:endParaRPr>
          </a:p>
        </p:txBody>
      </p:sp>
    </p:spTree>
    <p:extLst>
      <p:ext uri="{BB962C8B-B14F-4D97-AF65-F5344CB8AC3E}">
        <p14:creationId xmlns:p14="http://schemas.microsoft.com/office/powerpoint/2010/main" val="6728037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511629" y="154676"/>
            <a:ext cx="10591800" cy="928046"/>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pPr marL="0" lvl="1" algn="ctr"/>
            <a:r>
              <a:rPr lang="zh-CN" altLang="en-US" sz="3200" b="1" dirty="0">
                <a:solidFill>
                  <a:srgbClr val="FFC000"/>
                </a:solidFill>
                <a:latin typeface="+mn-ea"/>
              </a:rPr>
              <a:t>意识流</a:t>
            </a:r>
            <a:endParaRPr lang="zh-CN" altLang="zh-CN" sz="3200" b="1" dirty="0">
              <a:solidFill>
                <a:srgbClr val="FFC000"/>
              </a:solidFill>
            </a:endParaRPr>
          </a:p>
        </p:txBody>
      </p:sp>
      <p:sp>
        <p:nvSpPr>
          <p:cNvPr id="2" name="矩形 1"/>
          <p:cNvSpPr/>
          <p:nvPr/>
        </p:nvSpPr>
        <p:spPr>
          <a:xfrm>
            <a:off x="295700" y="1592239"/>
            <a:ext cx="11568753" cy="4027081"/>
          </a:xfrm>
          <a:prstGeom prst="rect">
            <a:avLst/>
          </a:prstGeom>
          <a:noFill/>
        </p:spPr>
        <p:txBody>
          <a:bodyPr wrap="square" lIns="86694" tIns="43347" rIns="86694" bIns="43347">
            <a:spAutoFit/>
          </a:bodyPr>
          <a:lstStyle/>
          <a:p>
            <a:pPr marL="457200" indent="-457200">
              <a:buFont typeface="Wingdings" panose="05000000000000000000" pitchFamily="2" charset="2"/>
              <a:buChar char="n"/>
            </a:pPr>
            <a:r>
              <a:rPr lang="zh-CN" altLang="zh-CN" sz="3200" dirty="0">
                <a:solidFill>
                  <a:schemeClr val="bg1"/>
                </a:solidFill>
                <a:latin typeface="+mn-ea"/>
              </a:rPr>
              <a:t>美国心理学之父的威廉</a:t>
            </a:r>
            <a:r>
              <a:rPr lang="en-US" altLang="zh-CN" sz="3200" dirty="0">
                <a:solidFill>
                  <a:schemeClr val="bg1"/>
                </a:solidFill>
                <a:latin typeface="+mn-ea"/>
              </a:rPr>
              <a:t>·</a:t>
            </a:r>
            <a:r>
              <a:rPr lang="zh-CN" altLang="zh-CN" sz="3200" dirty="0">
                <a:solidFill>
                  <a:schemeClr val="bg1"/>
                </a:solidFill>
                <a:latin typeface="+mn-ea"/>
              </a:rPr>
              <a:t>詹姆斯（</a:t>
            </a:r>
            <a:r>
              <a:rPr lang="en-US" altLang="zh-CN" sz="3200" dirty="0">
                <a:solidFill>
                  <a:schemeClr val="bg1"/>
                </a:solidFill>
                <a:latin typeface="+mn-ea"/>
              </a:rPr>
              <a:t>William James</a:t>
            </a:r>
            <a:r>
              <a:rPr lang="zh-CN" altLang="zh-CN" sz="3200" dirty="0">
                <a:solidFill>
                  <a:schemeClr val="bg1"/>
                </a:solidFill>
                <a:latin typeface="+mn-ea"/>
              </a:rPr>
              <a:t>）在其《心理学原理》第九章中提出</a:t>
            </a:r>
            <a:r>
              <a:rPr lang="en-US" altLang="zh-CN" sz="3200" dirty="0">
                <a:solidFill>
                  <a:schemeClr val="bg1"/>
                </a:solidFill>
                <a:latin typeface="+mn-ea"/>
              </a:rPr>
              <a:t>“</a:t>
            </a:r>
            <a:r>
              <a:rPr lang="zh-CN" altLang="zh-CN" sz="3200" dirty="0">
                <a:solidFill>
                  <a:schemeClr val="bg1"/>
                </a:solidFill>
                <a:latin typeface="+mn-ea"/>
              </a:rPr>
              <a:t>思想之流</a:t>
            </a:r>
            <a:r>
              <a:rPr lang="en-US" altLang="zh-CN" sz="3200" dirty="0">
                <a:solidFill>
                  <a:schemeClr val="bg1"/>
                </a:solidFill>
                <a:latin typeface="+mn-ea"/>
              </a:rPr>
              <a:t>”</a:t>
            </a:r>
            <a:r>
              <a:rPr lang="zh-CN" altLang="zh-CN" sz="3200" dirty="0">
                <a:solidFill>
                  <a:schemeClr val="bg1"/>
                </a:solidFill>
                <a:latin typeface="+mn-ea"/>
              </a:rPr>
              <a:t>（</a:t>
            </a:r>
            <a:r>
              <a:rPr lang="en-US" altLang="zh-CN" sz="3200" dirty="0">
                <a:solidFill>
                  <a:schemeClr val="bg1"/>
                </a:solidFill>
                <a:latin typeface="+mn-ea"/>
              </a:rPr>
              <a:t>steam of thought</a:t>
            </a:r>
            <a:r>
              <a:rPr lang="zh-CN" altLang="zh-CN" sz="3200" dirty="0">
                <a:solidFill>
                  <a:schemeClr val="bg1"/>
                </a:solidFill>
                <a:latin typeface="+mn-ea"/>
              </a:rPr>
              <a:t>）、“意识流”（</a:t>
            </a:r>
            <a:r>
              <a:rPr lang="en-US" altLang="zh-CN" sz="3200" dirty="0">
                <a:solidFill>
                  <a:schemeClr val="bg1"/>
                </a:solidFill>
                <a:latin typeface="+mn-ea"/>
              </a:rPr>
              <a:t>stream of consciousness</a:t>
            </a:r>
            <a:r>
              <a:rPr lang="zh-CN" altLang="zh-CN" sz="3200" dirty="0">
                <a:solidFill>
                  <a:schemeClr val="bg1"/>
                </a:solidFill>
                <a:latin typeface="+mn-ea"/>
              </a:rPr>
              <a:t>），书中</a:t>
            </a:r>
            <a:r>
              <a:rPr lang="en-US" altLang="zh-CN" sz="3200" dirty="0">
                <a:solidFill>
                  <a:schemeClr val="bg1"/>
                </a:solidFill>
                <a:latin typeface="+mn-ea"/>
              </a:rPr>
              <a:t>“</a:t>
            </a:r>
            <a:r>
              <a:rPr lang="zh-CN" altLang="zh-CN" sz="3200" dirty="0">
                <a:solidFill>
                  <a:schemeClr val="bg1"/>
                </a:solidFill>
                <a:latin typeface="+mn-ea"/>
              </a:rPr>
              <a:t>思想（</a:t>
            </a:r>
            <a:r>
              <a:rPr lang="en-US" altLang="zh-CN" sz="3200" dirty="0">
                <a:solidFill>
                  <a:schemeClr val="bg1"/>
                </a:solidFill>
                <a:latin typeface="+mn-ea"/>
              </a:rPr>
              <a:t>thought</a:t>
            </a:r>
            <a:r>
              <a:rPr lang="zh-CN" altLang="zh-CN" sz="3200" dirty="0">
                <a:solidFill>
                  <a:schemeClr val="bg1"/>
                </a:solidFill>
                <a:latin typeface="+mn-ea"/>
              </a:rPr>
              <a:t>）</a:t>
            </a:r>
            <a:r>
              <a:rPr lang="en-US" altLang="zh-CN" sz="3200" dirty="0">
                <a:solidFill>
                  <a:schemeClr val="bg1"/>
                </a:solidFill>
                <a:latin typeface="+mn-ea"/>
              </a:rPr>
              <a:t>”</a:t>
            </a:r>
            <a:r>
              <a:rPr lang="zh-CN" altLang="zh-CN" sz="3200" dirty="0">
                <a:solidFill>
                  <a:schemeClr val="bg1"/>
                </a:solidFill>
                <a:latin typeface="+mn-ea"/>
              </a:rPr>
              <a:t>和</a:t>
            </a:r>
            <a:r>
              <a:rPr lang="en-US" altLang="zh-CN" sz="3200" dirty="0">
                <a:solidFill>
                  <a:schemeClr val="bg1"/>
                </a:solidFill>
                <a:latin typeface="+mn-ea"/>
              </a:rPr>
              <a:t>“</a:t>
            </a:r>
            <a:r>
              <a:rPr lang="zh-CN" altLang="zh-CN" sz="3200" dirty="0">
                <a:solidFill>
                  <a:schemeClr val="bg1"/>
                </a:solidFill>
                <a:latin typeface="+mn-ea"/>
              </a:rPr>
              <a:t>意识（</a:t>
            </a:r>
            <a:r>
              <a:rPr lang="en-US" altLang="zh-CN" sz="3200" dirty="0">
                <a:solidFill>
                  <a:schemeClr val="bg1"/>
                </a:solidFill>
                <a:latin typeface="+mn-ea"/>
              </a:rPr>
              <a:t>consciousness</a:t>
            </a:r>
            <a:r>
              <a:rPr lang="zh-CN" altLang="zh-CN" sz="3200" dirty="0">
                <a:solidFill>
                  <a:schemeClr val="bg1"/>
                </a:solidFill>
                <a:latin typeface="+mn-ea"/>
              </a:rPr>
              <a:t>）</a:t>
            </a:r>
            <a:r>
              <a:rPr lang="en-US" altLang="zh-CN" sz="3200" dirty="0">
                <a:solidFill>
                  <a:schemeClr val="bg1"/>
                </a:solidFill>
                <a:latin typeface="+mn-ea"/>
              </a:rPr>
              <a:t>”</a:t>
            </a:r>
            <a:r>
              <a:rPr lang="zh-CN" altLang="zh-CN" sz="3200" dirty="0">
                <a:solidFill>
                  <a:schemeClr val="bg1"/>
                </a:solidFill>
                <a:latin typeface="+mn-ea"/>
              </a:rPr>
              <a:t>常混用。</a:t>
            </a:r>
            <a:endParaRPr lang="en-US" altLang="zh-CN" sz="3200" dirty="0">
              <a:solidFill>
                <a:schemeClr val="bg1"/>
              </a:solidFill>
              <a:latin typeface="+mn-ea"/>
            </a:endParaRPr>
          </a:p>
          <a:p>
            <a:pPr marL="457200" indent="-457200">
              <a:buFont typeface="Wingdings" panose="05000000000000000000" pitchFamily="2" charset="2"/>
              <a:buChar char="n"/>
            </a:pPr>
            <a:r>
              <a:rPr lang="zh-CN" altLang="zh-CN" sz="3200" b="1" dirty="0">
                <a:solidFill>
                  <a:schemeClr val="bg1"/>
                </a:solidFill>
                <a:latin typeface="+mn-ea"/>
              </a:rPr>
              <a:t>意识流</a:t>
            </a:r>
            <a:r>
              <a:rPr lang="en-US" altLang="zh-CN" sz="3200" b="1" dirty="0">
                <a:solidFill>
                  <a:schemeClr val="bg1"/>
                </a:solidFill>
                <a:latin typeface="+mn-ea"/>
              </a:rPr>
              <a:t> “</a:t>
            </a:r>
            <a:r>
              <a:rPr lang="zh-CN" altLang="zh-CN" sz="3200" b="1" dirty="0">
                <a:solidFill>
                  <a:schemeClr val="bg1"/>
                </a:solidFill>
                <a:latin typeface="+mn-ea"/>
              </a:rPr>
              <a:t>像一条绵延不断，不可分割的河流</a:t>
            </a:r>
            <a:r>
              <a:rPr lang="zh-CN" altLang="zh-CN" sz="3200" dirty="0">
                <a:solidFill>
                  <a:schemeClr val="bg1"/>
                </a:solidFill>
                <a:latin typeface="+mn-ea"/>
              </a:rPr>
              <a:t>。</a:t>
            </a:r>
            <a:r>
              <a:rPr lang="en-US" altLang="zh-CN" sz="3200" dirty="0">
                <a:solidFill>
                  <a:schemeClr val="bg1"/>
                </a:solidFill>
                <a:latin typeface="+mn-ea"/>
              </a:rPr>
              <a:t>”</a:t>
            </a:r>
            <a:r>
              <a:rPr lang="zh-CN" altLang="zh-CN" sz="3200" dirty="0">
                <a:solidFill>
                  <a:schemeClr val="bg1"/>
                </a:solidFill>
                <a:latin typeface="+mn-ea"/>
              </a:rPr>
              <a:t>人的意识中有很大一部分是非理性和无逻辑的。因此，</a:t>
            </a:r>
            <a:r>
              <a:rPr lang="zh-CN" altLang="zh-CN" sz="3200" b="1" dirty="0">
                <a:solidFill>
                  <a:schemeClr val="bg1"/>
                </a:solidFill>
                <a:latin typeface="+mn-ea"/>
              </a:rPr>
              <a:t>人的意识是由理性的、自觉的意识和</a:t>
            </a:r>
            <a:r>
              <a:rPr lang="zh-CN" altLang="zh-CN" sz="3200" b="1" u="sng" dirty="0">
                <a:solidFill>
                  <a:srgbClr val="FFC000"/>
                </a:solidFill>
                <a:latin typeface="+mn-ea"/>
              </a:rPr>
              <a:t>无逻辑、非理性的无意识</a:t>
            </a:r>
            <a:r>
              <a:rPr lang="zh-CN" altLang="zh-CN" sz="3200" b="1" dirty="0">
                <a:solidFill>
                  <a:schemeClr val="bg1"/>
                </a:solidFill>
                <a:latin typeface="+mn-ea"/>
              </a:rPr>
              <a:t>所构成</a:t>
            </a:r>
            <a:r>
              <a:rPr lang="zh-CN" altLang="zh-CN" sz="3200" dirty="0">
                <a:solidFill>
                  <a:schemeClr val="bg1"/>
                </a:solidFill>
                <a:latin typeface="+mn-ea"/>
              </a:rPr>
              <a:t>。</a:t>
            </a:r>
            <a:endParaRPr lang="en-US" altLang="zh-CN" sz="3200" dirty="0">
              <a:solidFill>
                <a:schemeClr val="bg1"/>
              </a:solidFill>
              <a:latin typeface="+mn-ea"/>
            </a:endParaRPr>
          </a:p>
        </p:txBody>
      </p:sp>
      <p:sp>
        <p:nvSpPr>
          <p:cNvPr id="3" name="文本框 2"/>
          <p:cNvSpPr txBox="1"/>
          <p:nvPr/>
        </p:nvSpPr>
        <p:spPr>
          <a:xfrm>
            <a:off x="4121180" y="6064811"/>
            <a:ext cx="5435363" cy="461665"/>
          </a:xfrm>
          <a:prstGeom prst="rect">
            <a:avLst/>
          </a:prstGeom>
          <a:solidFill>
            <a:schemeClr val="accent5">
              <a:lumMod val="75000"/>
            </a:schemeClr>
          </a:solidFill>
        </p:spPr>
        <p:txBody>
          <a:bodyPr wrap="square" rtlCol="0">
            <a:spAutoFit/>
          </a:bodyPr>
          <a:lstStyle/>
          <a:p>
            <a:r>
              <a:rPr lang="zh-CN" altLang="en-US" sz="2400" dirty="0">
                <a:solidFill>
                  <a:schemeClr val="bg1"/>
                </a:solidFill>
              </a:rPr>
              <a:t>“趣味”、“鉴别力”、发散思维</a:t>
            </a:r>
            <a:r>
              <a:rPr lang="en-US" altLang="zh-CN" sz="2400" dirty="0">
                <a:solidFill>
                  <a:schemeClr val="bg1"/>
                </a:solidFill>
              </a:rPr>
              <a:t>……</a:t>
            </a:r>
            <a:endParaRPr lang="zh-CN" altLang="en-US" sz="2400" dirty="0">
              <a:solidFill>
                <a:schemeClr val="bg1"/>
              </a:solidFill>
            </a:endParaRPr>
          </a:p>
        </p:txBody>
      </p:sp>
      <p:sp>
        <p:nvSpPr>
          <p:cNvPr id="4" name="下箭头 3"/>
          <p:cNvSpPr/>
          <p:nvPr/>
        </p:nvSpPr>
        <p:spPr>
          <a:xfrm rot="10800000">
            <a:off x="6694259" y="5537433"/>
            <a:ext cx="425302" cy="527377"/>
          </a:xfrm>
          <a:prstGeom prst="downArrow">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045691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511629" y="341069"/>
            <a:ext cx="10591800" cy="1039614"/>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pPr marL="0" lvl="1" algn="ctr"/>
            <a:r>
              <a:rPr lang="zh-CN" altLang="en-US" sz="3200" b="1" dirty="0">
                <a:solidFill>
                  <a:srgbClr val="FFC000"/>
                </a:solidFill>
                <a:latin typeface="+mn-ea"/>
              </a:rPr>
              <a:t>意识流</a:t>
            </a:r>
            <a:r>
              <a:rPr lang="zh-CN" altLang="zh-CN" sz="3200" b="1" dirty="0">
                <a:solidFill>
                  <a:srgbClr val="FFC000"/>
                </a:solidFill>
                <a:latin typeface="+mn-ea"/>
              </a:rPr>
              <a:t>使人类可以站在</a:t>
            </a:r>
            <a:r>
              <a:rPr lang="en-US" altLang="zh-CN" sz="3200" b="1" dirty="0">
                <a:solidFill>
                  <a:srgbClr val="FFC000"/>
                </a:solidFill>
                <a:latin typeface="+mn-ea"/>
              </a:rPr>
              <a:t>AI</a:t>
            </a:r>
            <a:r>
              <a:rPr lang="zh-CN" altLang="zh-CN" sz="3200" b="1" dirty="0">
                <a:solidFill>
                  <a:srgbClr val="FFC000"/>
                </a:solidFill>
                <a:latin typeface="+mn-ea"/>
              </a:rPr>
              <a:t>巨人的肩上</a:t>
            </a:r>
            <a:endParaRPr lang="zh-CN" altLang="zh-CN" sz="3200" b="1" dirty="0">
              <a:solidFill>
                <a:srgbClr val="FFC000"/>
              </a:solidFill>
            </a:endParaRPr>
          </a:p>
        </p:txBody>
      </p:sp>
      <p:sp>
        <p:nvSpPr>
          <p:cNvPr id="2" name="矩形 1"/>
          <p:cNvSpPr/>
          <p:nvPr/>
        </p:nvSpPr>
        <p:spPr>
          <a:xfrm>
            <a:off x="753035" y="1792940"/>
            <a:ext cx="10641106" cy="4519523"/>
          </a:xfrm>
          <a:prstGeom prst="rect">
            <a:avLst/>
          </a:prstGeom>
          <a:noFill/>
        </p:spPr>
        <p:txBody>
          <a:bodyPr wrap="square" lIns="86694" tIns="43347" rIns="86694" bIns="43347">
            <a:spAutoFit/>
          </a:bodyPr>
          <a:lstStyle/>
          <a:p>
            <a:pPr marL="457200" indent="-457200">
              <a:buFont typeface="Wingdings" panose="05000000000000000000" pitchFamily="2" charset="2"/>
              <a:buChar char="n"/>
            </a:pPr>
            <a:r>
              <a:rPr lang="en-US" altLang="zh-CN" sz="3200" b="1" dirty="0">
                <a:solidFill>
                  <a:schemeClr val="bg1"/>
                </a:solidFill>
                <a:latin typeface="+mn-ea"/>
              </a:rPr>
              <a:t>AI</a:t>
            </a:r>
            <a:r>
              <a:rPr lang="zh-CN" altLang="zh-CN" sz="3200" b="1" dirty="0">
                <a:solidFill>
                  <a:schemeClr val="bg1"/>
                </a:solidFill>
                <a:latin typeface="+mn-ea"/>
              </a:rPr>
              <a:t>大模型</a:t>
            </a:r>
            <a:r>
              <a:rPr lang="zh-CN" altLang="zh-CN" sz="3200" dirty="0">
                <a:solidFill>
                  <a:schemeClr val="bg1"/>
                </a:solidFill>
                <a:latin typeface="+mn-ea"/>
              </a:rPr>
              <a:t>已经具有广博丰富的知识，而且它也能形成如前述的思维链，但它很难像人一样思考，</a:t>
            </a:r>
            <a:r>
              <a:rPr lang="zh-CN" altLang="zh-CN" sz="3200" b="1" dirty="0">
                <a:solidFill>
                  <a:schemeClr val="bg1"/>
                </a:solidFill>
                <a:latin typeface="+mn-ea"/>
              </a:rPr>
              <a:t>很难具有像人类那样的不可名状的意识流</a:t>
            </a:r>
            <a:r>
              <a:rPr lang="zh-CN" altLang="zh-CN" sz="3200" dirty="0">
                <a:solidFill>
                  <a:schemeClr val="bg1"/>
                </a:solidFill>
                <a:latin typeface="+mn-ea"/>
              </a:rPr>
              <a:t>。</a:t>
            </a:r>
            <a:endParaRPr lang="en-US" altLang="zh-CN" sz="3200" dirty="0">
              <a:solidFill>
                <a:schemeClr val="bg1"/>
              </a:solidFill>
              <a:latin typeface="+mn-ea"/>
            </a:endParaRPr>
          </a:p>
          <a:p>
            <a:pPr marL="457200" indent="-457200">
              <a:buFont typeface="Wingdings" panose="05000000000000000000" pitchFamily="2" charset="2"/>
              <a:buChar char="n"/>
            </a:pPr>
            <a:r>
              <a:rPr lang="zh-CN" altLang="zh-CN" sz="3200" dirty="0" smtClean="0">
                <a:solidFill>
                  <a:schemeClr val="bg1"/>
                </a:solidFill>
                <a:latin typeface="+mn-ea"/>
              </a:rPr>
              <a:t>不</a:t>
            </a:r>
            <a:r>
              <a:rPr lang="zh-CN" altLang="zh-CN" sz="3200" dirty="0">
                <a:solidFill>
                  <a:schemeClr val="bg1"/>
                </a:solidFill>
                <a:latin typeface="+mn-ea"/>
              </a:rPr>
              <a:t>同人不同的意识流即决定了他们不同的思想高度以及不同的想象力和创造力</a:t>
            </a:r>
            <a:endParaRPr lang="en-US" altLang="zh-CN" sz="3200" dirty="0">
              <a:solidFill>
                <a:schemeClr val="bg1"/>
              </a:solidFill>
              <a:latin typeface="+mn-ea"/>
            </a:endParaRPr>
          </a:p>
          <a:p>
            <a:pPr marL="457200" indent="-457200">
              <a:buFont typeface="Wingdings" panose="05000000000000000000" pitchFamily="2" charset="2"/>
              <a:buChar char="n"/>
            </a:pPr>
            <a:r>
              <a:rPr lang="zh-CN" altLang="zh-CN" sz="3200" dirty="0">
                <a:solidFill>
                  <a:schemeClr val="bg1"/>
                </a:solidFill>
                <a:latin typeface="+mn-ea"/>
              </a:rPr>
              <a:t>未来的卓越工程师应该具备什么样的意识流使他们未来能够善用</a:t>
            </a:r>
            <a:r>
              <a:rPr lang="en-US" altLang="zh-CN" sz="3200" dirty="0">
                <a:solidFill>
                  <a:schemeClr val="bg1"/>
                </a:solidFill>
                <a:latin typeface="+mn-ea"/>
              </a:rPr>
              <a:t>AI</a:t>
            </a:r>
            <a:r>
              <a:rPr lang="zh-CN" altLang="zh-CN" sz="3200" dirty="0">
                <a:solidFill>
                  <a:schemeClr val="bg1"/>
                </a:solidFill>
                <a:latin typeface="+mn-ea"/>
              </a:rPr>
              <a:t>、</a:t>
            </a:r>
            <a:r>
              <a:rPr lang="zh-CN" altLang="zh-CN" sz="3200" dirty="0" smtClean="0">
                <a:solidFill>
                  <a:schemeClr val="bg1"/>
                </a:solidFill>
                <a:latin typeface="+mn-ea"/>
              </a:rPr>
              <a:t>能够创造</a:t>
            </a:r>
            <a:r>
              <a:rPr lang="zh-CN" altLang="zh-CN" sz="3200" dirty="0">
                <a:solidFill>
                  <a:schemeClr val="bg1"/>
                </a:solidFill>
                <a:latin typeface="+mn-ea"/>
              </a:rPr>
              <a:t>世界中新的存在</a:t>
            </a:r>
            <a:r>
              <a:rPr lang="zh-CN" altLang="zh-CN" sz="3200" dirty="0" smtClean="0">
                <a:solidFill>
                  <a:schemeClr val="bg1"/>
                </a:solidFill>
                <a:latin typeface="+mn-ea"/>
              </a:rPr>
              <a:t>？</a:t>
            </a:r>
            <a:endParaRPr lang="en-US" altLang="zh-CN" sz="3200" dirty="0" smtClean="0">
              <a:solidFill>
                <a:schemeClr val="bg1"/>
              </a:solidFill>
              <a:latin typeface="+mn-ea"/>
            </a:endParaRPr>
          </a:p>
          <a:p>
            <a:pPr marL="457200" indent="-457200">
              <a:buFont typeface="Wingdings" panose="05000000000000000000" pitchFamily="2" charset="2"/>
              <a:buChar char="n"/>
            </a:pPr>
            <a:r>
              <a:rPr lang="zh-CN" altLang="en-US" sz="3200" b="1" dirty="0" smtClean="0">
                <a:solidFill>
                  <a:schemeClr val="bg1"/>
                </a:solidFill>
              </a:rPr>
              <a:t>意识流</a:t>
            </a:r>
            <a:r>
              <a:rPr lang="zh-CN" altLang="en-US" sz="3200" b="1" dirty="0">
                <a:solidFill>
                  <a:schemeClr val="bg1"/>
                </a:solidFill>
              </a:rPr>
              <a:t>取决于</a:t>
            </a:r>
            <a:r>
              <a:rPr lang="zh-CN" altLang="en-US" sz="3200" b="1" dirty="0">
                <a:solidFill>
                  <a:srgbClr val="FFC000"/>
                </a:solidFill>
              </a:rPr>
              <a:t>“问题意识”</a:t>
            </a:r>
            <a:endParaRPr lang="en-US" altLang="zh-CN" sz="3200" b="1" dirty="0">
              <a:solidFill>
                <a:srgbClr val="FFC000"/>
              </a:solidFill>
              <a:latin typeface="+mn-ea"/>
            </a:endParaRPr>
          </a:p>
          <a:p>
            <a:pPr marL="457200" indent="-457200">
              <a:buFont typeface="Wingdings" panose="05000000000000000000" pitchFamily="2" charset="2"/>
              <a:buChar char="n"/>
            </a:pPr>
            <a:endParaRPr lang="zh-CN" altLang="zh-CN" sz="3200" dirty="0">
              <a:solidFill>
                <a:schemeClr val="bg1"/>
              </a:solidFill>
              <a:latin typeface="+mn-ea"/>
            </a:endParaRPr>
          </a:p>
        </p:txBody>
      </p:sp>
    </p:spTree>
    <p:extLst>
      <p:ext uri="{BB962C8B-B14F-4D97-AF65-F5344CB8AC3E}">
        <p14:creationId xmlns:p14="http://schemas.microsoft.com/office/powerpoint/2010/main" val="32961992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511629" y="154676"/>
            <a:ext cx="10591800" cy="928046"/>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pPr marL="0" lvl="1" algn="ctr"/>
            <a:r>
              <a:rPr lang="zh-CN" altLang="en-US" sz="3200" b="1" dirty="0">
                <a:solidFill>
                  <a:srgbClr val="FFC000"/>
                </a:solidFill>
                <a:latin typeface="+mn-ea"/>
              </a:rPr>
              <a:t>意识流的飘忽特性</a:t>
            </a:r>
            <a:endParaRPr lang="zh-CN" altLang="zh-CN" sz="3200" b="1" dirty="0">
              <a:solidFill>
                <a:srgbClr val="FFC000"/>
              </a:solidFill>
            </a:endParaRPr>
          </a:p>
        </p:txBody>
      </p:sp>
      <p:sp>
        <p:nvSpPr>
          <p:cNvPr id="2" name="矩形 1"/>
          <p:cNvSpPr/>
          <p:nvPr/>
        </p:nvSpPr>
        <p:spPr>
          <a:xfrm>
            <a:off x="741528" y="1310186"/>
            <a:ext cx="10749887" cy="4519523"/>
          </a:xfrm>
          <a:prstGeom prst="rect">
            <a:avLst/>
          </a:prstGeom>
          <a:noFill/>
        </p:spPr>
        <p:txBody>
          <a:bodyPr wrap="square" lIns="86694" tIns="43347" rIns="86694" bIns="43347">
            <a:spAutoFit/>
          </a:bodyPr>
          <a:lstStyle/>
          <a:p>
            <a:pPr marL="457200" indent="-457200">
              <a:buFont typeface="Wingdings" panose="05000000000000000000" pitchFamily="2" charset="2"/>
              <a:buChar char="n"/>
            </a:pPr>
            <a:r>
              <a:rPr lang="zh-CN" altLang="zh-CN" sz="3200" dirty="0">
                <a:solidFill>
                  <a:schemeClr val="bg1"/>
                </a:solidFill>
              </a:rPr>
              <a:t>意识活动不仅具有流动特性，还存在</a:t>
            </a:r>
            <a:r>
              <a:rPr lang="zh-CN" altLang="zh-CN" sz="3200" b="1" dirty="0">
                <a:solidFill>
                  <a:srgbClr val="FFC000"/>
                </a:solidFill>
              </a:rPr>
              <a:t>飘忽特性</a:t>
            </a:r>
            <a:r>
              <a:rPr lang="zh-CN" altLang="zh-CN" sz="3200" dirty="0">
                <a:solidFill>
                  <a:schemeClr val="bg1"/>
                </a:solidFill>
              </a:rPr>
              <a:t>。</a:t>
            </a:r>
            <a:endParaRPr lang="en-US" altLang="zh-CN" sz="3200" dirty="0">
              <a:solidFill>
                <a:schemeClr val="bg1"/>
              </a:solidFill>
            </a:endParaRPr>
          </a:p>
          <a:p>
            <a:pPr marL="457200" indent="-457200">
              <a:buFont typeface="Wingdings" panose="05000000000000000000" pitchFamily="2" charset="2"/>
              <a:buChar char="n"/>
            </a:pPr>
            <a:r>
              <a:rPr lang="zh-CN" altLang="zh-CN" sz="3200" dirty="0">
                <a:solidFill>
                  <a:schemeClr val="bg1"/>
                </a:solidFill>
              </a:rPr>
              <a:t>意识流、思想流常常是跳跃的，如浪花跃起，不甘心一直平稳地流淌，纵身一跃，哪怕只看一眼流域的精彩也心甘。</a:t>
            </a:r>
            <a:endParaRPr lang="en-US" altLang="zh-CN" sz="3200" dirty="0">
              <a:solidFill>
                <a:schemeClr val="bg1"/>
              </a:solidFill>
            </a:endParaRPr>
          </a:p>
          <a:p>
            <a:pPr marL="457200" indent="-457200">
              <a:buFont typeface="Wingdings" panose="05000000000000000000" pitchFamily="2" charset="2"/>
              <a:buChar char="n"/>
            </a:pPr>
            <a:r>
              <a:rPr lang="zh-CN" altLang="zh-CN" sz="3200" dirty="0">
                <a:solidFill>
                  <a:schemeClr val="bg1"/>
                </a:solidFill>
              </a:rPr>
              <a:t>意识流有时</a:t>
            </a:r>
            <a:r>
              <a:rPr lang="zh-CN" altLang="zh-CN" sz="3200" b="1" dirty="0">
                <a:solidFill>
                  <a:srgbClr val="FFC000"/>
                </a:solidFill>
              </a:rPr>
              <a:t>也如湍流，在纷乱、矛盾中激烈乱撞</a:t>
            </a:r>
            <a:r>
              <a:rPr lang="zh-CN" altLang="zh-CN" sz="3200" dirty="0">
                <a:solidFill>
                  <a:schemeClr val="bg1"/>
                </a:solidFill>
              </a:rPr>
              <a:t>，毫无头绪。</a:t>
            </a:r>
            <a:endParaRPr lang="en-US" altLang="zh-CN" sz="3200" dirty="0">
              <a:solidFill>
                <a:schemeClr val="bg1"/>
              </a:solidFill>
            </a:endParaRPr>
          </a:p>
          <a:p>
            <a:pPr marL="457200" indent="-457200">
              <a:buFont typeface="Wingdings" panose="05000000000000000000" pitchFamily="2" charset="2"/>
              <a:buChar char="n"/>
            </a:pPr>
            <a:r>
              <a:rPr lang="zh-CN" altLang="zh-CN" sz="3200" dirty="0">
                <a:solidFill>
                  <a:schemeClr val="bg1"/>
                </a:solidFill>
              </a:rPr>
              <a:t>尽管在</a:t>
            </a:r>
            <a:r>
              <a:rPr lang="zh-CN" altLang="zh-CN" sz="3200" b="1" dirty="0">
                <a:solidFill>
                  <a:schemeClr val="bg1"/>
                </a:solidFill>
              </a:rPr>
              <a:t>多数时候，这种意识和思维也许是平庸的，但伟大的思考和新问题的发现却可能出现在这种非常规的意识活动。</a:t>
            </a:r>
            <a:endParaRPr lang="en-US" altLang="zh-CN" sz="3200" b="1" dirty="0">
              <a:solidFill>
                <a:schemeClr val="bg1"/>
              </a:solidFill>
              <a:latin typeface="+mn-ea"/>
            </a:endParaRPr>
          </a:p>
        </p:txBody>
      </p:sp>
    </p:spTree>
    <p:extLst>
      <p:ext uri="{BB962C8B-B14F-4D97-AF65-F5344CB8AC3E}">
        <p14:creationId xmlns:p14="http://schemas.microsoft.com/office/powerpoint/2010/main" val="19429234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511629" y="154676"/>
            <a:ext cx="10591800" cy="1031867"/>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pPr marL="0" lvl="1" algn="ctr"/>
            <a:r>
              <a:rPr lang="zh-CN" altLang="en-US" sz="3200" b="1" dirty="0">
                <a:solidFill>
                  <a:srgbClr val="FFC000"/>
                </a:solidFill>
                <a:latin typeface="+mn-ea"/>
              </a:rPr>
              <a:t>基于“问题导向”的 意识流</a:t>
            </a:r>
            <a:r>
              <a:rPr lang="en-US" altLang="zh-CN" sz="3200" b="1" dirty="0">
                <a:solidFill>
                  <a:srgbClr val="FFC000"/>
                </a:solidFill>
                <a:latin typeface="+mn-ea"/>
              </a:rPr>
              <a:t>-</a:t>
            </a:r>
            <a:r>
              <a:rPr lang="zh-CN" altLang="en-US" sz="3200" b="1" dirty="0">
                <a:solidFill>
                  <a:srgbClr val="FFFF00"/>
                </a:solidFill>
                <a:latin typeface="+mn-ea"/>
              </a:rPr>
              <a:t>寻找新奇踏脚石</a:t>
            </a:r>
            <a:endParaRPr lang="zh-CN" altLang="zh-CN" sz="3200" b="1" dirty="0">
              <a:solidFill>
                <a:srgbClr val="FFFF00"/>
              </a:solidFill>
            </a:endParaRPr>
          </a:p>
        </p:txBody>
      </p:sp>
      <p:sp>
        <p:nvSpPr>
          <p:cNvPr id="2" name="矩形 1"/>
          <p:cNvSpPr/>
          <p:nvPr/>
        </p:nvSpPr>
        <p:spPr>
          <a:xfrm>
            <a:off x="293914" y="1289957"/>
            <a:ext cx="11429513" cy="5258187"/>
          </a:xfrm>
          <a:prstGeom prst="rect">
            <a:avLst/>
          </a:prstGeom>
          <a:noFill/>
        </p:spPr>
        <p:txBody>
          <a:bodyPr wrap="square" lIns="86694" tIns="43347" rIns="86694" bIns="43347">
            <a:spAutoFit/>
          </a:bodyPr>
          <a:lstStyle/>
          <a:p>
            <a:pPr marL="457200" indent="-457200">
              <a:buFont typeface="Wingdings" panose="05000000000000000000" pitchFamily="2" charset="2"/>
              <a:buChar char="n"/>
            </a:pPr>
            <a:r>
              <a:rPr lang="zh-CN" altLang="zh-CN" sz="2800" dirty="0">
                <a:solidFill>
                  <a:schemeClr val="bg1"/>
                </a:solidFill>
                <a:latin typeface="+mn-ea"/>
              </a:rPr>
              <a:t>“目标导向”总是存在收敛倾向，使人专注于目标而忽略了对新奇踏脚石的搜寻；</a:t>
            </a:r>
            <a:endParaRPr lang="en-US" altLang="zh-CN" sz="2800" dirty="0">
              <a:solidFill>
                <a:schemeClr val="bg1"/>
              </a:solidFill>
              <a:latin typeface="+mn-ea"/>
            </a:endParaRPr>
          </a:p>
          <a:p>
            <a:pPr marL="457200" indent="-457200">
              <a:buFont typeface="Wingdings" panose="05000000000000000000" pitchFamily="2" charset="2"/>
              <a:buChar char="n"/>
            </a:pPr>
            <a:r>
              <a:rPr lang="zh-CN" altLang="zh-CN" sz="2800" dirty="0">
                <a:solidFill>
                  <a:schemeClr val="bg1"/>
                </a:solidFill>
                <a:latin typeface="+mn-ea"/>
              </a:rPr>
              <a:t>而</a:t>
            </a:r>
            <a:r>
              <a:rPr lang="zh-CN" altLang="zh-CN" sz="2800" b="1" dirty="0">
                <a:solidFill>
                  <a:schemeClr val="bg1"/>
                </a:solidFill>
                <a:latin typeface="+mn-ea"/>
              </a:rPr>
              <a:t>“问题导向”却是发散的</a:t>
            </a:r>
            <a:r>
              <a:rPr lang="zh-CN" altLang="zh-CN" sz="2800" dirty="0">
                <a:solidFill>
                  <a:schemeClr val="bg1"/>
                </a:solidFill>
                <a:latin typeface="+mn-ea"/>
              </a:rPr>
              <a:t>，不断滋生新的问题，而其中某些问题便可能是通往宝藏地的新奇踏脚石</a:t>
            </a:r>
            <a:endParaRPr lang="en-US" altLang="zh-CN" sz="2800" dirty="0">
              <a:solidFill>
                <a:schemeClr val="bg1"/>
              </a:solidFill>
              <a:latin typeface="+mn-ea"/>
            </a:endParaRPr>
          </a:p>
          <a:p>
            <a:pPr marL="457200" indent="-457200">
              <a:buFont typeface="Wingdings" panose="05000000000000000000" pitchFamily="2" charset="2"/>
              <a:buChar char="n"/>
            </a:pPr>
            <a:r>
              <a:rPr lang="zh-CN" altLang="zh-CN" sz="2800" dirty="0">
                <a:solidFill>
                  <a:schemeClr val="bg1"/>
                </a:solidFill>
                <a:latin typeface="+mn-ea"/>
              </a:rPr>
              <a:t>在意识流的某一刻里，瞬间闪出的一个新奇想法，</a:t>
            </a:r>
            <a:r>
              <a:rPr lang="zh-CN" altLang="en-US" sz="2800" dirty="0">
                <a:solidFill>
                  <a:schemeClr val="bg1"/>
                </a:solidFill>
                <a:latin typeface="+mn-ea"/>
              </a:rPr>
              <a:t>新的问题，</a:t>
            </a:r>
            <a:r>
              <a:rPr lang="zh-CN" altLang="zh-CN" sz="2800" dirty="0">
                <a:solidFill>
                  <a:schemeClr val="bg1"/>
                </a:solidFill>
                <a:latin typeface="+mn-ea"/>
              </a:rPr>
              <a:t>也许那就是一块与以往完全不一样的踏脚石</a:t>
            </a:r>
            <a:endParaRPr lang="en-US" altLang="zh-CN" sz="2800" dirty="0">
              <a:solidFill>
                <a:schemeClr val="bg1"/>
              </a:solidFill>
              <a:latin typeface="+mn-ea"/>
            </a:endParaRPr>
          </a:p>
          <a:p>
            <a:pPr marL="457200" indent="-457200">
              <a:buFont typeface="Wingdings" panose="05000000000000000000" pitchFamily="2" charset="2"/>
              <a:buChar char="n"/>
            </a:pPr>
            <a:r>
              <a:rPr lang="zh-CN" altLang="zh-CN" sz="2800" dirty="0">
                <a:solidFill>
                  <a:schemeClr val="bg1"/>
                </a:solidFill>
                <a:latin typeface="+mn-ea"/>
              </a:rPr>
              <a:t>如果执念于一个遥远的目标，实则是一个无法自我扩展、无法做到</a:t>
            </a:r>
            <a:r>
              <a:rPr lang="en-US" altLang="zh-CN" sz="2800" dirty="0">
                <a:solidFill>
                  <a:schemeClr val="bg1"/>
                </a:solidFill>
                <a:latin typeface="+mn-ea"/>
              </a:rPr>
              <a:t>“</a:t>
            </a:r>
            <a:r>
              <a:rPr lang="zh-CN" altLang="zh-CN" sz="2800" dirty="0">
                <a:solidFill>
                  <a:schemeClr val="bg1"/>
                </a:solidFill>
                <a:latin typeface="+mn-ea"/>
              </a:rPr>
              <a:t>抛砖引玉</a:t>
            </a:r>
            <a:r>
              <a:rPr lang="en-US" altLang="zh-CN" sz="2800" dirty="0">
                <a:solidFill>
                  <a:schemeClr val="bg1"/>
                </a:solidFill>
                <a:latin typeface="+mn-ea"/>
              </a:rPr>
              <a:t>”</a:t>
            </a:r>
            <a:r>
              <a:rPr lang="zh-CN" altLang="zh-CN" sz="2800" dirty="0">
                <a:solidFill>
                  <a:schemeClr val="bg1"/>
                </a:solidFill>
                <a:latin typeface="+mn-ea"/>
              </a:rPr>
              <a:t>的踏脚石</a:t>
            </a:r>
            <a:endParaRPr lang="en-US" altLang="zh-CN" sz="2800" dirty="0">
              <a:solidFill>
                <a:schemeClr val="bg1"/>
              </a:solidFill>
              <a:latin typeface="+mn-ea"/>
            </a:endParaRPr>
          </a:p>
          <a:p>
            <a:pPr marL="457200" indent="-457200">
              <a:buFont typeface="Wingdings" panose="05000000000000000000" pitchFamily="2" charset="2"/>
              <a:buChar char="n"/>
            </a:pPr>
            <a:r>
              <a:rPr lang="zh-CN" altLang="en-US" sz="2800" b="1" dirty="0">
                <a:solidFill>
                  <a:schemeClr val="bg1"/>
                </a:solidFill>
                <a:latin typeface="+mn-ea"/>
              </a:rPr>
              <a:t>意识流不断追寻新的问题，</a:t>
            </a:r>
            <a:r>
              <a:rPr lang="en-US" altLang="zh-CN" sz="2800" b="1" dirty="0">
                <a:solidFill>
                  <a:schemeClr val="bg1"/>
                </a:solidFill>
                <a:latin typeface="+mn-ea"/>
              </a:rPr>
              <a:t>“</a:t>
            </a:r>
            <a:r>
              <a:rPr lang="zh-CN" altLang="zh-CN" sz="2800" b="1" dirty="0">
                <a:solidFill>
                  <a:schemeClr val="bg1"/>
                </a:solidFill>
                <a:latin typeface="+mn-ea"/>
              </a:rPr>
              <a:t>问题导向</a:t>
            </a:r>
            <a:r>
              <a:rPr lang="en-US" altLang="zh-CN" sz="2800" b="1" dirty="0">
                <a:solidFill>
                  <a:schemeClr val="bg1"/>
                </a:solidFill>
                <a:latin typeface="+mn-ea"/>
              </a:rPr>
              <a:t>”</a:t>
            </a:r>
            <a:r>
              <a:rPr lang="zh-CN" altLang="zh-CN" sz="2800" b="1" dirty="0">
                <a:solidFill>
                  <a:schemeClr val="bg1"/>
                </a:solidFill>
                <a:latin typeface="+mn-ea"/>
              </a:rPr>
              <a:t>过程</a:t>
            </a:r>
            <a:r>
              <a:rPr lang="zh-CN" altLang="en-US" sz="2800" b="1" dirty="0">
                <a:solidFill>
                  <a:schemeClr val="bg1"/>
                </a:solidFill>
                <a:latin typeface="+mn-ea"/>
              </a:rPr>
              <a:t>形成的意识流</a:t>
            </a:r>
            <a:r>
              <a:rPr lang="zh-CN" altLang="zh-CN" sz="2800" b="1" dirty="0">
                <a:solidFill>
                  <a:schemeClr val="bg1"/>
                </a:solidFill>
                <a:latin typeface="+mn-ea"/>
              </a:rPr>
              <a:t>，不断地寻找新的踏脚石</a:t>
            </a:r>
            <a:r>
              <a:rPr lang="zh-CN" altLang="zh-CN" sz="2800" dirty="0">
                <a:solidFill>
                  <a:schemeClr val="bg1"/>
                </a:solidFill>
                <a:latin typeface="+mn-ea"/>
              </a:rPr>
              <a:t>，找到的踏脚石越多，就越有的机会前往潜力更大的地方。</a:t>
            </a:r>
            <a:endParaRPr lang="en-US" altLang="zh-CN" sz="2800" dirty="0">
              <a:solidFill>
                <a:schemeClr val="bg1"/>
              </a:solidFill>
              <a:latin typeface="+mn-ea"/>
            </a:endParaRPr>
          </a:p>
          <a:p>
            <a:pPr marL="457200" indent="-457200">
              <a:buFont typeface="Wingdings" panose="05000000000000000000" pitchFamily="2" charset="2"/>
              <a:buChar char="n"/>
            </a:pPr>
            <a:r>
              <a:rPr lang="en-US" altLang="zh-CN" sz="2800" b="1" dirty="0">
                <a:solidFill>
                  <a:schemeClr val="bg1"/>
                </a:solidFill>
                <a:latin typeface="+mn-ea"/>
              </a:rPr>
              <a:t>AI</a:t>
            </a:r>
            <a:r>
              <a:rPr lang="zh-CN" altLang="en-US" sz="2800" b="1" dirty="0">
                <a:solidFill>
                  <a:schemeClr val="bg1"/>
                </a:solidFill>
                <a:latin typeface="+mn-ea"/>
              </a:rPr>
              <a:t>启发人的意识流？帮助寻找新奇踏脚石？</a:t>
            </a:r>
            <a:endParaRPr lang="en-US" altLang="zh-CN" sz="2800" b="1" dirty="0">
              <a:solidFill>
                <a:schemeClr val="bg1"/>
              </a:solidFill>
              <a:latin typeface="+mn-ea"/>
            </a:endParaRPr>
          </a:p>
        </p:txBody>
      </p:sp>
    </p:spTree>
    <p:extLst>
      <p:ext uri="{BB962C8B-B14F-4D97-AF65-F5344CB8AC3E}">
        <p14:creationId xmlns:p14="http://schemas.microsoft.com/office/powerpoint/2010/main" val="40799263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2" name="矩形 1"/>
          <p:cNvSpPr/>
          <p:nvPr/>
        </p:nvSpPr>
        <p:spPr>
          <a:xfrm>
            <a:off x="935665" y="1834243"/>
            <a:ext cx="10560258" cy="4027081"/>
          </a:xfrm>
          <a:prstGeom prst="rect">
            <a:avLst/>
          </a:prstGeom>
        </p:spPr>
        <p:txBody>
          <a:bodyPr wrap="square" lIns="86694" tIns="43347" rIns="86694" bIns="43347">
            <a:spAutoFit/>
          </a:bodyPr>
          <a:lstStyle/>
          <a:p>
            <a:pPr marL="285750" indent="-285750">
              <a:buFont typeface="Wingdings" panose="05000000000000000000" pitchFamily="2" charset="2"/>
              <a:buChar char="n"/>
            </a:pPr>
            <a:r>
              <a:rPr lang="en-US" altLang="zh-CN" sz="3200" b="1" dirty="0" smtClean="0">
                <a:solidFill>
                  <a:schemeClr val="bg1"/>
                </a:solidFill>
                <a:latin typeface="+mn-ea"/>
              </a:rPr>
              <a:t> 1621</a:t>
            </a:r>
            <a:r>
              <a:rPr lang="zh-CN" altLang="en-US" sz="3200" b="1" dirty="0">
                <a:solidFill>
                  <a:schemeClr val="bg1"/>
                </a:solidFill>
                <a:latin typeface="+mn-ea"/>
              </a:rPr>
              <a:t>年， 牧师罗伯特</a:t>
            </a:r>
            <a:r>
              <a:rPr lang="en-US" altLang="zh-CN" sz="3200" b="1" dirty="0">
                <a:solidFill>
                  <a:schemeClr val="bg1"/>
                </a:solidFill>
                <a:latin typeface="+mn-ea"/>
              </a:rPr>
              <a:t>·</a:t>
            </a:r>
            <a:r>
              <a:rPr lang="zh-CN" altLang="en-US" sz="3200" b="1" dirty="0">
                <a:solidFill>
                  <a:schemeClr val="bg1"/>
                </a:solidFill>
                <a:latin typeface="+mn-ea"/>
              </a:rPr>
              <a:t>伯顿写道： “站在巨人肩头的侏儒比巨人看得更远。 </a:t>
            </a:r>
            <a:r>
              <a:rPr lang="zh-CN" altLang="en-US" sz="3200" b="1" dirty="0" smtClean="0">
                <a:solidFill>
                  <a:schemeClr val="bg1"/>
                </a:solidFill>
                <a:latin typeface="+mn-ea"/>
              </a:rPr>
              <a:t>”</a:t>
            </a:r>
            <a:endParaRPr lang="en-US" altLang="zh-CN" sz="3200" b="1" dirty="0" smtClean="0">
              <a:solidFill>
                <a:schemeClr val="bg1"/>
              </a:solidFill>
              <a:latin typeface="+mn-ea"/>
            </a:endParaRPr>
          </a:p>
          <a:p>
            <a:endParaRPr lang="en-US" altLang="zh-CN" sz="3200" b="1" dirty="0" smtClean="0">
              <a:solidFill>
                <a:schemeClr val="bg1"/>
              </a:solidFill>
              <a:latin typeface="+mn-ea"/>
            </a:endParaRPr>
          </a:p>
          <a:p>
            <a:pPr marL="285750" indent="-285750">
              <a:buFont typeface="Wingdings" panose="05000000000000000000" pitchFamily="2" charset="2"/>
              <a:buChar char="n"/>
            </a:pPr>
            <a:r>
              <a:rPr lang="en-US" altLang="zh-CN" sz="3200" b="1" dirty="0">
                <a:solidFill>
                  <a:schemeClr val="bg1"/>
                </a:solidFill>
                <a:latin typeface="+mn-ea"/>
              </a:rPr>
              <a:t> </a:t>
            </a:r>
            <a:r>
              <a:rPr lang="zh-CN" altLang="en-US" sz="3200" b="1" dirty="0" smtClean="0">
                <a:solidFill>
                  <a:srgbClr val="FFC000"/>
                </a:solidFill>
                <a:latin typeface="+mn-ea"/>
              </a:rPr>
              <a:t>牛顿</a:t>
            </a:r>
            <a:r>
              <a:rPr lang="zh-CN" altLang="en-US" sz="3200" b="1" dirty="0">
                <a:solidFill>
                  <a:schemeClr val="bg1"/>
                </a:solidFill>
                <a:latin typeface="+mn-ea"/>
              </a:rPr>
              <a:t>留给世人的珍宝之一是他的名言： “如果我看得更远， 那是因为我站在巨人的肩上</a:t>
            </a:r>
            <a:r>
              <a:rPr lang="zh-CN" altLang="en-US" sz="3200" b="1" dirty="0" smtClean="0">
                <a:solidFill>
                  <a:schemeClr val="bg1"/>
                </a:solidFill>
                <a:latin typeface="+mn-ea"/>
              </a:rPr>
              <a:t>。</a:t>
            </a:r>
            <a:r>
              <a:rPr lang="zh-CN" altLang="en-US" sz="3200" b="1" dirty="0">
                <a:solidFill>
                  <a:schemeClr val="bg1"/>
                </a:solidFill>
                <a:latin typeface="+mn-ea"/>
              </a:rPr>
              <a:t>（</a:t>
            </a:r>
            <a:r>
              <a:rPr lang="en-US" altLang="zh-CN" sz="3200" b="1" dirty="0">
                <a:solidFill>
                  <a:schemeClr val="bg1"/>
                </a:solidFill>
                <a:latin typeface="+mn-ea"/>
              </a:rPr>
              <a:t> 1676</a:t>
            </a:r>
            <a:r>
              <a:rPr lang="zh-CN" altLang="en-US" sz="3200" b="1" dirty="0">
                <a:solidFill>
                  <a:schemeClr val="bg1"/>
                </a:solidFill>
                <a:latin typeface="+mn-ea"/>
              </a:rPr>
              <a:t>年写给罗伯特</a:t>
            </a:r>
            <a:r>
              <a:rPr lang="en-US" altLang="zh-CN" sz="3200" b="1" dirty="0">
                <a:solidFill>
                  <a:schemeClr val="bg1"/>
                </a:solidFill>
                <a:latin typeface="+mn-ea"/>
              </a:rPr>
              <a:t>·</a:t>
            </a:r>
            <a:r>
              <a:rPr lang="zh-CN" altLang="en-US" sz="3200" b="1" dirty="0">
                <a:solidFill>
                  <a:schemeClr val="bg1"/>
                </a:solidFill>
                <a:latin typeface="+mn-ea"/>
              </a:rPr>
              <a:t>胡克的一封信</a:t>
            </a:r>
            <a:r>
              <a:rPr lang="zh-CN" altLang="en-US" sz="3200" b="1" dirty="0" smtClean="0">
                <a:solidFill>
                  <a:schemeClr val="bg1"/>
                </a:solidFill>
                <a:latin typeface="+mn-ea"/>
              </a:rPr>
              <a:t>）</a:t>
            </a:r>
            <a:endParaRPr lang="en-US" altLang="zh-CN" sz="3200" b="1" dirty="0" smtClean="0">
              <a:solidFill>
                <a:schemeClr val="bg1"/>
              </a:solidFill>
              <a:latin typeface="+mn-ea"/>
            </a:endParaRPr>
          </a:p>
          <a:p>
            <a:pPr marL="285750" indent="-285750">
              <a:buFont typeface="Wingdings" panose="05000000000000000000" pitchFamily="2" charset="2"/>
              <a:buChar char="n"/>
            </a:pPr>
            <a:endParaRPr lang="en-US" altLang="zh-CN" sz="3200" b="1" dirty="0">
              <a:solidFill>
                <a:schemeClr val="bg1"/>
              </a:solidFill>
              <a:latin typeface="+mn-ea"/>
            </a:endParaRPr>
          </a:p>
          <a:p>
            <a:r>
              <a:rPr lang="en-US" altLang="zh-CN" sz="3200" b="1" dirty="0" smtClean="0">
                <a:solidFill>
                  <a:srgbClr val="FFC000"/>
                </a:solidFill>
                <a:latin typeface="+mn-ea"/>
              </a:rPr>
              <a:t>AI</a:t>
            </a:r>
            <a:r>
              <a:rPr lang="zh-CN" altLang="en-US" sz="3200" b="1" dirty="0" smtClean="0">
                <a:solidFill>
                  <a:srgbClr val="FFC000"/>
                </a:solidFill>
                <a:latin typeface="+mn-ea"/>
              </a:rPr>
              <a:t>巨人？</a:t>
            </a:r>
            <a:endParaRPr lang="en-US" altLang="zh-CN" sz="3200" b="1" dirty="0">
              <a:solidFill>
                <a:srgbClr val="FFC000"/>
              </a:solidFill>
              <a:latin typeface="+mn-ea"/>
            </a:endParaRPr>
          </a:p>
        </p:txBody>
      </p:sp>
    </p:spTree>
    <p:extLst>
      <p:ext uri="{BB962C8B-B14F-4D97-AF65-F5344CB8AC3E}">
        <p14:creationId xmlns:p14="http://schemas.microsoft.com/office/powerpoint/2010/main" val="37764196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1596000" y="315687"/>
            <a:ext cx="9000000" cy="947056"/>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r>
              <a:rPr lang="zh-CN" altLang="en-US" sz="3200" dirty="0" smtClean="0">
                <a:solidFill>
                  <a:srgbClr val="FFFF00"/>
                </a:solidFill>
              </a:rPr>
              <a:t>结语</a:t>
            </a:r>
            <a:endParaRPr lang="zh-CN" altLang="en-US" sz="3200" dirty="0">
              <a:solidFill>
                <a:schemeClr val="bg1"/>
              </a:solidFill>
            </a:endParaRPr>
          </a:p>
        </p:txBody>
      </p:sp>
      <p:sp>
        <p:nvSpPr>
          <p:cNvPr id="5" name="文本框 4"/>
          <p:cNvSpPr txBox="1"/>
          <p:nvPr/>
        </p:nvSpPr>
        <p:spPr>
          <a:xfrm>
            <a:off x="1057835" y="1464129"/>
            <a:ext cx="10720507" cy="4031873"/>
          </a:xfrm>
          <a:prstGeom prst="rect">
            <a:avLst/>
          </a:prstGeom>
          <a:noFill/>
        </p:spPr>
        <p:txBody>
          <a:bodyPr wrap="square" rtlCol="0">
            <a:spAutoFit/>
          </a:bodyPr>
          <a:lstStyle/>
          <a:p>
            <a:pPr fontAlgn="t"/>
            <a:r>
              <a:rPr lang="zh-CN" altLang="en-US" sz="3200" b="1" dirty="0" smtClean="0">
                <a:solidFill>
                  <a:srgbClr val="FFC000"/>
                </a:solidFill>
                <a:latin typeface="微软雅黑" panose="020B0503020204020204" pitchFamily="34" charset="-122"/>
                <a:ea typeface="微软雅黑" panose="020B0503020204020204" pitchFamily="34" charset="-122"/>
              </a:rPr>
              <a:t>创新、</a:t>
            </a:r>
            <a:r>
              <a:rPr lang="zh-CN" altLang="en-US" sz="3200" b="1" dirty="0">
                <a:solidFill>
                  <a:srgbClr val="FFC000"/>
                </a:solidFill>
                <a:latin typeface="微软雅黑" panose="020B0503020204020204" pitchFamily="34" charset="-122"/>
                <a:ea typeface="微软雅黑" panose="020B0503020204020204" pitchFamily="34" charset="-122"/>
              </a:rPr>
              <a:t>学习</a:t>
            </a:r>
            <a:r>
              <a:rPr lang="zh-CN" altLang="en-US" sz="3200" b="1" dirty="0" smtClean="0">
                <a:solidFill>
                  <a:schemeClr val="bg1"/>
                </a:solidFill>
                <a:latin typeface="微软雅黑" panose="020B0503020204020204" pitchFamily="34" charset="-122"/>
                <a:ea typeface="微软雅黑" panose="020B0503020204020204" pitchFamily="34" charset="-122"/>
              </a:rPr>
              <a:t>都需要：</a:t>
            </a:r>
            <a:endParaRPr lang="en-US" altLang="zh-CN" sz="3200" b="1" dirty="0" smtClean="0">
              <a:solidFill>
                <a:schemeClr val="bg1"/>
              </a:solidFill>
              <a:latin typeface="微软雅黑" panose="020B0503020204020204" pitchFamily="34" charset="-122"/>
              <a:ea typeface="微软雅黑" panose="020B0503020204020204" pitchFamily="34" charset="-122"/>
            </a:endParaRPr>
          </a:p>
          <a:p>
            <a:pPr fontAlgn="t"/>
            <a:endParaRPr lang="en-US" altLang="zh-CN" sz="3200" b="1" dirty="0" smtClean="0">
              <a:solidFill>
                <a:schemeClr val="bg1"/>
              </a:solidFill>
              <a:latin typeface="微软雅黑" panose="020B0503020204020204" pitchFamily="34" charset="-122"/>
              <a:ea typeface="微软雅黑" panose="020B0503020204020204" pitchFamily="34" charset="-122"/>
            </a:endParaRPr>
          </a:p>
          <a:p>
            <a:pPr fontAlgn="t">
              <a:buFont typeface="Wingdings" panose="05000000000000000000" pitchFamily="2" charset="2"/>
              <a:buChar char="n"/>
            </a:pPr>
            <a:r>
              <a:rPr lang="en-US" altLang="zh-CN" sz="3200" b="1" dirty="0" smtClean="0">
                <a:solidFill>
                  <a:schemeClr val="bg1"/>
                </a:solidFill>
                <a:latin typeface="微软雅黑" panose="020B0503020204020204" pitchFamily="34" charset="-122"/>
                <a:ea typeface="微软雅黑" panose="020B0503020204020204" pitchFamily="34" charset="-122"/>
              </a:rPr>
              <a:t> </a:t>
            </a:r>
            <a:r>
              <a:rPr lang="zh-CN" altLang="en-US" sz="3200" dirty="0" smtClean="0">
                <a:solidFill>
                  <a:schemeClr val="bg1"/>
                </a:solidFill>
                <a:latin typeface="微软雅黑" panose="020B0503020204020204" pitchFamily="34" charset="-122"/>
                <a:ea typeface="微软雅黑" panose="020B0503020204020204" pitchFamily="34" charset="-122"/>
              </a:rPr>
              <a:t>洞察</a:t>
            </a:r>
            <a:r>
              <a:rPr lang="en-US" altLang="zh-CN" sz="3200" dirty="0" smtClean="0">
                <a:solidFill>
                  <a:schemeClr val="bg1"/>
                </a:solidFill>
                <a:latin typeface="微软雅黑" panose="020B0503020204020204" pitchFamily="34" charset="-122"/>
                <a:ea typeface="微软雅黑" panose="020B0503020204020204" pitchFamily="34" charset="-122"/>
              </a:rPr>
              <a:t>AI</a:t>
            </a:r>
            <a:r>
              <a:rPr lang="zh-CN" altLang="en-US" sz="3200" dirty="0" smtClean="0">
                <a:solidFill>
                  <a:schemeClr val="bg1"/>
                </a:solidFill>
                <a:latin typeface="微软雅黑" panose="020B0503020204020204" pitchFamily="34" charset="-122"/>
                <a:ea typeface="微软雅黑" panose="020B0503020204020204" pitchFamily="34" charset="-122"/>
              </a:rPr>
              <a:t>给人类、给工程带来的影响</a:t>
            </a:r>
            <a:endParaRPr lang="en-US" altLang="zh-CN" sz="3200" dirty="0" smtClean="0">
              <a:solidFill>
                <a:schemeClr val="bg1"/>
              </a:solidFill>
              <a:latin typeface="微软雅黑" panose="020B0503020204020204" pitchFamily="34" charset="-122"/>
              <a:ea typeface="微软雅黑" panose="020B0503020204020204" pitchFamily="34" charset="-122"/>
            </a:endParaRPr>
          </a:p>
          <a:p>
            <a:pPr fontAlgn="t">
              <a:buFont typeface="Wingdings" panose="05000000000000000000" pitchFamily="2" charset="2"/>
              <a:buChar char="n"/>
            </a:pPr>
            <a:r>
              <a:rPr lang="zh-CN" altLang="en-US" sz="3200" dirty="0" smtClean="0">
                <a:solidFill>
                  <a:schemeClr val="bg1"/>
                </a:solidFill>
                <a:latin typeface="微软雅黑" panose="020B0503020204020204" pitchFamily="34" charset="-122"/>
                <a:ea typeface="微软雅黑" panose="020B0503020204020204" pitchFamily="34" charset="-122"/>
              </a:rPr>
              <a:t> 改变学习方式</a:t>
            </a:r>
            <a:r>
              <a:rPr lang="en-US" altLang="zh-CN" sz="3200" dirty="0" smtClean="0">
                <a:solidFill>
                  <a:schemeClr val="bg1"/>
                </a:solidFill>
                <a:latin typeface="微软雅黑" panose="020B0503020204020204" pitchFamily="34" charset="-122"/>
                <a:ea typeface="微软雅黑" panose="020B0503020204020204" pitchFamily="34" charset="-122"/>
              </a:rPr>
              <a:t>——</a:t>
            </a:r>
            <a:r>
              <a:rPr lang="zh-CN" altLang="en-US" sz="3200" dirty="0" smtClean="0">
                <a:solidFill>
                  <a:schemeClr val="bg1"/>
                </a:solidFill>
                <a:latin typeface="微软雅黑" panose="020B0503020204020204" pitchFamily="34" charset="-122"/>
                <a:ea typeface="微软雅黑" panose="020B0503020204020204" pitchFamily="34" charset="-122"/>
              </a:rPr>
              <a:t>问题导向</a:t>
            </a:r>
            <a:endParaRPr lang="en-US" altLang="zh-CN" sz="3200" dirty="0" smtClean="0">
              <a:solidFill>
                <a:schemeClr val="bg1"/>
              </a:solidFill>
              <a:latin typeface="微软雅黑" panose="020B0503020204020204" pitchFamily="34" charset="-122"/>
              <a:ea typeface="微软雅黑" panose="020B0503020204020204" pitchFamily="34" charset="-122"/>
            </a:endParaRPr>
          </a:p>
          <a:p>
            <a:pPr fontAlgn="t">
              <a:buFont typeface="Wingdings" panose="05000000000000000000" pitchFamily="2" charset="2"/>
              <a:buChar char="n"/>
            </a:pPr>
            <a:r>
              <a:rPr lang="en-US" altLang="zh-CN" sz="3200" dirty="0" smtClean="0">
                <a:solidFill>
                  <a:schemeClr val="bg1"/>
                </a:solidFill>
                <a:latin typeface="微软雅黑" panose="020B0503020204020204" pitchFamily="34" charset="-122"/>
                <a:ea typeface="微软雅黑" panose="020B0503020204020204" pitchFamily="34" charset="-122"/>
              </a:rPr>
              <a:t> </a:t>
            </a:r>
            <a:r>
              <a:rPr lang="zh-CN" altLang="en-US" sz="3200" dirty="0" smtClean="0">
                <a:solidFill>
                  <a:schemeClr val="bg1"/>
                </a:solidFill>
                <a:latin typeface="微软雅黑" panose="020B0503020204020204" pitchFamily="34" charset="-122"/>
                <a:ea typeface="微软雅黑" panose="020B0503020204020204" pitchFamily="34" charset="-122"/>
              </a:rPr>
              <a:t>超越常规思维方式</a:t>
            </a:r>
            <a:r>
              <a:rPr lang="en-US" altLang="zh-CN" sz="3200" dirty="0" smtClean="0">
                <a:solidFill>
                  <a:srgbClr val="FFC000"/>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3200" dirty="0" smtClean="0">
                <a:solidFill>
                  <a:srgbClr val="FFC000"/>
                </a:solidFill>
                <a:latin typeface="微软雅黑" panose="020B0503020204020204" pitchFamily="34" charset="-122"/>
                <a:ea typeface="微软雅黑" panose="020B0503020204020204" pitchFamily="34" charset="-122"/>
              </a:rPr>
              <a:t>意识流、发散性思维、批判性思维、</a:t>
            </a:r>
            <a:r>
              <a:rPr lang="zh-CN" altLang="en-US" sz="3200" dirty="0" smtClean="0">
                <a:solidFill>
                  <a:srgbClr val="FFC000"/>
                </a:solidFill>
              </a:rPr>
              <a:t>悖论等</a:t>
            </a:r>
            <a:endParaRPr lang="en-US" altLang="zh-CN" sz="3200" dirty="0" smtClean="0">
              <a:solidFill>
                <a:srgbClr val="FFC000"/>
              </a:solidFill>
              <a:latin typeface="微软雅黑" panose="020B0503020204020204" pitchFamily="34" charset="-122"/>
              <a:ea typeface="微软雅黑" panose="020B0503020204020204" pitchFamily="34" charset="-122"/>
            </a:endParaRPr>
          </a:p>
          <a:p>
            <a:pPr fontAlgn="t"/>
            <a:endParaRPr lang="en-US" altLang="zh-CN" sz="3200" dirty="0" smtClean="0">
              <a:solidFill>
                <a:schemeClr val="bg1"/>
              </a:solidFill>
              <a:latin typeface="微软雅黑" panose="020B0503020204020204" pitchFamily="34" charset="-122"/>
              <a:ea typeface="微软雅黑" panose="020B0503020204020204" pitchFamily="34" charset="-122"/>
            </a:endParaRPr>
          </a:p>
          <a:p>
            <a:pPr fontAlgn="t"/>
            <a:r>
              <a:rPr lang="zh-CN" altLang="en-US" sz="3200" dirty="0" smtClean="0">
                <a:solidFill>
                  <a:schemeClr val="bg1"/>
                </a:solidFill>
                <a:latin typeface="微软雅黑" panose="020B0503020204020204" pitchFamily="34" charset="-122"/>
                <a:ea typeface="微软雅黑" panose="020B0503020204020204" pitchFamily="34" charset="-122"/>
              </a:rPr>
              <a:t>把这些意识体现在</a:t>
            </a:r>
            <a:r>
              <a:rPr lang="zh-CN" altLang="en-US" sz="3200" dirty="0">
                <a:solidFill>
                  <a:schemeClr val="bg1"/>
                </a:solidFill>
                <a:latin typeface="微软雅黑" panose="020B0503020204020204" pitchFamily="34" charset="-122"/>
                <a:ea typeface="微软雅黑" panose="020B0503020204020204" pitchFamily="34" charset="-122"/>
              </a:rPr>
              <a:t>学习</a:t>
            </a:r>
            <a:r>
              <a:rPr lang="zh-CN" altLang="en-US" sz="3200" dirty="0" smtClean="0">
                <a:solidFill>
                  <a:schemeClr val="bg1"/>
                </a:solidFill>
                <a:latin typeface="微软雅黑" panose="020B0503020204020204" pitchFamily="34" charset="-122"/>
                <a:ea typeface="微软雅黑" panose="020B0503020204020204" pitchFamily="34" charset="-122"/>
              </a:rPr>
              <a:t>、实践中！</a:t>
            </a:r>
            <a:endParaRPr lang="zh-CN" altLang="en-US" dirty="0">
              <a:solidFill>
                <a:schemeClr val="bg1"/>
              </a:solidFill>
            </a:endParaRPr>
          </a:p>
        </p:txBody>
      </p:sp>
    </p:spTree>
    <p:extLst>
      <p:ext uri="{BB962C8B-B14F-4D97-AF65-F5344CB8AC3E}">
        <p14:creationId xmlns:p14="http://schemas.microsoft.com/office/powerpoint/2010/main" val="36085805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l="1604" t="2569" r="1827" b="1427"/>
          <a:stretch/>
        </p:blipFill>
        <p:spPr>
          <a:xfrm>
            <a:off x="11177835" y="200390"/>
            <a:ext cx="809802" cy="614061"/>
          </a:xfrm>
          <a:prstGeom prst="ellipse">
            <a:avLst/>
          </a:prstGeom>
        </p:spPr>
      </p:pic>
      <p:sp>
        <p:nvSpPr>
          <p:cNvPr id="14" name="文本框 20"/>
          <p:cNvSpPr txBox="1"/>
          <p:nvPr/>
        </p:nvSpPr>
        <p:spPr>
          <a:xfrm>
            <a:off x="1596000" y="1594757"/>
            <a:ext cx="9000000" cy="838199"/>
          </a:xfrm>
          <a:prstGeom prst="rect">
            <a:avLst/>
          </a:prstGeom>
          <a:gradFill flip="none" rotWithShape="1">
            <a:gsLst>
              <a:gs pos="100000">
                <a:srgbClr val="00ADED">
                  <a:alpha val="0"/>
                </a:srgbClr>
              </a:gs>
              <a:gs pos="0">
                <a:srgbClr val="00B0F0">
                  <a:alpha val="0"/>
                </a:srgbClr>
              </a:gs>
              <a:gs pos="50000">
                <a:srgbClr val="00B0F0">
                  <a:alpha val="26000"/>
                </a:srgbClr>
              </a:gs>
            </a:gsLst>
            <a:lin ang="0" scaled="0"/>
            <a:tileRect/>
          </a:gradFill>
          <a:ln w="12700">
            <a:gradFill flip="none" rotWithShape="1">
              <a:gsLst>
                <a:gs pos="417">
                  <a:srgbClr val="00FFFF">
                    <a:alpha val="0"/>
                  </a:srgbClr>
                </a:gs>
                <a:gs pos="50000">
                  <a:srgbClr val="00FFFF"/>
                </a:gs>
                <a:gs pos="100000">
                  <a:srgbClr val="00FFFF">
                    <a:alpha val="0"/>
                  </a:srgbClr>
                </a:gs>
              </a:gsLst>
              <a:lin ang="0" scaled="0"/>
              <a:tileRect/>
            </a:gradFill>
            <a:headEnd type="none" w="med" len="med"/>
            <a:tailEnd type="none" w="med" len="med"/>
          </a:ln>
          <a:effectLst>
            <a:outerShdw blurRad="76200" dist="63500" dir="8100000" algn="ctr" rotWithShape="0">
              <a:srgbClr val="000000">
                <a:alpha val="40000"/>
              </a:srgbClr>
            </a:outerShdw>
          </a:effectLst>
        </p:spPr>
        <p:style>
          <a:lnRef idx="2">
            <a:schemeClr val="accent2"/>
          </a:lnRef>
          <a:fillRef idx="1">
            <a:schemeClr val="lt1"/>
          </a:fillRef>
          <a:effectRef idx="0">
            <a:schemeClr val="accent2"/>
          </a:effectRef>
          <a:fontRef idx="minor">
            <a:schemeClr val="dk1"/>
          </a:fontRef>
        </p:style>
        <p:txBody>
          <a:bodyPr lIns="360000" tIns="45729" rIns="360000" bIns="45729" anchor="ctr"/>
          <a:lstStyle>
            <a:defPPr>
              <a:defRPr lang="zh-CN"/>
            </a:defPPr>
            <a:lvl1pPr algn="ctr" defTabSz="1520647">
              <a:lnSpc>
                <a:spcPct val="110000"/>
              </a:lnSpc>
              <a:defRPr b="1">
                <a:solidFill>
                  <a:srgbClr val="FFC000"/>
                </a:solidFill>
                <a:latin typeface="微软雅黑" panose="020B0503020204020204" pitchFamily="34" charset="-122"/>
                <a:ea typeface="微软雅黑" panose="020B0503020204020204" pitchFamily="34" charset="-122"/>
              </a:defRPr>
            </a:lvl1pPr>
            <a:lvl2pPr marL="760324" defTabSz="1520647">
              <a:defRPr sz="2993">
                <a:solidFill>
                  <a:schemeClr val="dk1"/>
                </a:solidFill>
              </a:defRPr>
            </a:lvl2pPr>
            <a:lvl3pPr marL="1520647" defTabSz="1520647">
              <a:defRPr sz="2993">
                <a:solidFill>
                  <a:schemeClr val="dk1"/>
                </a:solidFill>
              </a:defRPr>
            </a:lvl3pPr>
            <a:lvl4pPr marL="2280971" defTabSz="1520647">
              <a:defRPr sz="2993">
                <a:solidFill>
                  <a:schemeClr val="dk1"/>
                </a:solidFill>
              </a:defRPr>
            </a:lvl4pPr>
            <a:lvl5pPr marL="3041294" defTabSz="1520647">
              <a:defRPr sz="2993">
                <a:solidFill>
                  <a:schemeClr val="dk1"/>
                </a:solidFill>
              </a:defRPr>
            </a:lvl5pPr>
            <a:lvl6pPr marL="3801618" defTabSz="1520647">
              <a:defRPr sz="2993">
                <a:solidFill>
                  <a:schemeClr val="dk1"/>
                </a:solidFill>
              </a:defRPr>
            </a:lvl6pPr>
            <a:lvl7pPr marL="4561942" defTabSz="1520647">
              <a:defRPr sz="2993">
                <a:solidFill>
                  <a:schemeClr val="dk1"/>
                </a:solidFill>
              </a:defRPr>
            </a:lvl7pPr>
            <a:lvl8pPr marL="5322265" defTabSz="1520647">
              <a:defRPr sz="2993">
                <a:solidFill>
                  <a:schemeClr val="dk1"/>
                </a:solidFill>
              </a:defRPr>
            </a:lvl8pPr>
            <a:lvl9pPr marL="6082589" defTabSz="1520647">
              <a:defRPr sz="2993">
                <a:solidFill>
                  <a:schemeClr val="dk1"/>
                </a:solidFill>
              </a:defRPr>
            </a:lvl9pPr>
          </a:lstStyle>
          <a:p>
            <a:endParaRPr lang="zh-CN" altLang="en-US" sz="3200" dirty="0">
              <a:solidFill>
                <a:srgbClr val="FFFF00"/>
              </a:solidFill>
            </a:endParaRPr>
          </a:p>
        </p:txBody>
      </p:sp>
      <p:sp>
        <p:nvSpPr>
          <p:cNvPr id="2" name="矩形 1"/>
          <p:cNvSpPr/>
          <p:nvPr/>
        </p:nvSpPr>
        <p:spPr>
          <a:xfrm>
            <a:off x="1357162" y="2954956"/>
            <a:ext cx="9620452" cy="1010870"/>
          </a:xfrm>
          <a:prstGeom prst="rect">
            <a:avLst/>
          </a:prstGeom>
        </p:spPr>
        <p:txBody>
          <a:bodyPr wrap="square" lIns="86694" tIns="43347" rIns="86694" bIns="43347">
            <a:spAutoFit/>
          </a:bodyPr>
          <a:lstStyle/>
          <a:p>
            <a:pPr algn="ctr"/>
            <a:r>
              <a:rPr lang="zh-CN" altLang="en-US" sz="6000" b="1" dirty="0" smtClean="0">
                <a:solidFill>
                  <a:schemeClr val="accent2">
                    <a:lumMod val="60000"/>
                    <a:lumOff val="40000"/>
                  </a:schemeClr>
                </a:solidFill>
              </a:rPr>
              <a:t>谢谢！</a:t>
            </a:r>
            <a:endParaRPr lang="zh-CN" altLang="zh-CN" sz="6000" dirty="0">
              <a:solidFill>
                <a:schemeClr val="bg1"/>
              </a:solidFill>
            </a:endParaRPr>
          </a:p>
        </p:txBody>
      </p:sp>
      <p:sp>
        <p:nvSpPr>
          <p:cNvPr id="4" name="标题 3"/>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6205743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微软雅黑+Arial">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微软雅黑+Arial">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End page">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31AD3342-B2D7-44AB-B447-0EEAFE75289A}" vid="{289F26BF-68E3-4534-8B82-5383260B836D}"/>
    </a:ext>
  </a:extLst>
</a:theme>
</file>

<file path=ppt/theme/theme4.xml><?xml version="1.0" encoding="utf-8"?>
<a:theme xmlns:a="http://schemas.openxmlformats.org/drawingml/2006/main" name="1_End page">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31AD3342-B2D7-44AB-B447-0EEAFE75289A}" vid="{289F26BF-68E3-4534-8B82-5383260B836D}"/>
    </a:ext>
  </a:extLst>
</a:theme>
</file>

<file path=ppt/theme/theme5.xml><?xml version="1.0" encoding="utf-8"?>
<a:theme xmlns:a="http://schemas.openxmlformats.org/drawingml/2006/main" name="2_End page">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31AD3342-B2D7-44AB-B447-0EEAFE75289A}" vid="{289F26BF-68E3-4534-8B82-5383260B836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13317</TotalTime>
  <Words>6460</Words>
  <Application>Microsoft Office PowerPoint</Application>
  <PresentationFormat>宽屏</PresentationFormat>
  <Paragraphs>431</Paragraphs>
  <Slides>67</Slides>
  <Notes>63</Notes>
  <HiddenSlides>0</HiddenSlides>
  <MMClips>0</MMClips>
  <ScaleCrop>false</ScaleCrop>
  <HeadingPairs>
    <vt:vector size="6" baseType="variant">
      <vt:variant>
        <vt:lpstr>已用的字体</vt:lpstr>
      </vt:variant>
      <vt:variant>
        <vt:i4>10</vt:i4>
      </vt:variant>
      <vt:variant>
        <vt:lpstr>主题</vt:lpstr>
      </vt:variant>
      <vt:variant>
        <vt:i4>5</vt:i4>
      </vt:variant>
      <vt:variant>
        <vt:lpstr>幻灯片标题</vt:lpstr>
      </vt:variant>
      <vt:variant>
        <vt:i4>67</vt:i4>
      </vt:variant>
    </vt:vector>
  </HeadingPairs>
  <TitlesOfParts>
    <vt:vector size="82" baseType="lpstr">
      <vt:lpstr>DengXian</vt:lpstr>
      <vt:lpstr>华文彩云</vt:lpstr>
      <vt:lpstr>华文细黑</vt:lpstr>
      <vt:lpstr>楷体</vt:lpstr>
      <vt:lpstr>Microsoft YaHei</vt:lpstr>
      <vt:lpstr>Microsoft YaHei</vt:lpstr>
      <vt:lpstr>Arial</vt:lpstr>
      <vt:lpstr>Calibri</vt:lpstr>
      <vt:lpstr>Times New Roman</vt:lpstr>
      <vt:lpstr>Wingdings</vt:lpstr>
      <vt:lpstr>1_Office 主题​​</vt:lpstr>
      <vt:lpstr>Custom Design</vt:lpstr>
      <vt:lpstr>End page</vt:lpstr>
      <vt:lpstr>1_End page</vt:lpstr>
      <vt:lpstr>2_End page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Zoe ZHU (MCI Shanghai)</dc:creator>
  <cp:lastModifiedBy>Li</cp:lastModifiedBy>
  <cp:revision>948</cp:revision>
  <dcterms:created xsi:type="dcterms:W3CDTF">2018-09-11T13:59:48Z</dcterms:created>
  <dcterms:modified xsi:type="dcterms:W3CDTF">2025-03-13T12:54:39Z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(3)Wiu5hCJ43PGpjYuK4aIEc0aZw8T0jPn5J/x5wCfyS4/Q58gOOH3ONfrRzkcEYYoIFHcoRPZt
lx6UOxwohlyR3zklw1/ufdEGROufmWbZw6brjBwxNo/T0vqGJQjs6gDbI8YCmHZICPY8tOZU
p9SqBWWEjt31M6AgHjJ3p2K/gRegGI8czgWhJ6ud14SYvOYm22BK3FWDZy+XC9M3U5g38xwR
1ZiEmr9pzws4mpAKaA</vt:lpwstr>
  </property>
  <property fmtid="{D5CDD505-2E9C-101B-9397-08002B2CF9AE}" pid="3" name="_2015_ms_pID_7253431">
    <vt:lpwstr>PevW5JG9zfgfeQuC94emrYCuaEpaoXa6NXklcCeBTdEcdOmMyq7PUJ
hhKjFTpmRghLBDSTDwoF/MraCIgw9520UGuQk/Kks9Smu0f1aOj4u3JWp7PSZr06mkzrUo1+
LYehSYkwoYDiVmsXkwcrzXaGfFw3SrDb/9jsTC2aZ9cZCWtX8fqXzpF3dwS+dY3T8xzZxqCa
dtOmm8ZGyifKNVEnPdqQFuetWGWC/s7wObd9</vt:lpwstr>
  </property>
  <property fmtid="{D5CDD505-2E9C-101B-9397-08002B2CF9AE}" pid="4" name="_2015_ms_pID_7253432">
    <vt:lpwstr>cA==</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1593394731</vt:lpwstr>
  </property>
</Properties>
</file>