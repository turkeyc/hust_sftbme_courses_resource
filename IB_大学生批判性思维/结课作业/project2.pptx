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2"/>
  </p:sldMasterIdLst>
  <p:notesMasterIdLst>
    <p:notesMasterId r:id="rId15"/>
  </p:notesMasterIdLst>
  <p:handoutMasterIdLst>
    <p:handoutMasterId r:id="rId16"/>
  </p:handoutMasterIdLst>
  <p:sldIdLst>
    <p:sldId id="256" r:id="rId3"/>
    <p:sldId id="258" r:id="rId4"/>
    <p:sldId id="257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68" r:id="rId13"/>
    <p:sldId id="267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5A5A6"/>
    <a:srgbClr val="E67E22"/>
    <a:srgbClr val="2C3E50"/>
    <a:srgbClr val="F2ECBE"/>
    <a:srgbClr val="D8C95F"/>
    <a:srgbClr val="D9DA66"/>
    <a:srgbClr val="D1BF89"/>
    <a:srgbClr val="A27D38"/>
    <a:srgbClr val="52311A"/>
    <a:srgbClr val="ECE2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79445" autoAdjust="0"/>
  </p:normalViewPr>
  <p:slideViewPr>
    <p:cSldViewPr snapToGrid="0">
      <p:cViewPr varScale="1">
        <p:scale>
          <a:sx n="66" d="100"/>
          <a:sy n="66" d="100"/>
        </p:scale>
        <p:origin x="609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3" d="100"/>
          <a:sy n="63" d="100"/>
        </p:scale>
        <p:origin x="158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jpe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0B6BC2E-8F00-4087-A9D1-318AEA794A72}" type="doc">
      <dgm:prSet loTypeId="urn:microsoft.com/office/officeart/2005/8/layout/cycle1" loCatId="cycle" qsTypeId="urn:microsoft.com/office/officeart/2005/8/quickstyle/3d9#1" qsCatId="3D" csTypeId="urn:microsoft.com/office/officeart/2005/8/colors/accent1_2#1" csCatId="accent1" phldr="1"/>
      <dgm:spPr/>
      <dgm:t>
        <a:bodyPr/>
        <a:lstStyle/>
        <a:p>
          <a:endParaRPr lang="zh-CN" altLang="en-US"/>
        </a:p>
      </dgm:t>
    </dgm:pt>
    <dgm:pt modelId="{695103FA-F753-464F-9B24-20920B01E2C5}">
      <dgm:prSet phldrT="[文本]"/>
      <dgm:spPr/>
      <dgm:t>
        <a:bodyPr/>
        <a:lstStyle/>
        <a:p>
          <a:r>
            <a:rPr lang="zh-CN" altLang="en-US" dirty="0">
              <a:solidFill>
                <a:schemeClr val="accent2">
                  <a:lumMod val="20000"/>
                  <a:lumOff val="80000"/>
                </a:schemeClr>
              </a:solidFill>
            </a:rPr>
            <a:t>学术</a:t>
          </a:r>
        </a:p>
      </dgm:t>
    </dgm:pt>
    <dgm:pt modelId="{452B0D08-DFD0-492C-B9AC-40346FAB994E}" type="parTrans" cxnId="{B265B5E4-2879-464C-97CE-609B1399D2F4}">
      <dgm:prSet/>
      <dgm:spPr/>
      <dgm:t>
        <a:bodyPr/>
        <a:lstStyle/>
        <a:p>
          <a:endParaRPr lang="zh-CN" altLang="en-US">
            <a:solidFill>
              <a:schemeClr val="accent2">
                <a:lumMod val="20000"/>
                <a:lumOff val="80000"/>
              </a:schemeClr>
            </a:solidFill>
          </a:endParaRPr>
        </a:p>
      </dgm:t>
    </dgm:pt>
    <dgm:pt modelId="{32512C32-D412-4FA5-882E-0D086F646255}" type="sibTrans" cxnId="{B265B5E4-2879-464C-97CE-609B1399D2F4}">
      <dgm:prSet/>
      <dgm:spPr>
        <a:blipFill dpi="0" rotWithShape="1">
          <a:blip xmlns:r="http://schemas.openxmlformats.org/officeDocument/2006/relationships" r:embed="rId1">
            <a:alphaModFix amt="90000"/>
          </a:blip>
          <a:srcRect/>
          <a:tile tx="0" ty="0" sx="100000" sy="100000" flip="none" algn="tl"/>
        </a:blipFill>
        <a:ln>
          <a:noFill/>
        </a:ln>
      </dgm:spPr>
      <dgm:t>
        <a:bodyPr/>
        <a:lstStyle/>
        <a:p>
          <a:endParaRPr lang="zh-CN" altLang="en-US">
            <a:solidFill>
              <a:schemeClr val="accent2">
                <a:lumMod val="20000"/>
                <a:lumOff val="80000"/>
              </a:schemeClr>
            </a:solidFill>
          </a:endParaRPr>
        </a:p>
      </dgm:t>
    </dgm:pt>
    <dgm:pt modelId="{FE169125-5A36-4DCC-A6E0-9540F4606DF4}">
      <dgm:prSet phldrT="[文本]"/>
      <dgm:spPr/>
      <dgm:t>
        <a:bodyPr/>
        <a:lstStyle/>
        <a:p>
          <a:r>
            <a:rPr lang="zh-CN" altLang="en-US" dirty="0">
              <a:solidFill>
                <a:schemeClr val="accent2">
                  <a:lumMod val="20000"/>
                  <a:lumOff val="80000"/>
                </a:schemeClr>
              </a:solidFill>
            </a:rPr>
            <a:t>社会</a:t>
          </a:r>
        </a:p>
      </dgm:t>
    </dgm:pt>
    <dgm:pt modelId="{1CF3E9D0-1577-4D7A-A0C6-787AF6D4D6EF}" type="parTrans" cxnId="{C6019B5F-3610-4870-8B38-C64063904286}">
      <dgm:prSet/>
      <dgm:spPr/>
      <dgm:t>
        <a:bodyPr/>
        <a:lstStyle/>
        <a:p>
          <a:endParaRPr lang="zh-CN" altLang="en-US">
            <a:solidFill>
              <a:schemeClr val="accent2">
                <a:lumMod val="20000"/>
                <a:lumOff val="80000"/>
              </a:schemeClr>
            </a:solidFill>
          </a:endParaRPr>
        </a:p>
      </dgm:t>
    </dgm:pt>
    <dgm:pt modelId="{931EE1DB-741C-41D4-A75B-7F7D3C738D29}" type="sibTrans" cxnId="{C6019B5F-3610-4870-8B38-C64063904286}">
      <dgm:prSet/>
      <dgm:spPr>
        <a:blipFill dpi="0" rotWithShape="1">
          <a:blip xmlns:r="http://schemas.openxmlformats.org/officeDocument/2006/relationships" r:embed="rId1">
            <a:alphaModFix amt="90000"/>
          </a:blip>
          <a:srcRect/>
          <a:tile tx="0" ty="0" sx="100000" sy="100000" flip="none" algn="tl"/>
        </a:blipFill>
        <a:ln>
          <a:noFill/>
        </a:ln>
      </dgm:spPr>
      <dgm:t>
        <a:bodyPr/>
        <a:lstStyle/>
        <a:p>
          <a:endParaRPr lang="zh-CN" altLang="en-US">
            <a:solidFill>
              <a:schemeClr val="accent2">
                <a:lumMod val="20000"/>
                <a:lumOff val="80000"/>
              </a:schemeClr>
            </a:solidFill>
          </a:endParaRPr>
        </a:p>
      </dgm:t>
    </dgm:pt>
    <dgm:pt modelId="{606A24DD-1E2D-4B07-8499-E3389C8F6ABF}">
      <dgm:prSet phldrT="[文本]"/>
      <dgm:spPr/>
      <dgm:t>
        <a:bodyPr/>
        <a:lstStyle/>
        <a:p>
          <a:r>
            <a:rPr lang="zh-CN" altLang="en-US" dirty="0">
              <a:solidFill>
                <a:schemeClr val="accent2">
                  <a:lumMod val="20000"/>
                  <a:lumOff val="80000"/>
                </a:schemeClr>
              </a:solidFill>
            </a:rPr>
            <a:t>道德</a:t>
          </a:r>
        </a:p>
      </dgm:t>
    </dgm:pt>
    <dgm:pt modelId="{7BDD8C38-F55F-48BD-A95D-CB4EEBEF47F0}" type="parTrans" cxnId="{0EACE7CE-5FC0-49BF-A6D0-3F1A3999B42D}">
      <dgm:prSet/>
      <dgm:spPr/>
      <dgm:t>
        <a:bodyPr/>
        <a:lstStyle/>
        <a:p>
          <a:endParaRPr lang="zh-CN" altLang="en-US">
            <a:solidFill>
              <a:schemeClr val="accent2">
                <a:lumMod val="20000"/>
                <a:lumOff val="80000"/>
              </a:schemeClr>
            </a:solidFill>
          </a:endParaRPr>
        </a:p>
      </dgm:t>
    </dgm:pt>
    <dgm:pt modelId="{1620C1D6-CFA3-4E1D-A404-07F359070379}" type="sibTrans" cxnId="{0EACE7CE-5FC0-49BF-A6D0-3F1A3999B42D}">
      <dgm:prSet/>
      <dgm:spPr>
        <a:blipFill dpi="0" rotWithShape="1">
          <a:blip xmlns:r="http://schemas.openxmlformats.org/officeDocument/2006/relationships" r:embed="rId1">
            <a:alphaModFix amt="90000"/>
          </a:blip>
          <a:srcRect/>
          <a:tile tx="0" ty="0" sx="100000" sy="100000" flip="none" algn="tl"/>
        </a:blipFill>
        <a:ln>
          <a:noFill/>
        </a:ln>
      </dgm:spPr>
      <dgm:t>
        <a:bodyPr/>
        <a:lstStyle/>
        <a:p>
          <a:endParaRPr lang="zh-CN" altLang="en-US">
            <a:solidFill>
              <a:schemeClr val="accent2">
                <a:lumMod val="20000"/>
                <a:lumOff val="80000"/>
              </a:schemeClr>
            </a:solidFill>
          </a:endParaRPr>
        </a:p>
      </dgm:t>
    </dgm:pt>
    <dgm:pt modelId="{D4BE56DC-6B5C-4FFC-AF21-38265C581F45}" type="pres">
      <dgm:prSet presAssocID="{00B6BC2E-8F00-4087-A9D1-318AEA794A72}" presName="cycle" presStyleCnt="0">
        <dgm:presLayoutVars>
          <dgm:dir/>
          <dgm:resizeHandles val="exact"/>
        </dgm:presLayoutVars>
      </dgm:prSet>
      <dgm:spPr/>
    </dgm:pt>
    <dgm:pt modelId="{FC90EE74-4BA1-4C45-A016-3448A85B2910}" type="pres">
      <dgm:prSet presAssocID="{695103FA-F753-464F-9B24-20920B01E2C5}" presName="dummy" presStyleCnt="0"/>
      <dgm:spPr/>
    </dgm:pt>
    <dgm:pt modelId="{8987B398-BCEF-41F9-8FD4-E4361F99B698}" type="pres">
      <dgm:prSet presAssocID="{695103FA-F753-464F-9B24-20920B01E2C5}" presName="node" presStyleLbl="revTx" presStyleIdx="0" presStyleCnt="3">
        <dgm:presLayoutVars>
          <dgm:bulletEnabled val="1"/>
        </dgm:presLayoutVars>
      </dgm:prSet>
      <dgm:spPr/>
    </dgm:pt>
    <dgm:pt modelId="{ACFBC2EF-6779-41D4-B073-64123EDC898B}" type="pres">
      <dgm:prSet presAssocID="{32512C32-D412-4FA5-882E-0D086F646255}" presName="sibTrans" presStyleLbl="node1" presStyleIdx="0" presStyleCnt="3"/>
      <dgm:spPr/>
    </dgm:pt>
    <dgm:pt modelId="{B6C52817-FEDC-489C-8573-5DC700F432AE}" type="pres">
      <dgm:prSet presAssocID="{FE169125-5A36-4DCC-A6E0-9540F4606DF4}" presName="dummy" presStyleCnt="0"/>
      <dgm:spPr/>
    </dgm:pt>
    <dgm:pt modelId="{C74BA831-08FC-410F-AA0C-0703DF862E1A}" type="pres">
      <dgm:prSet presAssocID="{FE169125-5A36-4DCC-A6E0-9540F4606DF4}" presName="node" presStyleLbl="revTx" presStyleIdx="1" presStyleCnt="3">
        <dgm:presLayoutVars>
          <dgm:bulletEnabled val="1"/>
        </dgm:presLayoutVars>
      </dgm:prSet>
      <dgm:spPr/>
    </dgm:pt>
    <dgm:pt modelId="{743891B1-7346-4BB1-9FF1-B50E639530D2}" type="pres">
      <dgm:prSet presAssocID="{931EE1DB-741C-41D4-A75B-7F7D3C738D29}" presName="sibTrans" presStyleLbl="node1" presStyleIdx="1" presStyleCnt="3"/>
      <dgm:spPr/>
    </dgm:pt>
    <dgm:pt modelId="{E834EB4A-55C5-4B80-9E53-9F8CA8D20984}" type="pres">
      <dgm:prSet presAssocID="{606A24DD-1E2D-4B07-8499-E3389C8F6ABF}" presName="dummy" presStyleCnt="0"/>
      <dgm:spPr/>
    </dgm:pt>
    <dgm:pt modelId="{42BC86D9-A9CE-4A07-A33D-10C57EBAEEF7}" type="pres">
      <dgm:prSet presAssocID="{606A24DD-1E2D-4B07-8499-E3389C8F6ABF}" presName="node" presStyleLbl="revTx" presStyleIdx="2" presStyleCnt="3">
        <dgm:presLayoutVars>
          <dgm:bulletEnabled val="1"/>
        </dgm:presLayoutVars>
      </dgm:prSet>
      <dgm:spPr/>
    </dgm:pt>
    <dgm:pt modelId="{BB4021D2-6AF1-472A-AC65-682D24C12780}" type="pres">
      <dgm:prSet presAssocID="{1620C1D6-CFA3-4E1D-A404-07F359070379}" presName="sibTrans" presStyleLbl="node1" presStyleIdx="2" presStyleCnt="3"/>
      <dgm:spPr/>
    </dgm:pt>
  </dgm:ptLst>
  <dgm:cxnLst>
    <dgm:cxn modelId="{7CAA4D18-C3D6-45E8-96B1-F2DDEC880819}" type="presOf" srcId="{32512C32-D412-4FA5-882E-0D086F646255}" destId="{ACFBC2EF-6779-41D4-B073-64123EDC898B}" srcOrd="0" destOrd="0" presId="urn:microsoft.com/office/officeart/2005/8/layout/cycle1"/>
    <dgm:cxn modelId="{A14FE82D-6C0D-4B4C-82F9-7F5A6DE803A4}" type="presOf" srcId="{00B6BC2E-8F00-4087-A9D1-318AEA794A72}" destId="{D4BE56DC-6B5C-4FFC-AF21-38265C581F45}" srcOrd="0" destOrd="0" presId="urn:microsoft.com/office/officeart/2005/8/layout/cycle1"/>
    <dgm:cxn modelId="{220C2E3C-A0F7-46C6-970F-522B58D71442}" type="presOf" srcId="{606A24DD-1E2D-4B07-8499-E3389C8F6ABF}" destId="{42BC86D9-A9CE-4A07-A33D-10C57EBAEEF7}" srcOrd="0" destOrd="0" presId="urn:microsoft.com/office/officeart/2005/8/layout/cycle1"/>
    <dgm:cxn modelId="{E7835740-7134-43DA-9561-7BE8AF41BF63}" type="presOf" srcId="{695103FA-F753-464F-9B24-20920B01E2C5}" destId="{8987B398-BCEF-41F9-8FD4-E4361F99B698}" srcOrd="0" destOrd="0" presId="urn:microsoft.com/office/officeart/2005/8/layout/cycle1"/>
    <dgm:cxn modelId="{C6019B5F-3610-4870-8B38-C64063904286}" srcId="{00B6BC2E-8F00-4087-A9D1-318AEA794A72}" destId="{FE169125-5A36-4DCC-A6E0-9540F4606DF4}" srcOrd="1" destOrd="0" parTransId="{1CF3E9D0-1577-4D7A-A0C6-787AF6D4D6EF}" sibTransId="{931EE1DB-741C-41D4-A75B-7F7D3C738D29}"/>
    <dgm:cxn modelId="{BCEFF058-6B2C-43C1-A11A-1D2731E92169}" type="presOf" srcId="{FE169125-5A36-4DCC-A6E0-9540F4606DF4}" destId="{C74BA831-08FC-410F-AA0C-0703DF862E1A}" srcOrd="0" destOrd="0" presId="urn:microsoft.com/office/officeart/2005/8/layout/cycle1"/>
    <dgm:cxn modelId="{76AF7B86-19EE-488A-975D-9FE6F629899B}" type="presOf" srcId="{1620C1D6-CFA3-4E1D-A404-07F359070379}" destId="{BB4021D2-6AF1-472A-AC65-682D24C12780}" srcOrd="0" destOrd="0" presId="urn:microsoft.com/office/officeart/2005/8/layout/cycle1"/>
    <dgm:cxn modelId="{0EACE7CE-5FC0-49BF-A6D0-3F1A3999B42D}" srcId="{00B6BC2E-8F00-4087-A9D1-318AEA794A72}" destId="{606A24DD-1E2D-4B07-8499-E3389C8F6ABF}" srcOrd="2" destOrd="0" parTransId="{7BDD8C38-F55F-48BD-A95D-CB4EEBEF47F0}" sibTransId="{1620C1D6-CFA3-4E1D-A404-07F359070379}"/>
    <dgm:cxn modelId="{B265B5E4-2879-464C-97CE-609B1399D2F4}" srcId="{00B6BC2E-8F00-4087-A9D1-318AEA794A72}" destId="{695103FA-F753-464F-9B24-20920B01E2C5}" srcOrd="0" destOrd="0" parTransId="{452B0D08-DFD0-492C-B9AC-40346FAB994E}" sibTransId="{32512C32-D412-4FA5-882E-0D086F646255}"/>
    <dgm:cxn modelId="{3922EEE8-B72B-43CE-A0A3-5919CC246F48}" type="presOf" srcId="{931EE1DB-741C-41D4-A75B-7F7D3C738D29}" destId="{743891B1-7346-4BB1-9FF1-B50E639530D2}" srcOrd="0" destOrd="0" presId="urn:microsoft.com/office/officeart/2005/8/layout/cycle1"/>
    <dgm:cxn modelId="{BF15DD68-2078-448F-8502-5AFB13D5588D}" type="presParOf" srcId="{D4BE56DC-6B5C-4FFC-AF21-38265C581F45}" destId="{FC90EE74-4BA1-4C45-A016-3448A85B2910}" srcOrd="0" destOrd="0" presId="urn:microsoft.com/office/officeart/2005/8/layout/cycle1"/>
    <dgm:cxn modelId="{2A00DDDB-C320-4AB6-9922-387CB41239ED}" type="presParOf" srcId="{D4BE56DC-6B5C-4FFC-AF21-38265C581F45}" destId="{8987B398-BCEF-41F9-8FD4-E4361F99B698}" srcOrd="1" destOrd="0" presId="urn:microsoft.com/office/officeart/2005/8/layout/cycle1"/>
    <dgm:cxn modelId="{1EE134CE-25DA-4BD5-AA91-9222C5A5C21E}" type="presParOf" srcId="{D4BE56DC-6B5C-4FFC-AF21-38265C581F45}" destId="{ACFBC2EF-6779-41D4-B073-64123EDC898B}" srcOrd="2" destOrd="0" presId="urn:microsoft.com/office/officeart/2005/8/layout/cycle1"/>
    <dgm:cxn modelId="{F2F6FC6C-4CA3-4DA1-A3B3-2335E024B2D1}" type="presParOf" srcId="{D4BE56DC-6B5C-4FFC-AF21-38265C581F45}" destId="{B6C52817-FEDC-489C-8573-5DC700F432AE}" srcOrd="3" destOrd="0" presId="urn:microsoft.com/office/officeart/2005/8/layout/cycle1"/>
    <dgm:cxn modelId="{860512B8-A759-4D36-9AFC-30979508D716}" type="presParOf" srcId="{D4BE56DC-6B5C-4FFC-AF21-38265C581F45}" destId="{C74BA831-08FC-410F-AA0C-0703DF862E1A}" srcOrd="4" destOrd="0" presId="urn:microsoft.com/office/officeart/2005/8/layout/cycle1"/>
    <dgm:cxn modelId="{55A9E3F5-1EAB-40B3-BD86-91D108FA1312}" type="presParOf" srcId="{D4BE56DC-6B5C-4FFC-AF21-38265C581F45}" destId="{743891B1-7346-4BB1-9FF1-B50E639530D2}" srcOrd="5" destOrd="0" presId="urn:microsoft.com/office/officeart/2005/8/layout/cycle1"/>
    <dgm:cxn modelId="{608C9A1B-82F6-4BFA-B9CF-7E2D8965E1C2}" type="presParOf" srcId="{D4BE56DC-6B5C-4FFC-AF21-38265C581F45}" destId="{E834EB4A-55C5-4B80-9E53-9F8CA8D20984}" srcOrd="6" destOrd="0" presId="urn:microsoft.com/office/officeart/2005/8/layout/cycle1"/>
    <dgm:cxn modelId="{7412A218-D4A5-4A1E-A112-9A5B0E3B0B9C}" type="presParOf" srcId="{D4BE56DC-6B5C-4FFC-AF21-38265C581F45}" destId="{42BC86D9-A9CE-4A07-A33D-10C57EBAEEF7}" srcOrd="7" destOrd="0" presId="urn:microsoft.com/office/officeart/2005/8/layout/cycle1"/>
    <dgm:cxn modelId="{B16E426F-BECC-41C1-A5A3-64E0D2CA027D}" type="presParOf" srcId="{D4BE56DC-6B5C-4FFC-AF21-38265C581F45}" destId="{BB4021D2-6AF1-472A-AC65-682D24C12780}" srcOrd="8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487FAAB-D9A4-499A-9408-19CABA53B4AA}" type="doc">
      <dgm:prSet loTypeId="urn:microsoft.com/office/officeart/2009/3/layout/DescendingProcess" loCatId="process" qsTypeId="urn:microsoft.com/office/officeart/2005/8/quickstyle/simple1#1" qsCatId="simple" csTypeId="urn:microsoft.com/office/officeart/2005/8/colors/accent1_2#2" csCatId="accent1" phldr="1"/>
      <dgm:spPr/>
      <dgm:t>
        <a:bodyPr/>
        <a:lstStyle/>
        <a:p>
          <a:endParaRPr lang="zh-CN" altLang="en-US"/>
        </a:p>
      </dgm:t>
    </dgm:pt>
    <dgm:pt modelId="{D4ED6C88-B6D4-4BDE-BC64-58ADBEE1F9F2}">
      <dgm:prSet phldrT="[文本]"/>
      <dgm:spPr/>
      <dgm:t>
        <a:bodyPr/>
        <a:lstStyle/>
        <a:p>
          <a:r>
            <a:rPr lang="en-US" altLang="zh-CN" b="0" i="0" dirty="0">
              <a:solidFill>
                <a:schemeClr val="accent4">
                  <a:lumMod val="20000"/>
                  <a:lumOff val="80000"/>
                </a:schemeClr>
              </a:solidFill>
            </a:rPr>
            <a:t>2024</a:t>
          </a:r>
          <a:r>
            <a:rPr lang="zh-CN" altLang="en-US" b="0" i="0" dirty="0">
              <a:solidFill>
                <a:schemeClr val="accent4">
                  <a:lumMod val="20000"/>
                  <a:lumOff val="80000"/>
                </a:schemeClr>
              </a:solidFill>
            </a:rPr>
            <a:t>年</a:t>
          </a:r>
          <a:r>
            <a:rPr lang="en-US" altLang="zh-CN" b="0" i="0" dirty="0">
              <a:solidFill>
                <a:schemeClr val="accent4">
                  <a:lumMod val="20000"/>
                  <a:lumOff val="80000"/>
                </a:schemeClr>
              </a:solidFill>
            </a:rPr>
            <a:t>3</a:t>
          </a:r>
          <a:r>
            <a:rPr lang="zh-CN" altLang="en-US" b="0" i="0" dirty="0">
              <a:solidFill>
                <a:schemeClr val="accent4">
                  <a:lumMod val="20000"/>
                  <a:lumOff val="80000"/>
                </a:schemeClr>
              </a:solidFill>
            </a:rPr>
            <a:t>月</a:t>
          </a:r>
          <a:r>
            <a:rPr lang="en-US" altLang="zh-CN" b="0" i="0" dirty="0">
              <a:solidFill>
                <a:schemeClr val="accent4">
                  <a:lumMod val="20000"/>
                  <a:lumOff val="80000"/>
                </a:schemeClr>
              </a:solidFill>
            </a:rPr>
            <a:t>4</a:t>
          </a:r>
          <a:r>
            <a:rPr lang="zh-CN" altLang="en-US" b="0" i="0" dirty="0">
              <a:solidFill>
                <a:schemeClr val="accent4">
                  <a:lumMod val="20000"/>
                  <a:lumOff val="80000"/>
                </a:schemeClr>
              </a:solidFill>
            </a:rPr>
            <a:t>日虐猫曝光</a:t>
          </a:r>
          <a:endParaRPr lang="zh-CN" altLang="en-US" dirty="0">
            <a:solidFill>
              <a:schemeClr val="accent4">
                <a:lumMod val="20000"/>
                <a:lumOff val="80000"/>
              </a:schemeClr>
            </a:solidFill>
          </a:endParaRPr>
        </a:p>
      </dgm:t>
    </dgm:pt>
    <dgm:pt modelId="{BFB5E683-12C9-4DD0-ACD6-D19CC7A86903}" type="parTrans" cxnId="{66EDA831-A284-41B9-B87D-83359C24777B}">
      <dgm:prSet/>
      <dgm:spPr/>
      <dgm:t>
        <a:bodyPr/>
        <a:lstStyle/>
        <a:p>
          <a:endParaRPr lang="zh-CN" altLang="en-US">
            <a:solidFill>
              <a:schemeClr val="accent4">
                <a:lumMod val="20000"/>
                <a:lumOff val="80000"/>
              </a:schemeClr>
            </a:solidFill>
          </a:endParaRPr>
        </a:p>
      </dgm:t>
    </dgm:pt>
    <dgm:pt modelId="{F2B345FF-9582-439F-970E-CE449708442C}" type="sibTrans" cxnId="{66EDA831-A284-41B9-B87D-83359C24777B}">
      <dgm:prSet/>
      <dgm:spPr/>
      <dgm:t>
        <a:bodyPr/>
        <a:lstStyle/>
        <a:p>
          <a:endParaRPr lang="zh-CN" altLang="en-US">
            <a:solidFill>
              <a:schemeClr val="accent4">
                <a:lumMod val="20000"/>
                <a:lumOff val="80000"/>
              </a:schemeClr>
            </a:solidFill>
          </a:endParaRPr>
        </a:p>
      </dgm:t>
    </dgm:pt>
    <dgm:pt modelId="{E2C85F45-7B5A-4DE0-A1FF-523BC8098E45}">
      <dgm:prSet phldrT="[文本]"/>
      <dgm:spPr/>
      <dgm:t>
        <a:bodyPr/>
        <a:lstStyle/>
        <a:p>
          <a:r>
            <a:rPr lang="en-US" altLang="zh-CN" b="0" i="0" dirty="0">
              <a:solidFill>
                <a:schemeClr val="accent4">
                  <a:lumMod val="20000"/>
                  <a:lumOff val="80000"/>
                </a:schemeClr>
              </a:solidFill>
            </a:rPr>
            <a:t>3</a:t>
          </a:r>
          <a:r>
            <a:rPr lang="zh-CN" altLang="en-US" b="0" i="0" dirty="0">
              <a:solidFill>
                <a:schemeClr val="accent4">
                  <a:lumMod val="20000"/>
                  <a:lumOff val="80000"/>
                </a:schemeClr>
              </a:solidFill>
            </a:rPr>
            <a:t>月</a:t>
          </a:r>
          <a:r>
            <a:rPr lang="en-US" altLang="zh-CN" b="0" i="0" dirty="0">
              <a:solidFill>
                <a:schemeClr val="accent4">
                  <a:lumMod val="20000"/>
                  <a:lumOff val="80000"/>
                </a:schemeClr>
              </a:solidFill>
            </a:rPr>
            <a:t>24</a:t>
          </a:r>
          <a:r>
            <a:rPr lang="zh-CN" altLang="en-US" b="0" i="0" dirty="0">
              <a:solidFill>
                <a:schemeClr val="accent4">
                  <a:lumMod val="20000"/>
                  <a:lumOff val="80000"/>
                </a:schemeClr>
              </a:solidFill>
            </a:rPr>
            <a:t>日南大复试</a:t>
          </a:r>
          <a:endParaRPr lang="zh-CN" altLang="en-US" dirty="0">
            <a:solidFill>
              <a:schemeClr val="accent4">
                <a:lumMod val="20000"/>
                <a:lumOff val="80000"/>
              </a:schemeClr>
            </a:solidFill>
          </a:endParaRPr>
        </a:p>
      </dgm:t>
    </dgm:pt>
    <dgm:pt modelId="{D5BD6FF3-A859-442B-BE76-3DEC59AAF885}" type="parTrans" cxnId="{CE77B849-850C-4711-A7DF-5E671D859992}">
      <dgm:prSet/>
      <dgm:spPr/>
      <dgm:t>
        <a:bodyPr/>
        <a:lstStyle/>
        <a:p>
          <a:endParaRPr lang="zh-CN" altLang="en-US">
            <a:solidFill>
              <a:schemeClr val="accent4">
                <a:lumMod val="20000"/>
                <a:lumOff val="80000"/>
              </a:schemeClr>
            </a:solidFill>
          </a:endParaRPr>
        </a:p>
      </dgm:t>
    </dgm:pt>
    <dgm:pt modelId="{93DB320B-48DB-4B01-B9A8-C57B4D1CE834}" type="sibTrans" cxnId="{CE77B849-850C-4711-A7DF-5E671D859992}">
      <dgm:prSet/>
      <dgm:spPr/>
      <dgm:t>
        <a:bodyPr/>
        <a:lstStyle/>
        <a:p>
          <a:endParaRPr lang="zh-CN" altLang="en-US">
            <a:solidFill>
              <a:schemeClr val="accent4">
                <a:lumMod val="20000"/>
                <a:lumOff val="80000"/>
              </a:schemeClr>
            </a:solidFill>
          </a:endParaRPr>
        </a:p>
      </dgm:t>
    </dgm:pt>
    <dgm:pt modelId="{5BB7FCF7-C44C-456E-82DA-9C591336C1D6}">
      <dgm:prSet phldrT="[文本]"/>
      <dgm:spPr/>
      <dgm:t>
        <a:bodyPr/>
        <a:lstStyle/>
        <a:p>
          <a:r>
            <a:rPr lang="en-US" altLang="zh-CN" b="0" i="0" dirty="0">
              <a:solidFill>
                <a:schemeClr val="accent4">
                  <a:lumMod val="20000"/>
                  <a:lumOff val="80000"/>
                </a:schemeClr>
              </a:solidFill>
            </a:rPr>
            <a:t>4</a:t>
          </a:r>
          <a:r>
            <a:rPr lang="zh-CN" altLang="en-US" b="0" i="0" dirty="0">
              <a:solidFill>
                <a:schemeClr val="accent4">
                  <a:lumMod val="20000"/>
                  <a:lumOff val="80000"/>
                </a:schemeClr>
              </a:solidFill>
            </a:rPr>
            <a:t>月</a:t>
          </a:r>
          <a:r>
            <a:rPr lang="en-US" altLang="zh-CN" b="0" i="0" dirty="0">
              <a:solidFill>
                <a:schemeClr val="accent4">
                  <a:lumMod val="20000"/>
                  <a:lumOff val="80000"/>
                </a:schemeClr>
              </a:solidFill>
            </a:rPr>
            <a:t>2</a:t>
          </a:r>
          <a:r>
            <a:rPr lang="zh-CN" altLang="en-US" b="0" i="0" dirty="0">
              <a:solidFill>
                <a:schemeClr val="accent4">
                  <a:lumMod val="20000"/>
                  <a:lumOff val="80000"/>
                </a:schemeClr>
              </a:solidFill>
            </a:rPr>
            <a:t>日南大淘汰</a:t>
          </a:r>
          <a:endParaRPr lang="zh-CN" altLang="en-US" dirty="0">
            <a:solidFill>
              <a:schemeClr val="accent4">
                <a:lumMod val="20000"/>
                <a:lumOff val="80000"/>
              </a:schemeClr>
            </a:solidFill>
          </a:endParaRPr>
        </a:p>
      </dgm:t>
    </dgm:pt>
    <dgm:pt modelId="{D77FCC1E-5EE3-4DB2-B4CA-254060F627FB}" type="parTrans" cxnId="{8D5A42DB-D7A3-4333-BE1C-6C4631189DB6}">
      <dgm:prSet/>
      <dgm:spPr/>
      <dgm:t>
        <a:bodyPr/>
        <a:lstStyle/>
        <a:p>
          <a:endParaRPr lang="zh-CN" altLang="en-US">
            <a:solidFill>
              <a:schemeClr val="accent4">
                <a:lumMod val="20000"/>
                <a:lumOff val="80000"/>
              </a:schemeClr>
            </a:solidFill>
          </a:endParaRPr>
        </a:p>
      </dgm:t>
    </dgm:pt>
    <dgm:pt modelId="{2353BA50-7A53-4A7F-9BEC-82012A08DD6B}" type="sibTrans" cxnId="{8D5A42DB-D7A3-4333-BE1C-6C4631189DB6}">
      <dgm:prSet/>
      <dgm:spPr/>
      <dgm:t>
        <a:bodyPr/>
        <a:lstStyle/>
        <a:p>
          <a:endParaRPr lang="zh-CN" altLang="en-US">
            <a:solidFill>
              <a:schemeClr val="accent4">
                <a:lumMod val="20000"/>
                <a:lumOff val="80000"/>
              </a:schemeClr>
            </a:solidFill>
          </a:endParaRPr>
        </a:p>
      </dgm:t>
    </dgm:pt>
    <dgm:pt modelId="{781D8F5A-4629-4A70-9025-C1AD68223C6F}">
      <dgm:prSet phldrT="[文本]"/>
      <dgm:spPr/>
      <dgm:t>
        <a:bodyPr/>
        <a:lstStyle/>
        <a:p>
          <a:r>
            <a:rPr lang="en-US" altLang="zh-CN" b="0" i="0" dirty="0">
              <a:solidFill>
                <a:schemeClr val="accent4">
                  <a:lumMod val="20000"/>
                  <a:lumOff val="80000"/>
                </a:schemeClr>
              </a:solidFill>
            </a:rPr>
            <a:t>4</a:t>
          </a:r>
          <a:r>
            <a:rPr lang="zh-CN" altLang="en-US" b="0" i="0" dirty="0">
              <a:solidFill>
                <a:schemeClr val="accent4">
                  <a:lumMod val="20000"/>
                  <a:lumOff val="80000"/>
                </a:schemeClr>
              </a:solidFill>
            </a:rPr>
            <a:t>月</a:t>
          </a:r>
          <a:r>
            <a:rPr lang="en-US" altLang="zh-CN" b="0" i="0" dirty="0">
              <a:solidFill>
                <a:schemeClr val="accent4">
                  <a:lumMod val="20000"/>
                  <a:lumOff val="80000"/>
                </a:schemeClr>
              </a:solidFill>
            </a:rPr>
            <a:t>8</a:t>
          </a:r>
          <a:r>
            <a:rPr lang="zh-CN" altLang="en-US" b="0" i="0" dirty="0">
              <a:solidFill>
                <a:schemeClr val="accent4">
                  <a:lumMod val="20000"/>
                  <a:lumOff val="80000"/>
                </a:schemeClr>
              </a:solidFill>
            </a:rPr>
            <a:t>日兰大淘汰</a:t>
          </a:r>
          <a:endParaRPr lang="zh-CN" altLang="en-US" dirty="0">
            <a:solidFill>
              <a:schemeClr val="accent4">
                <a:lumMod val="20000"/>
                <a:lumOff val="80000"/>
              </a:schemeClr>
            </a:solidFill>
          </a:endParaRPr>
        </a:p>
      </dgm:t>
    </dgm:pt>
    <dgm:pt modelId="{F1E2FE2E-ADCF-4DAB-91DB-9A22FBD74F60}" type="parTrans" cxnId="{EE4224C2-C14F-4B46-B328-F60414984A32}">
      <dgm:prSet/>
      <dgm:spPr/>
      <dgm:t>
        <a:bodyPr/>
        <a:lstStyle/>
        <a:p>
          <a:endParaRPr lang="zh-CN" altLang="en-US">
            <a:solidFill>
              <a:schemeClr val="accent4">
                <a:lumMod val="20000"/>
                <a:lumOff val="80000"/>
              </a:schemeClr>
            </a:solidFill>
          </a:endParaRPr>
        </a:p>
      </dgm:t>
    </dgm:pt>
    <dgm:pt modelId="{C253322C-AC96-4FD0-BC91-BDA6E8A5544C}" type="sibTrans" cxnId="{EE4224C2-C14F-4B46-B328-F60414984A32}">
      <dgm:prSet/>
      <dgm:spPr/>
      <dgm:t>
        <a:bodyPr/>
        <a:lstStyle/>
        <a:p>
          <a:endParaRPr lang="zh-CN" altLang="en-US">
            <a:solidFill>
              <a:schemeClr val="accent4">
                <a:lumMod val="20000"/>
                <a:lumOff val="80000"/>
              </a:schemeClr>
            </a:solidFill>
          </a:endParaRPr>
        </a:p>
      </dgm:t>
    </dgm:pt>
    <dgm:pt modelId="{C87C07A2-21AC-4BC8-AA8B-1878F572587F}" type="pres">
      <dgm:prSet presAssocID="{2487FAAB-D9A4-499A-9408-19CABA53B4AA}" presName="Name0" presStyleCnt="0">
        <dgm:presLayoutVars>
          <dgm:chMax val="7"/>
          <dgm:chPref val="5"/>
        </dgm:presLayoutVars>
      </dgm:prSet>
      <dgm:spPr/>
    </dgm:pt>
    <dgm:pt modelId="{A7866FD2-5E6F-4543-B9CC-ECF99B550234}" type="pres">
      <dgm:prSet presAssocID="{2487FAAB-D9A4-499A-9408-19CABA53B4AA}" presName="arrowNode" presStyleLbl="node1" presStyleIdx="0" presStyleCnt="1"/>
      <dgm:spPr>
        <a:noFill/>
      </dgm:spPr>
    </dgm:pt>
    <dgm:pt modelId="{63708CF2-2B36-41B2-BC1A-088AD04B4644}" type="pres">
      <dgm:prSet presAssocID="{D4ED6C88-B6D4-4BDE-BC64-58ADBEE1F9F2}" presName="txNode1" presStyleLbl="revTx" presStyleIdx="0" presStyleCnt="4" custScaleX="173446">
        <dgm:presLayoutVars>
          <dgm:bulletEnabled val="1"/>
        </dgm:presLayoutVars>
      </dgm:prSet>
      <dgm:spPr/>
    </dgm:pt>
    <dgm:pt modelId="{A07EE99B-AF0D-4476-8F19-A9546F890236}" type="pres">
      <dgm:prSet presAssocID="{E2C85F45-7B5A-4DE0-A1FF-523BC8098E45}" presName="txNode2" presStyleLbl="revTx" presStyleIdx="1" presStyleCnt="4">
        <dgm:presLayoutVars>
          <dgm:bulletEnabled val="1"/>
        </dgm:presLayoutVars>
      </dgm:prSet>
      <dgm:spPr/>
    </dgm:pt>
    <dgm:pt modelId="{E7B23CB3-128B-43FF-847F-345B9106CA0B}" type="pres">
      <dgm:prSet presAssocID="{93DB320B-48DB-4B01-B9A8-C57B4D1CE834}" presName="dotNode2" presStyleCnt="0"/>
      <dgm:spPr/>
    </dgm:pt>
    <dgm:pt modelId="{2C2F1890-DBB4-478B-85CB-97FE256355B9}" type="pres">
      <dgm:prSet presAssocID="{93DB320B-48DB-4B01-B9A8-C57B4D1CE834}" presName="dotRepeatNode" presStyleLbl="fgShp" presStyleIdx="0" presStyleCnt="2"/>
      <dgm:spPr/>
    </dgm:pt>
    <dgm:pt modelId="{45D5BC73-5A3A-4C9D-9756-CD21B25618AC}" type="pres">
      <dgm:prSet presAssocID="{5BB7FCF7-C44C-456E-82DA-9C591336C1D6}" presName="txNode3" presStyleLbl="revTx" presStyleIdx="2" presStyleCnt="4" custLinFactNeighborX="5353" custLinFactNeighborY="42676">
        <dgm:presLayoutVars>
          <dgm:bulletEnabled val="1"/>
        </dgm:presLayoutVars>
      </dgm:prSet>
      <dgm:spPr/>
    </dgm:pt>
    <dgm:pt modelId="{6A4000F7-C3CF-4BFB-97AB-06DBAF66FB0A}" type="pres">
      <dgm:prSet presAssocID="{2353BA50-7A53-4A7F-9BEC-82012A08DD6B}" presName="dotNode3" presStyleCnt="0"/>
      <dgm:spPr/>
    </dgm:pt>
    <dgm:pt modelId="{A5EB931A-8D54-4715-AD5F-C2A82652E9E9}" type="pres">
      <dgm:prSet presAssocID="{2353BA50-7A53-4A7F-9BEC-82012A08DD6B}" presName="dotRepeatNode" presStyleLbl="fgShp" presStyleIdx="1" presStyleCnt="2"/>
      <dgm:spPr/>
    </dgm:pt>
    <dgm:pt modelId="{80BDFC1F-D8B7-4BB0-9095-77C8BBAE9152}" type="pres">
      <dgm:prSet presAssocID="{781D8F5A-4629-4A70-9025-C1AD68223C6F}" presName="txNode4" presStyleLbl="revTx" presStyleIdx="3" presStyleCnt="4" custLinFactNeighborX="955" custLinFactNeighborY="15355">
        <dgm:presLayoutVars>
          <dgm:bulletEnabled val="1"/>
        </dgm:presLayoutVars>
      </dgm:prSet>
      <dgm:spPr/>
    </dgm:pt>
  </dgm:ptLst>
  <dgm:cxnLst>
    <dgm:cxn modelId="{F0F70518-2C8D-464E-9856-007DC41BE2BC}" type="presOf" srcId="{781D8F5A-4629-4A70-9025-C1AD68223C6F}" destId="{80BDFC1F-D8B7-4BB0-9095-77C8BBAE9152}" srcOrd="0" destOrd="0" presId="urn:microsoft.com/office/officeart/2009/3/layout/DescendingProcess"/>
    <dgm:cxn modelId="{66EDA831-A284-41B9-B87D-83359C24777B}" srcId="{2487FAAB-D9A4-499A-9408-19CABA53B4AA}" destId="{D4ED6C88-B6D4-4BDE-BC64-58ADBEE1F9F2}" srcOrd="0" destOrd="0" parTransId="{BFB5E683-12C9-4DD0-ACD6-D19CC7A86903}" sibTransId="{F2B345FF-9582-439F-970E-CE449708442C}"/>
    <dgm:cxn modelId="{CE77B849-850C-4711-A7DF-5E671D859992}" srcId="{2487FAAB-D9A4-499A-9408-19CABA53B4AA}" destId="{E2C85F45-7B5A-4DE0-A1FF-523BC8098E45}" srcOrd="1" destOrd="0" parTransId="{D5BD6FF3-A859-442B-BE76-3DEC59AAF885}" sibTransId="{93DB320B-48DB-4B01-B9A8-C57B4D1CE834}"/>
    <dgm:cxn modelId="{C12F614F-38A5-4A95-9068-57884D07DA3B}" type="presOf" srcId="{2487FAAB-D9A4-499A-9408-19CABA53B4AA}" destId="{C87C07A2-21AC-4BC8-AA8B-1878F572587F}" srcOrd="0" destOrd="0" presId="urn:microsoft.com/office/officeart/2009/3/layout/DescendingProcess"/>
    <dgm:cxn modelId="{D36CAF74-B839-4DB8-9E70-7CA6C56B8607}" type="presOf" srcId="{93DB320B-48DB-4B01-B9A8-C57B4D1CE834}" destId="{2C2F1890-DBB4-478B-85CB-97FE256355B9}" srcOrd="0" destOrd="0" presId="urn:microsoft.com/office/officeart/2009/3/layout/DescendingProcess"/>
    <dgm:cxn modelId="{BBF34A75-4FEF-44B4-9394-1EACA3B14BE9}" type="presOf" srcId="{E2C85F45-7B5A-4DE0-A1FF-523BC8098E45}" destId="{A07EE99B-AF0D-4476-8F19-A9546F890236}" srcOrd="0" destOrd="0" presId="urn:microsoft.com/office/officeart/2009/3/layout/DescendingProcess"/>
    <dgm:cxn modelId="{2B497C8C-0308-4934-9B14-C9B9FBE05658}" type="presOf" srcId="{2353BA50-7A53-4A7F-9BEC-82012A08DD6B}" destId="{A5EB931A-8D54-4715-AD5F-C2A82652E9E9}" srcOrd="0" destOrd="0" presId="urn:microsoft.com/office/officeart/2009/3/layout/DescendingProcess"/>
    <dgm:cxn modelId="{2E6A75A6-AFD7-4F4D-852B-C17BDB7A141C}" type="presOf" srcId="{5BB7FCF7-C44C-456E-82DA-9C591336C1D6}" destId="{45D5BC73-5A3A-4C9D-9756-CD21B25618AC}" srcOrd="0" destOrd="0" presId="urn:microsoft.com/office/officeart/2009/3/layout/DescendingProcess"/>
    <dgm:cxn modelId="{EE4224C2-C14F-4B46-B328-F60414984A32}" srcId="{2487FAAB-D9A4-499A-9408-19CABA53B4AA}" destId="{781D8F5A-4629-4A70-9025-C1AD68223C6F}" srcOrd="3" destOrd="0" parTransId="{F1E2FE2E-ADCF-4DAB-91DB-9A22FBD74F60}" sibTransId="{C253322C-AC96-4FD0-BC91-BDA6E8A5544C}"/>
    <dgm:cxn modelId="{D34080D1-C076-49A7-AC61-E8BBB0E137E9}" type="presOf" srcId="{D4ED6C88-B6D4-4BDE-BC64-58ADBEE1F9F2}" destId="{63708CF2-2B36-41B2-BC1A-088AD04B4644}" srcOrd="0" destOrd="0" presId="urn:microsoft.com/office/officeart/2009/3/layout/DescendingProcess"/>
    <dgm:cxn modelId="{8D5A42DB-D7A3-4333-BE1C-6C4631189DB6}" srcId="{2487FAAB-D9A4-499A-9408-19CABA53B4AA}" destId="{5BB7FCF7-C44C-456E-82DA-9C591336C1D6}" srcOrd="2" destOrd="0" parTransId="{D77FCC1E-5EE3-4DB2-B4CA-254060F627FB}" sibTransId="{2353BA50-7A53-4A7F-9BEC-82012A08DD6B}"/>
    <dgm:cxn modelId="{F96F3255-813F-4D28-9D72-A9A09E74F9CC}" type="presParOf" srcId="{C87C07A2-21AC-4BC8-AA8B-1878F572587F}" destId="{A7866FD2-5E6F-4543-B9CC-ECF99B550234}" srcOrd="0" destOrd="0" presId="urn:microsoft.com/office/officeart/2009/3/layout/DescendingProcess"/>
    <dgm:cxn modelId="{655E3195-9811-4B6A-BEDE-CBC6728FE976}" type="presParOf" srcId="{C87C07A2-21AC-4BC8-AA8B-1878F572587F}" destId="{63708CF2-2B36-41B2-BC1A-088AD04B4644}" srcOrd="1" destOrd="0" presId="urn:microsoft.com/office/officeart/2009/3/layout/DescendingProcess"/>
    <dgm:cxn modelId="{F7449748-1FBC-477E-9C4A-3F4BDF326F3D}" type="presParOf" srcId="{C87C07A2-21AC-4BC8-AA8B-1878F572587F}" destId="{A07EE99B-AF0D-4476-8F19-A9546F890236}" srcOrd="2" destOrd="0" presId="urn:microsoft.com/office/officeart/2009/3/layout/DescendingProcess"/>
    <dgm:cxn modelId="{D9F0DDB7-F700-458E-B58A-D6341F065DA8}" type="presParOf" srcId="{C87C07A2-21AC-4BC8-AA8B-1878F572587F}" destId="{E7B23CB3-128B-43FF-847F-345B9106CA0B}" srcOrd="3" destOrd="0" presId="urn:microsoft.com/office/officeart/2009/3/layout/DescendingProcess"/>
    <dgm:cxn modelId="{B39C3138-8690-4528-9A08-CE24352A3D54}" type="presParOf" srcId="{E7B23CB3-128B-43FF-847F-345B9106CA0B}" destId="{2C2F1890-DBB4-478B-85CB-97FE256355B9}" srcOrd="0" destOrd="0" presId="urn:microsoft.com/office/officeart/2009/3/layout/DescendingProcess"/>
    <dgm:cxn modelId="{865DE7BC-147C-4D90-8959-FF3A3C295BD8}" type="presParOf" srcId="{C87C07A2-21AC-4BC8-AA8B-1878F572587F}" destId="{45D5BC73-5A3A-4C9D-9756-CD21B25618AC}" srcOrd="4" destOrd="0" presId="urn:microsoft.com/office/officeart/2009/3/layout/DescendingProcess"/>
    <dgm:cxn modelId="{48B6A733-8893-4781-BA62-F1DE7BE0E743}" type="presParOf" srcId="{C87C07A2-21AC-4BC8-AA8B-1878F572587F}" destId="{6A4000F7-C3CF-4BFB-97AB-06DBAF66FB0A}" srcOrd="5" destOrd="0" presId="urn:microsoft.com/office/officeart/2009/3/layout/DescendingProcess"/>
    <dgm:cxn modelId="{C7374E04-90EF-4C0F-A2A3-BDE64EB15E90}" type="presParOf" srcId="{6A4000F7-C3CF-4BFB-97AB-06DBAF66FB0A}" destId="{A5EB931A-8D54-4715-AD5F-C2A82652E9E9}" srcOrd="0" destOrd="0" presId="urn:microsoft.com/office/officeart/2009/3/layout/DescendingProcess"/>
    <dgm:cxn modelId="{5D566408-5AC1-4A07-8150-3932C16F163B}" type="presParOf" srcId="{C87C07A2-21AC-4BC8-AA8B-1878F572587F}" destId="{80BDFC1F-D8B7-4BB0-9095-77C8BBAE9152}" srcOrd="6" destOrd="0" presId="urn:microsoft.com/office/officeart/2009/3/layout/DescendingProcess"/>
  </dgm:cxnLst>
  <dgm:bg>
    <a:noFill/>
  </dgm:bg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87B398-BCEF-41F9-8FD4-E4361F99B698}">
      <dsp:nvSpPr>
        <dsp:cNvPr id="0" name=""/>
        <dsp:cNvSpPr/>
      </dsp:nvSpPr>
      <dsp:spPr bwMode="white">
        <a:xfrm>
          <a:off x="3016858" y="267717"/>
          <a:ext cx="1362745" cy="1362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  <a:sp3d extrusionH="28000" prstMaterial="matte"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4800" kern="1200" dirty="0">
              <a:solidFill>
                <a:schemeClr val="accent2">
                  <a:lumMod val="20000"/>
                  <a:lumOff val="80000"/>
                </a:schemeClr>
              </a:solidFill>
            </a:rPr>
            <a:t>学术</a:t>
          </a:r>
        </a:p>
      </dsp:txBody>
      <dsp:txXfrm>
        <a:off x="3016858" y="267717"/>
        <a:ext cx="1362745" cy="1362745"/>
      </dsp:txXfrm>
    </dsp:sp>
    <dsp:sp modelId="{ACFBC2EF-6779-41D4-B073-64123EDC898B}">
      <dsp:nvSpPr>
        <dsp:cNvPr id="0" name=""/>
        <dsp:cNvSpPr/>
      </dsp:nvSpPr>
      <dsp:spPr>
        <a:xfrm>
          <a:off x="938624" y="-1086"/>
          <a:ext cx="3224948" cy="3224948"/>
        </a:xfrm>
        <a:prstGeom prst="circularArrow">
          <a:avLst>
            <a:gd name="adj1" fmla="val 8240"/>
            <a:gd name="adj2" fmla="val 575395"/>
            <a:gd name="adj3" fmla="val 2967159"/>
            <a:gd name="adj4" fmla="val 49509"/>
            <a:gd name="adj5" fmla="val 9613"/>
          </a:avLst>
        </a:prstGeom>
        <a:blipFill dpi="0" rotWithShape="1">
          <a:blip xmlns:r="http://schemas.openxmlformats.org/officeDocument/2006/relationships" r:embed="rId1">
            <a:alphaModFix amt="90000"/>
          </a:blip>
          <a:srcRect/>
          <a:tile tx="0" ty="0" sx="100000" sy="100000" flip="none" algn="tl"/>
        </a:blipFill>
        <a:ln>
          <a:noFill/>
        </a:ln>
        <a:effectLst/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74BA831-08FC-410F-AA0C-0703DF862E1A}">
      <dsp:nvSpPr>
        <dsp:cNvPr id="0" name=""/>
        <dsp:cNvSpPr/>
      </dsp:nvSpPr>
      <dsp:spPr bwMode="white">
        <a:xfrm>
          <a:off x="1869726" y="2254608"/>
          <a:ext cx="1362745" cy="1362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  <a:sp3d extrusionH="28000" prstMaterial="matte"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4800" kern="1200" dirty="0">
              <a:solidFill>
                <a:schemeClr val="accent2">
                  <a:lumMod val="20000"/>
                  <a:lumOff val="80000"/>
                </a:schemeClr>
              </a:solidFill>
            </a:rPr>
            <a:t>社会</a:t>
          </a:r>
        </a:p>
      </dsp:txBody>
      <dsp:txXfrm>
        <a:off x="1869726" y="2254608"/>
        <a:ext cx="1362745" cy="1362745"/>
      </dsp:txXfrm>
    </dsp:sp>
    <dsp:sp modelId="{743891B1-7346-4BB1-9FF1-B50E639530D2}">
      <dsp:nvSpPr>
        <dsp:cNvPr id="0" name=""/>
        <dsp:cNvSpPr/>
      </dsp:nvSpPr>
      <dsp:spPr>
        <a:xfrm>
          <a:off x="938624" y="-1086"/>
          <a:ext cx="3224948" cy="3224948"/>
        </a:xfrm>
        <a:prstGeom prst="circularArrow">
          <a:avLst>
            <a:gd name="adj1" fmla="val 8240"/>
            <a:gd name="adj2" fmla="val 575395"/>
            <a:gd name="adj3" fmla="val 10175096"/>
            <a:gd name="adj4" fmla="val 7257446"/>
            <a:gd name="adj5" fmla="val 9613"/>
          </a:avLst>
        </a:prstGeom>
        <a:blipFill dpi="0" rotWithShape="1">
          <a:blip xmlns:r="http://schemas.openxmlformats.org/officeDocument/2006/relationships" r:embed="rId1">
            <a:alphaModFix amt="90000"/>
          </a:blip>
          <a:srcRect/>
          <a:tile tx="0" ty="0" sx="100000" sy="100000" flip="none" algn="tl"/>
        </a:blipFill>
        <a:ln>
          <a:noFill/>
        </a:ln>
        <a:effectLst/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2BC86D9-A9CE-4A07-A33D-10C57EBAEEF7}">
      <dsp:nvSpPr>
        <dsp:cNvPr id="0" name=""/>
        <dsp:cNvSpPr/>
      </dsp:nvSpPr>
      <dsp:spPr bwMode="white">
        <a:xfrm>
          <a:off x="722594" y="267717"/>
          <a:ext cx="1362745" cy="1362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  <a:sp3d extrusionH="28000" prstMaterial="matte"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4800" kern="1200" dirty="0">
              <a:solidFill>
                <a:schemeClr val="accent2">
                  <a:lumMod val="20000"/>
                  <a:lumOff val="80000"/>
                </a:schemeClr>
              </a:solidFill>
            </a:rPr>
            <a:t>道德</a:t>
          </a:r>
        </a:p>
      </dsp:txBody>
      <dsp:txXfrm>
        <a:off x="722594" y="267717"/>
        <a:ext cx="1362745" cy="1362745"/>
      </dsp:txXfrm>
    </dsp:sp>
    <dsp:sp modelId="{BB4021D2-6AF1-472A-AC65-682D24C12780}">
      <dsp:nvSpPr>
        <dsp:cNvPr id="0" name=""/>
        <dsp:cNvSpPr/>
      </dsp:nvSpPr>
      <dsp:spPr>
        <a:xfrm>
          <a:off x="938624" y="-1086"/>
          <a:ext cx="3224948" cy="3224948"/>
        </a:xfrm>
        <a:prstGeom prst="circularArrow">
          <a:avLst>
            <a:gd name="adj1" fmla="val 8240"/>
            <a:gd name="adj2" fmla="val 575395"/>
            <a:gd name="adj3" fmla="val 16859807"/>
            <a:gd name="adj4" fmla="val 14964798"/>
            <a:gd name="adj5" fmla="val 9613"/>
          </a:avLst>
        </a:prstGeom>
        <a:blipFill dpi="0" rotWithShape="1">
          <a:blip xmlns:r="http://schemas.openxmlformats.org/officeDocument/2006/relationships" r:embed="rId1">
            <a:alphaModFix amt="90000"/>
          </a:blip>
          <a:srcRect/>
          <a:tile tx="0" ty="0" sx="100000" sy="100000" flip="none" algn="tl"/>
        </a:blipFill>
        <a:ln>
          <a:noFill/>
        </a:ln>
        <a:effectLst/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866FD2-5E6F-4543-B9CC-ECF99B550234}">
      <dsp:nvSpPr>
        <dsp:cNvPr id="0" name=""/>
        <dsp:cNvSpPr/>
      </dsp:nvSpPr>
      <dsp:spPr>
        <a:xfrm rot="4396374">
          <a:off x="1727950" y="873343"/>
          <a:ext cx="3788700" cy="2642146"/>
        </a:xfrm>
        <a:prstGeom prst="swooshArrow">
          <a:avLst>
            <a:gd name="adj1" fmla="val 16310"/>
            <a:gd name="adj2" fmla="val 31370"/>
          </a:avLst>
        </a:prstGeom>
        <a:noFill/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2F1890-DBB4-478B-85CB-97FE256355B9}">
      <dsp:nvSpPr>
        <dsp:cNvPr id="0" name=""/>
        <dsp:cNvSpPr/>
      </dsp:nvSpPr>
      <dsp:spPr>
        <a:xfrm>
          <a:off x="3308938" y="1335960"/>
          <a:ext cx="95676" cy="95676"/>
        </a:xfrm>
        <a:prstGeom prst="ellipse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EB931A-8D54-4715-AD5F-C2A82652E9E9}">
      <dsp:nvSpPr>
        <dsp:cNvPr id="0" name=""/>
        <dsp:cNvSpPr/>
      </dsp:nvSpPr>
      <dsp:spPr>
        <a:xfrm>
          <a:off x="4142202" y="2148333"/>
          <a:ext cx="95676" cy="95676"/>
        </a:xfrm>
        <a:prstGeom prst="ellipse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708CF2-2B36-41B2-BC1A-088AD04B4644}">
      <dsp:nvSpPr>
        <dsp:cNvPr id="0" name=""/>
        <dsp:cNvSpPr/>
      </dsp:nvSpPr>
      <dsp:spPr bwMode="white">
        <a:xfrm>
          <a:off x="818001" y="0"/>
          <a:ext cx="3098187" cy="7022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b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300" b="0" i="0" kern="1200" dirty="0">
              <a:solidFill>
                <a:schemeClr val="accent4">
                  <a:lumMod val="20000"/>
                  <a:lumOff val="80000"/>
                </a:schemeClr>
              </a:solidFill>
            </a:rPr>
            <a:t>2024</a:t>
          </a:r>
          <a:r>
            <a:rPr lang="zh-CN" altLang="en-US" sz="2300" b="0" i="0" kern="1200" dirty="0">
              <a:solidFill>
                <a:schemeClr val="accent4">
                  <a:lumMod val="20000"/>
                  <a:lumOff val="80000"/>
                </a:schemeClr>
              </a:solidFill>
            </a:rPr>
            <a:t>年</a:t>
          </a:r>
          <a:r>
            <a:rPr lang="en-US" altLang="zh-CN" sz="2300" b="0" i="0" kern="1200" dirty="0">
              <a:solidFill>
                <a:schemeClr val="accent4">
                  <a:lumMod val="20000"/>
                  <a:lumOff val="80000"/>
                </a:schemeClr>
              </a:solidFill>
            </a:rPr>
            <a:t>3</a:t>
          </a:r>
          <a:r>
            <a:rPr lang="zh-CN" altLang="en-US" sz="2300" b="0" i="0" kern="1200" dirty="0">
              <a:solidFill>
                <a:schemeClr val="accent4">
                  <a:lumMod val="20000"/>
                  <a:lumOff val="80000"/>
                </a:schemeClr>
              </a:solidFill>
            </a:rPr>
            <a:t>月</a:t>
          </a:r>
          <a:r>
            <a:rPr lang="en-US" altLang="zh-CN" sz="2300" b="0" i="0" kern="1200" dirty="0">
              <a:solidFill>
                <a:schemeClr val="accent4">
                  <a:lumMod val="20000"/>
                  <a:lumOff val="80000"/>
                </a:schemeClr>
              </a:solidFill>
            </a:rPr>
            <a:t>4</a:t>
          </a:r>
          <a:r>
            <a:rPr lang="zh-CN" altLang="en-US" sz="2300" b="0" i="0" kern="1200" dirty="0">
              <a:solidFill>
                <a:schemeClr val="accent4">
                  <a:lumMod val="20000"/>
                  <a:lumOff val="80000"/>
                </a:schemeClr>
              </a:solidFill>
            </a:rPr>
            <a:t>日虐猫曝光</a:t>
          </a:r>
          <a:endParaRPr lang="zh-CN" altLang="en-US" sz="2300" kern="1200" dirty="0">
            <a:solidFill>
              <a:schemeClr val="accent4">
                <a:lumMod val="20000"/>
                <a:lumOff val="80000"/>
              </a:schemeClr>
            </a:solidFill>
          </a:endParaRPr>
        </a:p>
      </dsp:txBody>
      <dsp:txXfrm>
        <a:off x="818001" y="0"/>
        <a:ext cx="3098187" cy="702213"/>
      </dsp:txXfrm>
    </dsp:sp>
    <dsp:sp modelId="{A07EE99B-AF0D-4476-8F19-A9546F890236}">
      <dsp:nvSpPr>
        <dsp:cNvPr id="0" name=""/>
        <dsp:cNvSpPr/>
      </dsp:nvSpPr>
      <dsp:spPr bwMode="white">
        <a:xfrm>
          <a:off x="3839548" y="1032692"/>
          <a:ext cx="2462135" cy="7022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300" b="0" i="0" kern="1200" dirty="0">
              <a:solidFill>
                <a:schemeClr val="accent4">
                  <a:lumMod val="20000"/>
                  <a:lumOff val="80000"/>
                </a:schemeClr>
              </a:solidFill>
            </a:rPr>
            <a:t>3</a:t>
          </a:r>
          <a:r>
            <a:rPr lang="zh-CN" altLang="en-US" sz="2300" b="0" i="0" kern="1200" dirty="0">
              <a:solidFill>
                <a:schemeClr val="accent4">
                  <a:lumMod val="20000"/>
                  <a:lumOff val="80000"/>
                </a:schemeClr>
              </a:solidFill>
            </a:rPr>
            <a:t>月</a:t>
          </a:r>
          <a:r>
            <a:rPr lang="en-US" altLang="zh-CN" sz="2300" b="0" i="0" kern="1200" dirty="0">
              <a:solidFill>
                <a:schemeClr val="accent4">
                  <a:lumMod val="20000"/>
                  <a:lumOff val="80000"/>
                </a:schemeClr>
              </a:solidFill>
            </a:rPr>
            <a:t>24</a:t>
          </a:r>
          <a:r>
            <a:rPr lang="zh-CN" altLang="en-US" sz="2300" b="0" i="0" kern="1200" dirty="0">
              <a:solidFill>
                <a:schemeClr val="accent4">
                  <a:lumMod val="20000"/>
                  <a:lumOff val="80000"/>
                </a:schemeClr>
              </a:solidFill>
            </a:rPr>
            <a:t>日南大复试</a:t>
          </a:r>
          <a:endParaRPr lang="zh-CN" altLang="en-US" sz="2300" kern="1200" dirty="0">
            <a:solidFill>
              <a:schemeClr val="accent4">
                <a:lumMod val="20000"/>
                <a:lumOff val="80000"/>
              </a:schemeClr>
            </a:solidFill>
          </a:endParaRPr>
        </a:p>
      </dsp:txBody>
      <dsp:txXfrm>
        <a:off x="3839548" y="1032692"/>
        <a:ext cx="2462135" cy="702213"/>
      </dsp:txXfrm>
    </dsp:sp>
    <dsp:sp modelId="{45D5BC73-5A3A-4C9D-9756-CD21B25618AC}">
      <dsp:nvSpPr>
        <dsp:cNvPr id="0" name=""/>
        <dsp:cNvSpPr/>
      </dsp:nvSpPr>
      <dsp:spPr bwMode="white">
        <a:xfrm>
          <a:off x="1603181" y="2144741"/>
          <a:ext cx="2413858" cy="7022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300" b="0" i="0" kern="1200" dirty="0">
              <a:solidFill>
                <a:schemeClr val="accent4">
                  <a:lumMod val="20000"/>
                  <a:lumOff val="80000"/>
                </a:schemeClr>
              </a:solidFill>
            </a:rPr>
            <a:t>4</a:t>
          </a:r>
          <a:r>
            <a:rPr lang="zh-CN" altLang="en-US" sz="2300" b="0" i="0" kern="1200" dirty="0">
              <a:solidFill>
                <a:schemeClr val="accent4">
                  <a:lumMod val="20000"/>
                  <a:lumOff val="80000"/>
                </a:schemeClr>
              </a:solidFill>
            </a:rPr>
            <a:t>月</a:t>
          </a:r>
          <a:r>
            <a:rPr lang="en-US" altLang="zh-CN" sz="2300" b="0" i="0" kern="1200" dirty="0">
              <a:solidFill>
                <a:schemeClr val="accent4">
                  <a:lumMod val="20000"/>
                  <a:lumOff val="80000"/>
                </a:schemeClr>
              </a:solidFill>
            </a:rPr>
            <a:t>2</a:t>
          </a:r>
          <a:r>
            <a:rPr lang="zh-CN" altLang="en-US" sz="2300" b="0" i="0" kern="1200" dirty="0">
              <a:solidFill>
                <a:schemeClr val="accent4">
                  <a:lumMod val="20000"/>
                  <a:lumOff val="80000"/>
                </a:schemeClr>
              </a:solidFill>
            </a:rPr>
            <a:t>日南大淘汰</a:t>
          </a:r>
          <a:endParaRPr lang="zh-CN" altLang="en-US" sz="2300" kern="1200" dirty="0">
            <a:solidFill>
              <a:schemeClr val="accent4">
                <a:lumMod val="20000"/>
                <a:lumOff val="80000"/>
              </a:schemeClr>
            </a:solidFill>
          </a:endParaRPr>
        </a:p>
      </dsp:txBody>
      <dsp:txXfrm>
        <a:off x="1603181" y="2144741"/>
        <a:ext cx="2413858" cy="702213"/>
      </dsp:txXfrm>
    </dsp:sp>
    <dsp:sp modelId="{80BDFC1F-D8B7-4BB0-9095-77C8BBAE9152}">
      <dsp:nvSpPr>
        <dsp:cNvPr id="0" name=""/>
        <dsp:cNvSpPr/>
      </dsp:nvSpPr>
      <dsp:spPr bwMode="white">
        <a:xfrm>
          <a:off x="3910878" y="3686619"/>
          <a:ext cx="2413858" cy="7022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300" b="0" i="0" kern="1200" dirty="0">
              <a:solidFill>
                <a:schemeClr val="accent4">
                  <a:lumMod val="20000"/>
                  <a:lumOff val="80000"/>
                </a:schemeClr>
              </a:solidFill>
            </a:rPr>
            <a:t>4</a:t>
          </a:r>
          <a:r>
            <a:rPr lang="zh-CN" altLang="en-US" sz="2300" b="0" i="0" kern="1200" dirty="0">
              <a:solidFill>
                <a:schemeClr val="accent4">
                  <a:lumMod val="20000"/>
                  <a:lumOff val="80000"/>
                </a:schemeClr>
              </a:solidFill>
            </a:rPr>
            <a:t>月</a:t>
          </a:r>
          <a:r>
            <a:rPr lang="en-US" altLang="zh-CN" sz="2300" b="0" i="0" kern="1200" dirty="0">
              <a:solidFill>
                <a:schemeClr val="accent4">
                  <a:lumMod val="20000"/>
                  <a:lumOff val="80000"/>
                </a:schemeClr>
              </a:solidFill>
            </a:rPr>
            <a:t>8</a:t>
          </a:r>
          <a:r>
            <a:rPr lang="zh-CN" altLang="en-US" sz="2300" b="0" i="0" kern="1200" dirty="0">
              <a:solidFill>
                <a:schemeClr val="accent4">
                  <a:lumMod val="20000"/>
                  <a:lumOff val="80000"/>
                </a:schemeClr>
              </a:solidFill>
            </a:rPr>
            <a:t>日兰大淘汰</a:t>
          </a:r>
          <a:endParaRPr lang="zh-CN" altLang="en-US" sz="2300" kern="1200" dirty="0">
            <a:solidFill>
              <a:schemeClr val="accent4">
                <a:lumMod val="20000"/>
                <a:lumOff val="80000"/>
              </a:schemeClr>
            </a:solidFill>
          </a:endParaRPr>
        </a:p>
      </dsp:txBody>
      <dsp:txXfrm>
        <a:off x="3910878" y="3686619"/>
        <a:ext cx="2413858" cy="70221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3/layout/DescendingProcess">
  <dgm:title val=""/>
  <dgm:desc val=""/>
  <dgm:catLst>
    <dgm:cat type="process" pri="23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clrData>
  <dgm:layoutNode name="Name0">
    <dgm:varLst>
      <dgm:chMax val="7"/>
      <dgm:chPref val="5"/>
    </dgm:varLst>
    <dgm:alg type="composite">
      <dgm:param type="ar" val="1.1"/>
    </dgm:alg>
    <dgm:shape xmlns:r="http://schemas.openxmlformats.org/officeDocument/2006/relationships" r:blip="">
      <dgm:adjLst/>
    </dgm:shape>
    <dgm:choose name="Name1">
      <dgm:if name="Name2" axis="ch" ptType="node" func="cnt" op="equ" val="1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</dgm:constrLst>
      </dgm:if>
      <dgm:if name="Name3" axis="ch" ptType="node" func="cnt" op="equ" val="2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5"/>
          <dgm:constr type="b" for="ch" forName="txNode2" refType="h"/>
          <dgm:constr type="r" for="ch" forName="txNode2" refType="w"/>
          <dgm:constr type="h" for="ch" forName="txNode2" refType="h" fact="0.16"/>
        </dgm:constrLst>
      </dgm:if>
      <dgm:if name="Name4" axis="ch" ptType="node" func="cnt" op="equ" val="3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56"/>
          <dgm:constr type="ctrY" for="ch" forName="txNode2" refType="h" fact="0.3992"/>
          <dgm:constr type="r" for="ch" forName="txNode2" refType="w"/>
          <dgm:constr type="h" for="ch" forName="txNode2" refType="h" fact="0.16"/>
          <dgm:constr type="l" for="ch" forName="txNode3" refType="w" fact="0.5"/>
          <dgm:constr type="b" for="ch" forName="txNode3" refType="h"/>
          <dgm:constr type="r" for="ch" forName="txNode3" refType="w"/>
          <dgm:constr type="h" for="ch" forName="txNode3" refType="h" fact="0.16"/>
          <dgm:constr type="ctrX" for="ch" forName="dotNode2" refType="w" fact="0.4782"/>
          <dgm:constr type="ctrY" for="ch" forName="dotNode2" refType="h" fact="0.3992"/>
          <dgm:constr type="h" for="ch" forName="dotNode2" refType="h" fact="0.0218"/>
          <dgm:constr type="w" for="ch" forName="dotNode2" refType="h" refFor="ch" refForName="dotNode2"/>
        </dgm:constrLst>
      </dgm:if>
      <dgm:if name="Name5" axis="ch" ptType="node" func="cnt" op="equ" val="4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49"/>
          <dgm:constr type="ctrY" for="ch" forName="txNode2" refType="h" fact="0.3153"/>
          <dgm:constr type="r" for="ch" forName="txNode2" refType="w"/>
          <dgm:constr type="h" for="ch" forName="txNode2" refType="h" fact="0.16"/>
          <dgm:constr type="l" for="ch" forName="txNode3" refType="w" fact="0"/>
          <dgm:constr type="ctrY" for="ch" forName="txNode3" refType="h" fact="0.5004"/>
          <dgm:constr type="r" for="ch" forName="txNode3" refType="w" fact="0.5"/>
          <dgm:constr type="h" for="ch" forName="txNode3" refType="h" fact="0.16"/>
          <dgm:constr type="l" for="ch" forName="txNode4" refType="w" fact="0.5"/>
          <dgm:constr type="b" for="ch" forName="txNode4" refType="h"/>
          <dgm:constr type="r" for="ch" forName="txNode4" refType="w"/>
          <dgm:constr type="h" for="ch" forName="txNode4" refType="h" fact="0.16"/>
          <dgm:constr type="ctrX" for="ch" forName="dotNode2" refType="w" fact="0.39"/>
          <dgm:constr type="ctrY" for="ch" forName="dotNode2" refType="h" fact="0.3153"/>
          <dgm:constr type="h" for="ch" forName="dotNode2" refType="h" fact="0.0218"/>
          <dgm:constr type="w" for="ch" forName="dotNode2" refType="h" refFor="ch" refForName="dotNode2"/>
          <dgm:constr type="ctrX" for="ch" forName="dotNode3" refType="w" fact="0.5626"/>
          <dgm:constr type="ctrY" for="ch" forName="dotNode3" refType="h" fact="0.5004"/>
          <dgm:constr type="h" for="ch" forName="dotNode3" refType="h" fact="0.0218"/>
          <dgm:constr type="w" for="ch" forName="dotNode3" refType="h" refFor="ch" refForName="dotNode3"/>
        </dgm:constrLst>
      </dgm:if>
      <dgm:if name="Name6" axis="ch" ptType="node" func="cnt" op="equ" val="5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46"/>
          <dgm:constr type="ctrY" for="ch" forName="txNode2" refType="h" fact="0.2885"/>
          <dgm:constr type="r" for="ch" forName="txNode2" refType="w"/>
          <dgm:constr type="h" for="ch" forName="txNode2" refType="h" fact="0.16"/>
          <dgm:constr type="l" for="ch" forName="txNode3" refType="w" fact="0"/>
          <dgm:constr type="ctrY" for="ch" forName="txNode3" refType="h" fact="0.4089"/>
          <dgm:constr type="r" for="ch" forName="txNode3" refType="w" fact="0.43"/>
          <dgm:constr type="h" for="ch" forName="txNode3" refType="h" fact="0.16"/>
          <dgm:constr type="l" for="ch" forName="txNode4" refType="w" fact="0.67"/>
          <dgm:constr type="ctrY" for="ch" forName="txNode4" refType="h" fact="0.5497"/>
          <dgm:constr type="r" for="ch" forName="txNode4" refType="w"/>
          <dgm:constr type="h" for="ch" forName="txNode4" refType="h" fact="0.16"/>
          <dgm:constr type="l" for="ch" forName="txNode5" refType="w" fact="0.5"/>
          <dgm:constr type="b" for="ch" forName="txNode5" refType="h"/>
          <dgm:constr type="r" for="ch" forName="txNode5" refType="w"/>
          <dgm:constr type="h" for="ch" forName="txNode5" refType="h" fact="0.16"/>
          <dgm:constr type="ctrX" for="ch" forName="dotNode2" refType="w" fact="0.3565"/>
          <dgm:constr type="ctrY" for="ch" forName="dotNode2" refType="h" fact="0.2885"/>
          <dgm:constr type="h" for="ch" forName="dotNode2" refType="h" fact="0.0218"/>
          <dgm:constr type="w" for="ch" forName="dotNode2" refType="h" refFor="ch" refForName="dotNode2"/>
          <dgm:constr type="ctrX" for="ch" forName="dotNode3" refType="w" fact="0.4922"/>
          <dgm:constr type="ctrY" for="ch" forName="dotNode3" refType="h" fact="0.4089"/>
          <dgm:constr type="h" for="ch" forName="dotNode3" refType="h" fact="0.0218"/>
          <dgm:constr type="w" for="ch" forName="dotNode3" refType="h" refFor="ch" refForName="dotNode3"/>
          <dgm:constr type="ctrX" for="ch" forName="dotNode4" refType="w" fact="0.5939"/>
          <dgm:constr type="ctrY" for="ch" forName="dotNode4" refType="h" fact="0.5497"/>
          <dgm:constr type="h" for="ch" forName="dotNode4" refType="h" fact="0.0218"/>
          <dgm:constr type="w" for="ch" forName="dotNode4" refType="h" refFor="ch" refForName="dotNode4"/>
        </dgm:constrLst>
      </dgm:if>
      <dgm:if name="Name7" axis="ch" ptType="node" func="cnt" op="equ" val="6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45"/>
          <dgm:constr type="ctrY" for="ch" forName="txNode2" refType="h" fact="0.2693"/>
          <dgm:constr type="r" for="ch" forName="txNode2" refType="w"/>
          <dgm:constr type="h" for="ch" forName="txNode2" refType="h" fact="0.16"/>
          <dgm:constr type="l" for="ch" forName="txNode3" refType="w" fact="0"/>
          <dgm:constr type="ctrY" for="ch" forName="txNode3" refType="h" fact="0.3638"/>
          <dgm:constr type="r" for="ch" forName="txNode3" refType="w" fact="0.37"/>
          <dgm:constr type="h" for="ch" forName="txNode3" refType="h" fact="0.16"/>
          <dgm:constr type="l" for="ch" forName="txNode4" refType="w" fact="0.63"/>
          <dgm:constr type="ctrY" for="ch" forName="txNode4" refType="h" fact="0.4744"/>
          <dgm:constr type="r" for="ch" forName="txNode4" refType="w"/>
          <dgm:constr type="h" for="ch" forName="txNode4" refType="h" fact="0.16"/>
          <dgm:constr type="l" for="ch" forName="txNode5" refType="w" fact="0"/>
          <dgm:constr type="ctrY" for="ch" forName="txNode5" refType="h" fact="0.5961"/>
          <dgm:constr type="r" for="ch" forName="txNode5" refType="w" fact="0.55"/>
          <dgm:constr type="h" for="ch" forName="txNode5" refType="h" fact="0.16"/>
          <dgm:constr type="l" for="ch" forName="txNode6" refType="w" fact="0.5"/>
          <dgm:constr type="b" for="ch" forName="txNode6" refType="h"/>
          <dgm:constr type="r" for="ch" forName="txNode6" refType="w"/>
          <dgm:constr type="h" for="ch" forName="txNode6" refType="h" fact="0.16"/>
          <dgm:constr type="ctrX" for="ch" forName="dotNode2" refType="w" fact="0.33"/>
          <dgm:constr type="ctrY" for="ch" forName="dotNode2" refType="h" fact="0.2693"/>
          <dgm:constr type="h" for="ch" forName="dotNode2" refType="h" fact="0.0218"/>
          <dgm:constr type="w" for="ch" forName="dotNode2" refType="h" refFor="ch" refForName="dotNode2"/>
          <dgm:constr type="ctrX" for="ch" forName="dotNode3" refType="w" fact="0.4419"/>
          <dgm:constr type="ctrY" for="ch" forName="dotNode3" refType="h" fact="0.3638"/>
          <dgm:constr type="h" for="ch" forName="dotNode3" refType="h" fact="0.0218"/>
          <dgm:constr type="w" for="ch" forName="dotNode3" refType="h" refFor="ch" refForName="dotNode3"/>
          <dgm:constr type="ctrX" for="ch" forName="dotNode4" refType="w" fact="0.5425"/>
          <dgm:constr type="ctrY" for="ch" forName="dotNode4" refType="h" fact="0.4744"/>
          <dgm:constr type="h" for="ch" forName="dotNode4" refType="h" fact="0.0218"/>
          <dgm:constr type="w" for="ch" forName="dotNode4" refType="h" refFor="ch" refForName="dotNode4"/>
          <dgm:constr type="ctrX" for="ch" forName="dotNode5" refType="w" fact="0.6153"/>
          <dgm:constr type="ctrY" for="ch" forName="dotNode5" refType="h" fact="0.5961"/>
          <dgm:constr type="h" for="ch" forName="dotNode5" refType="h" fact="0.0218"/>
          <dgm:constr type="w" for="ch" forName="dotNode5" refType="h" refFor="ch" refForName="dotNode5"/>
        </dgm:constrLst>
      </dgm:if>
      <dgm:else name="Name8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44"/>
          <dgm:constr type="ctrY" for="ch" forName="txNode2" refType="h" fact="0.2693"/>
          <dgm:constr type="r" for="ch" forName="txNode2" refType="w"/>
          <dgm:constr type="h" for="ch" forName="txNode2" refType="h" fact="0.16"/>
          <dgm:constr type="l" for="ch" forName="txNode3" refType="w" fact="0"/>
          <dgm:constr type="ctrY" for="ch" forName="txNode3" refType="h" fact="0.3424"/>
          <dgm:constr type="r" for="ch" forName="txNode3" refType="w" fact="0.33"/>
          <dgm:constr type="h" for="ch" forName="txNode3" refType="h" fact="0.16"/>
          <dgm:constr type="l" for="ch" forName="txNode4" refType="w" fact="0.61"/>
          <dgm:constr type="ctrY" for="ch" forName="txNode4" refType="h" fact="0.4276"/>
          <dgm:constr type="r" for="ch" forName="txNode4" refType="w"/>
          <dgm:constr type="h" for="ch" forName="txNode4" refType="h" fact="0.16"/>
          <dgm:constr type="l" for="ch" forName="txNode5" refType="w" fact="0"/>
          <dgm:constr type="ctrY" for="ch" forName="txNode5" refType="h" fact="0.5218"/>
          <dgm:constr type="r" for="ch" forName="txNode5" refType="w" fact="0.5"/>
          <dgm:constr type="h" for="ch" forName="txNode5" refType="h" fact="0.16"/>
          <dgm:constr type="l" for="ch" forName="txNode6" refType="w" fact="0.71"/>
          <dgm:constr type="ctrY" for="ch" forName="txNode6" refType="h" fact="0.6179"/>
          <dgm:constr type="r" for="ch" forName="txNode6" refType="w"/>
          <dgm:constr type="h" for="ch" forName="txNode6" refType="h" fact="0.16"/>
          <dgm:constr type="l" for="ch" forName="txNode7" refType="w" fact="0.5"/>
          <dgm:constr type="b" for="ch" forName="txNode7" refType="h"/>
          <dgm:constr type="r" for="ch" forName="txNode7" refType="w"/>
          <dgm:constr type="h" for="ch" forName="txNode7" refType="h" fact="0.16"/>
          <dgm:constr type="ctrX" for="ch" forName="dotNode2" refType="w" fact="0.33"/>
          <dgm:constr type="ctrY" for="ch" forName="dotNode2" refType="h" fact="0.2693"/>
          <dgm:constr type="h" for="ch" forName="dotNode2" refType="h" fact="0.0218"/>
          <dgm:constr type="w" for="ch" forName="dotNode2" refType="h" refFor="ch" refForName="dotNode2"/>
          <dgm:constr type="ctrX" for="ch" forName="dotNode3" refType="w" fact="0.425"/>
          <dgm:constr type="ctrY" for="ch" forName="dotNode3" refType="h" fact="0.3424"/>
          <dgm:constr type="h" for="ch" forName="dotNode3" refType="h" fact="0.0218"/>
          <dgm:constr type="w" for="ch" forName="dotNode3" refType="h" refFor="ch" refForName="dotNode3"/>
          <dgm:constr type="ctrX" for="ch" forName="dotNode4" refType="w" fact="0.505"/>
          <dgm:constr type="ctrY" for="ch" forName="dotNode4" refType="h" fact="0.4276"/>
          <dgm:constr type="h" for="ch" forName="dotNode4" refType="h" fact="0.0218"/>
          <dgm:constr type="w" for="ch" forName="dotNode4" refType="h" refFor="ch" refForName="dotNode4"/>
          <dgm:constr type="ctrX" for="ch" forName="dotNode5" refType="w" fact="0.5742"/>
          <dgm:constr type="ctrY" for="ch" forName="dotNode5" refType="h" fact="0.5218"/>
          <dgm:constr type="h" for="ch" forName="dotNode5" refType="h" fact="0.0218"/>
          <dgm:constr type="w" for="ch" forName="dotNode5" refType="h" refFor="ch" refForName="dotNode5"/>
          <dgm:constr type="ctrX" for="ch" forName="dotNode6" refType="w" fact="0.63"/>
          <dgm:constr type="ctrY" for="ch" forName="dotNode6" refType="h" fact="0.6179"/>
          <dgm:constr type="h" for="ch" forName="dotNode6" refType="h" fact="0.0218"/>
          <dgm:constr type="w" for="ch" forName="dotNode6" refType="h" refFor="ch" refForName="dotNode6"/>
        </dgm:constrLst>
      </dgm:else>
    </dgm:choose>
    <dgm:forEach name="Name9" axis="self" ptType="parTrans">
      <dgm:forEach name="Name10" axis="self" ptType="sibTrans" st="2">
        <dgm:forEach name="dotRepeat" axis="self">
          <dgm:layoutNode name="dotRepeatNode" styleLbl="fgShp">
            <dgm:alg type="sp"/>
            <dgm:shape xmlns:r="http://schemas.openxmlformats.org/officeDocument/2006/relationships" type="ellipse" r:blip="">
              <dgm:adjLst/>
            </dgm:shape>
            <dgm:presOf axis="self"/>
          </dgm:layoutNode>
        </dgm:forEach>
      </dgm:forEach>
    </dgm:forEach>
    <dgm:choose name="Name11">
      <dgm:if name="Name12" axis="ch" ptType="node" func="cnt" op="gte" val="1">
        <dgm:layoutNode name="arrowNode" styleLbl="node1">
          <dgm:alg type="sp"/>
          <dgm:shape xmlns:r="http://schemas.openxmlformats.org/officeDocument/2006/relationships" rot="73.2729" type="swooshArrow" r:blip="">
            <dgm:adjLst>
              <dgm:adj idx="1" val="0.1631"/>
              <dgm:adj idx="2" val="0.3137"/>
            </dgm:adjLst>
          </dgm:shape>
          <dgm:presOf/>
        </dgm:layoutNode>
      </dgm:if>
      <dgm:else name="Name13"/>
    </dgm:choose>
    <dgm:forEach name="Name14" axis="ch" ptType="node" cnt="1">
      <dgm:layoutNode name="txNode1" styleLbl="revTx">
        <dgm:varLst>
          <dgm:bulletEnabled val="1"/>
        </dgm:varLst>
        <dgm:alg type="tx">
          <dgm:param type="txAnchorVert" val="b"/>
        </dgm:alg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5" axis="ch" ptType="node" st="2" cnt="1">
      <dgm:layoutNode name="txNode2" styleLbl="revTx">
        <dgm:varLst>
          <dgm:bulletEnabled val="1"/>
        </dgm:varLst>
        <dgm:choose name="Name16">
          <dgm:if name="Name17" axis="self" ptType="node" func="revPos" op="equ" val="1">
            <dgm:alg type="tx">
              <dgm:param type="txAnchorVert" val="t"/>
            </dgm:alg>
          </dgm:if>
          <dgm:if name="Name18" axis="self" ptType="node" func="posOdd" op="equ" val="1">
            <dgm:alg type="tx">
              <dgm:param type="parTxLTRAlign" val="r"/>
              <dgm:param type="parTxRTLAlign" val="r"/>
            </dgm:alg>
          </dgm:if>
          <dgm:else name="Name1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20">
        <dgm:if name="Name21" axis="par ch" ptType="all node" func="cnt" op="neq" val="2">
          <dgm:forEach name="Name22" axis="follow" ptType="sibTrans" cnt="1">
            <dgm:layoutNode name="dotNode2">
              <dgm:alg type="sp"/>
              <dgm:shape xmlns:r="http://schemas.openxmlformats.org/officeDocument/2006/relationships" r:blip="">
                <dgm:adjLst/>
              </dgm:shape>
              <dgm:presOf/>
              <dgm:forEach name="Name23" ref="dotRepeat"/>
            </dgm:layoutNode>
          </dgm:forEach>
        </dgm:if>
        <dgm:else name="Name24"/>
      </dgm:choose>
    </dgm:forEach>
    <dgm:forEach name="Name25" axis="ch" ptType="node" st="3" cnt="1">
      <dgm:layoutNode name="txNode3" styleLbl="revTx">
        <dgm:varLst>
          <dgm:bulletEnabled val="1"/>
        </dgm:varLst>
        <dgm:choose name="Name26">
          <dgm:if name="Name27" axis="self" ptType="node" func="revPos" op="equ" val="1">
            <dgm:alg type="tx">
              <dgm:param type="txAnchorVert" val="t"/>
            </dgm:alg>
          </dgm:if>
          <dgm:if name="Name28" axis="self" ptType="node" func="posOdd" op="equ" val="1">
            <dgm:alg type="tx">
              <dgm:param type="parTxLTRAlign" val="r"/>
              <dgm:param type="parTxRTLAlign" val="r"/>
            </dgm:alg>
          </dgm:if>
          <dgm:else name="Name2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30">
        <dgm:if name="Name31" axis="par ch" ptType="all node" func="cnt" op="neq" val="3">
          <dgm:forEach name="Name32" axis="follow" ptType="sibTrans" cnt="1">
            <dgm:layoutNode name="dotNode3">
              <dgm:alg type="sp"/>
              <dgm:shape xmlns:r="http://schemas.openxmlformats.org/officeDocument/2006/relationships" r:blip="">
                <dgm:adjLst/>
              </dgm:shape>
              <dgm:presOf/>
              <dgm:forEach name="Name33" ref="dotRepeat"/>
            </dgm:layoutNode>
          </dgm:forEach>
        </dgm:if>
        <dgm:else name="Name34"/>
      </dgm:choose>
    </dgm:forEach>
    <dgm:forEach name="Name35" axis="ch" ptType="node" st="4" cnt="1">
      <dgm:layoutNode name="txNode4" styleLbl="revTx">
        <dgm:varLst>
          <dgm:bulletEnabled val="1"/>
        </dgm:varLst>
        <dgm:choose name="Name36">
          <dgm:if name="Name37" axis="self" ptType="node" func="revPos" op="equ" val="1">
            <dgm:alg type="tx">
              <dgm:param type="txAnchorVert" val="t"/>
            </dgm:alg>
          </dgm:if>
          <dgm:if name="Name38" axis="self" ptType="node" func="posOdd" op="equ" val="1">
            <dgm:alg type="tx">
              <dgm:param type="parTxLTRAlign" val="r"/>
              <dgm:param type="parTxRTLAlign" val="r"/>
            </dgm:alg>
          </dgm:if>
          <dgm:else name="Name3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40">
        <dgm:if name="Name41" axis="par ch" ptType="all node" func="cnt" op="neq" val="4">
          <dgm:forEach name="Name42" axis="follow" ptType="sibTrans" cnt="1">
            <dgm:layoutNode name="dotNode4">
              <dgm:alg type="sp"/>
              <dgm:shape xmlns:r="http://schemas.openxmlformats.org/officeDocument/2006/relationships" r:blip="">
                <dgm:adjLst/>
              </dgm:shape>
              <dgm:presOf/>
              <dgm:forEach name="Name43" ref="dotRepeat"/>
            </dgm:layoutNode>
          </dgm:forEach>
        </dgm:if>
        <dgm:else name="Name44"/>
      </dgm:choose>
    </dgm:forEach>
    <dgm:forEach name="Name45" axis="ch" ptType="node" st="5" cnt="1">
      <dgm:layoutNode name="txNode5" styleLbl="revTx">
        <dgm:varLst>
          <dgm:bulletEnabled val="1"/>
        </dgm:varLst>
        <dgm:choose name="Name46">
          <dgm:if name="Name47" axis="self" ptType="node" func="revPos" op="equ" val="1">
            <dgm:alg type="tx">
              <dgm:param type="txAnchorVert" val="t"/>
            </dgm:alg>
          </dgm:if>
          <dgm:if name="Name48" axis="self" ptType="node" func="posOdd" op="equ" val="1">
            <dgm:alg type="tx">
              <dgm:param type="parTxLTRAlign" val="r"/>
              <dgm:param type="parTxRTLAlign" val="r"/>
            </dgm:alg>
          </dgm:if>
          <dgm:else name="Name4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50">
        <dgm:if name="Name51" axis="par ch" ptType="all node" func="cnt" op="neq" val="5">
          <dgm:forEach name="Name52" axis="follow" ptType="sibTrans" cnt="1">
            <dgm:layoutNode name="dotNode5">
              <dgm:alg type="sp"/>
              <dgm:shape xmlns:r="http://schemas.openxmlformats.org/officeDocument/2006/relationships" r:blip="">
                <dgm:adjLst/>
              </dgm:shape>
              <dgm:presOf/>
              <dgm:forEach name="Name53" ref="dotRepeat"/>
            </dgm:layoutNode>
          </dgm:forEach>
        </dgm:if>
        <dgm:else name="Name54"/>
      </dgm:choose>
    </dgm:forEach>
    <dgm:forEach name="Name55" axis="ch" ptType="node" st="6" cnt="1">
      <dgm:layoutNode name="txNode6" styleLbl="revTx">
        <dgm:varLst>
          <dgm:bulletEnabled val="1"/>
        </dgm:varLst>
        <dgm:choose name="Name56">
          <dgm:if name="Name57" axis="self" ptType="node" func="revPos" op="equ" val="1">
            <dgm:alg type="tx">
              <dgm:param type="txAnchorVert" val="t"/>
            </dgm:alg>
          </dgm:if>
          <dgm:if name="Name58" axis="self" ptType="node" func="posOdd" op="equ" val="1">
            <dgm:alg type="tx">
              <dgm:param type="parTxLTRAlign" val="r"/>
              <dgm:param type="parTxRTLAlign" val="r"/>
            </dgm:alg>
          </dgm:if>
          <dgm:else name="Name5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60">
        <dgm:if name="Name61" axis="par ch" ptType="all node" func="cnt" op="neq" val="6">
          <dgm:forEach name="Name62" axis="follow" ptType="sibTrans" cnt="1">
            <dgm:layoutNode name="dotNode6">
              <dgm:alg type="sp"/>
              <dgm:shape xmlns:r="http://schemas.openxmlformats.org/officeDocument/2006/relationships" r:blip="">
                <dgm:adjLst/>
              </dgm:shape>
              <dgm:presOf/>
              <dgm:forEach name="Name63" ref="dotRepeat"/>
            </dgm:layoutNode>
          </dgm:forEach>
        </dgm:if>
        <dgm:else name="Name64"/>
      </dgm:choose>
    </dgm:forEach>
    <dgm:forEach name="Name65" axis="ch" ptType="node" st="7" cnt="1">
      <dgm:layoutNode name="txNode7" styleLbl="revTx">
        <dgm:varLst>
          <dgm:bulletEnabled val="1"/>
        </dgm:varLst>
        <dgm:alg type="tx">
          <dgm:param type="txAnchorVert" val="t"/>
        </dgm:alg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9#1">
  <dgm:title val=""/>
  <dgm:desc val=""/>
  <dgm:catLst>
    <dgm:cat type="3D" pri="11900"/>
  </dgm:catLst>
  <dgm:scene3d>
    <a:camera prst="perspectiveRelaxed">
      <a:rot lat="19149996" lon="20104178" rev="1577324"/>
    </a:camera>
    <a:lightRig rig="soft" dir="t"/>
    <a:backdrop>
      <a:anchor x="0" y="0" z="-210000"/>
      <a:norm dx="0" dy="0" dz="914400"/>
      <a:up dx="0" dy="914400" dz="0"/>
    </a:backdrop>
  </dgm:scene3d>
  <dgm:styleLbl name="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Acc0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>
      <a:sp3d extrusionH="28000" prstMaterial="matte"/>
    </dgm:txPr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D39408-BE01-435E-AFA2-00036693DF57}" type="datetimeFigureOut">
              <a:rPr lang="zh-CN" altLang="en-US" smtClean="0"/>
              <a:t>2025/5/11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388DE0-C078-44B6-A34B-B3B897FD60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FBCCD4-090F-4191-BB23-0CB79329E0BE}" type="datetimeFigureOut">
              <a:rPr lang="zh-CN" altLang="en-US" smtClean="0"/>
              <a:t>2025/5/11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3BAEFE-4A78-47FF-BE66-09D0446A509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404040"/>
                </a:solidFill>
                <a:effectLst/>
                <a:latin typeface="DeepSeek-CJK-patch"/>
              </a:rPr>
              <a:t>今天我将从批判性思维的角度，分析近期备受关注的考研生因虐猫被刷事件，探讨道德与学术的平衡、高校决策的合理性及社会影响。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BAEFE-4A78-47FF-BE66-09D0446A5098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404040"/>
                </a:solidFill>
                <a:effectLst/>
                <a:latin typeface="DeepSeek-CJK-patch"/>
              </a:rPr>
              <a:t>报告分为四部分：首先梳理事件经过，其次分析核心矛盾，接着批判性评估高校决策，最后提出平衡建议。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BAEFE-4A78-47FF-BE66-09D0446A5098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404040"/>
                </a:solidFill>
                <a:effectLst/>
                <a:latin typeface="DeepSeek-CJK-patch"/>
              </a:rPr>
              <a:t>事件始于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DeepSeek-CJK-patch"/>
              </a:rPr>
              <a:t>3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DeepSeek-CJK-patch"/>
              </a:rPr>
              <a:t>月徐某某虐猫行为曝光，南大复试规则明确品德考核，最终两校均因面试不合格淘汰考生。网络舆论聚焦道德与学术冲突。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BAEFE-4A78-47FF-BE66-09D0446A5098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404040"/>
                </a:solidFill>
                <a:effectLst/>
                <a:latin typeface="DeepSeek-CJK-patch"/>
              </a:rPr>
              <a:t>徐某某初试成绩第一，但虐猫行为涉及暴力细节，警方介入后其写下悔过书。这些细节是后续争议的核心。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BAEFE-4A78-47FF-BE66-09D0446A5098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404040"/>
                </a:solidFill>
                <a:effectLst/>
                <a:latin typeface="DeepSeek-CJK-patch"/>
              </a:rPr>
              <a:t>冲突核心是道德与学术的权重。支持者认为品德是底线，反对者则担忧过度惩罚影响学术公平。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BAEFE-4A78-47FF-BE66-09D0446A5098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404040"/>
                </a:solidFill>
                <a:effectLst/>
                <a:latin typeface="DeepSeek-CJK-patch"/>
              </a:rPr>
              <a:t>高校需平衡学术潜力与社会责任。南大淘汰决策获多数支持，但程序透明度受质疑。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BAEFE-4A78-47FF-BE66-09D0446A5098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404040"/>
                </a:solidFill>
                <a:effectLst/>
                <a:latin typeface="DeepSeek-CJK-patch"/>
              </a:rPr>
              <a:t>运用批判性思维，需同时考虑学术潜力、道德修复可能性及舆论监督作用，避免单一视角。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BAEFE-4A78-47FF-BE66-09D0446A5098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404040"/>
                </a:solidFill>
                <a:effectLst/>
                <a:latin typeface="DeepSeek-CJK-patch"/>
              </a:rPr>
              <a:t>南大淘汰决策合理但程序存疑。是否应建立更系统的道德背景调查机制？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BAEFE-4A78-47FF-BE66-09D0446A5098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404040"/>
                </a:solidFill>
                <a:effectLst/>
                <a:latin typeface="DeepSeek-CJK-patch"/>
              </a:rPr>
              <a:t>兰大谨慎态度值得肯定，但决策速度影响公信力。需明确道德考核标准与响应时效。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BAEFE-4A78-47FF-BE66-09D0446A5098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404040"/>
                </a:solidFill>
                <a:effectLst/>
                <a:latin typeface="DeepSeek-CJK-patch"/>
              </a:rPr>
              <a:t>理想方案需兼顾三者：设定道德考察期，完善背景调查，同时提升决策透明度。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BAEFE-4A78-47FF-BE66-09D0446A5098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404040"/>
                </a:solidFill>
                <a:effectLst/>
                <a:latin typeface="DeepSeek-CJK-patch"/>
              </a:rPr>
              <a:t>建议高校联合第三方机构建立道德档案，量化考核标准，并为悔过者提供观察期，实现公平与修复。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BAEFE-4A78-47FF-BE66-09D0446A5098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lnSpc>
                <a:spcPct val="150000"/>
              </a:lnSpc>
            </a:pPr>
            <a:r>
              <a:rPr lang="zh-CN" altLang="en-US" sz="1200" b="1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道德</a:t>
            </a:r>
            <a:r>
              <a:rPr lang="zh-CN" altLang="en-US" sz="12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是红线，但需程序正义支撑；</a:t>
            </a:r>
            <a:endParaRPr lang="en-US" altLang="zh-CN" sz="1200" b="0" i="0" dirty="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200" b="1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学术</a:t>
            </a:r>
            <a:r>
              <a:rPr lang="zh-CN" altLang="en-US" sz="12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潜力需与</a:t>
            </a:r>
            <a:r>
              <a:rPr lang="zh-CN" altLang="en-US" sz="1200" b="1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社会</a:t>
            </a:r>
            <a:r>
              <a:rPr lang="zh-CN" altLang="en-US" sz="12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期待协同；</a:t>
            </a:r>
            <a:endParaRPr lang="en-US" altLang="zh-CN" sz="1200" b="0" i="0" dirty="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2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而透明的</a:t>
            </a:r>
            <a:r>
              <a:rPr lang="zh-CN" altLang="en-US" sz="1200" b="1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程序</a:t>
            </a:r>
            <a:r>
              <a:rPr lang="zh-CN" altLang="en-US" sz="12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是化解冲突的关键。</a:t>
            </a:r>
          </a:p>
          <a:p>
            <a:endParaRPr lang="en-US" altLang="zh-CN" b="0" i="0" dirty="0">
              <a:solidFill>
                <a:srgbClr val="404040"/>
              </a:solidFill>
              <a:effectLst/>
              <a:latin typeface="DeepSeek-CJK-patch"/>
            </a:endParaRPr>
          </a:p>
          <a:p>
            <a:r>
              <a:rPr lang="zh-CN" altLang="en-US" b="0" i="0" dirty="0">
                <a:solidFill>
                  <a:srgbClr val="404040"/>
                </a:solidFill>
                <a:effectLst/>
                <a:latin typeface="DeepSeek-CJK-patch"/>
              </a:rPr>
              <a:t>总结而言，道德不可妥协，但程序需完善。感谢大家，期待交流！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BAEFE-4A78-47FF-BE66-09D0446A5098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2025/5/15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1DE9E-98FD-4FDD-B608-10E91D3BEBD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2025/5/15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1DE9E-98FD-4FDD-B608-10E91D3BEBD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2025/5/15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1DE9E-98FD-4FDD-B608-10E91D3BEBD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2025/5/15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1DE9E-98FD-4FDD-B608-10E91D3BEBD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2025/5/15</a:t>
            </a:r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1DE9E-98FD-4FDD-B608-10E91D3BEBD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599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2025/5/15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1DE9E-98FD-4FDD-B608-10E91D3BEBD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2025/5/15</a:t>
            </a: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1DE9E-98FD-4FDD-B608-10E91D3BEBD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2025/5/15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1DE9E-98FD-4FDD-B608-10E91D3BEBD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2025/5/15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1DE9E-98FD-4FDD-B608-10E91D3BEBD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2025/5/15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1DE9E-98FD-4FDD-B608-10E91D3BEBD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2025/5/15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1DE9E-98FD-4FDD-B608-10E91D3BEBD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2025/5/15</a:t>
            </a:r>
            <a:endParaRPr lang="en-US" altLang="zh-CN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1DE9E-98FD-4FDD-B608-10E91D3BEBD8}" type="slidenum">
              <a:rPr lang="zh-CN" altLang="en-US" smtClean="0"/>
              <a:t>‹#›</a:t>
            </a:fld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591672" y="1961651"/>
            <a:ext cx="2689410" cy="1204098"/>
            <a:chOff x="1014293" y="1744476"/>
            <a:chExt cx="7860055" cy="3519090"/>
          </a:xfrm>
        </p:grpSpPr>
        <p:sp>
          <p:nvSpPr>
            <p:cNvPr id="7" name="矩形: 圆角 6"/>
            <p:cNvSpPr/>
            <p:nvPr userDrawn="1"/>
          </p:nvSpPr>
          <p:spPr>
            <a:xfrm>
              <a:off x="2097743" y="2274474"/>
              <a:ext cx="6776605" cy="2589521"/>
            </a:xfrm>
            <a:prstGeom prst="roundRect">
              <a:avLst>
                <a:gd name="adj" fmla="val 41395"/>
              </a:avLst>
            </a:prstGeom>
            <a:gradFill flip="none" rotWithShape="1">
              <a:gsLst>
                <a:gs pos="0">
                  <a:srgbClr val="F2ECBE">
                    <a:lumMod val="100000"/>
                    <a:alpha val="66000"/>
                  </a:srgbClr>
                </a:gs>
                <a:gs pos="100000">
                  <a:srgbClr val="D8C95F">
                    <a:lumMod val="81000"/>
                  </a:srgb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  <a14:imgEffect>
                        <a14:saturation sat="66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014293" y="1744476"/>
              <a:ext cx="3862414" cy="3519090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尾声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2025/5/15</a:t>
            </a:r>
            <a:endParaRPr lang="en-US" altLang="zh-CN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1DE9E-98FD-4FDD-B608-10E91D3BEBD8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2025/5/15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1DE9E-98FD-4FDD-B608-10E91D3BEBD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2025/5/15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1DE9E-98FD-4FDD-B608-10E91D3BEBD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2025/5/15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1DE9E-98FD-4FDD-B608-10E91D3BEBD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2025/5/15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1DE9E-98FD-4FDD-B608-10E91D3BEBD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2025/5/15</a:t>
            </a:r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1DE9E-98FD-4FDD-B608-10E91D3BEBD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599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2025/5/15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1DE9E-98FD-4FDD-B608-10E91D3BEBD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2025/5/15</a:t>
            </a: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1DE9E-98FD-4FDD-B608-10E91D3BEBD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2025/5/15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1DE9E-98FD-4FDD-B608-10E91D3BEBD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2025/5/15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1DE9E-98FD-4FDD-B608-10E91D3BEBD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2025/5/15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1DE9E-98FD-4FDD-B608-10E91D3BEBD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2025/5/15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1DE9E-98FD-4FDD-B608-10E91D3BEBD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2025/5/15</a:t>
            </a:r>
            <a:endParaRPr lang="en-US" altLang="zh-CN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1DE9E-98FD-4FDD-B608-10E91D3BEBD8}" type="slidenum">
              <a:rPr lang="zh-CN" altLang="en-US" smtClean="0"/>
              <a:t>‹#›</a:t>
            </a:fld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591672" y="1961651"/>
            <a:ext cx="2689410" cy="1204098"/>
            <a:chOff x="1014293" y="1744476"/>
            <a:chExt cx="7860055" cy="3519090"/>
          </a:xfrm>
        </p:grpSpPr>
        <p:sp>
          <p:nvSpPr>
            <p:cNvPr id="7" name="矩形: 圆角 6"/>
            <p:cNvSpPr/>
            <p:nvPr userDrawn="1"/>
          </p:nvSpPr>
          <p:spPr>
            <a:xfrm>
              <a:off x="2097743" y="2274474"/>
              <a:ext cx="6776605" cy="2589521"/>
            </a:xfrm>
            <a:prstGeom prst="roundRect">
              <a:avLst>
                <a:gd name="adj" fmla="val 41395"/>
              </a:avLst>
            </a:prstGeom>
            <a:gradFill flip="none" rotWithShape="1">
              <a:gsLst>
                <a:gs pos="0">
                  <a:srgbClr val="F2ECBE">
                    <a:lumMod val="100000"/>
                    <a:alpha val="66000"/>
                  </a:srgbClr>
                </a:gs>
                <a:gs pos="100000">
                  <a:srgbClr val="D8C95F">
                    <a:lumMod val="81000"/>
                  </a:srgb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  <a14:imgEffect>
                        <a14:saturation sat="66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014293" y="1744476"/>
              <a:ext cx="3862414" cy="3519090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尾声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2025/5/15</a:t>
            </a:r>
            <a:endParaRPr lang="en-US" altLang="zh-CN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1DE9E-98FD-4FDD-B608-10E91D3BEBD8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2025/5/15</a:t>
            </a:r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D451DE9E-98FD-4FDD-B608-10E91D3BEBD8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2025/5/15</a:t>
            </a:r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D451DE9E-98FD-4FDD-B608-10E91D3BEBD8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image" Target="../media/image5.png"/><Relationship Id="rId7" Type="http://schemas.openxmlformats.org/officeDocument/2006/relationships/diagramQuickStyle" Target="../diagrams/quickStyle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microsoft.com/office/2007/relationships/hdphoto" Target="../media/hdphoto2.wdp"/><Relationship Id="rId9" Type="http://schemas.microsoft.com/office/2007/relationships/diagramDrawing" Target="../diagrams/drawin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jpeg"/><Relationship Id="rId4" Type="http://schemas.microsoft.com/office/2007/relationships/hdphoto" Target="../media/hdphoto3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.xml"/><Relationship Id="rId3" Type="http://schemas.openxmlformats.org/officeDocument/2006/relationships/tags" Target="../tags/tag3.xml"/><Relationship Id="rId7" Type="http://schemas.openxmlformats.org/officeDocument/2006/relationships/slideLayout" Target="../slideLayouts/slideLayout15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5600" b="1" dirty="0"/>
              <a:t>考研虐猫事件中的</a:t>
            </a:r>
            <a:br>
              <a:rPr lang="en-US" altLang="zh-CN" sz="5600" b="1" dirty="0"/>
            </a:br>
            <a:r>
              <a:rPr lang="zh-CN" altLang="en-US" sz="5600" b="1" dirty="0"/>
              <a:t>道德学术与社会影响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911172"/>
            <a:ext cx="9144000" cy="1346627"/>
          </a:xfrm>
        </p:spPr>
        <p:txBody>
          <a:bodyPr/>
          <a:lstStyle/>
          <a:p>
            <a:r>
              <a:rPr lang="zh-CN" altLang="en-US" dirty="0"/>
              <a:t>基于批判性思维的剖析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2025/5/15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1DE9E-98FD-4FDD-B608-10E91D3BEBD8}" type="slidenum">
              <a:rPr lang="zh-CN" altLang="en-US" smtClean="0"/>
              <a:t>1</a:t>
            </a:fld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2025/5/15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1DE9E-98FD-4FDD-B608-10E91D3BEBD8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838200" y="2097741"/>
            <a:ext cx="4356847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事件背景与经过</a:t>
            </a:r>
          </a:p>
          <a:p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多维度矛盾分析</a:t>
            </a:r>
          </a:p>
          <a:p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高校决策的批判性审视</a:t>
            </a:r>
          </a:p>
          <a:p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综合平衡与改进建议</a:t>
            </a:r>
          </a:p>
        </p:txBody>
      </p:sp>
      <p:graphicFrame>
        <p:nvGraphicFramePr>
          <p:cNvPr id="14" name="图示 13"/>
          <p:cNvGraphicFramePr/>
          <p:nvPr/>
        </p:nvGraphicFramePr>
        <p:xfrm>
          <a:off x="6996955" y="1843026"/>
          <a:ext cx="5102198" cy="36179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事件背景与经过 </a:t>
            </a:r>
            <a:r>
              <a:rPr lang="en-US" altLang="zh-CN" dirty="0"/>
              <a:t>- </a:t>
            </a:r>
            <a:r>
              <a:rPr lang="zh-CN" altLang="en-US" dirty="0"/>
              <a:t>时间线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2025/5/15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1DE9E-98FD-4FDD-B608-10E91D3BEBD8}" type="slidenum">
              <a:rPr lang="zh-CN" altLang="en-US" smtClean="0"/>
              <a:t>3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事件背景与经过</a:t>
            </a: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 detail="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7134" y="1977091"/>
            <a:ext cx="4112893" cy="3290314"/>
          </a:xfrm>
          <a:prstGeom prst="rect">
            <a:avLst/>
          </a:prstGeom>
        </p:spPr>
      </p:pic>
      <p:graphicFrame>
        <p:nvGraphicFramePr>
          <p:cNvPr id="16" name="图示 15"/>
          <p:cNvGraphicFramePr/>
          <p:nvPr/>
        </p:nvGraphicFramePr>
        <p:xfrm>
          <a:off x="21557" y="1590595"/>
          <a:ext cx="7119685" cy="43888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事件背景与经过 </a:t>
            </a:r>
            <a:r>
              <a:rPr lang="en-US" altLang="zh-CN" dirty="0"/>
              <a:t>- </a:t>
            </a:r>
            <a:r>
              <a:rPr lang="zh-CN" altLang="en-US" dirty="0"/>
              <a:t>关键细节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2025/5/15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事件背景与经过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1DE9E-98FD-4FDD-B608-10E91D3BEBD8}" type="slidenum">
              <a:rPr lang="zh-CN" altLang="en-US" smtClean="0"/>
              <a:t>4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313" y="1748613"/>
            <a:ext cx="5619791" cy="114777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840" y="3169462"/>
            <a:ext cx="5619791" cy="119736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4836" y="1604474"/>
            <a:ext cx="3998964" cy="285456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GlowEdges/>
                    </a14:imgEffect>
                    <a14:imgEffect>
                      <a14:backgroundRemoval t="9961" b="90039" l="9961" r="89941">
                        <a14:foregroundMark x1="19727" y1="59082" x2="30469" y2="58301"/>
                        <a14:foregroundMark x1="33984" y1="58398" x2="38281" y2="58594"/>
                        <a14:foregroundMark x1="31769" y1="56746" x2="30176" y2="56348"/>
                        <a14:foregroundMark x1="33301" y1="57129" x2="32770" y2="56996"/>
                        <a14:foregroundMark x1="35059" y1="56934" x2="38281" y2="57227"/>
                        <a14:foregroundMark x1="33691" y1="56348" x2="38770" y2="57715"/>
                        <a14:foregroundMark x1="32287" y1="56149" x2="31934" y2="56055"/>
                        <a14:foregroundMark x1="33703" y1="55921" x2="37988" y2="56934"/>
                        <a14:foregroundMark x1="78418" y1="57129" x2="86426" y2="58105"/>
                        <a14:foregroundMark x1="83789" y1="57617" x2="87305" y2="57520"/>
                        <a14:foregroundMark x1="60742" y1="86621" x2="51660" y2="89746"/>
                        <a14:foregroundMark x1="51660" y1="89746" x2="42480" y2="89844"/>
                        <a14:foregroundMark x1="42480" y1="89844" x2="51953" y2="91016"/>
                        <a14:foregroundMark x1="51953" y1="91016" x2="59961" y2="90039"/>
                        <a14:foregroundMark x1="59961" y1="90039" x2="60352" y2="89648"/>
                        <a14:backgroundMark x1="33301" y1="54980" x2="34180" y2="55371"/>
                      </a14:backgroundRemoval>
                    </a14:imgEffect>
                    <a14:imgEffect>
                      <a14:brightnessContrast contrast="40000"/>
                    </a14:imgEffect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45704"/>
            <a:ext cx="4310646" cy="431064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</a:t>
            </a:r>
            <a:r>
              <a:rPr lang="zh-CN" altLang="en-US" dirty="0"/>
              <a:t>多维度矛盾分析 </a:t>
            </a:r>
            <a:r>
              <a:rPr lang="en-US" altLang="zh-CN" dirty="0"/>
              <a:t>- </a:t>
            </a:r>
            <a:r>
              <a:rPr lang="zh-CN" altLang="en-US" dirty="0"/>
              <a:t>道德与成绩冲突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2025/5/15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2.</a:t>
            </a:r>
            <a:r>
              <a:rPr lang="zh-CN" altLang="en-US" dirty="0"/>
              <a:t>多维度矛盾分析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1DE9E-98FD-4FDD-B608-10E91D3BEBD8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489856" y="3877862"/>
            <a:ext cx="12774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学术成绩 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506.78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分</a:t>
            </a:r>
          </a:p>
        </p:txBody>
      </p:sp>
      <p:sp>
        <p:nvSpPr>
          <p:cNvPr id="14" name="任意多边形: 形状 13"/>
          <p:cNvSpPr/>
          <p:nvPr/>
        </p:nvSpPr>
        <p:spPr>
          <a:xfrm>
            <a:off x="2378160" y="3966962"/>
            <a:ext cx="1717430" cy="468130"/>
          </a:xfrm>
          <a:custGeom>
            <a:avLst/>
            <a:gdLst/>
            <a:ahLst/>
            <a:cxnLst/>
            <a:rect l="l" t="t" r="r" b="b"/>
            <a:pathLst>
              <a:path w="3290590" h="815280">
                <a:moveTo>
                  <a:pt x="1425104" y="577081"/>
                </a:moveTo>
                <a:lnTo>
                  <a:pt x="1425104" y="672033"/>
                </a:lnTo>
                <a:lnTo>
                  <a:pt x="1522512" y="672033"/>
                </a:lnTo>
                <a:lnTo>
                  <a:pt x="1522512" y="577081"/>
                </a:lnTo>
                <a:close/>
                <a:moveTo>
                  <a:pt x="1226195" y="577081"/>
                </a:moveTo>
                <a:lnTo>
                  <a:pt x="1226195" y="672033"/>
                </a:lnTo>
                <a:lnTo>
                  <a:pt x="1323603" y="672033"/>
                </a:lnTo>
                <a:lnTo>
                  <a:pt x="1323603" y="577081"/>
                </a:lnTo>
                <a:close/>
                <a:moveTo>
                  <a:pt x="240655" y="496862"/>
                </a:moveTo>
                <a:lnTo>
                  <a:pt x="742429" y="496862"/>
                </a:lnTo>
                <a:lnTo>
                  <a:pt x="742429" y="564802"/>
                </a:lnTo>
                <a:lnTo>
                  <a:pt x="347067" y="564802"/>
                </a:lnTo>
                <a:lnTo>
                  <a:pt x="347067" y="600000"/>
                </a:lnTo>
                <a:lnTo>
                  <a:pt x="805458" y="600000"/>
                </a:lnTo>
                <a:lnTo>
                  <a:pt x="805458" y="681856"/>
                </a:lnTo>
                <a:lnTo>
                  <a:pt x="347067" y="681856"/>
                </a:lnTo>
                <a:lnTo>
                  <a:pt x="347067" y="717054"/>
                </a:lnTo>
                <a:lnTo>
                  <a:pt x="747340" y="717054"/>
                </a:lnTo>
                <a:lnTo>
                  <a:pt x="747340" y="784994"/>
                </a:lnTo>
                <a:lnTo>
                  <a:pt x="240655" y="784994"/>
                </a:lnTo>
                <a:lnTo>
                  <a:pt x="240655" y="681856"/>
                </a:lnTo>
                <a:lnTo>
                  <a:pt x="180082" y="681856"/>
                </a:lnTo>
                <a:lnTo>
                  <a:pt x="180082" y="600000"/>
                </a:lnTo>
                <a:lnTo>
                  <a:pt x="240655" y="600000"/>
                </a:lnTo>
                <a:close/>
                <a:moveTo>
                  <a:pt x="1425104" y="395362"/>
                </a:moveTo>
                <a:lnTo>
                  <a:pt x="1425104" y="488677"/>
                </a:lnTo>
                <a:lnTo>
                  <a:pt x="1522512" y="488677"/>
                </a:lnTo>
                <a:lnTo>
                  <a:pt x="1522512" y="395362"/>
                </a:lnTo>
                <a:close/>
                <a:moveTo>
                  <a:pt x="1226195" y="395362"/>
                </a:moveTo>
                <a:lnTo>
                  <a:pt x="1226195" y="488677"/>
                </a:lnTo>
                <a:lnTo>
                  <a:pt x="1323603" y="488677"/>
                </a:lnTo>
                <a:lnTo>
                  <a:pt x="1323603" y="395362"/>
                </a:lnTo>
                <a:close/>
                <a:moveTo>
                  <a:pt x="1123057" y="306958"/>
                </a:moveTo>
                <a:lnTo>
                  <a:pt x="1619101" y="306958"/>
                </a:lnTo>
                <a:lnTo>
                  <a:pt x="1619101" y="814462"/>
                </a:lnTo>
                <a:lnTo>
                  <a:pt x="1522512" y="814462"/>
                </a:lnTo>
                <a:lnTo>
                  <a:pt x="1522512" y="760437"/>
                </a:lnTo>
                <a:lnTo>
                  <a:pt x="1226195" y="760437"/>
                </a:lnTo>
                <a:lnTo>
                  <a:pt x="1226195" y="814462"/>
                </a:lnTo>
                <a:lnTo>
                  <a:pt x="1123057" y="814462"/>
                </a:lnTo>
                <a:close/>
                <a:moveTo>
                  <a:pt x="2003003" y="292224"/>
                </a:moveTo>
                <a:lnTo>
                  <a:pt x="2491680" y="292224"/>
                </a:lnTo>
                <a:lnTo>
                  <a:pt x="2491680" y="398636"/>
                </a:lnTo>
                <a:lnTo>
                  <a:pt x="2363986" y="398636"/>
                </a:lnTo>
                <a:lnTo>
                  <a:pt x="2363986" y="662210"/>
                </a:lnTo>
                <a:cubicBezTo>
                  <a:pt x="2363986" y="705867"/>
                  <a:pt x="2353822" y="739223"/>
                  <a:pt x="2333495" y="762279"/>
                </a:cubicBezTo>
                <a:cubicBezTo>
                  <a:pt x="2313167" y="785335"/>
                  <a:pt x="2284381" y="798090"/>
                  <a:pt x="2247137" y="800546"/>
                </a:cubicBezTo>
                <a:cubicBezTo>
                  <a:pt x="2209893" y="803002"/>
                  <a:pt x="2154709" y="804639"/>
                  <a:pt x="2081585" y="805457"/>
                </a:cubicBezTo>
                <a:cubicBezTo>
                  <a:pt x="2073945" y="769441"/>
                  <a:pt x="2063849" y="731242"/>
                  <a:pt x="2051298" y="690860"/>
                </a:cubicBezTo>
                <a:cubicBezTo>
                  <a:pt x="2108051" y="694680"/>
                  <a:pt x="2152799" y="696590"/>
                  <a:pt x="2185541" y="696590"/>
                </a:cubicBezTo>
                <a:cubicBezTo>
                  <a:pt x="2225377" y="696590"/>
                  <a:pt x="2245295" y="675580"/>
                  <a:pt x="2245295" y="633561"/>
                </a:cubicBezTo>
                <a:lnTo>
                  <a:pt x="2245295" y="398636"/>
                </a:lnTo>
                <a:lnTo>
                  <a:pt x="2003003" y="398636"/>
                </a:lnTo>
                <a:close/>
                <a:moveTo>
                  <a:pt x="1895773" y="212824"/>
                </a:moveTo>
                <a:lnTo>
                  <a:pt x="1991544" y="274215"/>
                </a:lnTo>
                <a:cubicBezTo>
                  <a:pt x="1967533" y="309413"/>
                  <a:pt x="1941339" y="343929"/>
                  <a:pt x="1912962" y="377763"/>
                </a:cubicBezTo>
                <a:lnTo>
                  <a:pt x="1912962" y="802183"/>
                </a:lnTo>
                <a:lnTo>
                  <a:pt x="1799183" y="802183"/>
                </a:lnTo>
                <a:lnTo>
                  <a:pt x="1799183" y="500546"/>
                </a:lnTo>
                <a:cubicBezTo>
                  <a:pt x="1774081" y="524830"/>
                  <a:pt x="1747887" y="548704"/>
                  <a:pt x="1720602" y="572169"/>
                </a:cubicBezTo>
                <a:cubicBezTo>
                  <a:pt x="1709688" y="541610"/>
                  <a:pt x="1694681" y="503684"/>
                  <a:pt x="1675581" y="458390"/>
                </a:cubicBezTo>
                <a:cubicBezTo>
                  <a:pt x="1759620" y="385812"/>
                  <a:pt x="1833017" y="303956"/>
                  <a:pt x="1895773" y="212824"/>
                </a:cubicBezTo>
                <a:close/>
                <a:moveTo>
                  <a:pt x="2030016" y="58117"/>
                </a:moveTo>
                <a:lnTo>
                  <a:pt x="2455664" y="58117"/>
                </a:lnTo>
                <a:lnTo>
                  <a:pt x="2455664" y="164529"/>
                </a:lnTo>
                <a:lnTo>
                  <a:pt x="2030016" y="164529"/>
                </a:lnTo>
                <a:close/>
                <a:moveTo>
                  <a:pt x="1201638" y="9004"/>
                </a:moveTo>
                <a:lnTo>
                  <a:pt x="1303139" y="9004"/>
                </a:lnTo>
                <a:lnTo>
                  <a:pt x="1303139" y="105593"/>
                </a:lnTo>
                <a:lnTo>
                  <a:pt x="1432471" y="105593"/>
                </a:lnTo>
                <a:lnTo>
                  <a:pt x="1432471" y="9004"/>
                </a:lnTo>
                <a:lnTo>
                  <a:pt x="1533971" y="9004"/>
                </a:lnTo>
                <a:lnTo>
                  <a:pt x="1533971" y="105593"/>
                </a:lnTo>
                <a:lnTo>
                  <a:pt x="1651843" y="105593"/>
                </a:lnTo>
                <a:lnTo>
                  <a:pt x="1651843" y="197271"/>
                </a:lnTo>
                <a:lnTo>
                  <a:pt x="1533971" y="197271"/>
                </a:lnTo>
                <a:lnTo>
                  <a:pt x="1533971" y="280764"/>
                </a:lnTo>
                <a:lnTo>
                  <a:pt x="1432471" y="280764"/>
                </a:lnTo>
                <a:lnTo>
                  <a:pt x="1432471" y="197271"/>
                </a:lnTo>
                <a:lnTo>
                  <a:pt x="1303139" y="197271"/>
                </a:lnTo>
                <a:lnTo>
                  <a:pt x="1303139" y="280764"/>
                </a:lnTo>
                <a:lnTo>
                  <a:pt x="1201638" y="280764"/>
                </a:lnTo>
                <a:lnTo>
                  <a:pt x="1201638" y="197271"/>
                </a:lnTo>
                <a:lnTo>
                  <a:pt x="1098500" y="197271"/>
                </a:lnTo>
                <a:lnTo>
                  <a:pt x="1098500" y="118690"/>
                </a:lnTo>
                <a:cubicBezTo>
                  <a:pt x="1076127" y="150887"/>
                  <a:pt x="1053480" y="180627"/>
                  <a:pt x="1030560" y="207912"/>
                </a:cubicBezTo>
                <a:cubicBezTo>
                  <a:pt x="1081311" y="338336"/>
                  <a:pt x="1097136" y="496589"/>
                  <a:pt x="1078037" y="682674"/>
                </a:cubicBezTo>
                <a:cubicBezTo>
                  <a:pt x="1069305" y="770532"/>
                  <a:pt x="1021829" y="812006"/>
                  <a:pt x="935608" y="807095"/>
                </a:cubicBezTo>
                <a:cubicBezTo>
                  <a:pt x="914326" y="807640"/>
                  <a:pt x="888950" y="806822"/>
                  <a:pt x="859482" y="804639"/>
                </a:cubicBezTo>
                <a:cubicBezTo>
                  <a:pt x="857300" y="780082"/>
                  <a:pt x="852115" y="744339"/>
                  <a:pt x="843930" y="697408"/>
                </a:cubicBezTo>
                <a:cubicBezTo>
                  <a:pt x="870669" y="701774"/>
                  <a:pt x="895772" y="704502"/>
                  <a:pt x="919237" y="705594"/>
                </a:cubicBezTo>
                <a:cubicBezTo>
                  <a:pt x="959073" y="711051"/>
                  <a:pt x="980901" y="691951"/>
                  <a:pt x="984721" y="648295"/>
                </a:cubicBezTo>
                <a:cubicBezTo>
                  <a:pt x="987450" y="597545"/>
                  <a:pt x="987450" y="548704"/>
                  <a:pt x="984721" y="501774"/>
                </a:cubicBezTo>
                <a:cubicBezTo>
                  <a:pt x="956345" y="539427"/>
                  <a:pt x="922784" y="575444"/>
                  <a:pt x="884039" y="609823"/>
                </a:cubicBezTo>
                <a:cubicBezTo>
                  <a:pt x="867122" y="572715"/>
                  <a:pt x="850751" y="540246"/>
                  <a:pt x="834926" y="512415"/>
                </a:cubicBezTo>
                <a:cubicBezTo>
                  <a:pt x="885676" y="472033"/>
                  <a:pt x="930151" y="424557"/>
                  <a:pt x="968350" y="369986"/>
                </a:cubicBezTo>
                <a:cubicBezTo>
                  <a:pt x="963439" y="344884"/>
                  <a:pt x="957163" y="320327"/>
                  <a:pt x="949523" y="296316"/>
                </a:cubicBezTo>
                <a:cubicBezTo>
                  <a:pt x="931515" y="313779"/>
                  <a:pt x="913234" y="330150"/>
                  <a:pt x="894680" y="345430"/>
                </a:cubicBezTo>
                <a:cubicBezTo>
                  <a:pt x="867395" y="302865"/>
                  <a:pt x="847477" y="273670"/>
                  <a:pt x="834926" y="257844"/>
                </a:cubicBezTo>
                <a:cubicBezTo>
                  <a:pt x="861665" y="236562"/>
                  <a:pt x="886768" y="214461"/>
                  <a:pt x="910233" y="191541"/>
                </a:cubicBezTo>
                <a:cubicBezTo>
                  <a:pt x="890042" y="148431"/>
                  <a:pt x="866031" y="108049"/>
                  <a:pt x="838200" y="70395"/>
                </a:cubicBezTo>
                <a:lnTo>
                  <a:pt x="912689" y="14734"/>
                </a:lnTo>
                <a:cubicBezTo>
                  <a:pt x="938882" y="43656"/>
                  <a:pt x="962075" y="75034"/>
                  <a:pt x="982266" y="108867"/>
                </a:cubicBezTo>
                <a:cubicBezTo>
                  <a:pt x="1000819" y="84856"/>
                  <a:pt x="1017736" y="59754"/>
                  <a:pt x="1033016" y="33560"/>
                </a:cubicBezTo>
                <a:lnTo>
                  <a:pt x="1118964" y="88403"/>
                </a:lnTo>
                <a:lnTo>
                  <a:pt x="1107505" y="105593"/>
                </a:lnTo>
                <a:lnTo>
                  <a:pt x="1201638" y="105593"/>
                </a:lnTo>
                <a:close/>
                <a:moveTo>
                  <a:pt x="2830562" y="3274"/>
                </a:moveTo>
                <a:lnTo>
                  <a:pt x="2956619" y="3274"/>
                </a:lnTo>
                <a:lnTo>
                  <a:pt x="2941885" y="185812"/>
                </a:lnTo>
                <a:lnTo>
                  <a:pt x="3290590" y="185812"/>
                </a:lnTo>
                <a:lnTo>
                  <a:pt x="3271354" y="503820"/>
                </a:lnTo>
                <a:cubicBezTo>
                  <a:pt x="3265078" y="606412"/>
                  <a:pt x="3259826" y="667804"/>
                  <a:pt x="3255597" y="687995"/>
                </a:cubicBezTo>
                <a:cubicBezTo>
                  <a:pt x="3251367" y="708186"/>
                  <a:pt x="3242022" y="727285"/>
                  <a:pt x="3227561" y="745294"/>
                </a:cubicBezTo>
                <a:cubicBezTo>
                  <a:pt x="3213100" y="763302"/>
                  <a:pt x="3194955" y="776399"/>
                  <a:pt x="3173127" y="784584"/>
                </a:cubicBezTo>
                <a:cubicBezTo>
                  <a:pt x="3151299" y="792770"/>
                  <a:pt x="3111394" y="797613"/>
                  <a:pt x="3053413" y="799114"/>
                </a:cubicBezTo>
                <a:cubicBezTo>
                  <a:pt x="2995433" y="800614"/>
                  <a:pt x="2952799" y="800819"/>
                  <a:pt x="2925514" y="799728"/>
                </a:cubicBezTo>
                <a:cubicBezTo>
                  <a:pt x="2920603" y="768623"/>
                  <a:pt x="2910508" y="727695"/>
                  <a:pt x="2895228" y="676944"/>
                </a:cubicBezTo>
                <a:cubicBezTo>
                  <a:pt x="2962077" y="681583"/>
                  <a:pt x="3014873" y="683902"/>
                  <a:pt x="3053618" y="683902"/>
                </a:cubicBezTo>
                <a:cubicBezTo>
                  <a:pt x="3084177" y="683902"/>
                  <a:pt x="3105392" y="680969"/>
                  <a:pt x="3117261" y="675103"/>
                </a:cubicBezTo>
                <a:cubicBezTo>
                  <a:pt x="3129130" y="669236"/>
                  <a:pt x="3137315" y="660778"/>
                  <a:pt x="3141817" y="649727"/>
                </a:cubicBezTo>
                <a:cubicBezTo>
                  <a:pt x="3146319" y="638677"/>
                  <a:pt x="3150889" y="601706"/>
                  <a:pt x="3155528" y="538813"/>
                </a:cubicBezTo>
                <a:cubicBezTo>
                  <a:pt x="3160167" y="475921"/>
                  <a:pt x="3165078" y="394270"/>
                  <a:pt x="3170262" y="293861"/>
                </a:cubicBezTo>
                <a:lnTo>
                  <a:pt x="2933700" y="293861"/>
                </a:lnTo>
                <a:cubicBezTo>
                  <a:pt x="2928516" y="342155"/>
                  <a:pt x="2919512" y="387995"/>
                  <a:pt x="2906687" y="431378"/>
                </a:cubicBezTo>
                <a:lnTo>
                  <a:pt x="2980357" y="362619"/>
                </a:lnTo>
                <a:cubicBezTo>
                  <a:pt x="3018557" y="395907"/>
                  <a:pt x="3064396" y="437108"/>
                  <a:pt x="3117875" y="486221"/>
                </a:cubicBezTo>
                <a:lnTo>
                  <a:pt x="3031108" y="569714"/>
                </a:lnTo>
                <a:cubicBezTo>
                  <a:pt x="2982267" y="514052"/>
                  <a:pt x="2940248" y="469714"/>
                  <a:pt x="2905051" y="436699"/>
                </a:cubicBezTo>
                <a:cubicBezTo>
                  <a:pt x="2857847" y="594407"/>
                  <a:pt x="2760985" y="720601"/>
                  <a:pt x="2614463" y="815280"/>
                </a:cubicBezTo>
                <a:cubicBezTo>
                  <a:pt x="2575719" y="778718"/>
                  <a:pt x="2543249" y="749523"/>
                  <a:pt x="2517056" y="727695"/>
                </a:cubicBezTo>
                <a:cubicBezTo>
                  <a:pt x="2690317" y="623193"/>
                  <a:pt x="2788270" y="478581"/>
                  <a:pt x="2810917" y="293861"/>
                </a:cubicBezTo>
                <a:lnTo>
                  <a:pt x="2534245" y="293861"/>
                </a:lnTo>
                <a:lnTo>
                  <a:pt x="2534245" y="185812"/>
                </a:lnTo>
                <a:lnTo>
                  <a:pt x="2680767" y="185812"/>
                </a:lnTo>
                <a:cubicBezTo>
                  <a:pt x="2652117" y="148977"/>
                  <a:pt x="2619375" y="111323"/>
                  <a:pt x="2582540" y="72851"/>
                </a:cubicBezTo>
                <a:lnTo>
                  <a:pt x="2662758" y="4092"/>
                </a:lnTo>
                <a:cubicBezTo>
                  <a:pt x="2705323" y="43383"/>
                  <a:pt x="2743795" y="80764"/>
                  <a:pt x="2778175" y="116234"/>
                </a:cubicBezTo>
                <a:lnTo>
                  <a:pt x="2700821" y="185812"/>
                </a:lnTo>
                <a:lnTo>
                  <a:pt x="2819102" y="185812"/>
                </a:lnTo>
                <a:close/>
                <a:moveTo>
                  <a:pt x="1882676" y="0"/>
                </a:moveTo>
                <a:cubicBezTo>
                  <a:pt x="1917601" y="24010"/>
                  <a:pt x="1950343" y="47476"/>
                  <a:pt x="1980902" y="70395"/>
                </a:cubicBezTo>
                <a:cubicBezTo>
                  <a:pt x="1923604" y="136971"/>
                  <a:pt x="1847478" y="208185"/>
                  <a:pt x="1752526" y="284038"/>
                </a:cubicBezTo>
                <a:cubicBezTo>
                  <a:pt x="1732335" y="253479"/>
                  <a:pt x="1708051" y="221282"/>
                  <a:pt x="1679674" y="187449"/>
                </a:cubicBezTo>
                <a:cubicBezTo>
                  <a:pt x="1771352" y="117599"/>
                  <a:pt x="1839020" y="55116"/>
                  <a:pt x="1882676" y="0"/>
                </a:cubicBezTo>
                <a:close/>
                <a:moveTo>
                  <a:pt x="324148" y="0"/>
                </a:moveTo>
                <a:lnTo>
                  <a:pt x="435471" y="0"/>
                </a:lnTo>
                <a:lnTo>
                  <a:pt x="435471" y="46657"/>
                </a:lnTo>
                <a:lnTo>
                  <a:pt x="752252" y="46657"/>
                </a:lnTo>
                <a:lnTo>
                  <a:pt x="752252" y="123601"/>
                </a:lnTo>
                <a:lnTo>
                  <a:pt x="435471" y="123601"/>
                </a:lnTo>
                <a:lnTo>
                  <a:pt x="435471" y="156344"/>
                </a:lnTo>
                <a:lnTo>
                  <a:pt x="814462" y="156344"/>
                </a:lnTo>
                <a:lnTo>
                  <a:pt x="795635" y="311050"/>
                </a:lnTo>
                <a:lnTo>
                  <a:pt x="682675" y="297954"/>
                </a:lnTo>
                <a:lnTo>
                  <a:pt x="690860" y="243110"/>
                </a:lnTo>
                <a:lnTo>
                  <a:pt x="181719" y="243110"/>
                </a:lnTo>
                <a:lnTo>
                  <a:pt x="181719" y="297954"/>
                </a:lnTo>
                <a:lnTo>
                  <a:pt x="311051" y="291405"/>
                </a:lnTo>
                <a:lnTo>
                  <a:pt x="311051" y="257844"/>
                </a:lnTo>
                <a:lnTo>
                  <a:pt x="419100" y="257844"/>
                </a:lnTo>
                <a:lnTo>
                  <a:pt x="419100" y="285675"/>
                </a:lnTo>
                <a:lnTo>
                  <a:pt x="618009" y="274215"/>
                </a:lnTo>
                <a:lnTo>
                  <a:pt x="621283" y="345430"/>
                </a:lnTo>
                <a:lnTo>
                  <a:pt x="419100" y="357708"/>
                </a:lnTo>
                <a:cubicBezTo>
                  <a:pt x="420191" y="378990"/>
                  <a:pt x="433834" y="389632"/>
                  <a:pt x="460028" y="389632"/>
                </a:cubicBezTo>
                <a:lnTo>
                  <a:pt x="602456" y="389632"/>
                </a:lnTo>
                <a:cubicBezTo>
                  <a:pt x="645567" y="389086"/>
                  <a:pt x="668759" y="380082"/>
                  <a:pt x="672033" y="362619"/>
                </a:cubicBezTo>
                <a:cubicBezTo>
                  <a:pt x="674216" y="351160"/>
                  <a:pt x="676126" y="334788"/>
                  <a:pt x="677763" y="313506"/>
                </a:cubicBezTo>
                <a:cubicBezTo>
                  <a:pt x="718691" y="328240"/>
                  <a:pt x="752797" y="339700"/>
                  <a:pt x="780083" y="347885"/>
                </a:cubicBezTo>
                <a:cubicBezTo>
                  <a:pt x="772988" y="376808"/>
                  <a:pt x="765076" y="400819"/>
                  <a:pt x="756345" y="419918"/>
                </a:cubicBezTo>
                <a:cubicBezTo>
                  <a:pt x="742156" y="450478"/>
                  <a:pt x="699319" y="465757"/>
                  <a:pt x="627831" y="465757"/>
                </a:cubicBezTo>
                <a:lnTo>
                  <a:pt x="442020" y="465757"/>
                </a:lnTo>
                <a:cubicBezTo>
                  <a:pt x="356344" y="465757"/>
                  <a:pt x="312688" y="431651"/>
                  <a:pt x="311051" y="363438"/>
                </a:cubicBezTo>
                <a:lnTo>
                  <a:pt x="181719" y="371623"/>
                </a:lnTo>
                <a:lnTo>
                  <a:pt x="181719" y="498499"/>
                </a:lnTo>
                <a:cubicBezTo>
                  <a:pt x="180082" y="631651"/>
                  <a:pt x="150341" y="736972"/>
                  <a:pt x="92497" y="814462"/>
                </a:cubicBezTo>
                <a:cubicBezTo>
                  <a:pt x="65212" y="791542"/>
                  <a:pt x="34379" y="767531"/>
                  <a:pt x="0" y="742429"/>
                </a:cubicBezTo>
                <a:cubicBezTo>
                  <a:pt x="49113" y="670942"/>
                  <a:pt x="73670" y="580901"/>
                  <a:pt x="73670" y="472306"/>
                </a:cubicBezTo>
                <a:lnTo>
                  <a:pt x="73670" y="156344"/>
                </a:lnTo>
                <a:lnTo>
                  <a:pt x="324148" y="156344"/>
                </a:lnTo>
                <a:close/>
              </a:path>
            </a:pathLst>
          </a:custGeom>
          <a:blipFill dpi="0" rotWithShape="1">
            <a:blip r:embed="rId5"/>
            <a:srcRect/>
            <a:tile tx="0" ty="-368300" sx="100000" sy="100000" flip="none" algn="ctr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1479" y="1632290"/>
            <a:ext cx="3127874" cy="289190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05205" y="3570493"/>
            <a:ext cx="4707318" cy="190739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18523" y="1746439"/>
            <a:ext cx="4014109" cy="176830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</a:t>
            </a:r>
            <a:r>
              <a:rPr lang="zh-CN" altLang="en-US" dirty="0"/>
              <a:t>多维度矛盾分析 </a:t>
            </a:r>
            <a:r>
              <a:rPr lang="en-US" altLang="zh-CN" dirty="0"/>
              <a:t>-</a:t>
            </a:r>
            <a:r>
              <a:rPr lang="zh-CN" altLang="en-US" dirty="0"/>
              <a:t> 高校与社会影响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2025/5/15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2.</a:t>
            </a:r>
            <a:r>
              <a:rPr lang="zh-CN" altLang="en-US" dirty="0"/>
              <a:t>多维度矛盾分析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1DE9E-98FD-4FDD-B608-10E91D3BEBD8}" type="slidenum">
              <a:rPr lang="zh-CN" altLang="en-US" smtClean="0"/>
              <a:t>6</a:t>
            </a:fld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197" y="1642251"/>
            <a:ext cx="2381267" cy="2381267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617" y="1864686"/>
            <a:ext cx="1613007" cy="2016259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1977554" y="4440828"/>
            <a:ext cx="1895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声誉风险</a:t>
            </a:r>
            <a:r>
              <a:rPr lang="en-US" altLang="zh-CN" sz="2800" b="1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?  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2409" y="2087953"/>
            <a:ext cx="4610134" cy="153829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1" name="文本框 20"/>
          <p:cNvSpPr txBox="1"/>
          <p:nvPr/>
        </p:nvSpPr>
        <p:spPr>
          <a:xfrm>
            <a:off x="7839876" y="4405104"/>
            <a:ext cx="1895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社会责任</a:t>
            </a:r>
            <a:r>
              <a:rPr lang="en-US" altLang="zh-CN" sz="2800" b="1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?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</a:t>
            </a:r>
            <a:r>
              <a:rPr lang="zh-CN" altLang="en-US" dirty="0"/>
              <a:t>多维度矛盾分析 </a:t>
            </a:r>
            <a:r>
              <a:rPr lang="en-US" altLang="zh-CN" dirty="0"/>
              <a:t>- </a:t>
            </a:r>
            <a:r>
              <a:rPr lang="zh-CN" altLang="en-US" dirty="0"/>
              <a:t>批判性思维应用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2025/5/15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2.</a:t>
            </a:r>
            <a:r>
              <a:rPr lang="zh-CN" altLang="en-US" dirty="0"/>
              <a:t>多维度矛盾分析</a:t>
            </a:r>
          </a:p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1DE9E-98FD-4FDD-B608-10E91D3BEBD8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8446300" y="3141101"/>
            <a:ext cx="1775012" cy="1775012"/>
          </a:xfrm>
          <a:prstGeom prst="ellipse">
            <a:avLst/>
          </a:prstGeom>
          <a:solidFill>
            <a:srgbClr val="95A5A6">
              <a:alpha val="7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8312470" y="1583095"/>
            <a:ext cx="1775012" cy="1775012"/>
          </a:xfrm>
          <a:prstGeom prst="ellipse">
            <a:avLst/>
          </a:prstGeom>
          <a:solidFill>
            <a:srgbClr val="E67E22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7186119" y="2470601"/>
            <a:ext cx="1775012" cy="1775012"/>
          </a:xfrm>
          <a:prstGeom prst="ellipse">
            <a:avLst/>
          </a:prstGeom>
          <a:solidFill>
            <a:srgbClr val="2C3E5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等腰三角形 10"/>
          <p:cNvSpPr/>
          <p:nvPr/>
        </p:nvSpPr>
        <p:spPr>
          <a:xfrm rot="1346525">
            <a:off x="8862817" y="3228155"/>
            <a:ext cx="115415" cy="82172"/>
          </a:xfrm>
          <a:prstGeom prst="triangle">
            <a:avLst>
              <a:gd name="adj" fmla="val 56840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8920524" y="2267639"/>
            <a:ext cx="7048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道德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9027647" y="3825645"/>
            <a:ext cx="7261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舆论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7753567" y="3159869"/>
            <a:ext cx="700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学术</a:t>
            </a:r>
          </a:p>
        </p:txBody>
      </p:sp>
      <p:cxnSp>
        <p:nvCxnSpPr>
          <p:cNvPr id="21" name="直接箭头连接符 20"/>
          <p:cNvCxnSpPr>
            <a:endCxn id="11" idx="3"/>
          </p:cNvCxnSpPr>
          <p:nvPr/>
        </p:nvCxnSpPr>
        <p:spPr>
          <a:xfrm flipV="1">
            <a:off x="8132797" y="3310229"/>
            <a:ext cx="779340" cy="157702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7662708" y="4852202"/>
            <a:ext cx="8824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chemeClr val="accent4">
                    <a:lumMod val="7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冲突点</a:t>
            </a:r>
            <a:endParaRPr lang="zh-CN" altLang="en-US" b="1" dirty="0">
              <a:solidFill>
                <a:schemeClr val="accent4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456948" y="1583095"/>
            <a:ext cx="298533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理性思考</a:t>
            </a:r>
            <a:endParaRPr lang="en-US" alt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独立思考  </a:t>
            </a:r>
            <a:endParaRPr lang="en-US" alt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全面分析</a:t>
            </a:r>
            <a:endParaRPr lang="en-US" alt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逻辑严谨 </a:t>
            </a:r>
            <a:endParaRPr lang="en-US" alt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 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开放与反思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内容占位符 2"/>
          <p:cNvSpPr txBox="1"/>
          <p:nvPr/>
        </p:nvSpPr>
        <p:spPr>
          <a:xfrm>
            <a:off x="1504950" y="1608137"/>
            <a:ext cx="4260850" cy="4568825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b="1"/>
              <a:t>处理合理性</a:t>
            </a:r>
          </a:p>
          <a:p>
            <a:endParaRPr lang="zh-CN" altLang="en-US"/>
          </a:p>
          <a:p>
            <a:r>
              <a:rPr lang="zh-CN" altLang="en-US"/>
              <a:t>依规淘汰，重视品德</a:t>
            </a:r>
            <a:endParaRPr lang="en-US" altLang="zh-CN"/>
          </a:p>
          <a:p>
            <a:r>
              <a:rPr lang="zh-CN" altLang="en-US"/>
              <a:t>具警示作用</a:t>
            </a:r>
            <a:endParaRPr lang="en-US" altLang="zh-CN"/>
          </a:p>
          <a:p>
            <a:r>
              <a:rPr lang="zh-CN" altLang="en-US"/>
              <a:t>坚守道德底线</a:t>
            </a:r>
            <a:endParaRPr lang="en-US" altLang="zh-CN"/>
          </a:p>
          <a:p>
            <a:r>
              <a:rPr lang="zh-CN" altLang="en-US"/>
              <a:t>传递以德为先导向 </a:t>
            </a:r>
            <a:endParaRPr lang="en-US" altLang="zh-CN"/>
          </a:p>
          <a:p>
            <a:endParaRPr lang="en-US" altLang="zh-CN"/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b="1"/>
              <a:t>改进建议</a:t>
            </a:r>
          </a:p>
          <a:p>
            <a:endParaRPr lang="zh-CN" altLang="en-US"/>
          </a:p>
          <a:p>
            <a:r>
              <a:rPr lang="zh-CN" altLang="en-US"/>
              <a:t>道德审查需更深入</a:t>
            </a:r>
            <a:endParaRPr lang="en-US" altLang="zh-CN"/>
          </a:p>
          <a:p>
            <a:r>
              <a:rPr lang="zh-CN" altLang="en-US"/>
              <a:t>减少依赖网络信息</a:t>
            </a:r>
            <a:endParaRPr lang="en-US" altLang="zh-CN"/>
          </a:p>
          <a:p>
            <a:r>
              <a:rPr lang="zh-CN" altLang="en-US"/>
              <a:t>提高透明度与公信力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 </a:t>
            </a:r>
            <a:r>
              <a:rPr lang="zh-CN" altLang="en-US" dirty="0"/>
              <a:t>高校决策的批判性审视 </a:t>
            </a:r>
            <a:r>
              <a:rPr lang="en-US" altLang="zh-CN" dirty="0"/>
              <a:t>- </a:t>
            </a:r>
            <a:r>
              <a:rPr lang="zh-CN" altLang="en-US" dirty="0"/>
              <a:t>南大决策分析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2025/5/15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3. </a:t>
            </a:r>
            <a:r>
              <a:rPr lang="zh-CN" altLang="en-US" dirty="0"/>
              <a:t>高校决策的批判性审视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1DE9E-98FD-4FDD-B608-10E91D3BEBD8}" type="slidenum">
              <a:rPr lang="zh-CN" altLang="en-US" smtClean="0"/>
              <a:t>8</a:t>
            </a:fld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7150" y="1540556"/>
            <a:ext cx="6483350" cy="2065461"/>
          </a:xfrm>
          <a:prstGeom prst="rect">
            <a:avLst/>
          </a:prstGeom>
          <a:ln>
            <a:noFill/>
          </a:ln>
          <a:effectLst>
            <a:softEdge rad="63500"/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/>
          <p:cNvSpPr txBox="1"/>
          <p:nvPr/>
        </p:nvSpPr>
        <p:spPr>
          <a:xfrm>
            <a:off x="1504950" y="1608138"/>
            <a:ext cx="4260850" cy="4568825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b="1" dirty="0"/>
              <a:t>处理合理性</a:t>
            </a:r>
          </a:p>
          <a:p>
            <a:endParaRPr lang="zh-CN" altLang="en-US" dirty="0"/>
          </a:p>
          <a:p>
            <a:r>
              <a:rPr lang="zh-CN" altLang="en-US" dirty="0"/>
              <a:t>全面考量，态度谨慎负责  </a:t>
            </a:r>
          </a:p>
          <a:p>
            <a:r>
              <a:rPr lang="zh-CN" altLang="en-US" dirty="0"/>
              <a:t>遵守流程，保障考生机会  </a:t>
            </a:r>
          </a:p>
          <a:p>
            <a:r>
              <a:rPr lang="zh-CN" altLang="en-US" dirty="0"/>
              <a:t>平衡学术与道德关切  </a:t>
            </a:r>
          </a:p>
          <a:p>
            <a:r>
              <a:rPr lang="zh-CN" altLang="en-US" dirty="0"/>
              <a:t>提供参考案例 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zh-CN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b="1" dirty="0"/>
              <a:t>改进建议</a:t>
            </a:r>
          </a:p>
          <a:p>
            <a:endParaRPr lang="zh-CN" altLang="en-US" dirty="0"/>
          </a:p>
          <a:p>
            <a:r>
              <a:rPr lang="zh-CN" altLang="en-US" dirty="0"/>
              <a:t>明确道德考核标准  </a:t>
            </a:r>
          </a:p>
          <a:p>
            <a:r>
              <a:rPr lang="zh-CN" altLang="en-US" dirty="0"/>
              <a:t>加快调查，及时回应  </a:t>
            </a:r>
          </a:p>
          <a:p>
            <a:r>
              <a:rPr lang="zh-CN" altLang="en-US" dirty="0"/>
              <a:t>减少争议，维护形象 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 </a:t>
            </a:r>
            <a:r>
              <a:rPr lang="zh-CN" altLang="en-US" dirty="0"/>
              <a:t>高校决策的批判性审视 </a:t>
            </a:r>
            <a:r>
              <a:rPr lang="en-US" altLang="zh-CN" dirty="0"/>
              <a:t>- </a:t>
            </a:r>
            <a:r>
              <a:rPr lang="zh-CN" altLang="en-US" dirty="0"/>
              <a:t>兰大决策分析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2025/5/15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3. </a:t>
            </a:r>
            <a:r>
              <a:rPr lang="zh-CN" altLang="en-US" dirty="0"/>
              <a:t>高校决策的批判性审视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1DE9E-98FD-4FDD-B608-10E91D3BEBD8}" type="slidenum">
              <a:rPr lang="zh-CN" altLang="en-US" smtClean="0"/>
              <a:t>9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2500" y="1608138"/>
            <a:ext cx="5648366" cy="2905146"/>
          </a:xfrm>
          <a:prstGeom prst="rect">
            <a:avLst/>
          </a:prstGeom>
          <a:ln>
            <a:noFill/>
          </a:ln>
          <a:effectLst>
            <a:softEdge rad="63500"/>
          </a:effectLst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2500" y="4762521"/>
            <a:ext cx="5637020" cy="819129"/>
          </a:xfrm>
          <a:prstGeom prst="rect">
            <a:avLst/>
          </a:prstGeom>
          <a:ln>
            <a:noFill/>
          </a:ln>
          <a:effectLst>
            <a:softEdge rad="63500"/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 </a:t>
            </a:r>
            <a:r>
              <a:rPr lang="zh-CN" altLang="en-US" dirty="0"/>
              <a:t>综合平衡与改进建议 </a:t>
            </a:r>
            <a:r>
              <a:rPr lang="en-US" altLang="zh-CN" dirty="0"/>
              <a:t>- </a:t>
            </a:r>
            <a:r>
              <a:rPr lang="zh-CN" altLang="en-US" dirty="0"/>
              <a:t>平衡框架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2025/5/15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4. </a:t>
            </a:r>
            <a:r>
              <a:rPr lang="zh-CN" altLang="en-US" dirty="0"/>
              <a:t>综合平衡与改进建议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1DE9E-98FD-4FDD-B608-10E91D3BEBD8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7" name="等腰三角形 6"/>
          <p:cNvSpPr/>
          <p:nvPr/>
        </p:nvSpPr>
        <p:spPr>
          <a:xfrm>
            <a:off x="7264908" y="1934369"/>
            <a:ext cx="3955542" cy="3409950"/>
          </a:xfrm>
          <a:prstGeom prst="triangle">
            <a:avLst/>
          </a:prstGeom>
          <a:noFill/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r>
              <a:rPr lang="zh-CN" altLang="en-US" sz="2400" b="0" i="0" dirty="0">
                <a:solidFill>
                  <a:schemeClr val="accent4">
                    <a:lumMod val="20000"/>
                    <a:lumOff val="8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严格考核</a:t>
            </a:r>
            <a:endParaRPr lang="en-US" altLang="zh-CN" sz="2400" b="0" i="0" dirty="0">
              <a:solidFill>
                <a:schemeClr val="accent4">
                  <a:lumMod val="20000"/>
                  <a:lumOff val="80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2400" dirty="0">
                <a:solidFill>
                  <a:schemeClr val="accent4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en-US" altLang="zh-CN" sz="2400" b="0" i="0" dirty="0">
              <a:solidFill>
                <a:schemeClr val="accent4">
                  <a:lumMod val="20000"/>
                  <a:lumOff val="80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b="0" i="0" dirty="0">
                <a:solidFill>
                  <a:schemeClr val="accent4">
                    <a:lumMod val="20000"/>
                    <a:lumOff val="8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改过机制</a:t>
            </a:r>
            <a:endParaRPr lang="zh-CN" altLang="en-US" sz="2400" dirty="0">
              <a:solidFill>
                <a:schemeClr val="accent4">
                  <a:lumMod val="20000"/>
                  <a:lumOff val="8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8785479" y="1578769"/>
            <a:ext cx="914400" cy="914400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i="0" dirty="0">
                <a:solidFill>
                  <a:srgbClr val="404040"/>
                </a:solidFill>
                <a:effectLst/>
                <a:latin typeface="DeepSeek-CJK-patch"/>
              </a:rPr>
              <a:t>道德</a:t>
            </a:r>
            <a:endParaRPr lang="en-US" altLang="zh-CN" b="0" i="0" dirty="0">
              <a:solidFill>
                <a:srgbClr val="404040"/>
              </a:solidFill>
              <a:effectLst/>
              <a:latin typeface="DeepSeek-CJK-patch"/>
            </a:endParaRPr>
          </a:p>
          <a:p>
            <a:pPr algn="ctr"/>
            <a:r>
              <a:rPr lang="zh-CN" altLang="en-US" b="0" i="0" dirty="0">
                <a:solidFill>
                  <a:srgbClr val="404040"/>
                </a:solidFill>
                <a:effectLst/>
                <a:latin typeface="DeepSeek-CJK-patch"/>
              </a:rPr>
              <a:t>👤</a:t>
            </a:r>
            <a:endParaRPr lang="zh-CN" altLang="en-US" dirty="0"/>
          </a:p>
        </p:txBody>
      </p:sp>
      <p:sp>
        <p:nvSpPr>
          <p:cNvPr id="9" name="椭圆 8"/>
          <p:cNvSpPr/>
          <p:nvPr/>
        </p:nvSpPr>
        <p:spPr>
          <a:xfrm>
            <a:off x="6807708" y="4842669"/>
            <a:ext cx="914400" cy="914400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i="0" dirty="0">
                <a:solidFill>
                  <a:srgbClr val="404040"/>
                </a:solidFill>
                <a:effectLst/>
                <a:latin typeface="DeepSeek-CJK-patch"/>
              </a:rPr>
              <a:t>学术📚</a:t>
            </a:r>
            <a:endParaRPr lang="zh-CN" altLang="en-US" dirty="0"/>
          </a:p>
        </p:txBody>
      </p:sp>
      <p:sp>
        <p:nvSpPr>
          <p:cNvPr id="10" name="椭圆 9"/>
          <p:cNvSpPr/>
          <p:nvPr/>
        </p:nvSpPr>
        <p:spPr>
          <a:xfrm>
            <a:off x="10763250" y="4842669"/>
            <a:ext cx="914400" cy="914400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i="0" dirty="0">
                <a:solidFill>
                  <a:srgbClr val="404040"/>
                </a:solidFill>
                <a:effectLst/>
                <a:latin typeface="DeepSeek-CJK-patch"/>
              </a:rPr>
              <a:t>社会💬</a:t>
            </a:r>
            <a:endParaRPr lang="zh-CN" altLang="en-US" dirty="0"/>
          </a:p>
        </p:txBody>
      </p:sp>
      <p:sp>
        <p:nvSpPr>
          <p:cNvPr id="11" name="内容占位符 2"/>
          <p:cNvSpPr>
            <a:spLocks noGrp="1"/>
          </p:cNvSpPr>
          <p:nvPr>
            <p:ph idx="1"/>
          </p:nvPr>
        </p:nvSpPr>
        <p:spPr>
          <a:xfrm>
            <a:off x="1422399" y="1934369"/>
            <a:ext cx="5029201" cy="382270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b="0" i="0" dirty="0">
                <a:solidFill>
                  <a:schemeClr val="bg1">
                    <a:lumMod val="85000"/>
                  </a:schemeClr>
                </a:solidFill>
                <a:effectLst/>
                <a:latin typeface="system-ui"/>
              </a:rPr>
              <a:t>教育选拔应兼顾学术能力与道德品质，对有悔改表现者可给予机会，高校需完善考核机制，社会舆论也应理性看待，共同维护公平公正的教育环境。</a:t>
            </a:r>
            <a:endParaRPr lang="zh-CN" altLang="en-US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 </a:t>
            </a:r>
            <a:r>
              <a:rPr lang="zh-CN" altLang="en-US" dirty="0"/>
              <a:t>综合平衡与改进建议 </a:t>
            </a:r>
            <a:r>
              <a:rPr lang="en-US" altLang="zh-CN" dirty="0"/>
              <a:t>-</a:t>
            </a:r>
            <a:r>
              <a:rPr lang="zh-CN" altLang="en-US" dirty="0"/>
              <a:t> 具体建议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2025/5/15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4. </a:t>
            </a:r>
            <a:r>
              <a:rPr lang="zh-CN" altLang="en-US" dirty="0"/>
              <a:t>综合平衡与改进建议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1DE9E-98FD-4FDD-B608-10E91D3BEBD8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7" name="序号"/>
          <p:cNvSpPr txBox="1"/>
          <p:nvPr>
            <p:custDataLst>
              <p:tags r:id="rId1"/>
            </p:custDataLst>
          </p:nvPr>
        </p:nvSpPr>
        <p:spPr>
          <a:xfrm>
            <a:off x="1549952" y="1740565"/>
            <a:ext cx="1241963" cy="952171"/>
          </a:xfrm>
          <a:prstGeom prst="chevron">
            <a:avLst>
              <a:gd name="adj" fmla="val 28143"/>
            </a:avLst>
          </a:prstGeom>
          <a:solidFill>
            <a:schemeClr val="tx2"/>
          </a:solidFill>
        </p:spPr>
        <p:txBody>
          <a:bodyPr wrap="none" lIns="107950" tIns="0" rIns="0" bIns="0" rtlCol="0" anchor="ctr" anchorCtr="0">
            <a:norm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3000" b="1" dirty="0">
                <a:solidFill>
                  <a:srgbClr val="FFFFFF"/>
                </a:solidFill>
                <a:latin typeface="+mn-ea"/>
              </a:rPr>
              <a:t>📖</a:t>
            </a:r>
          </a:p>
        </p:txBody>
      </p:sp>
      <p:sp>
        <p:nvSpPr>
          <p:cNvPr id="8" name="项标题"/>
          <p:cNvSpPr txBox="1"/>
          <p:nvPr>
            <p:custDataLst>
              <p:tags r:id="rId2"/>
            </p:custDataLst>
          </p:nvPr>
        </p:nvSpPr>
        <p:spPr>
          <a:xfrm>
            <a:off x="3295257" y="1760859"/>
            <a:ext cx="4146067" cy="91249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zh-CN" altLang="en-US" sz="2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高校建立道德行为数据库</a:t>
            </a:r>
          </a:p>
        </p:txBody>
      </p:sp>
      <p:sp>
        <p:nvSpPr>
          <p:cNvPr id="9" name="序号"/>
          <p:cNvSpPr txBox="1"/>
          <p:nvPr>
            <p:custDataLst>
              <p:tags r:id="rId3"/>
            </p:custDataLst>
          </p:nvPr>
        </p:nvSpPr>
        <p:spPr>
          <a:xfrm>
            <a:off x="2561242" y="3126172"/>
            <a:ext cx="1241963" cy="952171"/>
          </a:xfrm>
          <a:prstGeom prst="chevron">
            <a:avLst>
              <a:gd name="adj" fmla="val 28143"/>
            </a:avLst>
          </a:prstGeom>
          <a:solidFill>
            <a:schemeClr val="tx2"/>
          </a:solidFill>
        </p:spPr>
        <p:txBody>
          <a:bodyPr wrap="none" lIns="107950" tIns="0" rIns="0" bIns="0" rtlCol="0" anchor="ctr" anchorCtr="0">
            <a:norm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3000" b="1" dirty="0">
                <a:solidFill>
                  <a:srgbClr val="FFFFFF"/>
                </a:solidFill>
                <a:latin typeface="+mn-ea"/>
              </a:rPr>
              <a:t>🖥️</a:t>
            </a:r>
          </a:p>
        </p:txBody>
      </p:sp>
      <p:sp>
        <p:nvSpPr>
          <p:cNvPr id="10" name="项标题"/>
          <p:cNvSpPr txBox="1"/>
          <p:nvPr>
            <p:custDataLst>
              <p:tags r:id="rId4"/>
            </p:custDataLst>
          </p:nvPr>
        </p:nvSpPr>
        <p:spPr>
          <a:xfrm>
            <a:off x="4306547" y="3146467"/>
            <a:ext cx="3846853" cy="91249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zh-CN" altLang="en-US" sz="2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制定量化品德考核指标</a:t>
            </a:r>
          </a:p>
        </p:txBody>
      </p:sp>
      <p:sp>
        <p:nvSpPr>
          <p:cNvPr id="12" name="序号"/>
          <p:cNvSpPr txBox="1"/>
          <p:nvPr>
            <p:custDataLst>
              <p:tags r:id="rId5"/>
            </p:custDataLst>
          </p:nvPr>
        </p:nvSpPr>
        <p:spPr>
          <a:xfrm>
            <a:off x="3581400" y="4511780"/>
            <a:ext cx="1241963" cy="952171"/>
          </a:xfrm>
          <a:prstGeom prst="chevron">
            <a:avLst>
              <a:gd name="adj" fmla="val 28143"/>
            </a:avLst>
          </a:prstGeom>
          <a:solidFill>
            <a:schemeClr val="tx2"/>
          </a:solidFill>
        </p:spPr>
        <p:txBody>
          <a:bodyPr wrap="none" lIns="107950" tIns="0" rIns="0" bIns="0" rtlCol="0" anchor="ctr" anchorCtr="0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3000" b="1" dirty="0">
                <a:solidFill>
                  <a:srgbClr val="FFFFFF"/>
                </a:solidFill>
                <a:latin typeface="+mn-ea"/>
              </a:rPr>
              <a:t>⏱</a:t>
            </a:r>
            <a:endParaRPr lang="zh-CN" altLang="en-US" sz="3000" b="1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3" name="项标题"/>
          <p:cNvSpPr txBox="1"/>
          <p:nvPr>
            <p:custDataLst>
              <p:tags r:id="rId6"/>
            </p:custDataLst>
          </p:nvPr>
        </p:nvSpPr>
        <p:spPr>
          <a:xfrm>
            <a:off x="5326705" y="4532074"/>
            <a:ext cx="4296567" cy="91249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zh-CN" altLang="en-US" sz="2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设立道德观察期与心理评估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道德是教育底线，</a:t>
            </a:r>
            <a:br>
              <a:rPr lang="en-US" altLang="zh-CN" dirty="0"/>
            </a:br>
            <a:r>
              <a:rPr lang="zh-CN" altLang="en-US" dirty="0"/>
              <a:t>但需程序正义与改过机制保障公平。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2025/5/15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结论与致谢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1DE9E-98FD-4FDD-B608-10E91D3BEBD8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0213CCA-F080-4DF2-9062-885380F4FFB3}"/>
              </a:ext>
            </a:extLst>
          </p:cNvPr>
          <p:cNvSpPr txBox="1"/>
          <p:nvPr/>
        </p:nvSpPr>
        <p:spPr>
          <a:xfrm>
            <a:off x="957943" y="5022334"/>
            <a:ext cx="71265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000" dirty="0">
                <a:solidFill>
                  <a:schemeClr val="accent4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感谢聆听！欢迎提问与讨论！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i"/>
  <p:tag name="KSO_WM_UNIT_SUBTYPE" val="d"/>
  <p:tag name="KSO_WM_UNIT_INDEX" val="1_1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17_3*l_h_i*1_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17"/>
  <p:tag name="KSO_WM_TEMPLATE_CATEGORY" val="custom"/>
  <p:tag name="KSO_WM_DIAGRAM_MAX_ITEMCNT" val="6"/>
  <p:tag name="KSO_WM_DIAGRAM_MIN_ITEMCNT" val="2"/>
  <p:tag name="KSO_WM_DIAGRAM_VIRTUALLY_FRAME" val="{&quot;height&quot;:293.18000000000006,&quot;left&quot;:105.44999999999997,&quot;top&quot;:137.05236220472437,&quot;width&quot;:771.45}"/>
  <p:tag name="KSO_WM_DIAGRAM_COLOR_MATCH_VALUE" val="{&quot;shape&quot;:{&quot;fill&quot;:{&quot;gradient&quot;:[{&quot;brightness&quot;:0.3499999940395355,&quot;colorType&quot;:1,&quot;foreColorIndex&quot;:5,&quot;pos&quot;:0,&quot;transparency&quot;:0},{&quot;brightness&quot;:0,&quot;colorType&quot;:1,&quot;foreColorIndex&quot;:5,&quot;pos&quot;:0.800000011920929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5"/>
  <p:tag name="KSO_WM_UNIT_USESOURCEFORMAT_APPLY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f"/>
  <p:tag name="KSO_WM_UNIT_INDEX" val="1_1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17_3*l_h_f*1_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17"/>
  <p:tag name="KSO_WM_TEMPLATE_CATEGORY" val="custom"/>
  <p:tag name="KSO_WM_UNIT_SUBTYPE" val="a"/>
  <p:tag name="KSO_WM_UNIT_TEXT_LAYER_COUNT" val="1"/>
  <p:tag name="KSO_WM_UNIT_PRESET_TEXT" val="单击此处添加目录项标题内容"/>
  <p:tag name="KSO_WM_UNIT_TEXT_TYPE" val="1"/>
  <p:tag name="KSO_WM_DIAGRAM_MAX_ITEMCNT" val="6"/>
  <p:tag name="KSO_WM_DIAGRAM_MIN_ITEMCNT" val="2"/>
  <p:tag name="KSO_WM_DIAGRAM_VIRTUALLY_FRAME" val="{&quot;height&quot;:293.18000000000006,&quot;left&quot;:105.44999999999997,&quot;top&quot;:137.05236220472437,&quot;width&quot;:771.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i"/>
  <p:tag name="KSO_WM_UNIT_SUBTYPE" val="d"/>
  <p:tag name="KSO_WM_UNIT_INDEX" val="1_2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17_3*l_h_i*1_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17"/>
  <p:tag name="KSO_WM_TEMPLATE_CATEGORY" val="custom"/>
  <p:tag name="KSO_WM_DIAGRAM_MAX_ITEMCNT" val="6"/>
  <p:tag name="KSO_WM_DIAGRAM_MIN_ITEMCNT" val="2"/>
  <p:tag name="KSO_WM_DIAGRAM_VIRTUALLY_FRAME" val="{&quot;height&quot;:293.18000000000006,&quot;left&quot;:105.44999999999997,&quot;top&quot;:137.05236220472437,&quot;width&quot;:771.45}"/>
  <p:tag name="KSO_WM_DIAGRAM_COLOR_MATCH_VALUE" val="{&quot;shape&quot;:{&quot;fill&quot;:{&quot;gradient&quot;:[{&quot;brightness&quot;:0.3499999940395355,&quot;colorType&quot;:1,&quot;foreColorIndex&quot;:5,&quot;pos&quot;:0,&quot;transparency&quot;:0},{&quot;brightness&quot;:0,&quot;colorType&quot;:1,&quot;foreColorIndex&quot;:5,&quot;pos&quot;:0.800000011920929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5"/>
  <p:tag name="KSO_WM_UNIT_USESOURCEFORMAT_APPLY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f"/>
  <p:tag name="KSO_WM_UNIT_INDEX" val="1_2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17_3*l_h_f*1_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17"/>
  <p:tag name="KSO_WM_TEMPLATE_CATEGORY" val="custom"/>
  <p:tag name="KSO_WM_UNIT_SUBTYPE" val="a"/>
  <p:tag name="KSO_WM_UNIT_TEXT_LAYER_COUNT" val="1"/>
  <p:tag name="KSO_WM_UNIT_PRESET_TEXT" val="单击此处添加目录项标题内容"/>
  <p:tag name="KSO_WM_UNIT_TEXT_TYPE" val="1"/>
  <p:tag name="KSO_WM_DIAGRAM_MAX_ITEMCNT" val="6"/>
  <p:tag name="KSO_WM_DIAGRAM_MIN_ITEMCNT" val="2"/>
  <p:tag name="KSO_WM_DIAGRAM_VIRTUALLY_FRAME" val="{&quot;height&quot;:293.18000000000006,&quot;left&quot;:105.44999999999997,&quot;top&quot;:137.05236220472437,&quot;width&quot;:771.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i"/>
  <p:tag name="KSO_WM_UNIT_SUBTYPE" val="d"/>
  <p:tag name="KSO_WM_UNIT_INDEX" val="1_3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17_3*l_h_i*1_3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17"/>
  <p:tag name="KSO_WM_TEMPLATE_CATEGORY" val="custom"/>
  <p:tag name="KSO_WM_DIAGRAM_MAX_ITEMCNT" val="6"/>
  <p:tag name="KSO_WM_DIAGRAM_MIN_ITEMCNT" val="2"/>
  <p:tag name="KSO_WM_DIAGRAM_VIRTUALLY_FRAME" val="{&quot;height&quot;:293.18000000000006,&quot;left&quot;:105.44999999999997,&quot;top&quot;:137.05236220472437,&quot;width&quot;:771.45}"/>
  <p:tag name="KSO_WM_DIAGRAM_COLOR_MATCH_VALUE" val="{&quot;shape&quot;:{&quot;fill&quot;:{&quot;gradient&quot;:[{&quot;brightness&quot;:0.3499999940395355,&quot;colorType&quot;:1,&quot;foreColorIndex&quot;:5,&quot;pos&quot;:0,&quot;transparency&quot;:0},{&quot;brightness&quot;:0,&quot;colorType&quot;:1,&quot;foreColorIndex&quot;:5,&quot;pos&quot;:0.800000011920929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5"/>
  <p:tag name="KSO_WM_UNIT_USESOURCEFORMAT_APPLY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f"/>
  <p:tag name="KSO_WM_UNIT_INDEX" val="1_3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17_3*l_h_f*1_3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17"/>
  <p:tag name="KSO_WM_TEMPLATE_CATEGORY" val="custom"/>
  <p:tag name="KSO_WM_UNIT_SUBTYPE" val="a"/>
  <p:tag name="KSO_WM_UNIT_TEXT_LAYER_COUNT" val="1"/>
  <p:tag name="KSO_WM_UNIT_PRESET_TEXT" val="单击此处添加目录项标题内容"/>
  <p:tag name="KSO_WM_UNIT_TEXT_TYPE" val="1"/>
  <p:tag name="KSO_WM_DIAGRAM_MAX_ITEMCNT" val="6"/>
  <p:tag name="KSO_WM_DIAGRAM_MIN_ITEMCNT" val="2"/>
  <p:tag name="KSO_WM_DIAGRAM_VIRTUALLY_FRAME" val="{&quot;height&quot;:293.18000000000006,&quot;left&quot;:105.44999999999997,&quot;top&quot;:137.05236220472437,&quot;width&quot;:771.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811</Words>
  <Application>Microsoft Office PowerPoint</Application>
  <PresentationFormat>宽屏</PresentationFormat>
  <Paragraphs>146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19" baseType="lpstr">
      <vt:lpstr>DeepSeek-CJK-patch</vt:lpstr>
      <vt:lpstr>system-ui</vt:lpstr>
      <vt:lpstr>等线</vt:lpstr>
      <vt:lpstr>微软雅黑</vt:lpstr>
      <vt:lpstr>Arial</vt:lpstr>
      <vt:lpstr>Office 主题​​</vt:lpstr>
      <vt:lpstr>1_Office 主题​​</vt:lpstr>
      <vt:lpstr>考研虐猫事件中的 道德学术与社会影响</vt:lpstr>
      <vt:lpstr>目录</vt:lpstr>
      <vt:lpstr>1. 事件背景与经过 - 时间线</vt:lpstr>
      <vt:lpstr>1. 事件背景与经过 - 关键细节</vt:lpstr>
      <vt:lpstr>2.多维度矛盾分析 - 道德与成绩冲突</vt:lpstr>
      <vt:lpstr>2.多维度矛盾分析 - 高校与社会影响</vt:lpstr>
      <vt:lpstr>2.多维度矛盾分析 - 批判性思维应用</vt:lpstr>
      <vt:lpstr>3. 高校决策的批判性审视 - 南大决策分析</vt:lpstr>
      <vt:lpstr>3. 高校决策的批判性审视 - 兰大决策分析</vt:lpstr>
      <vt:lpstr>4. 综合平衡与改进建议 - 平衡框架</vt:lpstr>
      <vt:lpstr>4. 综合平衡与改进建议 - 具体建议</vt:lpstr>
      <vt:lpstr>道德是教育底线， 但需程序正义与改过机制保障公平。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Tu C</dc:creator>
  <cp:lastModifiedBy>Tu C</cp:lastModifiedBy>
  <cp:revision>18</cp:revision>
  <dcterms:created xsi:type="dcterms:W3CDTF">2025-05-11T05:48:00Z</dcterms:created>
  <dcterms:modified xsi:type="dcterms:W3CDTF">2025-05-11T08:32:58Z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265F149CF2DD4FD180E2B65911E9DBBE_12</vt:lpwstr>
  </property>
  <property fmtid="{D5CDD505-2E9C-101B-9397-08002B2CF9AE}" pid="3" name="KSOProductBuildVer">
    <vt:lpwstr>2052-12.1.0.20784</vt:lpwstr>
  </property>
</Properties>
</file>