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378" r:id="rId2"/>
    <p:sldId id="381" r:id="rId3"/>
    <p:sldId id="603" r:id="rId4"/>
    <p:sldId id="564" r:id="rId5"/>
    <p:sldId id="565" r:id="rId6"/>
    <p:sldId id="601" r:id="rId7"/>
    <p:sldId id="566" r:id="rId8"/>
    <p:sldId id="567" r:id="rId9"/>
    <p:sldId id="568" r:id="rId10"/>
    <p:sldId id="569" r:id="rId11"/>
    <p:sldId id="570" r:id="rId12"/>
    <p:sldId id="571" r:id="rId13"/>
    <p:sldId id="572" r:id="rId14"/>
    <p:sldId id="573" r:id="rId15"/>
    <p:sldId id="574" r:id="rId16"/>
    <p:sldId id="575" r:id="rId17"/>
    <p:sldId id="576" r:id="rId18"/>
    <p:sldId id="577" r:id="rId19"/>
    <p:sldId id="578" r:id="rId20"/>
    <p:sldId id="579" r:id="rId21"/>
    <p:sldId id="580" r:id="rId22"/>
    <p:sldId id="581" r:id="rId23"/>
    <p:sldId id="582" r:id="rId24"/>
    <p:sldId id="583" r:id="rId25"/>
    <p:sldId id="584" r:id="rId26"/>
    <p:sldId id="585" r:id="rId27"/>
    <p:sldId id="586" r:id="rId28"/>
    <p:sldId id="602" r:id="rId29"/>
    <p:sldId id="587" r:id="rId30"/>
    <p:sldId id="588" r:id="rId31"/>
    <p:sldId id="590" r:id="rId32"/>
    <p:sldId id="591" r:id="rId33"/>
    <p:sldId id="592" r:id="rId34"/>
    <p:sldId id="593" r:id="rId35"/>
    <p:sldId id="594" r:id="rId36"/>
    <p:sldId id="595" r:id="rId37"/>
    <p:sldId id="596" r:id="rId38"/>
    <p:sldId id="597" r:id="rId39"/>
    <p:sldId id="598" r:id="rId40"/>
    <p:sldId id="599" r:id="rId41"/>
    <p:sldId id="600" r:id="rId42"/>
    <p:sldId id="559" r:id="rId43"/>
    <p:sldId id="340" r:id="rId44"/>
  </p:sldIdLst>
  <p:sldSz cx="9144000" cy="6858000" type="screen4x3"/>
  <p:notesSz cx="7099300" cy="10234613"/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2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FF"/>
    <a:srgbClr val="0000FF"/>
    <a:srgbClr val="DCE6F2"/>
    <a:srgbClr val="9BB9B2"/>
    <a:srgbClr val="663300"/>
    <a:srgbClr val="FFFF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27" autoAdjust="0"/>
    <p:restoredTop sz="99353"/>
  </p:normalViewPr>
  <p:slideViewPr>
    <p:cSldViewPr showGuides="1">
      <p:cViewPr varScale="1">
        <p:scale>
          <a:sx n="101" d="100"/>
          <a:sy n="101" d="100"/>
        </p:scale>
        <p:origin x="525" y="57"/>
      </p:cViewPr>
      <p:guideLst>
        <p:guide orient="horz" pos="2165"/>
        <p:guide pos="2880"/>
        <p:guide pos="20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6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4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882E28-F959-4E6F-B21D-C02DB97BE74B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D1051-79FC-4A60-91E0-B2EF0CBDA6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685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D1051-79FC-4A60-91E0-B2EF0CBDA62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96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有时候就用字母</a:t>
            </a:r>
            <a:r>
              <a:rPr lang="en-US" altLang="zh-CN" dirty="0"/>
              <a:t>P</a:t>
            </a:r>
            <a:r>
              <a:rPr lang="en-US" altLang="zh-CN" sz="100" dirty="0"/>
              <a:t>ABCD</a:t>
            </a:r>
            <a:r>
              <a:rPr lang="zh-CN" altLang="en-US" dirty="0"/>
              <a:t>来方便表示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D1051-79FC-4A60-91E0-B2EF0CBDA62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032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纵坐标</a:t>
            </a:r>
            <a:r>
              <a:rPr lang="zh-CN" altLang="en-US"/>
              <a:t>为</a:t>
            </a:r>
            <a:r>
              <a:rPr lang="en-US" altLang="zh-CN"/>
              <a:t>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D1051-79FC-4A60-91E0-B2EF0CBDA62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414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6071F"/>
                </a:solidFill>
                <a:effectLst/>
                <a:latin typeface="-apple-system"/>
              </a:rPr>
              <a:t>反应的自发性（即“容易”程度）并不直接决定反应的速度或速率。反应速度受多种因素影响，包括反应物的浓度、温度、催化剂的存在与否以及反应机理等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D1051-79FC-4A60-91E0-B2EF0CBDA62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825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D1051-79FC-4A60-91E0-B2EF0CBDA62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433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D1051-79FC-4A60-91E0-B2EF0CBDA62A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196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D1051-79FC-4A60-91E0-B2EF0CBDA62A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212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D1051-79FC-4A60-91E0-B2EF0CBDA62A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759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D1051-79FC-4A60-91E0-B2EF0CBDA62A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492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88640"/>
            <a:ext cx="7772400" cy="65916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188913"/>
            <a:ext cx="7772400" cy="587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080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cxnSp>
        <p:nvCxnSpPr>
          <p:cNvPr id="8" name="直接连接符 5"/>
          <p:cNvCxnSpPr/>
          <p:nvPr/>
        </p:nvCxnSpPr>
        <p:spPr>
          <a:xfrm flipV="1">
            <a:off x="0" y="549000"/>
            <a:ext cx="9144000" cy="0"/>
          </a:xfrm>
          <a:prstGeom prst="line">
            <a:avLst/>
          </a:prstGeom>
          <a:ln w="50800">
            <a:gradFill flip="none" rotWithShape="1">
              <a:gsLst>
                <a:gs pos="15000">
                  <a:srgbClr val="C00000"/>
                </a:gs>
                <a:gs pos="97000">
                  <a:schemeClr val="bg1">
                    <a:lumMod val="95000"/>
                    <a:alpha val="25000"/>
                  </a:schemeClr>
                </a:gs>
                <a:gs pos="61000">
                  <a:schemeClr val="accent2">
                    <a:lumMod val="20000"/>
                    <a:lumOff val="8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3801179-A9ED-4663-9EAD-B2BA225CD176}"/>
              </a:ext>
            </a:extLst>
          </p:cNvPr>
          <p:cNvCxnSpPr/>
          <p:nvPr userDrawn="1"/>
        </p:nvCxnSpPr>
        <p:spPr bwMode="auto">
          <a:xfrm>
            <a:off x="252000" y="0"/>
            <a:ext cx="0" cy="6858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DA8D8F2-AA72-4D88-93D8-4446208D4E63}"/>
              </a:ext>
            </a:extLst>
          </p:cNvPr>
          <p:cNvCxnSpPr/>
          <p:nvPr userDrawn="1"/>
        </p:nvCxnSpPr>
        <p:spPr bwMode="auto">
          <a:xfrm>
            <a:off x="8892000" y="0"/>
            <a:ext cx="0" cy="6858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3.png"/><Relationship Id="rId5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E49B3F3-5298-43DE-9D7F-5EF6DB351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5200"/>
            <a:ext cx="8640000" cy="4318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化学反应的限度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内容占位符 6">
            <a:extLst>
              <a:ext uri="{FF2B5EF4-FFF2-40B4-BE49-F238E27FC236}">
                <a16:creationId xmlns:a16="http://schemas.microsoft.com/office/drawing/2014/main" id="{99691E94-4B8A-4972-90F2-07111A867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6129" y="1269000"/>
            <a:ext cx="4176000" cy="4836388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200" dirty="0">
                <a:solidFill>
                  <a:srgbClr val="0066FF"/>
                </a:solidFill>
              </a:rPr>
              <a:t>4.0 </a:t>
            </a:r>
            <a:r>
              <a:rPr lang="zh-CN" altLang="en-US" sz="2200" dirty="0">
                <a:solidFill>
                  <a:srgbClr val="0066FF"/>
                </a:solidFill>
              </a:rPr>
              <a:t>引言</a:t>
            </a:r>
            <a:endParaRPr lang="en-US" altLang="zh-CN" sz="2200" dirty="0">
              <a:solidFill>
                <a:srgbClr val="0066FF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200" dirty="0">
                <a:solidFill>
                  <a:srgbClr val="0066FF"/>
                </a:solidFill>
              </a:rPr>
              <a:t>4</a:t>
            </a:r>
            <a:r>
              <a:rPr lang="zh-CN" altLang="en-US" sz="2200" dirty="0">
                <a:solidFill>
                  <a:srgbClr val="0066FF"/>
                </a:solidFill>
              </a:rPr>
              <a:t>.1</a:t>
            </a:r>
            <a:r>
              <a:rPr lang="en-US" altLang="zh-CN" sz="2200" dirty="0">
                <a:solidFill>
                  <a:srgbClr val="0066FF"/>
                </a:solidFill>
              </a:rPr>
              <a:t> </a:t>
            </a:r>
            <a:r>
              <a:rPr lang="zh-CN" altLang="en-US" sz="2200" dirty="0">
                <a:solidFill>
                  <a:srgbClr val="0066FF"/>
                </a:solidFill>
              </a:rPr>
              <a:t>化学平衡及其特点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200" dirty="0">
                <a:solidFill>
                  <a:srgbClr val="0066FF"/>
                </a:solidFill>
              </a:rPr>
              <a:t>4</a:t>
            </a:r>
            <a:r>
              <a:rPr lang="zh-CN" altLang="en-US" sz="2200" dirty="0">
                <a:solidFill>
                  <a:srgbClr val="0066FF"/>
                </a:solidFill>
              </a:rPr>
              <a:t>.2</a:t>
            </a:r>
            <a:r>
              <a:rPr lang="en-US" altLang="zh-CN" sz="2200" dirty="0">
                <a:solidFill>
                  <a:srgbClr val="0066FF"/>
                </a:solidFill>
              </a:rPr>
              <a:t> </a:t>
            </a:r>
            <a:r>
              <a:rPr lang="zh-CN" altLang="en-US" sz="2200" dirty="0">
                <a:solidFill>
                  <a:srgbClr val="0066FF"/>
                </a:solidFill>
              </a:rPr>
              <a:t>平衡常数与反应的限度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200" dirty="0"/>
              <a:t>     4</a:t>
            </a:r>
            <a:r>
              <a:rPr lang="zh-CN" altLang="en-US" sz="2200" dirty="0"/>
              <a:t>.2.1</a:t>
            </a:r>
            <a:r>
              <a:rPr lang="en-US" altLang="zh-CN" sz="2200" dirty="0"/>
              <a:t> </a:t>
            </a:r>
            <a:r>
              <a:rPr lang="zh-CN" altLang="en-US" sz="2200" dirty="0"/>
              <a:t>平衡常数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200" dirty="0"/>
              <a:t>	</a:t>
            </a:r>
            <a:r>
              <a:rPr lang="zh-CN" altLang="en-US" sz="2200" dirty="0"/>
              <a:t>1）实验平衡常数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200" dirty="0"/>
              <a:t>	</a:t>
            </a:r>
            <a:r>
              <a:rPr lang="zh-CN" altLang="en-US" sz="2200" dirty="0"/>
              <a:t>2）标准平衡常数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200" dirty="0"/>
              <a:t>	</a:t>
            </a:r>
            <a:r>
              <a:rPr lang="zh-CN" altLang="en-US" sz="2200" dirty="0"/>
              <a:t>3）书写平衡常数时要注意的事项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200" dirty="0"/>
              <a:t>      4</a:t>
            </a:r>
            <a:r>
              <a:rPr lang="zh-CN" altLang="en-US" sz="2200" dirty="0"/>
              <a:t>.2.2 平衡常数与Gibbs自由能变</a:t>
            </a:r>
            <a:endParaRPr lang="en-US" altLang="zh-CN" sz="2200" dirty="0"/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200" dirty="0"/>
              <a:t>      1）用热力学数据求算K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200" dirty="0"/>
              <a:t> </a:t>
            </a:r>
            <a:r>
              <a:rPr lang="en-US" altLang="zh-CN" sz="2200" dirty="0"/>
              <a:t>	</a:t>
            </a:r>
            <a:endParaRPr lang="zh-CN" alt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200" dirty="0"/>
              <a:t>     </a:t>
            </a:r>
            <a:endParaRPr lang="zh-CN" altLang="en-US" sz="2200" dirty="0"/>
          </a:p>
          <a:p>
            <a:pPr marL="0" indent="0">
              <a:lnSpc>
                <a:spcPct val="110000"/>
              </a:lnSpc>
              <a:buNone/>
            </a:pPr>
            <a:endParaRPr lang="zh-CN" altLang="en-US" sz="2200" dirty="0"/>
          </a:p>
        </p:txBody>
      </p:sp>
      <p:sp>
        <p:nvSpPr>
          <p:cNvPr id="8196" name="内容占位符 7">
            <a:extLst>
              <a:ext uri="{FF2B5EF4-FFF2-40B4-BE49-F238E27FC236}">
                <a16:creationId xmlns:a16="http://schemas.microsoft.com/office/drawing/2014/main" id="{1CF51499-1C55-4347-B9F9-783F2E082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8000" y="1926010"/>
            <a:ext cx="4464000" cy="4032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200" dirty="0"/>
              <a:t>           2）Q的引入</a:t>
            </a:r>
          </a:p>
          <a:p>
            <a:pPr marL="0" indent="0">
              <a:buNone/>
            </a:pPr>
            <a:r>
              <a:rPr lang="en-US" altLang="zh-CN" sz="2200" dirty="0"/>
              <a:t>	</a:t>
            </a:r>
            <a:r>
              <a:rPr lang="zh-CN" altLang="en-US" sz="2200" dirty="0"/>
              <a:t>3）化学反应方向的判断</a:t>
            </a:r>
            <a:endParaRPr lang="en-US" altLang="zh-CN" sz="2200" dirty="0"/>
          </a:p>
          <a:p>
            <a:pPr marL="0" indent="0">
              <a:buNone/>
            </a:pPr>
            <a:r>
              <a:rPr lang="en-US" altLang="zh-CN" sz="2200" dirty="0"/>
              <a:t>	4</a:t>
            </a:r>
            <a:r>
              <a:rPr lang="zh-CN" altLang="en-US" sz="2200" dirty="0"/>
              <a:t>）化学反应限度的判断</a:t>
            </a:r>
            <a:r>
              <a:rPr lang="en-US" altLang="zh-CN" sz="2200" dirty="0"/>
              <a:t>     </a:t>
            </a:r>
          </a:p>
          <a:p>
            <a:pPr marL="0" indent="0">
              <a:buNone/>
            </a:pPr>
            <a:r>
              <a:rPr lang="en-US" altLang="zh-CN" sz="2200" dirty="0"/>
              <a:t>     4</a:t>
            </a:r>
            <a:r>
              <a:rPr lang="zh-CN" altLang="en-US" sz="2200" dirty="0"/>
              <a:t>.2.3</a:t>
            </a:r>
            <a:r>
              <a:rPr lang="en-US" altLang="zh-CN" sz="2200" dirty="0"/>
              <a:t> </a:t>
            </a:r>
            <a:r>
              <a:rPr lang="zh-CN" altLang="en-US" sz="2200" dirty="0"/>
              <a:t>多重平衡</a:t>
            </a:r>
            <a:endParaRPr lang="en-US" altLang="zh-CN" sz="2200" dirty="0">
              <a:solidFill>
                <a:srgbClr val="0066FF"/>
              </a:solidFill>
            </a:endParaRPr>
          </a:p>
          <a:p>
            <a:pPr marL="0" indent="0">
              <a:buNone/>
            </a:pPr>
            <a:r>
              <a:rPr lang="en-US" altLang="zh-CN" sz="2200" dirty="0">
                <a:solidFill>
                  <a:srgbClr val="0066FF"/>
                </a:solidFill>
              </a:rPr>
              <a:t>4</a:t>
            </a:r>
            <a:r>
              <a:rPr lang="zh-CN" altLang="en-US" sz="2200" dirty="0">
                <a:solidFill>
                  <a:srgbClr val="0066FF"/>
                </a:solidFill>
              </a:rPr>
              <a:t>.3</a:t>
            </a:r>
            <a:r>
              <a:rPr lang="en-US" altLang="zh-CN" sz="2200" dirty="0">
                <a:solidFill>
                  <a:srgbClr val="0066FF"/>
                </a:solidFill>
              </a:rPr>
              <a:t> </a:t>
            </a:r>
            <a:r>
              <a:rPr lang="zh-CN" altLang="en-US" sz="2200" dirty="0">
                <a:solidFill>
                  <a:srgbClr val="0066FF"/>
                </a:solidFill>
              </a:rPr>
              <a:t>化学平衡的移动</a:t>
            </a:r>
            <a:endParaRPr lang="en-US" altLang="zh-CN" sz="2200" dirty="0">
              <a:solidFill>
                <a:srgbClr val="0066FF"/>
              </a:solidFill>
            </a:endParaRPr>
          </a:p>
          <a:p>
            <a:pPr marL="0" indent="0">
              <a:buNone/>
            </a:pPr>
            <a:r>
              <a:rPr lang="en-US" altLang="zh-CN" sz="2200" dirty="0"/>
              <a:t>     4</a:t>
            </a:r>
            <a:r>
              <a:rPr lang="zh-CN" altLang="en-US" sz="2200" dirty="0"/>
              <a:t>.3.1 浓度对化学平衡的影响</a:t>
            </a:r>
          </a:p>
          <a:p>
            <a:pPr marL="0" indent="0">
              <a:buNone/>
            </a:pPr>
            <a:r>
              <a:rPr lang="en-US" altLang="zh-CN" sz="2200" dirty="0"/>
              <a:t>     4</a:t>
            </a:r>
            <a:r>
              <a:rPr lang="zh-CN" altLang="en-US" sz="2200" dirty="0"/>
              <a:t>.3.2</a:t>
            </a:r>
            <a:r>
              <a:rPr lang="en-US" altLang="zh-CN" sz="2200" dirty="0"/>
              <a:t> </a:t>
            </a:r>
            <a:r>
              <a:rPr lang="zh-CN" altLang="en-US" sz="2200" dirty="0"/>
              <a:t>压力对化学平衡的影响</a:t>
            </a:r>
          </a:p>
          <a:p>
            <a:pPr marL="0" indent="0">
              <a:buNone/>
            </a:pPr>
            <a:r>
              <a:rPr lang="en-US" altLang="zh-CN" sz="2200" dirty="0"/>
              <a:t>     4</a:t>
            </a:r>
            <a:r>
              <a:rPr lang="zh-CN" altLang="en-US" sz="2200" dirty="0"/>
              <a:t>.3.3</a:t>
            </a:r>
            <a:r>
              <a:rPr lang="en-US" altLang="zh-CN" sz="2200" dirty="0"/>
              <a:t> </a:t>
            </a:r>
            <a:r>
              <a:rPr lang="zh-CN" altLang="en-US" sz="2200" dirty="0"/>
              <a:t>温度对化学平衡的影响</a:t>
            </a:r>
          </a:p>
          <a:p>
            <a:pPr marL="0" indent="0">
              <a:buNone/>
            </a:pPr>
            <a:r>
              <a:rPr lang="en-US" altLang="zh-CN" sz="2200" dirty="0"/>
              <a:t>     </a:t>
            </a:r>
            <a:r>
              <a:rPr lang="zh-CN" altLang="en-US" sz="2200" dirty="0"/>
              <a:t>4.3.4</a:t>
            </a:r>
            <a:r>
              <a:rPr lang="en-US" altLang="zh-CN" sz="2200" dirty="0"/>
              <a:t> </a:t>
            </a:r>
            <a:r>
              <a:rPr lang="zh-CN" altLang="en-US" sz="2200" dirty="0"/>
              <a:t>化学平衡移动原理</a:t>
            </a:r>
          </a:p>
          <a:p>
            <a:pPr marL="0" indent="0" eaLnBrk="1" hangingPunct="1">
              <a:buFontTx/>
              <a:buNone/>
            </a:pPr>
            <a:endParaRPr lang="zh-CN" altLang="en-US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8E514E-EE9D-40BF-94EA-B05B35FB1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1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DCBA8734-EEDB-4C61-8924-FE33452B1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00" y="2997000"/>
            <a:ext cx="8640000" cy="23760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	         ∆</a:t>
            </a:r>
            <a:r>
              <a:rPr lang="zh-CN" altLang="en-US" sz="2400" i="1" dirty="0"/>
              <a:t>G</a:t>
            </a:r>
            <a:r>
              <a:rPr lang="en-US" altLang="zh-CN" sz="2400" dirty="0"/>
              <a:t> &lt; </a:t>
            </a:r>
            <a:r>
              <a:rPr lang="zh-CN" altLang="en-US" sz="2400" dirty="0"/>
              <a:t>0</a:t>
            </a:r>
            <a:r>
              <a:rPr lang="en-US" altLang="zh-CN" sz="2400" dirty="0"/>
              <a:t>                                    </a:t>
            </a:r>
            <a:r>
              <a:rPr lang="zh-CN" altLang="en-US" sz="2400" dirty="0">
                <a:sym typeface="+mn-ea"/>
              </a:rPr>
              <a:t>正向自发</a:t>
            </a:r>
            <a:endParaRPr lang="zh-CN" altLang="en-US" sz="2400" dirty="0"/>
          </a:p>
          <a:p>
            <a:pPr marL="0" indent="0">
              <a:buNone/>
            </a:pPr>
            <a:r>
              <a:rPr lang="en-US" altLang="zh-CN" sz="2400" dirty="0">
                <a:sym typeface="+mn-ea"/>
              </a:rPr>
              <a:t>	         ∆</a:t>
            </a:r>
            <a:r>
              <a:rPr lang="zh-CN" altLang="en-US" sz="2400" i="1" dirty="0"/>
              <a:t>G</a:t>
            </a:r>
            <a:r>
              <a:rPr lang="en-US" altLang="zh-CN" sz="2400" dirty="0"/>
              <a:t> </a:t>
            </a:r>
            <a:r>
              <a:rPr lang="zh-CN" altLang="en-US" sz="2400" dirty="0"/>
              <a:t>&gt;</a:t>
            </a:r>
            <a:r>
              <a:rPr lang="en-US" altLang="zh-CN" sz="2400" dirty="0"/>
              <a:t> </a:t>
            </a:r>
            <a:r>
              <a:rPr lang="zh-CN" altLang="en-US" sz="2400" dirty="0"/>
              <a:t>0</a:t>
            </a:r>
            <a:r>
              <a:rPr lang="en-US" altLang="zh-CN" sz="2400" dirty="0"/>
              <a:t>                                  </a:t>
            </a:r>
            <a:r>
              <a:rPr lang="zh-CN" altLang="en-US" sz="2400" dirty="0">
                <a:sym typeface="+mn-ea"/>
              </a:rPr>
              <a:t>正向非自发</a:t>
            </a:r>
            <a:endParaRPr lang="zh-CN" altLang="en-US" sz="2400" dirty="0"/>
          </a:p>
          <a:p>
            <a:pPr marL="0" indent="0">
              <a:buNone/>
            </a:pPr>
            <a:r>
              <a:rPr lang="en-US" altLang="zh-CN" sz="2400" dirty="0">
                <a:sym typeface="+mn-ea"/>
              </a:rPr>
              <a:t>	         ∆</a:t>
            </a:r>
            <a:r>
              <a:rPr lang="zh-CN" altLang="en-US" sz="2400" i="1" dirty="0"/>
              <a:t>G</a:t>
            </a:r>
            <a:r>
              <a:rPr lang="en-US" altLang="zh-CN" sz="2400" dirty="0"/>
              <a:t> </a:t>
            </a:r>
            <a:r>
              <a:rPr lang="zh-CN" altLang="en-US" sz="2400" dirty="0"/>
              <a:t>=</a:t>
            </a:r>
            <a:r>
              <a:rPr lang="en-US" altLang="zh-CN" sz="2400" dirty="0"/>
              <a:t> </a:t>
            </a:r>
            <a:r>
              <a:rPr lang="zh-CN" altLang="en-US" sz="2400" dirty="0"/>
              <a:t>0</a:t>
            </a:r>
            <a:r>
              <a:rPr lang="en-US" altLang="zh-CN" sz="2400" dirty="0"/>
              <a:t>                                </a:t>
            </a:r>
            <a:r>
              <a:rPr lang="zh-CN" altLang="en-US" sz="2400" dirty="0">
                <a:sym typeface="+mn-ea"/>
              </a:rPr>
              <a:t>体系处于平衡</a:t>
            </a:r>
          </a:p>
          <a:p>
            <a:pPr marL="0" indent="0">
              <a:buNone/>
            </a:pPr>
            <a:endParaRPr lang="en-US" altLang="zh-CN" sz="2400" dirty="0">
              <a:sym typeface="+mn-ea"/>
            </a:endParaRPr>
          </a:p>
          <a:p>
            <a:pPr marL="0" indent="0" algn="ctr">
              <a:buNone/>
            </a:pPr>
            <a:r>
              <a:rPr lang="en-US" altLang="zh-CN" sz="2400" dirty="0">
                <a:sym typeface="+mn-ea"/>
              </a:rPr>
              <a:t>∆</a:t>
            </a:r>
            <a:r>
              <a:rPr lang="zh-CN" altLang="en-US" sz="2400" i="1" dirty="0">
                <a:sym typeface="+mn-ea"/>
              </a:rPr>
              <a:t>G</a:t>
            </a:r>
            <a:r>
              <a:rPr lang="en-US" altLang="zh-CN" sz="2400" dirty="0">
                <a:sym typeface="+mn-ea"/>
              </a:rPr>
              <a:t> &lt; </a:t>
            </a:r>
            <a:r>
              <a:rPr lang="zh-CN" altLang="en-US" sz="2400" dirty="0">
                <a:sym typeface="+mn-ea"/>
              </a:rPr>
              <a:t>0</a:t>
            </a: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/>
              <a:t>正向反应能够自发进行，</a:t>
            </a:r>
            <a:r>
              <a:rPr lang="zh-CN" altLang="en-US" sz="2400" dirty="0">
                <a:solidFill>
                  <a:srgbClr val="FF0000"/>
                </a:solidFill>
              </a:rPr>
              <a:t>但能进行到什么程度呢?</a:t>
            </a:r>
            <a:endParaRPr lang="en-US" altLang="zh-CN" sz="2400" dirty="0">
              <a:sym typeface="+mn-ea"/>
            </a:endParaRPr>
          </a:p>
          <a:p>
            <a:pPr marL="0" indent="0">
              <a:buNone/>
            </a:pPr>
            <a:endParaRPr lang="zh-CN" altLang="en-US" sz="2400" dirty="0">
              <a:sym typeface="+mn-ea"/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10243" name="TextBox 1">
            <a:extLst>
              <a:ext uri="{FF2B5EF4-FFF2-40B4-BE49-F238E27FC236}">
                <a16:creationId xmlns:a16="http://schemas.microsoft.com/office/drawing/2014/main" id="{AF6997D4-AD20-4FE0-B418-DE8DBD623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89000"/>
            <a:ext cx="8534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algn="ctr">
              <a:buNone/>
            </a:pPr>
            <a:r>
              <a:rPr lang="zh-CN" altLang="en-US" sz="2400" i="1" dirty="0">
                <a:solidFill>
                  <a:srgbClr val="0066FF"/>
                </a:solidFill>
                <a:latin typeface="+mn-lt"/>
                <a:ea typeface="黑体" panose="02010609060101010101" pitchFamily="49" charset="-122"/>
              </a:rPr>
              <a:t>G</a:t>
            </a:r>
            <a:r>
              <a:rPr lang="zh-CN" altLang="en-US" sz="2400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与反应的自发性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F791F5-861B-44DD-B2EF-398FD229A184}"/>
              </a:ext>
            </a:extLst>
          </p:cNvPr>
          <p:cNvSpPr txBox="1">
            <a:spLocks/>
          </p:cNvSpPr>
          <p:nvPr/>
        </p:nvSpPr>
        <p:spPr>
          <a:xfrm>
            <a:off x="252000" y="45200"/>
            <a:ext cx="8640000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3200" dirty="0">
                <a:latin typeface="+mn-ea"/>
                <a:ea typeface="+mn-ea"/>
                <a:cs typeface="+mn-ea"/>
                <a:sym typeface="+mn-ea"/>
              </a:rPr>
              <a:t>4.0 </a:t>
            </a:r>
            <a:r>
              <a:rPr lang="zh-CN" altLang="en-US" sz="3200" dirty="0">
                <a:latin typeface="+mn-ea"/>
                <a:ea typeface="+mn-ea"/>
                <a:cs typeface="+mn-ea"/>
                <a:sym typeface="+mn-ea"/>
              </a:rPr>
              <a:t>引言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DF9CDA-C734-41A1-827A-0BCCC6CA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2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E49B3F3-5298-43DE-9D7F-5EF6DB351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5200"/>
            <a:ext cx="8640000" cy="4318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化学反应的限度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内容占位符 6">
            <a:extLst>
              <a:ext uri="{FF2B5EF4-FFF2-40B4-BE49-F238E27FC236}">
                <a16:creationId xmlns:a16="http://schemas.microsoft.com/office/drawing/2014/main" id="{99691E94-4B8A-4972-90F2-07111A867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6129" y="1269000"/>
            <a:ext cx="4176000" cy="483638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00" dirty="0">
                <a:solidFill>
                  <a:schemeClr val="bg1">
                    <a:lumMod val="65000"/>
                  </a:schemeClr>
                </a:solidFill>
              </a:rPr>
              <a:t>4.0 </a:t>
            </a:r>
            <a:r>
              <a:rPr lang="zh-CN" altLang="en-US" sz="2600" dirty="0">
                <a:solidFill>
                  <a:schemeClr val="bg1">
                    <a:lumMod val="65000"/>
                  </a:schemeClr>
                </a:solidFill>
              </a:rPr>
              <a:t>引言</a:t>
            </a:r>
            <a:endParaRPr lang="en-US" altLang="zh-CN" sz="26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rgbClr val="0066FF"/>
                </a:solidFill>
              </a:rPr>
              <a:t>4</a:t>
            </a:r>
            <a:r>
              <a:rPr lang="zh-CN" altLang="en-US" sz="2600" dirty="0">
                <a:solidFill>
                  <a:srgbClr val="0066FF"/>
                </a:solidFill>
              </a:rPr>
              <a:t>.1</a:t>
            </a:r>
            <a:r>
              <a:rPr lang="en-US" altLang="zh-CN" sz="2600" dirty="0">
                <a:solidFill>
                  <a:srgbClr val="0066FF"/>
                </a:solidFill>
              </a:rPr>
              <a:t> </a:t>
            </a:r>
            <a:r>
              <a:rPr lang="zh-CN" altLang="en-US" sz="2600" dirty="0">
                <a:solidFill>
                  <a:srgbClr val="0066FF"/>
                </a:solidFill>
              </a:rPr>
              <a:t>化学平衡及其特点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rgbClr val="0066FF"/>
                </a:solidFill>
              </a:rPr>
              <a:t>4</a:t>
            </a:r>
            <a:r>
              <a:rPr lang="zh-CN" altLang="en-US" sz="2600" dirty="0">
                <a:solidFill>
                  <a:srgbClr val="0066FF"/>
                </a:solidFill>
              </a:rPr>
              <a:t>.2</a:t>
            </a:r>
            <a:r>
              <a:rPr lang="en-US" altLang="zh-CN" sz="2600" dirty="0">
                <a:solidFill>
                  <a:srgbClr val="0066FF"/>
                </a:solidFill>
              </a:rPr>
              <a:t> </a:t>
            </a:r>
            <a:r>
              <a:rPr lang="zh-CN" altLang="en-US" sz="2600" dirty="0">
                <a:solidFill>
                  <a:srgbClr val="0066FF"/>
                </a:solidFill>
              </a:rPr>
              <a:t>平衡常数与反应的限度</a:t>
            </a: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.2.1</a:t>
            </a:r>
            <a:r>
              <a:rPr lang="en-US" altLang="zh-CN" sz="2400" dirty="0"/>
              <a:t> </a:t>
            </a:r>
            <a:r>
              <a:rPr lang="zh-CN" altLang="en-US" sz="2400" dirty="0"/>
              <a:t>平衡常数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zh-CN" altLang="en-US" sz="2200" dirty="0"/>
              <a:t>1）实验平衡常数</a:t>
            </a:r>
          </a:p>
          <a:p>
            <a:pPr marL="0" indent="0">
              <a:buNone/>
            </a:pPr>
            <a:r>
              <a:rPr lang="en-US" altLang="zh-CN" sz="2200" dirty="0"/>
              <a:t>	</a:t>
            </a:r>
            <a:r>
              <a:rPr lang="zh-CN" altLang="en-US" sz="2200" dirty="0"/>
              <a:t>2）标准平衡常数</a:t>
            </a:r>
          </a:p>
          <a:p>
            <a:pPr marL="0" indent="0">
              <a:buNone/>
            </a:pPr>
            <a:r>
              <a:rPr lang="en-US" altLang="zh-CN" sz="2200" dirty="0"/>
              <a:t>	</a:t>
            </a:r>
            <a:r>
              <a:rPr lang="zh-CN" altLang="en-US" sz="2200" dirty="0"/>
              <a:t>3）书写平衡常数时要注意的事项</a:t>
            </a:r>
          </a:p>
          <a:p>
            <a:pPr marL="0" indent="0">
              <a:buNone/>
            </a:pPr>
            <a:r>
              <a:rPr lang="en-US" altLang="zh-CN" sz="2400" dirty="0"/>
              <a:t>      4</a:t>
            </a:r>
            <a:r>
              <a:rPr lang="zh-CN" altLang="en-US" sz="2400" dirty="0"/>
              <a:t>.2.2 平衡常数与Gibbs自由能变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   1）用热力学数据求算K</a:t>
            </a:r>
          </a:p>
          <a:p>
            <a:pPr marL="0" indent="0"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	</a:t>
            </a:r>
            <a:endParaRPr lang="zh-CN" altLang="en-US" sz="2400" dirty="0"/>
          </a:p>
          <a:p>
            <a:pPr marL="0" indent="0">
              <a:buNone/>
            </a:pPr>
            <a:r>
              <a:rPr lang="en-US" altLang="zh-CN" sz="2400" dirty="0"/>
              <a:t>     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200" dirty="0"/>
          </a:p>
        </p:txBody>
      </p:sp>
      <p:sp>
        <p:nvSpPr>
          <p:cNvPr id="8196" name="内容占位符 7">
            <a:extLst>
              <a:ext uri="{FF2B5EF4-FFF2-40B4-BE49-F238E27FC236}">
                <a16:creationId xmlns:a16="http://schemas.microsoft.com/office/drawing/2014/main" id="{1CF51499-1C55-4347-B9F9-783F2E082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8000" y="1926010"/>
            <a:ext cx="4464000" cy="4032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           2）</a:t>
            </a:r>
            <a:r>
              <a:rPr lang="zh-CN" altLang="en-US" sz="2400" i="1" dirty="0"/>
              <a:t>Q</a:t>
            </a:r>
            <a:r>
              <a:rPr lang="zh-CN" altLang="en-US" sz="2400" dirty="0"/>
              <a:t>的引入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3）化学反应方向的判断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4</a:t>
            </a:r>
            <a:r>
              <a:rPr lang="zh-CN" altLang="en-US" sz="2400" dirty="0"/>
              <a:t>）化学反应限度的判断</a:t>
            </a:r>
            <a:r>
              <a:rPr lang="en-US" altLang="zh-CN" sz="2400" dirty="0"/>
              <a:t>     </a:t>
            </a: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.2.3</a:t>
            </a:r>
            <a:r>
              <a:rPr lang="en-US" altLang="zh-CN" sz="2400" dirty="0"/>
              <a:t> </a:t>
            </a:r>
            <a:r>
              <a:rPr lang="zh-CN" altLang="en-US" sz="2400" dirty="0"/>
              <a:t>多重平衡</a:t>
            </a:r>
            <a:endParaRPr lang="en-US" altLang="zh-CN" sz="2400" dirty="0">
              <a:solidFill>
                <a:srgbClr val="0066FF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rgbClr val="0066FF"/>
                </a:solidFill>
              </a:rPr>
              <a:t>4</a:t>
            </a:r>
            <a:r>
              <a:rPr lang="zh-CN" altLang="en-US" sz="2600" dirty="0">
                <a:solidFill>
                  <a:srgbClr val="0066FF"/>
                </a:solidFill>
              </a:rPr>
              <a:t>.3</a:t>
            </a:r>
            <a:r>
              <a:rPr lang="en-US" altLang="zh-CN" sz="2600" dirty="0">
                <a:solidFill>
                  <a:srgbClr val="0066FF"/>
                </a:solidFill>
              </a:rPr>
              <a:t> </a:t>
            </a:r>
            <a:r>
              <a:rPr lang="zh-CN" altLang="en-US" sz="2600" dirty="0">
                <a:solidFill>
                  <a:srgbClr val="0066FF"/>
                </a:solidFill>
              </a:rPr>
              <a:t>化学平衡的移动</a:t>
            </a:r>
            <a:endParaRPr lang="en-US" altLang="zh-CN" sz="2600" dirty="0">
              <a:solidFill>
                <a:srgbClr val="0066FF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.3.1 浓度对化学平衡的影响</a:t>
            </a: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.3.2</a:t>
            </a:r>
            <a:r>
              <a:rPr lang="en-US" altLang="zh-CN" sz="2400" dirty="0"/>
              <a:t> </a:t>
            </a:r>
            <a:r>
              <a:rPr lang="zh-CN" altLang="en-US" sz="2400" dirty="0"/>
              <a:t>压力对化学平衡的影响</a:t>
            </a: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.3.3</a:t>
            </a:r>
            <a:r>
              <a:rPr lang="en-US" altLang="zh-CN" sz="2400" dirty="0"/>
              <a:t> </a:t>
            </a:r>
            <a:r>
              <a:rPr lang="zh-CN" altLang="en-US" sz="2400" dirty="0"/>
              <a:t>温度对化学平衡的影响</a:t>
            </a: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4.3.4</a:t>
            </a:r>
            <a:r>
              <a:rPr lang="en-US" altLang="zh-CN" sz="2400" dirty="0"/>
              <a:t> </a:t>
            </a:r>
            <a:r>
              <a:rPr lang="zh-CN" altLang="en-US" sz="2400" dirty="0"/>
              <a:t>化学平衡移动原理</a:t>
            </a:r>
          </a:p>
          <a:p>
            <a:pPr marL="0" indent="0" eaLnBrk="1" hangingPunct="1">
              <a:buFontTx/>
              <a:buNone/>
            </a:pPr>
            <a:endParaRPr lang="zh-CN" altLang="en-US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32205B-DF1C-4160-8B19-67A6EB7B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3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0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52000" y="1773000"/>
                <a:ext cx="8585728" cy="128802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/>
                  <a:t>是否全部的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能转化成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CO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，全部的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Fe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CO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能全部转化成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Fe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CO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400" dirty="0"/>
                  <a:t>?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 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答案：否!</a:t>
                </a:r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2000" y="1773000"/>
                <a:ext cx="8585728" cy="1288025"/>
              </a:xfrm>
              <a:blipFill>
                <a:blip r:embed="rId2"/>
                <a:stretch>
                  <a:fillRect l="-1065" t="-5213" b="-9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2000" y="765000"/>
                <a:ext cx="8640000" cy="9048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Fe</m:t>
                          </m:r>
                        </m:e>
                        <m:sub>
                          <m:r>
                            <a:rPr lang="en-US" altLang="zh-CN" sz="2400" b="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2400" b="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altLang="zh-CN" sz="2400" b="0" i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CO</m:t>
                      </m:r>
                      <m:d>
                        <m:d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g</m:t>
                          </m:r>
                        </m:e>
                      </m:d>
                      <m:r>
                        <a:rPr lang="en-US" altLang="zh-CN" sz="2400" b="0" i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altLang="zh-CN" sz="2400" b="0" i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Fe</m:t>
                      </m:r>
                      <m:d>
                        <m:d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altLang="zh-CN" sz="2400" b="0" i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CO</m:t>
                          </m:r>
                        </m:e>
                        <m:sub>
                          <m:r>
                            <a:rPr lang="en-US" altLang="zh-CN" sz="2400" b="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g</m:t>
                          </m:r>
                        </m:e>
                      </m:d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US" altLang="zh-CN" sz="2400" b="0" i="0" dirty="0">
                  <a:latin typeface="Cambria Math" panose="02040503050406030204" pitchFamily="18" charset="0"/>
                  <a:ea typeface="+mn-ea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zh-CN" sz="2400" b="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s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0.5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2400" b="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400" b="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g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CO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g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 炼一吨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Fe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需多少焦炭(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)?</a:t>
                </a:r>
              </a:p>
            </p:txBody>
          </p:sp>
        </mc:Choice>
        <mc:Fallback xmlns="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000" y="765000"/>
                <a:ext cx="8640000" cy="904863"/>
              </a:xfrm>
              <a:prstGeom prst="rect">
                <a:avLst/>
              </a:prstGeom>
              <a:blipFill>
                <a:blip r:embed="rId3"/>
                <a:stretch>
                  <a:fillRect l="-141" b="-147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5B54D4F8-FCDA-4C1D-93AC-6C5D91BD6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00" y="3141000"/>
            <a:ext cx="8640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 可逆反应，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动态平衡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正向反应速率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逆向反应速率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5000"/>
            <a:ext cx="8640000" cy="431800"/>
          </a:xfrm>
        </p:spPr>
        <p:txBody>
          <a:bodyPr/>
          <a:lstStyle/>
          <a:p>
            <a:pPr algn="l" eaLnBrk="1" hangingPunct="1"/>
            <a:r>
              <a:rPr lang="en-US" altLang="zh-CN" sz="3200" dirty="0">
                <a:latin typeface="+mn-ea"/>
                <a:ea typeface="+mn-ea"/>
                <a:cs typeface="+mn-ea"/>
                <a:sym typeface="+mn-ea"/>
              </a:rPr>
              <a:t>4.1 </a:t>
            </a:r>
            <a:r>
              <a:rPr lang="zh-CN" altLang="en-US" sz="3200" dirty="0">
                <a:latin typeface="+mn-ea"/>
                <a:ea typeface="+mn-ea"/>
                <a:cs typeface="+mn-ea"/>
                <a:sym typeface="+mn-ea"/>
              </a:rPr>
              <a:t>化学平衡及其特点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E089597-E7F0-483E-92B6-524629DE75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80" t="52228" r="57485" b="4323"/>
          <a:stretch>
            <a:fillRect/>
          </a:stretch>
        </p:blipFill>
        <p:spPr>
          <a:xfrm>
            <a:off x="700097" y="3730601"/>
            <a:ext cx="2719903" cy="286639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DE34B6A-45EA-4879-B52B-2B488C626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584" y="3816402"/>
            <a:ext cx="3291808" cy="234990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CDC6030-E516-4B96-ADB7-749AC4EC2D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104" t="89817" r="10706" b="5454"/>
          <a:stretch/>
        </p:blipFill>
        <p:spPr>
          <a:xfrm>
            <a:off x="5076522" y="6230085"/>
            <a:ext cx="3023870" cy="30613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930BDB-8160-46AE-827D-73DF2C55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4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7CF31CC7-655B-4BF6-A668-4ADD56BA4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445000"/>
            <a:ext cx="8534400" cy="9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  <a:cs typeface="+mn-ea"/>
              </a:rPr>
              <a:t>平衡常数</a:t>
            </a: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  <a:cs typeface="+mn-ea"/>
              </a:rPr>
              <a:t>(</a:t>
            </a:r>
            <a:r>
              <a:rPr lang="en-US" altLang="zh-CN" sz="2400" i="1" dirty="0">
                <a:solidFill>
                  <a:srgbClr val="0066FF"/>
                </a:solidFill>
                <a:latin typeface="+mn-lt"/>
                <a:ea typeface="+mn-ea"/>
                <a:cs typeface="+mn-ea"/>
              </a:rPr>
              <a:t>K</a:t>
            </a: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  <a:cs typeface="+mn-ea"/>
              </a:rPr>
              <a:t>)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  <a:cs typeface="+mn-ea"/>
              </a:rPr>
              <a:t>：</a:t>
            </a:r>
            <a:r>
              <a:rPr lang="zh-CN" altLang="en-US" sz="2400" dirty="0">
                <a:latin typeface="+mn-lt"/>
                <a:ea typeface="+mn-ea"/>
                <a:cs typeface="+mn-ea"/>
              </a:rPr>
              <a:t>描述平衡状态时各反应物和生成物浓度间的定量关系</a:t>
            </a:r>
          </a:p>
        </p:txBody>
      </p:sp>
      <p:pic>
        <p:nvPicPr>
          <p:cNvPr id="7" name="内容占位符 4">
            <a:extLst>
              <a:ext uri="{FF2B5EF4-FFF2-40B4-BE49-F238E27FC236}">
                <a16:creationId xmlns:a16="http://schemas.microsoft.com/office/drawing/2014/main" id="{E568B590-26C6-4ED6-9D92-72C791FF5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000" y="1197000"/>
            <a:ext cx="1950085" cy="8718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46FEB25-8286-49E6-8222-60A81EA1D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294287"/>
            <a:ext cx="3657917" cy="318238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A89B06C-4BB8-4E98-8354-3BD0AF860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51" y="2241782"/>
            <a:ext cx="3804234" cy="318238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4CD2419-BFD8-4E0E-8981-AADE1379FFC5}"/>
              </a:ext>
            </a:extLst>
          </p:cNvPr>
          <p:cNvSpPr txBox="1"/>
          <p:nvPr/>
        </p:nvSpPr>
        <p:spPr>
          <a:xfrm>
            <a:off x="5962993" y="1750510"/>
            <a:ext cx="1276350" cy="39878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n>
                  <a:noFill/>
                </a:ln>
                <a:solidFill>
                  <a:srgbClr val="0000FF"/>
                </a:solidFill>
              </a:rPr>
              <a:t>动态平衡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22DE200-1A6A-4B1B-9574-C1A9A9130D3F}"/>
              </a:ext>
            </a:extLst>
          </p:cNvPr>
          <p:cNvSpPr txBox="1">
            <a:spLocks/>
          </p:cNvSpPr>
          <p:nvPr/>
        </p:nvSpPr>
        <p:spPr>
          <a:xfrm>
            <a:off x="252000" y="45000"/>
            <a:ext cx="8640000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>
                <a:latin typeface="+mn-ea"/>
                <a:ea typeface="+mn-ea"/>
                <a:cs typeface="+mn-ea"/>
                <a:sym typeface="+mn-ea"/>
              </a:rPr>
              <a:t>4.1 </a:t>
            </a:r>
            <a:r>
              <a:rPr lang="zh-CN" altLang="en-US" kern="0">
                <a:latin typeface="+mn-ea"/>
                <a:ea typeface="+mn-ea"/>
                <a:cs typeface="+mn-ea"/>
                <a:sym typeface="+mn-ea"/>
              </a:rPr>
              <a:t>化学平衡及其特点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0C7D77-AA84-4860-82FE-266B40FA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5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E49B3F3-5298-43DE-9D7F-5EF6DB351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5200"/>
            <a:ext cx="8640000" cy="4318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化学反应的限度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内容占位符 6">
            <a:extLst>
              <a:ext uri="{FF2B5EF4-FFF2-40B4-BE49-F238E27FC236}">
                <a16:creationId xmlns:a16="http://schemas.microsoft.com/office/drawing/2014/main" id="{99691E94-4B8A-4972-90F2-07111A867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6129" y="1269000"/>
            <a:ext cx="4176000" cy="483638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00" dirty="0">
                <a:solidFill>
                  <a:schemeClr val="bg1">
                    <a:lumMod val="65000"/>
                  </a:schemeClr>
                </a:solidFill>
              </a:rPr>
              <a:t>4.0 </a:t>
            </a:r>
            <a:r>
              <a:rPr lang="zh-CN" altLang="en-US" sz="2600" dirty="0">
                <a:solidFill>
                  <a:schemeClr val="bg1">
                    <a:lumMod val="65000"/>
                  </a:schemeClr>
                </a:solidFill>
              </a:rPr>
              <a:t>引言</a:t>
            </a:r>
            <a:endParaRPr lang="en-US" altLang="zh-CN" sz="26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bg1">
                    <a:lumMod val="65000"/>
                  </a:schemeClr>
                </a:solidFill>
              </a:rPr>
              <a:t>4</a:t>
            </a:r>
            <a:r>
              <a:rPr lang="zh-CN" altLang="en-US" sz="2600" dirty="0">
                <a:solidFill>
                  <a:schemeClr val="bg1">
                    <a:lumMod val="65000"/>
                  </a:schemeClr>
                </a:solidFill>
              </a:rPr>
              <a:t>.1</a:t>
            </a:r>
            <a:r>
              <a:rPr lang="en-US" altLang="zh-CN" sz="2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zh-CN" altLang="en-US" sz="2600" dirty="0">
                <a:solidFill>
                  <a:schemeClr val="bg1">
                    <a:lumMod val="65000"/>
                  </a:schemeClr>
                </a:solidFill>
              </a:rPr>
              <a:t>化学平衡及其特点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rgbClr val="0066FF"/>
                </a:solidFill>
              </a:rPr>
              <a:t>4</a:t>
            </a:r>
            <a:r>
              <a:rPr lang="zh-CN" altLang="en-US" sz="2600" dirty="0">
                <a:solidFill>
                  <a:srgbClr val="0066FF"/>
                </a:solidFill>
              </a:rPr>
              <a:t>.2</a:t>
            </a:r>
            <a:r>
              <a:rPr lang="en-US" altLang="zh-CN" sz="2600" dirty="0">
                <a:solidFill>
                  <a:srgbClr val="0066FF"/>
                </a:solidFill>
              </a:rPr>
              <a:t> </a:t>
            </a:r>
            <a:r>
              <a:rPr lang="zh-CN" altLang="en-US" sz="2600" dirty="0">
                <a:solidFill>
                  <a:srgbClr val="0066FF"/>
                </a:solidFill>
              </a:rPr>
              <a:t>平衡常数与反应的限度</a:t>
            </a: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.2.1</a:t>
            </a:r>
            <a:r>
              <a:rPr lang="en-US" altLang="zh-CN" sz="2400" dirty="0"/>
              <a:t> </a:t>
            </a:r>
            <a:r>
              <a:rPr lang="zh-CN" altLang="en-US" sz="2400" dirty="0"/>
              <a:t>平衡常数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zh-CN" altLang="en-US" sz="2200" dirty="0"/>
              <a:t>1）实验平衡常数</a:t>
            </a:r>
          </a:p>
          <a:p>
            <a:pPr marL="0" indent="0">
              <a:buNone/>
            </a:pPr>
            <a:r>
              <a:rPr lang="en-US" altLang="zh-CN" sz="2200" dirty="0"/>
              <a:t>	</a:t>
            </a:r>
            <a:r>
              <a:rPr lang="zh-CN" altLang="en-US" sz="2200" dirty="0"/>
              <a:t>2）标准平衡常数</a:t>
            </a:r>
          </a:p>
          <a:p>
            <a:pPr marL="0" indent="0">
              <a:buNone/>
            </a:pPr>
            <a:r>
              <a:rPr lang="en-US" altLang="zh-CN" sz="2200" dirty="0"/>
              <a:t>	</a:t>
            </a:r>
            <a:r>
              <a:rPr lang="zh-CN" altLang="en-US" sz="2200" dirty="0"/>
              <a:t>3）书写平衡常数时要注意的事项</a:t>
            </a:r>
          </a:p>
          <a:p>
            <a:pPr marL="0" indent="0">
              <a:buNone/>
            </a:pPr>
            <a:r>
              <a:rPr lang="en-US" altLang="zh-CN" sz="2400" dirty="0"/>
              <a:t>      4</a:t>
            </a:r>
            <a:r>
              <a:rPr lang="zh-CN" altLang="en-US" sz="2400" dirty="0"/>
              <a:t>.2.2 平衡常数与Gibbs自由能变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      1）用热力学数据求算K</a:t>
            </a:r>
          </a:p>
          <a:p>
            <a:pPr marL="0" indent="0"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	</a:t>
            </a:r>
            <a:endParaRPr lang="zh-CN" altLang="en-US" sz="2400" dirty="0"/>
          </a:p>
          <a:p>
            <a:pPr marL="0" indent="0">
              <a:buNone/>
            </a:pPr>
            <a:r>
              <a:rPr lang="en-US" altLang="zh-CN" sz="2400" dirty="0"/>
              <a:t>     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200" dirty="0"/>
          </a:p>
        </p:txBody>
      </p:sp>
      <p:sp>
        <p:nvSpPr>
          <p:cNvPr id="8196" name="内容占位符 7">
            <a:extLst>
              <a:ext uri="{FF2B5EF4-FFF2-40B4-BE49-F238E27FC236}">
                <a16:creationId xmlns:a16="http://schemas.microsoft.com/office/drawing/2014/main" id="{1CF51499-1C55-4347-B9F9-783F2E082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8000" y="1926010"/>
            <a:ext cx="4464000" cy="4032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           2）Q的引入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3）化学反应方向的判断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	4</a:t>
            </a:r>
            <a:r>
              <a:rPr lang="zh-CN" altLang="en-US" sz="2400" dirty="0"/>
              <a:t>）化学反应限度的判断</a:t>
            </a:r>
            <a:r>
              <a:rPr lang="en-US" altLang="zh-CN" sz="2400" dirty="0"/>
              <a:t>     </a:t>
            </a: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.2.3</a:t>
            </a:r>
            <a:r>
              <a:rPr lang="en-US" altLang="zh-CN" sz="2400" dirty="0"/>
              <a:t> </a:t>
            </a:r>
            <a:r>
              <a:rPr lang="zh-CN" altLang="en-US" sz="2400" dirty="0"/>
              <a:t>多重平衡</a:t>
            </a:r>
            <a:endParaRPr lang="en-US" altLang="zh-CN" sz="2400" dirty="0">
              <a:solidFill>
                <a:srgbClr val="0066FF"/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rgbClr val="0066FF"/>
                </a:solidFill>
              </a:rPr>
              <a:t>4</a:t>
            </a:r>
            <a:r>
              <a:rPr lang="zh-CN" altLang="en-US" sz="2600" dirty="0">
                <a:solidFill>
                  <a:srgbClr val="0066FF"/>
                </a:solidFill>
              </a:rPr>
              <a:t>.3</a:t>
            </a:r>
            <a:r>
              <a:rPr lang="en-US" altLang="zh-CN" sz="2600" dirty="0">
                <a:solidFill>
                  <a:srgbClr val="0066FF"/>
                </a:solidFill>
              </a:rPr>
              <a:t> </a:t>
            </a:r>
            <a:r>
              <a:rPr lang="zh-CN" altLang="en-US" sz="2600" dirty="0">
                <a:solidFill>
                  <a:srgbClr val="0066FF"/>
                </a:solidFill>
              </a:rPr>
              <a:t>化学平衡的移动</a:t>
            </a:r>
            <a:endParaRPr lang="en-US" altLang="zh-CN" sz="2600" dirty="0">
              <a:solidFill>
                <a:srgbClr val="0066FF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.3.1 浓度对化学平衡的影响</a:t>
            </a: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.3.2</a:t>
            </a:r>
            <a:r>
              <a:rPr lang="en-US" altLang="zh-CN" sz="2400" dirty="0"/>
              <a:t> </a:t>
            </a:r>
            <a:r>
              <a:rPr lang="zh-CN" altLang="en-US" sz="2400" dirty="0"/>
              <a:t>压力对化学平衡的影响</a:t>
            </a: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.3.3</a:t>
            </a:r>
            <a:r>
              <a:rPr lang="en-US" altLang="zh-CN" sz="2400" dirty="0"/>
              <a:t> </a:t>
            </a:r>
            <a:r>
              <a:rPr lang="zh-CN" altLang="en-US" sz="2400" dirty="0"/>
              <a:t>温度对化学平衡的影响</a:t>
            </a: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4.3.4</a:t>
            </a:r>
            <a:r>
              <a:rPr lang="en-US" altLang="zh-CN" sz="2400" dirty="0"/>
              <a:t> </a:t>
            </a:r>
            <a:r>
              <a:rPr lang="zh-CN" altLang="en-US" sz="2400" dirty="0"/>
              <a:t>化学平衡移动原理</a:t>
            </a:r>
          </a:p>
          <a:p>
            <a:pPr marL="0" indent="0" eaLnBrk="1" hangingPunct="1">
              <a:buFontTx/>
              <a:buNone/>
            </a:pPr>
            <a:endParaRPr lang="zh-CN" altLang="en-US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768FC07-2C75-460C-B9A9-0262D60B1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6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482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57346" y="4077000"/>
                <a:ext cx="8581854" cy="1152000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/>
                  <a:t>若在溶液中，反应达到平衡：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2400" dirty="0"/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/>
                  <a:t>其中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A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等为平衡时浓度，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CN" altLang="en-US" sz="2400" dirty="0"/>
                  <a:t>为浓度平衡常数</a:t>
                </a:r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7346" y="4077000"/>
                <a:ext cx="8581854" cy="1152000"/>
              </a:xfrm>
              <a:blipFill>
                <a:blip r:embed="rId2"/>
                <a:stretch>
                  <a:fillRect l="-1065" b="-5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3" name="TextBox 1">
            <a:extLst>
              <a:ext uri="{FF2B5EF4-FFF2-40B4-BE49-F238E27FC236}">
                <a16:creationId xmlns:a16="http://schemas.microsoft.com/office/drawing/2014/main" id="{AF6997D4-AD20-4FE0-B418-DE8DBD623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46" y="1053000"/>
            <a:ext cx="860558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  <a:ea typeface="+mn-ea"/>
              </a:rPr>
              <a:t>平衡常数（</a:t>
            </a:r>
            <a:r>
              <a:rPr lang="en-US" altLang="zh-CN" sz="2400" i="1" dirty="0">
                <a:latin typeface="+mn-lt"/>
                <a:ea typeface="+mn-ea"/>
              </a:rPr>
              <a:t>K</a:t>
            </a:r>
            <a:r>
              <a:rPr lang="zh-CN" altLang="en-US" sz="2400" dirty="0">
                <a:latin typeface="+mn-lt"/>
                <a:ea typeface="+mn-ea"/>
              </a:rPr>
              <a:t>）：实验/经验平衡常数、标准平衡常数</a:t>
            </a:r>
            <a:endParaRPr lang="en-US" altLang="zh-CN" sz="2400" dirty="0">
              <a:latin typeface="+mn-lt"/>
              <a:ea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endParaRPr lang="zh-CN" altLang="en-US" sz="2400" dirty="0">
              <a:latin typeface="+mn-lt"/>
              <a:ea typeface="+mn-ea"/>
            </a:endParaRPr>
          </a:p>
          <a:p>
            <a:pPr marL="0" indent="0" latinLnBrk="0"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</a:rPr>
              <a:t>1）实验/经验平衡常数</a:t>
            </a:r>
          </a:p>
          <a:p>
            <a:pPr marL="0" indent="0" latinLnBrk="0"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+mn-ea"/>
              </a:rPr>
              <a:t>    </a:t>
            </a:r>
            <a:r>
              <a:rPr lang="zh-CN" altLang="en-US" sz="2400" dirty="0">
                <a:latin typeface="+mn-lt"/>
                <a:ea typeface="+mn-ea"/>
              </a:rPr>
              <a:t>可逆反应：</a:t>
            </a:r>
            <a:r>
              <a:rPr lang="zh-CN" altLang="en-US" sz="2400" dirty="0">
                <a:latin typeface="+mn-lt"/>
                <a:ea typeface="+mn-ea"/>
                <a:cs typeface="+mn-lt"/>
              </a:rPr>
              <a:t>a</a:t>
            </a:r>
            <a:r>
              <a:rPr lang="zh-CN" altLang="en-US" sz="2400" dirty="0">
                <a:latin typeface="+mn-lt"/>
                <a:ea typeface="+mn-ea"/>
              </a:rPr>
              <a:t>A</a:t>
            </a:r>
            <a:r>
              <a:rPr lang="en-US" altLang="zh-CN" sz="2400" dirty="0">
                <a:latin typeface="+mn-lt"/>
                <a:ea typeface="+mn-ea"/>
              </a:rPr>
              <a:t> </a:t>
            </a:r>
            <a:r>
              <a:rPr lang="zh-CN" altLang="en-US" sz="2400" dirty="0">
                <a:latin typeface="+mn-lt"/>
                <a:ea typeface="+mn-ea"/>
              </a:rPr>
              <a:t>+ </a:t>
            </a:r>
            <a:r>
              <a:rPr lang="zh-CN" altLang="en-US" sz="2400" dirty="0">
                <a:latin typeface="+mn-lt"/>
                <a:ea typeface="+mn-ea"/>
                <a:cs typeface="+mn-lt"/>
              </a:rPr>
              <a:t>b</a:t>
            </a:r>
            <a:r>
              <a:rPr lang="zh-CN" altLang="en-US" sz="2400" dirty="0">
                <a:latin typeface="+mn-lt"/>
                <a:ea typeface="+mn-ea"/>
              </a:rPr>
              <a:t>B </a:t>
            </a:r>
            <a:r>
              <a:rPr lang="en-US" altLang="zh-CN" sz="2400" dirty="0">
                <a:latin typeface="+mn-lt"/>
                <a:ea typeface="+mn-ea"/>
              </a:rPr>
              <a:t> ⇄</a:t>
            </a:r>
            <a:r>
              <a:rPr lang="zh-CN" altLang="en-US" sz="2400" dirty="0">
                <a:latin typeface="+mn-lt"/>
                <a:ea typeface="+mn-ea"/>
              </a:rPr>
              <a:t> </a:t>
            </a:r>
            <a:r>
              <a:rPr lang="zh-CN" altLang="en-US" sz="2400" dirty="0">
                <a:latin typeface="+mn-lt"/>
                <a:ea typeface="+mn-ea"/>
                <a:cs typeface="+mn-lt"/>
              </a:rPr>
              <a:t>c</a:t>
            </a:r>
            <a:r>
              <a:rPr lang="zh-CN" altLang="en-US" sz="2400" dirty="0">
                <a:latin typeface="+mn-lt"/>
                <a:ea typeface="+mn-ea"/>
              </a:rPr>
              <a:t>C +</a:t>
            </a:r>
            <a:r>
              <a:rPr lang="en-US" altLang="zh-CN" sz="2400" dirty="0">
                <a:latin typeface="+mn-lt"/>
                <a:ea typeface="+mn-ea"/>
              </a:rPr>
              <a:t> </a:t>
            </a:r>
            <a:r>
              <a:rPr lang="zh-CN" altLang="en-US" sz="2400" dirty="0">
                <a:latin typeface="+mn-lt"/>
                <a:ea typeface="+mn-ea"/>
                <a:cs typeface="+mn-lt"/>
              </a:rPr>
              <a:t>d</a:t>
            </a:r>
            <a:r>
              <a:rPr lang="zh-CN" altLang="en-US" sz="2400" dirty="0">
                <a:latin typeface="+mn-lt"/>
                <a:ea typeface="+mn-ea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B54D4F8-FCDA-4C1D-93AC-6C5D91BD6B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346" y="2781000"/>
                <a:ext cx="8581854" cy="11365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若均为气体，在温度为</a:t>
                </a:r>
                <a:r>
                  <a:rPr lang="zh-CN" altLang="en-US" sz="2400" i="1" dirty="0">
                    <a:latin typeface="+mn-lt"/>
                    <a:ea typeface="+mn-ea"/>
                  </a:rPr>
                  <a:t>T</a:t>
                </a:r>
                <a:r>
                  <a:rPr lang="en-US" altLang="zh-CN" sz="2400" dirty="0">
                    <a:latin typeface="+mn-lt"/>
                    <a:ea typeface="+mn-ea"/>
                  </a:rPr>
                  <a:t>(K)</a:t>
                </a:r>
                <a:r>
                  <a:rPr lang="zh-CN" altLang="en-US" sz="2400" dirty="0">
                    <a:latin typeface="+mn-lt"/>
                    <a:ea typeface="+mn-ea"/>
                  </a:rPr>
                  <a:t>时达到平衡：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B</m:t>
                                </m:r>
                              </m:sub>
                            </m:sSub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>
                    <a:latin typeface="+mn-lt"/>
                    <a:ea typeface="+mn-ea"/>
                  </a:rPr>
                  <a:t>   </a:t>
                </a:r>
                <a:endParaRPr lang="zh-CN" altLang="en-US" sz="2400" dirty="0">
                  <a:latin typeface="+mn-lt"/>
                  <a:ea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等为平衡分压，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为压力平衡常数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B54D4F8-FCDA-4C1D-93AC-6C5D91BD6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346" y="2781000"/>
                <a:ext cx="8581854" cy="1136530"/>
              </a:xfrm>
              <a:prstGeom prst="rect">
                <a:avLst/>
              </a:prstGeom>
              <a:blipFill>
                <a:blip r:embed="rId3"/>
                <a:stretch>
                  <a:fillRect l="-1065" b="-641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46" y="45000"/>
            <a:ext cx="8629000" cy="431800"/>
          </a:xfrm>
        </p:spPr>
        <p:txBody>
          <a:bodyPr/>
          <a:lstStyle/>
          <a:p>
            <a:pPr algn="l" eaLnBrk="1" hangingPunct="1"/>
            <a:r>
              <a:rPr lang="en-US" altLang="zh-CN" sz="3200" dirty="0">
                <a:latin typeface="+mj-ea"/>
                <a:cs typeface="+mj-ea"/>
              </a:rPr>
              <a:t>4.2 </a:t>
            </a:r>
            <a:r>
              <a:rPr lang="zh-CN" altLang="en-US" sz="3200" dirty="0">
                <a:latin typeface="+mj-ea"/>
                <a:cs typeface="+mj-ea"/>
              </a:rPr>
              <a:t>平衡常数与反应的限度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346" y="5589000"/>
                <a:ext cx="8629000" cy="4945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可由实验测定，称之为实验/经验平衡常数</a:t>
                </a:r>
                <a:endParaRPr lang="zh-CN" altLang="en-US" sz="2400" dirty="0"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346" y="5589000"/>
                <a:ext cx="8629000" cy="494559"/>
              </a:xfrm>
              <a:prstGeom prst="rect">
                <a:avLst/>
              </a:prstGeom>
              <a:blipFill>
                <a:blip r:embed="rId4"/>
                <a:stretch>
                  <a:fillRect l="-141" t="-13580" b="-222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15B4982-C238-4B5F-A324-2C9B9929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7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1023335"/>
                <a:ext cx="858185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algn="ctr"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例：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+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⇄ 2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HI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(698.5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K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i="1" dirty="0">
                  <a:latin typeface="+mn-lt"/>
                  <a:ea typeface="+mn-ea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1023335"/>
                <a:ext cx="8581854" cy="461665"/>
              </a:xfrm>
              <a:prstGeom prst="rect">
                <a:avLst/>
              </a:prstGeom>
              <a:blipFill>
                <a:blip r:embed="rId3"/>
                <a:stretch>
                  <a:fillRect t="-14474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46" y="45000"/>
            <a:ext cx="8706654" cy="431800"/>
          </a:xfrm>
        </p:spPr>
        <p:txBody>
          <a:bodyPr/>
          <a:lstStyle/>
          <a:p>
            <a:pPr algn="l" eaLnBrk="1" hangingPunct="1"/>
            <a:r>
              <a:rPr lang="en-US" altLang="zh-CN" sz="3200" dirty="0"/>
              <a:t>4.2.1 </a:t>
            </a:r>
            <a:r>
              <a:rPr lang="zh-CN" altLang="en-US" sz="3200" dirty="0"/>
              <a:t>平衡常数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199" y="5157109"/>
                <a:ext cx="8229599" cy="8638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just">
                  <a:spcBef>
                    <a:spcPts val="0"/>
                  </a:spcBef>
                  <a:buNone/>
                </a:pP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黑体" panose="02010609060101010101" pitchFamily="49" charset="-122"/>
                    <a:cs typeface="Cambria Math" panose="02040503050406030204" pitchFamily="18" charset="0"/>
                  </a:rPr>
                  <a:t>测定平衡时各组分的浓度（或分压），通过平衡常数表达式，可求出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黑体" panose="02010609060101010101" pitchFamily="49" charset="-122"/>
                    <a:cs typeface="Cambria Math" panose="02040503050406030204" pitchFamily="18" charset="0"/>
                  </a:rPr>
                  <a:t>(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黑体" panose="02010609060101010101" pitchFamily="49" charset="-122"/>
                    <a:cs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黑体" panose="02010609060101010101" pitchFamily="49" charset="-122"/>
                    <a:cs typeface="Cambria Math" panose="02040503050406030204" pitchFamily="18" charset="0"/>
                  </a:rPr>
                  <a:t>)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黑体" panose="02010609060101010101" pitchFamily="49" charset="-122"/>
                    <a:cs typeface="Cambria Math" panose="02040503050406030204" pitchFamily="18" charset="0"/>
                  </a:rPr>
                  <a:t>，</a:t>
                </a:r>
                <a:r>
                  <a:rPr lang="zh-CN" altLang="en-US" sz="2400" u="sng" dirty="0">
                    <a:solidFill>
                      <a:srgbClr val="0066FF"/>
                    </a:solidFill>
                    <a:latin typeface="+mn-lt"/>
                    <a:ea typeface="黑体" panose="02010609060101010101" pitchFamily="49" charset="-122"/>
                    <a:cs typeface="Cambria Math" panose="02040503050406030204" pitchFamily="18" charset="0"/>
                  </a:rPr>
                  <a:t>在一定温度下，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u="sng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u="sng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u="sng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CN" altLang="en-US" sz="2400" u="sng" dirty="0">
                    <a:solidFill>
                      <a:srgbClr val="0066FF"/>
                    </a:solidFill>
                    <a:latin typeface="+mn-lt"/>
                    <a:ea typeface="黑体" panose="02010609060101010101" pitchFamily="49" charset="-122"/>
                    <a:cs typeface="Cambria Math" panose="02040503050406030204" pitchFamily="18" charset="0"/>
                  </a:rPr>
                  <a:t>为常数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黑体" panose="02010609060101010101" pitchFamily="49" charset="-122"/>
                    <a:cs typeface="Cambria Math" panose="020405030504060302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199" y="5157109"/>
                <a:ext cx="8229599" cy="863891"/>
              </a:xfrm>
              <a:prstGeom prst="rect">
                <a:avLst/>
              </a:prstGeom>
              <a:blipFill>
                <a:blip r:embed="rId4"/>
                <a:stretch>
                  <a:fillRect l="-1111" t="-5634" r="-1111" b="-1197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148EE0B8-65B4-4A6D-838A-1541E83848FB}"/>
                  </a:ext>
                </a:extLst>
              </p:cNvPr>
              <p:cNvGraphicFramePr/>
              <p:nvPr>
                <p:custDataLst>
                  <p:tags r:id="rId1"/>
                </p:custDataLst>
                <p:extLst>
                  <p:ext uri="{D42A27DB-BD31-4B8C-83A1-F6EECF244321}">
                    <p14:modId xmlns:p14="http://schemas.microsoft.com/office/powerpoint/2010/main" val="71718195"/>
                  </p:ext>
                </p:extLst>
              </p:nvPr>
            </p:nvGraphicFramePr>
            <p:xfrm>
              <a:off x="457199" y="1567794"/>
              <a:ext cx="8229599" cy="351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5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3956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3956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8185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620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117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117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8235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24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buNone/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+mn-ea"/>
                            </a:rPr>
                            <a:t>编</a:t>
                          </a: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+mn-ea"/>
                            </a:rPr>
                            <a:t> 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+mn-ea"/>
                            </a:rPr>
                            <a:t>号</a:t>
                          </a:r>
                        </a:p>
                      </a:txBody>
                      <a:tcPr vert="eaVert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+mn-ea"/>
                              <a:cs typeface="+mn-ea"/>
                            </a:rPr>
                            <a:t>起始浓度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(×</m:t>
                              </m:r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mol</m:t>
                              </m:r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dm</m:t>
                                  </m:r>
                                </m:e>
                                <m:sup>
                                  <m: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zh-CN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CN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b>
                                  <m:r>
                                    <a:rPr lang="en-US" altLang="zh-CN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0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CN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en-US" altLang="zh-CN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b>
                                  <m:r>
                                    <a:rPr lang="en-US" altLang="zh-CN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HI</m:t>
                                  </m:r>
                                  <m:r>
                                    <a:rPr lang="en-US" altLang="zh-CN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b>
                                  <m:r>
                                    <a:rPr lang="en-US" altLang="zh-CN" sz="20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+mn-ea"/>
                              <a:cs typeface="+mn-ea"/>
                            </a:rPr>
                            <a:t>平衡浓度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(×</m:t>
                                </m:r>
                                <m:sSup>
                                  <m:sSupPr>
                                    <m:ctrlP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zh-CN" sz="2000" b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altLang="zh-CN" sz="2000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mol</m:t>
                                </m:r>
                                <m:r>
                                  <a:rPr lang="en-US" altLang="zh-CN" sz="2000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altLang="zh-CN" sz="20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dm</m:t>
                                    </m:r>
                                  </m:e>
                                  <m:sup>
                                    <m:r>
                                      <a:rPr lang="en-US" altLang="zh-CN" sz="2000" b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zh-CN" sz="20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MS Mincho" charset="0"/>
                                    <a:cs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zh-CN" sz="2000" b="0" dirty="0">
                            <a:solidFill>
                              <a:schemeClr val="tx1"/>
                            </a:solidFill>
                            <a:latin typeface="+mn-ea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en-US" altLang="zh-CN" sz="20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a:rPr lang="en-US" altLang="zh-CN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HI</m:t>
                              </m:r>
                              <m:r>
                                <a:rPr lang="en-US" altLang="zh-CN" sz="20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altLang="zh-CN" sz="1800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8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18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[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HI</m:t>
                                        </m:r>
                                        <m:r>
                                          <a:rPr lang="en-US" altLang="zh-CN" sz="18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]</m:t>
                                        </m:r>
                                      </m:e>
                                      <m:sup>
                                        <m:r>
                                          <a:rPr lang="en-US" altLang="zh-CN" sz="18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1800" b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[</m:t>
                                    </m:r>
                                    <m:sSub>
                                      <m:sSubPr>
                                        <m:ctrlPr>
                                          <a:rPr lang="en-US" altLang="zh-CN" sz="18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altLang="zh-CN" sz="18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1800" b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]•[</m:t>
                                    </m:r>
                                    <m:sSub>
                                      <m:sSubPr>
                                        <m:ctrlPr>
                                          <a:rPr lang="en-US" altLang="zh-CN" sz="18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altLang="zh-CN" sz="1800" b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1800" b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]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</a:t>
                          </a: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10.677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11.695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1.831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3.129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17.67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54.5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2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11.354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9.044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3.560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1.250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15.59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54.6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3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11.357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7.510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4.565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0.738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13.54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54.5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4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4.489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0.479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0.479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3.531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54.4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5</a:t>
                          </a: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10.692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1.141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1.141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6.410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54.3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148EE0B8-65B4-4A6D-838A-1541E83848FB}"/>
                  </a:ext>
                </a:extLst>
              </p:cNvPr>
              <p:cNvGraphicFramePr/>
              <p:nvPr>
                <p:custDataLst>
                  <p:tags r:id="rId5"/>
                </p:custDataLst>
                <p:extLst>
                  <p:ext uri="{D42A27DB-BD31-4B8C-83A1-F6EECF244321}">
                    <p14:modId xmlns:p14="http://schemas.microsoft.com/office/powerpoint/2010/main" val="71718195"/>
                  </p:ext>
                </p:extLst>
              </p:nvPr>
            </p:nvGraphicFramePr>
            <p:xfrm>
              <a:off x="457199" y="1567794"/>
              <a:ext cx="8229599" cy="351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5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3956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3956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8185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1620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117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117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82354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224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buNone/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+mn-ea"/>
                            </a:rPr>
                            <a:t>编</a:t>
                          </a:r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  <a:latin typeface="+mn-ea"/>
                            </a:rPr>
                            <a:t> </a:t>
                          </a: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latin typeface="+mn-ea"/>
                            </a:rPr>
                            <a:t>号</a:t>
                          </a:r>
                        </a:p>
                      </a:txBody>
                      <a:tcPr vert="eaVert"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8725" t="-995" r="-153187" b="-19353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27623" t="-995" r="-64668" b="-19353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55518" t="-995" r="-1003" b="-1935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</a:t>
                          </a: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10.677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11.695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1.831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3.129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17.67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54.5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2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11.354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9.044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3.560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1.250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15.59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54.6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3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11.357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7.510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4.565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0.738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13.54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54.5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4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4.489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0.479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0.479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3.531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54.4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5</a:t>
                          </a: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/>
                            <a:t>10.692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1.141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1.141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6.410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2000" dirty="0"/>
                            <a:t>54.3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865518-4EC1-4E9A-B224-B776174ED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8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153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49579" y="3356890"/>
                <a:ext cx="8621115" cy="1656110"/>
              </a:xfrm>
            </p:spPr>
            <p:txBody>
              <a:bodyPr/>
              <a:lstStyle/>
              <a:p>
                <a:pPr marL="0" indent="0" latinLnBrk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CN" altLang="en-US" sz="2400" dirty="0">
                    <a:cs typeface="Cambria Math" panose="02040503050406030204" pitchFamily="18" charset="0"/>
                    <a:sym typeface="+mn-ea"/>
                  </a:rPr>
                  <a:t>对于反应前后总计量系数</a:t>
                </a:r>
                <a:r>
                  <a:rPr lang="zh-CN" altLang="en-US" sz="2400" dirty="0">
                    <a:solidFill>
                      <a:srgbClr val="FF0000"/>
                    </a:solidFill>
                    <a:cs typeface="Cambria Math" panose="02040503050406030204" pitchFamily="18" charset="0"/>
                    <a:sym typeface="+mn-ea"/>
                  </a:rPr>
                  <a:t>相等</a:t>
                </a:r>
                <a:r>
                  <a:rPr lang="zh-CN" altLang="en-US" sz="2400" dirty="0">
                    <a:cs typeface="Cambria Math" panose="02040503050406030204" pitchFamily="18" charset="0"/>
                    <a:sym typeface="+mn-ea"/>
                  </a:rPr>
                  <a:t>的反应：</a:t>
                </a:r>
                <a:r>
                  <a:rPr lang="en-US" altLang="zh-CN" sz="2400" dirty="0">
                    <a:cs typeface="Cambria Math" panose="02040503050406030204" pitchFamily="18" charset="0"/>
                    <a:sym typeface="+mn-ea"/>
                  </a:rPr>
                  <a:t>    </a:t>
                </a:r>
                <a:r>
                  <a:rPr lang="en-US" altLang="zh-CN" sz="2400" dirty="0">
                    <a:solidFill>
                      <a:srgbClr val="FF0000"/>
                    </a:solidFill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  <a:cs typeface="Cambria Math" panose="02040503050406030204" pitchFamily="18" charset="0"/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cs typeface="Cambria Math" panose="02040503050406030204" pitchFamily="18" charset="0"/>
                  </a:rPr>
                  <a:t>=</a:t>
                </a:r>
                <a:r>
                  <a:rPr lang="en-US" altLang="zh-CN" sz="2400" i="1" dirty="0">
                    <a:solidFill>
                      <a:srgbClr val="FF0000"/>
                    </a:solidFill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cs typeface="Cambria Math" panose="02040503050406030204" pitchFamily="18" charset="0"/>
                  </a:rPr>
                  <a:t> </a:t>
                </a:r>
              </a:p>
              <a:p>
                <a:pPr marL="0" indent="0" latinLnBrk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CN" altLang="en-US" sz="2400" dirty="0">
                    <a:cs typeface="Cambria Math" panose="02040503050406030204" pitchFamily="18" charset="0"/>
                  </a:rPr>
                  <a:t>如：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 +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2400">
                        <a:latin typeface="Cambria Math" panose="02040503050406030204" pitchFamily="18" charset="0"/>
                        <a:sym typeface="+mn-ea"/>
                      </a:rPr>
                      <m:t>⇄ 2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sym typeface="+mn-ea"/>
                      </a:rPr>
                      <m:t>HI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cs typeface="Cambria Math" panose="02040503050406030204" pitchFamily="18" charset="0"/>
                  </a:rPr>
                  <a:t>  </a:t>
                </a:r>
              </a:p>
              <a:p>
                <a:pPr marL="0" indent="0" latinLnBrk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HI</m:t>
                                  </m:r>
                                </m:sub>
                              </m:s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]•[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]</m:t>
                          </m:r>
                        </m:den>
                      </m:f>
                      <m:r>
                        <a:rPr lang="en-US" altLang="zh-CN" sz="20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HI</m:t>
                              </m:r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RT</m:t>
                              </m:r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](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RT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)•[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](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RT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0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000" i="1" dirty="0">
                  <a:solidFill>
                    <a:srgbClr val="FF0000"/>
                  </a:solidFill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9579" y="3356890"/>
                <a:ext cx="8621115" cy="1656110"/>
              </a:xfrm>
              <a:blipFill>
                <a:blip r:embed="rId2"/>
                <a:stretch>
                  <a:fillRect l="-1132" t="-40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345" y="981000"/>
                <a:ext cx="8706653" cy="8638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的关系：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sym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可逆反应：</a:t>
                </a:r>
                <a:r>
                  <a:rPr lang="zh-CN" altLang="en-US" sz="2400" dirty="0">
                    <a:latin typeface="+mn-lt"/>
                    <a:ea typeface="+mn-ea"/>
                    <a:cs typeface="+mn-lt"/>
                    <a:sym typeface="+mn-ea"/>
                  </a:rPr>
                  <a:t>a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A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+ </a:t>
                </a:r>
                <a:r>
                  <a:rPr lang="zh-CN" altLang="en-US" sz="2400" dirty="0">
                    <a:latin typeface="+mn-lt"/>
                    <a:ea typeface="+mn-ea"/>
                    <a:cs typeface="+mn-lt"/>
                    <a:sym typeface="+mn-ea"/>
                  </a:rPr>
                  <a:t>b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B 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⇄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  <a:cs typeface="+mn-lt"/>
                    <a:sym typeface="+mn-ea"/>
                  </a:rPr>
                  <a:t>c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C +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  <a:cs typeface="+mn-lt"/>
                    <a:sym typeface="+mn-ea"/>
                  </a:rPr>
                  <a:t>d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D</a:t>
                </a:r>
              </a:p>
              <a:p>
                <a:pPr marL="0" indent="0" latinLnBrk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sym typeface="+mn-ea"/>
                  </a:rPr>
                  <a:t>设为理想气体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sym typeface="+mn-ea"/>
                  </a:rPr>
                  <a:t>   </a:t>
                </a:r>
                <a:r>
                  <a:rPr lang="en-US" altLang="zh-CN" sz="2400" i="1" dirty="0" err="1">
                    <a:latin typeface="+mn-lt"/>
                    <a:ea typeface="+mn-ea"/>
                    <a:sym typeface="+mn-ea"/>
                  </a:rPr>
                  <a:t>pV</a:t>
                </a:r>
                <a:r>
                  <a:rPr lang="en-US" altLang="zh-CN" sz="2400" i="1" dirty="0">
                    <a:latin typeface="+mn-lt"/>
                    <a:ea typeface="+mn-ea"/>
                    <a:sym typeface="+mn-ea"/>
                  </a:rPr>
                  <a:t> 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= </a:t>
                </a:r>
                <a:r>
                  <a:rPr lang="en-US" altLang="zh-CN" sz="2400" i="1" dirty="0" err="1">
                    <a:latin typeface="+mn-lt"/>
                    <a:ea typeface="+mn-ea"/>
                    <a:sym typeface="+mn-ea"/>
                  </a:rPr>
                  <a:t>nRT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 ⇒  </a:t>
                </a:r>
                <a:r>
                  <a:rPr lang="en-US" altLang="zh-CN" sz="2400" i="1" dirty="0">
                    <a:solidFill>
                      <a:srgbClr val="FF0000"/>
                    </a:solidFill>
                    <a:latin typeface="+mn-lt"/>
                    <a:ea typeface="+mn-ea"/>
                    <a:sym typeface="+mn-ea"/>
                  </a:rPr>
                  <a:t>p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+mn-lt"/>
                    <a:ea typeface="+mn-ea"/>
                    <a:sym typeface="+mn-ea"/>
                  </a:rPr>
                  <a:t> = (</a:t>
                </a:r>
                <a:r>
                  <a:rPr lang="en-US" altLang="zh-CN" sz="2400" i="1" dirty="0">
                    <a:solidFill>
                      <a:srgbClr val="FF0000"/>
                    </a:solidFill>
                    <a:latin typeface="+mn-lt"/>
                    <a:ea typeface="+mn-ea"/>
                    <a:sym typeface="+mn-ea"/>
                  </a:rPr>
                  <a:t>n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+mn-lt"/>
                    <a:ea typeface="+mn-ea"/>
                    <a:sym typeface="+mn-ea"/>
                  </a:rPr>
                  <a:t>/</a:t>
                </a:r>
                <a:r>
                  <a:rPr lang="en-US" altLang="zh-CN" sz="2400" i="1" dirty="0">
                    <a:solidFill>
                      <a:srgbClr val="FF0000"/>
                    </a:solidFill>
                    <a:latin typeface="+mn-lt"/>
                    <a:ea typeface="+mn-ea"/>
                    <a:sym typeface="+mn-ea"/>
                  </a:rPr>
                  <a:t>V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+mn-lt"/>
                    <a:ea typeface="+mn-ea"/>
                    <a:sym typeface="+mn-ea"/>
                  </a:rPr>
                  <a:t>)</a:t>
                </a:r>
                <a:r>
                  <a:rPr lang="en-US" altLang="zh-CN" sz="2400" i="1" dirty="0">
                    <a:solidFill>
                      <a:srgbClr val="FF0000"/>
                    </a:solidFill>
                    <a:latin typeface="+mn-lt"/>
                    <a:ea typeface="+mn-ea"/>
                    <a:sym typeface="+mn-ea"/>
                  </a:rPr>
                  <a:t>RT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+mn-lt"/>
                    <a:ea typeface="+mn-ea"/>
                    <a:sym typeface="+mn-ea"/>
                  </a:rPr>
                  <a:t> = </a:t>
                </a:r>
                <a:r>
                  <a:rPr lang="en-US" altLang="zh-CN" sz="2400" i="1" dirty="0" err="1">
                    <a:solidFill>
                      <a:srgbClr val="FF0000"/>
                    </a:solidFill>
                    <a:latin typeface="+mn-lt"/>
                    <a:ea typeface="+mn-ea"/>
                    <a:sym typeface="+mn-ea"/>
                  </a:rPr>
                  <a:t>cRT</a:t>
                </a:r>
                <a:r>
                  <a:rPr lang="en-US" altLang="zh-CN" sz="2400" i="1" dirty="0">
                    <a:solidFill>
                      <a:srgbClr val="FF0000"/>
                    </a:solidFill>
                    <a:latin typeface="+mn-lt"/>
                    <a:ea typeface="+mn-ea"/>
                    <a:sym typeface="+mn-ea"/>
                  </a:rPr>
                  <a:t> </a:t>
                </a:r>
                <a:r>
                  <a:rPr lang="en-US" altLang="zh-CN" sz="2400" dirty="0">
                    <a:latin typeface="+mj-ea"/>
                    <a:ea typeface="+mj-ea"/>
                    <a:sym typeface="+mn-ea"/>
                  </a:rPr>
                  <a:t>(</a:t>
                </a:r>
                <a:r>
                  <a:rPr lang="en-US" altLang="zh-CN" sz="2400" i="1" dirty="0">
                    <a:latin typeface="+mj-ea"/>
                    <a:ea typeface="+mj-ea"/>
                    <a:sym typeface="+mn-ea"/>
                  </a:rPr>
                  <a:t>c</a:t>
                </a:r>
                <a:r>
                  <a:rPr lang="zh-CN" altLang="en-US" sz="2400" dirty="0">
                    <a:latin typeface="+mj-ea"/>
                    <a:ea typeface="+mj-ea"/>
                    <a:sym typeface="+mn-ea"/>
                  </a:rPr>
                  <a:t>为浓度</a:t>
                </a:r>
                <a:r>
                  <a:rPr lang="en-US" altLang="zh-CN" sz="2400" dirty="0">
                    <a:latin typeface="+mj-ea"/>
                    <a:ea typeface="+mj-ea"/>
                    <a:sym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345" y="981000"/>
                <a:ext cx="8706653" cy="863891"/>
              </a:xfrm>
              <a:prstGeom prst="rect">
                <a:avLst/>
              </a:prstGeom>
              <a:blipFill>
                <a:blip r:embed="rId3"/>
                <a:stretch>
                  <a:fillRect l="-1050" t="-7746" b="-161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B54D4F8-FCDA-4C1D-93AC-6C5D91BD6B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579" y="2004336"/>
                <a:ext cx="8613348" cy="1208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altLang="zh-CN" sz="2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c</m:t>
                              </m:r>
                            </m:sup>
                          </m:sSup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•</m:t>
                          </m:r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A</m:t>
                                  </m:r>
                                </m:sub>
                              </m:sSub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a</m:t>
                              </m:r>
                            </m:sup>
                          </m:sSup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•</m:t>
                          </m:r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den>
                      </m:f>
                      <m:r>
                        <a:rPr lang="en-US" altLang="zh-CN" sz="2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𝑅𝑇</m:t>
                              </m:r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c</m:t>
                              </m:r>
                            </m:sup>
                          </m:sSup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•</m:t>
                          </m:r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𝑅𝑇</m:t>
                              </m:r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A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𝑅𝑇</m:t>
                              </m:r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a</m:t>
                              </m:r>
                            </m:sup>
                          </m:sSup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•</m:t>
                          </m:r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𝑅𝑇</m:t>
                              </m:r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den>
                      </m:f>
                      <m:r>
                        <a:rPr lang="en-US" altLang="zh-CN" sz="2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c</m:t>
                              </m:r>
                            </m:sup>
                          </m:sSup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•</m:t>
                          </m:r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•</m:t>
                          </m:r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𝑅𝑇</m:t>
                              </m:r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A</m:t>
                                  </m:r>
                                </m:sub>
                              </m:sSub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a</m:t>
                              </m:r>
                            </m:sup>
                          </m:sSup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•</m:t>
                          </m:r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•</m:t>
                          </m:r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𝑅𝑇</m:t>
                              </m:r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den>
                      </m:f>
                      <m:r>
                        <a:rPr lang="en-US" altLang="zh-CN" sz="22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sSup>
                        <m:sSupPr>
                          <m:ctrlPr>
                            <a:rPr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</m:oMath>
                  </m:oMathPara>
                </a14:m>
                <a:endParaRPr lang="zh-CN" altLang="en-US" sz="2200" dirty="0"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B54D4F8-FCDA-4C1D-93AC-6C5D91BD6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579" y="2004336"/>
                <a:ext cx="8613348" cy="1208664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346" y="5109855"/>
                <a:ext cx="8605581" cy="1559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对于反应前后总计量系数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不相等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的反应：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𝑅𝑇</m:t>
                        </m:r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sym typeface="+mn-ea"/>
                          </a:rPr>
                          <m:t>∆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g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sz="2400" dirty="0">
                  <a:solidFill>
                    <a:srgbClr val="FF0000"/>
                  </a:solidFill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如：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+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⇄ 2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NH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</a:p>
              <a:p>
                <a:pPr algn="ctr"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黑体" panose="02010609060101010101" pitchFamily="49" charset="-122"/>
                    <a:ea typeface="黑体" panose="02010609060101010101" pitchFamily="49" charset="-122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NH</m:t>
                                    </m:r>
                                  </m:e>
                                  <m:sub>
                                    <m:r>
                                      <a:rPr lang="en-US" altLang="zh-CN" sz="220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220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•[</m:t>
                        </m:r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altLang="zh-CN" sz="22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NH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𝑅𝑇</m:t>
                            </m:r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2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𝑅𝑇</m:t>
                            </m:r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•[</m:t>
                        </m:r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zh-CN" sz="22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](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𝑅𝑇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2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𝑅𝑇</m:t>
                        </m:r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200" dirty="0">
                  <a:solidFill>
                    <a:srgbClr val="FF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346" y="5109855"/>
                <a:ext cx="8605581" cy="1559145"/>
              </a:xfrm>
              <a:prstGeom prst="rect">
                <a:avLst/>
              </a:prstGeom>
              <a:blipFill>
                <a:blip r:embed="rId5"/>
                <a:stretch>
                  <a:fillRect l="-1062" t="-31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>
            <a:extLst>
              <a:ext uri="{FF2B5EF4-FFF2-40B4-BE49-F238E27FC236}">
                <a16:creationId xmlns:a16="http://schemas.microsoft.com/office/drawing/2014/main" id="{F666F50A-1A78-4A1C-BFE1-A41C678872E1}"/>
              </a:ext>
            </a:extLst>
          </p:cNvPr>
          <p:cNvSpPr txBox="1">
            <a:spLocks/>
          </p:cNvSpPr>
          <p:nvPr/>
        </p:nvSpPr>
        <p:spPr>
          <a:xfrm>
            <a:off x="257346" y="45000"/>
            <a:ext cx="8706654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4.2.1 </a:t>
            </a:r>
            <a:r>
              <a:rPr lang="zh-CN" altLang="en-US" kern="0"/>
              <a:t>平衡常数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E905D1-AB28-488E-9829-60A72702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9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69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346" y="621000"/>
                <a:ext cx="8605581" cy="1580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algn="just" latinLnBrk="0">
                  <a:spcBef>
                    <a:spcPts val="0"/>
                  </a:spcBef>
                  <a:buNone/>
                </a:pPr>
                <a:r>
                  <a:rPr lang="zh-CN" altLang="en-US" sz="2400" dirty="0"/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lt"/>
                    <a:ea typeface="+mn-ea"/>
                  </a:rPr>
                  <a:t>2）标准平衡常数（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+mn-lt"/>
                    <a:ea typeface="+mn-ea"/>
                  </a:rPr>
                  <a:t>）：</a:t>
                </a:r>
                <a:r>
                  <a:rPr lang="zh-CN" altLang="en-US" sz="2400" dirty="0">
                    <a:latin typeface="+mn-lt"/>
                    <a:ea typeface="+mn-ea"/>
                  </a:rPr>
                  <a:t>可由测得的平衡浓度或分压，分别除以标准浓度或分压，得到的相对浓度或分压带入平衡常数表达式中计算获得，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也可用热力学方法计算得到，所以也称为热力学平衡常数。</a:t>
                </a:r>
              </a:p>
            </p:txBody>
          </p:sp>
        </mc:Choice>
        <mc:Fallback xmlns="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346" y="621000"/>
                <a:ext cx="8605581" cy="1580304"/>
              </a:xfrm>
              <a:prstGeom prst="rect">
                <a:avLst/>
              </a:prstGeom>
              <a:blipFill>
                <a:blip r:embed="rId2"/>
                <a:stretch>
                  <a:fillRect l="-1062" t="-3861" r="-1133" b="-73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B54D4F8-FCDA-4C1D-93AC-6C5D91BD6B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527" y="3989501"/>
                <a:ext cx="8534400" cy="2975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buNone/>
                </a:pPr>
                <a:r>
                  <a:rPr lang="en-US" altLang="zh-CN" sz="2400" dirty="0">
                    <a:latin typeface="+mn-lt"/>
                    <a:ea typeface="+mn-ea"/>
                  </a:rPr>
                  <a:t>	</a:t>
                </a:r>
                <a:r>
                  <a:rPr lang="zh-CN" altLang="en-US" sz="2400" dirty="0">
                    <a:latin typeface="+mn-lt"/>
                    <a:ea typeface="+mn-ea"/>
                  </a:rPr>
                  <a:t>如：</a:t>
                </a:r>
                <a:r>
                  <a:rPr lang="en-US" altLang="zh-CN" sz="2400" dirty="0">
                    <a:latin typeface="+mn-lt"/>
                    <a:ea typeface="+mn-ea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+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⇄ 2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NH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3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</a:p>
              <a:p>
                <a:pPr>
                  <a:buNone/>
                </a:pPr>
                <a:r>
                  <a:rPr lang="en-US" altLang="zh-CN" sz="2400" dirty="0">
                    <a:latin typeface="+mn-lt"/>
                    <a:ea typeface="+mn-ea"/>
                  </a:rPr>
                  <a:t>	</a:t>
                </a:r>
                <a:r>
                  <a:rPr lang="zh-CN" altLang="en-US" sz="2400" dirty="0">
                    <a:latin typeface="+mn-lt"/>
                    <a:ea typeface="+mn-ea"/>
                  </a:rPr>
                  <a:t>平衡压力：</a:t>
                </a:r>
                <a:r>
                  <a:rPr lang="en-US" altLang="zh-CN" sz="2400" dirty="0">
                    <a:latin typeface="+mn-lt"/>
                    <a:ea typeface="+mn-ea"/>
                  </a:rPr>
                  <a:t>	4.17	12.52	    3.57</a:t>
                </a:r>
                <a:r>
                  <a:rPr lang="zh-CN" altLang="en-US" sz="2400" dirty="0">
                    <a:latin typeface="+mn-lt"/>
                    <a:ea typeface="+mn-ea"/>
                  </a:rPr>
                  <a:t>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kPa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）</a:t>
                </a:r>
              </a:p>
              <a:p>
                <a:pPr>
                  <a:buNone/>
                </a:pPr>
                <a:r>
                  <a:rPr lang="en-US" altLang="zh-CN" sz="2400" dirty="0">
                    <a:latin typeface="+mn-lt"/>
                    <a:ea typeface="+mn-ea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i="0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NH</m:t>
                                    </m:r>
                                  </m:e>
                                  <m:sub>
                                    <m:r>
                                      <a:rPr lang="en-US" altLang="zh-CN" sz="2200" i="0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i="0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2200" i="0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•[</m:t>
                        </m:r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en-US" altLang="zh-CN" sz="22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1.56×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−15</m:t>
                        </m:r>
                      </m:sup>
                    </m:sSup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kPa</m:t>
                        </m:r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en-US" altLang="zh-CN" sz="2200" dirty="0">
                    <a:latin typeface="+mn-lt"/>
                    <a:ea typeface="+mn-ea"/>
                  </a:rPr>
                  <a:t>	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NH</m:t>
                                    </m:r>
                                  </m:e>
                                  <m:sub>
                                    <m:r>
                                      <a:rPr lang="en-US" altLang="zh-CN" sz="2200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2200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•[</m:t>
                        </m:r>
                        <m:sSub>
                          <m:sSubPr>
                            <m:ctrlPr>
                              <a:rPr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	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 = 100kPa = 1bar</a:t>
                </a:r>
              </a:p>
              <a:p>
                <a:pPr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	       	=  </a:t>
                </a:r>
                <a14:m>
                  <m:oMath xmlns:m="http://schemas.openxmlformats.org/officeDocument/2006/math"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1.56×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−11</m:t>
                        </m:r>
                      </m:sup>
                    </m:sSup>
                  </m:oMath>
                </a14:m>
                <a:endParaRPr lang="zh-CN" altLang="en-US" sz="2400" dirty="0"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B54D4F8-FCDA-4C1D-93AC-6C5D91BD6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527" y="3989501"/>
                <a:ext cx="8534400" cy="2975366"/>
              </a:xfrm>
              <a:prstGeom prst="rect">
                <a:avLst/>
              </a:prstGeom>
              <a:blipFill>
                <a:blip r:embed="rId3"/>
                <a:stretch>
                  <a:fillRect t="-2249" b="-10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209" y="2176409"/>
                <a:ext cx="8605581" cy="1216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just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+mn-ea"/>
                  </a:rPr>
                  <a:t>标准平衡常数中</a:t>
                </a:r>
                <a:r>
                  <a:rPr lang="en-US" altLang="zh-CN" sz="2400" b="1" u="sng" dirty="0">
                    <a:solidFill>
                      <a:srgbClr val="FF0000"/>
                    </a:solidFill>
                    <a:latin typeface="+mn-lt"/>
                    <a:ea typeface="+mn-ea"/>
                    <a:cs typeface="+mn-ea"/>
                  </a:rPr>
                  <a:t>浓度或压力为相对值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+mn-ea"/>
                  </a:rPr>
                  <a:t>，数值上与实验/</a:t>
                </a:r>
                <a:r>
                  <a:rPr lang="en-US" altLang="zh-CN" sz="2400" dirty="0" err="1">
                    <a:solidFill>
                      <a:srgbClr val="0066FF"/>
                    </a:solidFill>
                    <a:latin typeface="+mn-lt"/>
                    <a:ea typeface="+mn-ea"/>
                    <a:cs typeface="+mn-ea"/>
                  </a:rPr>
                  <a:t>经验平衡常数往往不同。后面讨论的多为标准平衡常数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𝜃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+mn-ea"/>
                  </a:rPr>
                  <a:t>，</a:t>
                </a:r>
                <a:r>
                  <a:rPr lang="en-US" altLang="zh-CN" sz="2400" dirty="0" err="1">
                    <a:solidFill>
                      <a:srgbClr val="0066FF"/>
                    </a:solidFill>
                    <a:latin typeface="+mn-lt"/>
                    <a:ea typeface="+mn-ea"/>
                    <a:cs typeface="+mn-ea"/>
                  </a:rPr>
                  <a:t>有时也简写成</a:t>
                </a:r>
                <a:r>
                  <a:rPr lang="en-US" altLang="zh-CN" sz="2400" i="1" dirty="0" err="1">
                    <a:solidFill>
                      <a:srgbClr val="0066FF"/>
                    </a:solidFill>
                    <a:latin typeface="+mn-lt"/>
                    <a:ea typeface="+mn-ea"/>
                    <a:cs typeface="+mn-ea"/>
                  </a:rPr>
                  <a:t>K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209" y="2176409"/>
                <a:ext cx="8605581" cy="1216551"/>
              </a:xfrm>
              <a:prstGeom prst="rect">
                <a:avLst/>
              </a:prstGeom>
              <a:blipFill>
                <a:blip r:embed="rId4"/>
                <a:stretch>
                  <a:fillRect l="-1062" t="-5500" r="-1133" b="-11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>
            <a:extLst>
              <a:ext uri="{FF2B5EF4-FFF2-40B4-BE49-F238E27FC236}">
                <a16:creationId xmlns:a16="http://schemas.microsoft.com/office/drawing/2014/main" id="{ABFD7939-17DA-404A-B784-05F648E097EB}"/>
              </a:ext>
            </a:extLst>
          </p:cNvPr>
          <p:cNvSpPr txBox="1">
            <a:spLocks/>
          </p:cNvSpPr>
          <p:nvPr/>
        </p:nvSpPr>
        <p:spPr>
          <a:xfrm>
            <a:off x="257346" y="45000"/>
            <a:ext cx="8706654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4.2.1 </a:t>
            </a:r>
            <a:r>
              <a:rPr lang="zh-CN" altLang="en-US" kern="0"/>
              <a:t>平衡常数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6CFB056-DB16-4D45-AAFD-D644CF84BC34}"/>
                  </a:ext>
                </a:extLst>
              </p:cNvPr>
              <p:cNvSpPr txBox="1"/>
              <p:nvPr/>
            </p:nvSpPr>
            <p:spPr>
              <a:xfrm>
                <a:off x="-489145" y="3070857"/>
                <a:ext cx="6096000" cy="716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p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θ</m:t>
                          </m:r>
                        </m:sup>
                      </m:sSubSup>
                      <m:r>
                        <a:rPr lang="en-US" altLang="zh-CN" sz="1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  <m:r>
                                <a:rPr lang="en-US" altLang="zh-CN" sz="18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c</m:t>
                              </m:r>
                            </m:sup>
                          </m:sSup>
                          <m:r>
                            <a:rPr lang="en-US" altLang="zh-CN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•</m:t>
                          </m:r>
                          <m:sSup>
                            <m:sSup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A</m:t>
                                  </m:r>
                                </m:sub>
                              </m:sSub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a</m:t>
                              </m:r>
                            </m:sup>
                          </m:sSup>
                          <m:r>
                            <a:rPr lang="en-US" altLang="zh-CN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•</m:t>
                          </m:r>
                          <m:sSup>
                            <m:sSup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6CFB056-DB16-4D45-AAFD-D644CF84B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9145" y="3070857"/>
                <a:ext cx="6096000" cy="7162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9CF670-647E-485D-AF3A-341F6C70E8C8}"/>
                  </a:ext>
                </a:extLst>
              </p:cNvPr>
              <p:cNvSpPr txBox="1"/>
              <p:nvPr/>
            </p:nvSpPr>
            <p:spPr>
              <a:xfrm>
                <a:off x="2275327" y="3070857"/>
                <a:ext cx="6096000" cy="7164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c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θ</m:t>
                          </m:r>
                        </m:sup>
                      </m:sSubSup>
                      <m:r>
                        <a:rPr lang="en-US" altLang="zh-CN" sz="1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  <m:r>
                                <a:rPr lang="en-US" altLang="zh-CN" sz="18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c</m:t>
                              </m:r>
                            </m:sup>
                          </m:sSup>
                          <m:r>
                            <a:rPr lang="en-US" altLang="zh-CN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•</m:t>
                          </m:r>
                          <m:sSup>
                            <m:sSup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a</m:t>
                              </m:r>
                            </m:sup>
                          </m:sSup>
                          <m:r>
                            <a:rPr lang="en-US" altLang="zh-CN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•</m:t>
                          </m:r>
                          <m:sSup>
                            <m:sSupPr>
                              <m:ctrlPr>
                                <a:rPr lang="en-US" altLang="zh-CN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18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  <m: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9CF670-647E-485D-AF3A-341F6C70E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327" y="3070857"/>
                <a:ext cx="6096000" cy="7164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0FCB65B-4A9A-477D-8399-02622DCC8DD2}"/>
                  </a:ext>
                </a:extLst>
              </p:cNvPr>
              <p:cNvSpPr txBox="1"/>
              <p:nvPr/>
            </p:nvSpPr>
            <p:spPr>
              <a:xfrm>
                <a:off x="6656582" y="3190056"/>
                <a:ext cx="2515110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  <m: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   </m:t>
                        </m:r>
                      </m:sup>
                    </m:sSup>
                  </m:oMath>
                </a14:m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为标准浓度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0FCB65B-4A9A-477D-8399-02622DCC8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582" y="3190056"/>
                <a:ext cx="2515110" cy="477888"/>
              </a:xfrm>
              <a:prstGeom prst="rect">
                <a:avLst/>
              </a:prstGeom>
              <a:blipFill>
                <a:blip r:embed="rId7"/>
                <a:stretch>
                  <a:fillRect t="-10127" b="-24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CA1987-FFA2-4F16-AB1F-C9A334F6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10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46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57346" y="3789000"/>
                <a:ext cx="8605580" cy="2088000"/>
              </a:xfrm>
            </p:spPr>
            <p:txBody>
              <a:bodyPr/>
              <a:lstStyle/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cs typeface="+mn-ea"/>
                    <a:sym typeface="+mn-ea"/>
                  </a:rPr>
                  <a:t>（</a:t>
                </a:r>
                <a:r>
                  <a:rPr lang="en-US" altLang="zh-CN" sz="2400" dirty="0">
                    <a:cs typeface="+mn-ea"/>
                    <a:sym typeface="+mn-ea"/>
                  </a:rPr>
                  <a:t>2</a:t>
                </a:r>
                <a:r>
                  <a:rPr lang="zh-CN" altLang="en-US" sz="2400" dirty="0">
                    <a:cs typeface="+mn-ea"/>
                    <a:sym typeface="+mn-ea"/>
                  </a:rPr>
                  <a:t>）</a:t>
                </a:r>
                <a:r>
                  <a:rPr lang="en-US" altLang="zh-CN" sz="2400" dirty="0">
                    <a:cs typeface="+mn-ea"/>
                    <a:sym typeface="+mn-ea"/>
                  </a:rPr>
                  <a:t> </a:t>
                </a:r>
                <a:r>
                  <a:rPr lang="en-US" altLang="zh-CN" sz="2400" dirty="0" err="1">
                    <a:cs typeface="+mn-ea"/>
                    <a:sym typeface="+mn-ea"/>
                  </a:rPr>
                  <a:t>纯液体</a:t>
                </a:r>
                <a:r>
                  <a:rPr lang="en-US" altLang="zh-CN" sz="2400" dirty="0">
                    <a:cs typeface="+mn-ea"/>
                    <a:sym typeface="+mn-ea"/>
                  </a:rPr>
                  <a:t>、 </a:t>
                </a:r>
                <a:r>
                  <a:rPr lang="en-US" altLang="zh-CN" sz="2400" dirty="0" err="1">
                    <a:cs typeface="+mn-ea"/>
                    <a:sym typeface="+mn-ea"/>
                  </a:rPr>
                  <a:t>纯固体参加反应时，其浓度（或分压）可认为是常数，均不写进平衡常数表达式中</a:t>
                </a:r>
                <a:r>
                  <a:rPr lang="zh-CN" altLang="en-US" sz="2400" dirty="0">
                    <a:cs typeface="+mn-ea"/>
                    <a:sym typeface="+mn-ea"/>
                  </a:rPr>
                  <a:t>；</a:t>
                </a:r>
                <a:endParaRPr lang="en-US" altLang="zh-CN" sz="2400" dirty="0">
                  <a:cs typeface="Cambria Math" panose="02040503050406030204" pitchFamily="18" charset="0"/>
                  <a:sym typeface="+mn-ea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Fe</m:t>
                          </m:r>
                        </m:e>
                        <m:sub>
                          <m:r>
                            <a:rPr lang="en-US" altLang="zh-CN" sz="24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24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s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+ 4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g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⇄ 3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Fe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s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+ 4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400" i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O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g</m:t>
                      </m:r>
                      <m:r>
                        <a:rPr lang="en-US" altLang="zh-CN" sz="2400" i="0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sz="2400" dirty="0">
                  <a:cs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cs typeface="Cambria Math" panose="02040503050406030204" pitchFamily="18" charset="0"/>
                  </a:rPr>
                  <a:t>			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2400" i="0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O</m:t>
                                </m:r>
                              </m:sub>
                            </m:sSub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2400" i="0">
                                        <a:solidFill>
                                          <a:srgbClr val="0066FF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</a:p>
              <a:p>
                <a:pPr>
                  <a:spcBef>
                    <a:spcPts val="0"/>
                  </a:spcBef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7346" y="3789000"/>
                <a:ext cx="8605580" cy="2088000"/>
              </a:xfrm>
              <a:blipFill>
                <a:blip r:embed="rId2"/>
                <a:stretch>
                  <a:fillRect l="-1062" t="-3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347" y="1557000"/>
                <a:ext cx="8605580" cy="19876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（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1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）反应方程式的书写不同，平衡常数值不同；</a:t>
                </a: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如：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273K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时，反应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 ⇄ 2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NO</m:t>
                        </m:r>
                      </m:e>
                      <m:sub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g</m:t>
                    </m:r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的平衡常数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= 0.36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，则：</a:t>
                </a: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反应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sym typeface="+mn-ea"/>
                      </a:rPr>
                      <m:t>2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NO</m:t>
                        </m:r>
                      </m:e>
                      <m:sub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g</m:t>
                    </m:r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sym typeface="+mn-ea"/>
                      </a:rPr>
                      <m:t>⇄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	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= 1/0.36 = 2.78</a:t>
                </a: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反应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NO</m:t>
                        </m:r>
                      </m:e>
                      <m:sub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g</m:t>
                    </m:r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sym typeface="+mn-ea"/>
                      </a:rPr>
                      <m:t>⇄</m:t>
                    </m:r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0.5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g</m:t>
                        </m:r>
                      </m:e>
                    </m:d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     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(1/0.36)</m:t>
                        </m:r>
                      </m:e>
                      <m:sup>
                        <m: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0.5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= 1.7</a:t>
                </a:r>
              </a:p>
            </p:txBody>
          </p:sp>
        </mc:Choice>
        <mc:Fallback xmlns="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347" y="1557000"/>
                <a:ext cx="8605580" cy="1987660"/>
              </a:xfrm>
              <a:prstGeom prst="rect">
                <a:avLst/>
              </a:prstGeom>
              <a:blipFill>
                <a:blip r:embed="rId3"/>
                <a:stretch>
                  <a:fillRect l="-1062" t="-3374" r="-496" b="-64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1">
            <a:extLst>
              <a:ext uri="{FF2B5EF4-FFF2-40B4-BE49-F238E27FC236}">
                <a16:creationId xmlns:a16="http://schemas.microsoft.com/office/drawing/2014/main" id="{D1BE6C0D-0D72-4C77-A621-5B769D389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5694003"/>
            <a:ext cx="858185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  <a:ea typeface="+mn-ea"/>
                <a:cs typeface="+mn-ea"/>
                <a:sym typeface="+mn-ea"/>
              </a:rPr>
              <a:t>（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ea"/>
              </a:rPr>
              <a:t>3</a:t>
            </a:r>
            <a:r>
              <a:rPr lang="zh-CN" altLang="en-US" sz="2400" dirty="0">
                <a:latin typeface="+mn-lt"/>
                <a:ea typeface="+mn-ea"/>
                <a:cs typeface="+mn-ea"/>
                <a:sym typeface="+mn-ea"/>
              </a:rPr>
              <a:t>）</a:t>
            </a:r>
            <a:r>
              <a:rPr lang="en-US" altLang="zh-CN" sz="2400" i="1" dirty="0">
                <a:latin typeface="+mn-lt"/>
                <a:ea typeface="+mn-ea"/>
                <a:cs typeface="+mn-ea"/>
                <a:sym typeface="+mn-ea"/>
              </a:rPr>
              <a:t>K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ea"/>
              </a:rPr>
              <a:t> </a:t>
            </a:r>
            <a:r>
              <a:rPr lang="en-US" altLang="zh-CN" sz="2400" dirty="0" err="1">
                <a:latin typeface="+mn-lt"/>
                <a:ea typeface="+mn-ea"/>
                <a:cs typeface="+mn-ea"/>
                <a:sym typeface="+mn-ea"/>
              </a:rPr>
              <a:t>与温度有关，还取决于反应物本性，但与反应物浓度无关</a:t>
            </a:r>
            <a:r>
              <a:rPr lang="en-US" altLang="zh-CN" sz="2400" dirty="0">
                <a:latin typeface="+mn-lt"/>
                <a:ea typeface="+mn-ea"/>
                <a:cs typeface="+mn-ea"/>
                <a:sym typeface="+mn-ea"/>
              </a:rPr>
              <a:t>。</a:t>
            </a:r>
            <a:endParaRPr lang="zh-CN" altLang="en-US" sz="2400" dirty="0">
              <a:solidFill>
                <a:srgbClr val="0066FF"/>
              </a:solidFill>
              <a:latin typeface="+mn-lt"/>
              <a:ea typeface="+mn-ea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8895DA8C-CBBC-46BF-9C57-93BCF75A1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46" y="909000"/>
            <a:ext cx="86055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3) 书写平衡常数时应注意的事项：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596812D-59CC-425C-AA84-AD4A340A814F}"/>
              </a:ext>
            </a:extLst>
          </p:cNvPr>
          <p:cNvSpPr txBox="1">
            <a:spLocks/>
          </p:cNvSpPr>
          <p:nvPr/>
        </p:nvSpPr>
        <p:spPr>
          <a:xfrm>
            <a:off x="257346" y="45000"/>
            <a:ext cx="8706654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 dirty="0"/>
              <a:t>4.2.1 </a:t>
            </a:r>
            <a:r>
              <a:rPr lang="zh-CN" altLang="en-US" kern="0" dirty="0"/>
              <a:t>平衡常数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9A2191-7714-4436-8543-330F6DB3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11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11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03328" y="2133000"/>
                <a:ext cx="8534400" cy="2160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/>
                  <a:t>K 反映了在给定温度下，反应的限度。K值大，反应容易进行。一般认为: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	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（1）</a:t>
                </a:r>
                <a:r>
                  <a:rPr lang="zh-CN" altLang="en-US" sz="2400" i="1" dirty="0">
                    <a:solidFill>
                      <a:srgbClr val="0066FF"/>
                    </a:solidFill>
                  </a:rPr>
                  <a:t>K</a:t>
                </a:r>
                <a:r>
                  <a:rPr lang="en-US" altLang="zh-CN" sz="2400" dirty="0">
                    <a:solidFill>
                      <a:srgbClr val="0066FF"/>
                    </a:solidFill>
                  </a:rPr>
                  <a:t> 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+7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rgbClr val="0066FF"/>
                    </a:solidFill>
                  </a:rPr>
                  <a:t> 		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自发，反应彻底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</a:rPr>
                  <a:t>	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（</a:t>
                </a:r>
                <a:r>
                  <a:rPr lang="en-US" altLang="zh-CN" sz="2400" dirty="0">
                    <a:solidFill>
                      <a:srgbClr val="0066FF"/>
                    </a:solidFill>
                  </a:rPr>
                  <a:t>2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）</a:t>
                </a:r>
                <a:r>
                  <a:rPr lang="zh-CN" altLang="en-US" sz="2400" i="1" dirty="0">
                    <a:solidFill>
                      <a:srgbClr val="0066FF"/>
                    </a:solidFill>
                  </a:rPr>
                  <a:t>K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 </a:t>
                </a:r>
                <a:r>
                  <a:rPr lang="en-US" altLang="zh-CN" sz="2400" dirty="0">
                    <a:solidFill>
                      <a:srgbClr val="0066FF"/>
                    </a:solidFill>
                    <a:sym typeface="+mn-ea"/>
                  </a:rPr>
                  <a:t>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rgbClr val="0066FF"/>
                    </a:solidFill>
                    <a:cs typeface="Cambria Math" panose="02040503050406030204" pitchFamily="18" charset="0"/>
                  </a:rPr>
                  <a:t>		</a:t>
                </a:r>
                <a:r>
                  <a:rPr lang="zh-CN" altLang="en-US" sz="2400" dirty="0">
                    <a:solidFill>
                      <a:srgbClr val="0066FF"/>
                    </a:solidFill>
                    <a:sym typeface="+mn-ea"/>
                  </a:rPr>
                  <a:t>非自发，不能进行</a:t>
                </a:r>
                <a:endParaRPr lang="en-US" altLang="zh-CN" sz="2400" dirty="0">
                  <a:solidFill>
                    <a:srgbClr val="0066FF"/>
                  </a:solidFill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</a:rPr>
                  <a:t>	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（3）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+7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rgbClr val="0066FF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&gt;</a:t>
                </a:r>
                <a:r>
                  <a:rPr lang="en-US" altLang="zh-CN" sz="2400" dirty="0">
                    <a:solidFill>
                      <a:srgbClr val="0066FF"/>
                    </a:solidFill>
                  </a:rPr>
                  <a:t> </a:t>
                </a:r>
                <a:r>
                  <a:rPr lang="zh-CN" altLang="en-US" sz="2400" i="1" dirty="0">
                    <a:solidFill>
                      <a:srgbClr val="0066FF"/>
                    </a:solidFill>
                  </a:rPr>
                  <a:t>K</a:t>
                </a:r>
                <a:r>
                  <a:rPr lang="en-US" altLang="zh-CN" sz="2400" dirty="0">
                    <a:solidFill>
                      <a:srgbClr val="0066FF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&gt;</a:t>
                </a:r>
                <a:r>
                  <a:rPr lang="en-US" altLang="zh-CN" sz="2400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rgbClr val="0066FF"/>
                    </a:solidFill>
                  </a:rPr>
                  <a:t>	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一定程度进行</a:t>
                </a:r>
              </a:p>
              <a:p>
                <a:pPr>
                  <a:spcBef>
                    <a:spcPts val="0"/>
                  </a:spcBef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3328" y="2133000"/>
                <a:ext cx="8534400" cy="2160000"/>
              </a:xfrm>
              <a:blipFill>
                <a:blip r:embed="rId2"/>
                <a:stretch>
                  <a:fillRect l="-1143" t="-3107" b="-59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1413000"/>
                <a:ext cx="8581854" cy="7340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对于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可逆反应：</a:t>
                </a:r>
                <a:r>
                  <a:rPr lang="zh-CN" altLang="en-US" sz="2400" dirty="0">
                    <a:latin typeface="+mn-lt"/>
                    <a:ea typeface="+mn-ea"/>
                    <a:cs typeface="+mn-lt"/>
                    <a:sym typeface="+mn-ea"/>
                  </a:rPr>
                  <a:t>a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A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+ </a:t>
                </a:r>
                <a:r>
                  <a:rPr lang="zh-CN" altLang="en-US" sz="2400" dirty="0">
                    <a:latin typeface="+mn-lt"/>
                    <a:ea typeface="+mn-ea"/>
                    <a:cs typeface="+mn-lt"/>
                    <a:sym typeface="+mn-ea"/>
                  </a:rPr>
                  <a:t>b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B 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⇄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  <a:cs typeface="+mn-lt"/>
                    <a:sym typeface="+mn-ea"/>
                  </a:rPr>
                  <a:t>c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C +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  <a:cs typeface="+mn-lt"/>
                    <a:sym typeface="+mn-ea"/>
                  </a:rPr>
                  <a:t>d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D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1413000"/>
                <a:ext cx="8581854" cy="734047"/>
              </a:xfrm>
              <a:prstGeom prst="rect">
                <a:avLst/>
              </a:prstGeom>
              <a:blipFill>
                <a:blip r:embed="rId3"/>
                <a:stretch>
                  <a:fillRect l="-1065" b="-16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1">
            <a:extLst>
              <a:ext uri="{FF2B5EF4-FFF2-40B4-BE49-F238E27FC236}">
                <a16:creationId xmlns:a16="http://schemas.microsoft.com/office/drawing/2014/main" id="{D1BE6C0D-0D72-4C77-A621-5B769D389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4328077"/>
            <a:ext cx="8581854" cy="208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）和（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）时一般不需要进一步改变反应条件来影响反应的进行， 但（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）时，可通过改变实验条件如浓度、压力等促进反应平衡的移动。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	</a:t>
            </a:r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怎样求</a:t>
            </a:r>
            <a:r>
              <a:rPr lang="zh-CN" altLang="en-US" sz="2400" i="1" dirty="0">
                <a:solidFill>
                  <a:srgbClr val="0066FF"/>
                </a:solidFill>
                <a:latin typeface="+mn-ea"/>
                <a:ea typeface="+mn-ea"/>
              </a:rPr>
              <a:t>K </a:t>
            </a:r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?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		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）</a:t>
            </a:r>
            <a:r>
              <a:rPr lang="zh-CN" altLang="en-US" sz="2400" dirty="0">
                <a:latin typeface="+mn-ea"/>
                <a:ea typeface="+mn-ea"/>
              </a:rPr>
              <a:t> 测定（前面已介绍）</a:t>
            </a:r>
          </a:p>
          <a:p>
            <a:pPr marL="0" indent="0">
              <a:buNone/>
            </a:pPr>
            <a:r>
              <a:rPr lang="en-US" altLang="zh-CN" sz="2400" dirty="0">
                <a:latin typeface="+mn-ea"/>
                <a:ea typeface="+mn-ea"/>
              </a:rPr>
              <a:t>				</a:t>
            </a:r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（</a:t>
            </a:r>
            <a:r>
              <a:rPr lang="en-US" altLang="zh-CN" sz="2400" dirty="0">
                <a:solidFill>
                  <a:srgbClr val="0066FF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） 热力学计算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8895DA8C-CBBC-46BF-9C57-93BCF75A1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909000"/>
            <a:ext cx="8581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平衡常数K与化学反应的限度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7402379-9278-4FF2-9451-E6D997ACCBA5}"/>
              </a:ext>
            </a:extLst>
          </p:cNvPr>
          <p:cNvSpPr txBox="1">
            <a:spLocks/>
          </p:cNvSpPr>
          <p:nvPr/>
        </p:nvSpPr>
        <p:spPr>
          <a:xfrm>
            <a:off x="257346" y="45000"/>
            <a:ext cx="8706654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4.2.1 </a:t>
            </a:r>
            <a:r>
              <a:rPr lang="zh-CN" altLang="en-US" kern="0"/>
              <a:t>平衡常数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FDC6F9-C4E1-4E41-801B-F2C6928E0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12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64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04800" y="2925000"/>
                <a:ext cx="8534400" cy="1152000"/>
              </a:xfrm>
            </p:spPr>
            <p:txBody>
              <a:bodyPr/>
              <a:lstStyle/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8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400" dirty="0"/>
                  <a:t>是温度</a:t>
                </a:r>
                <a:r>
                  <a:rPr lang="zh-CN" altLang="en-US" sz="2400" i="1" dirty="0"/>
                  <a:t>T</a:t>
                </a:r>
                <a:r>
                  <a:rPr lang="zh-CN" altLang="en-US" sz="2400" dirty="0"/>
                  <a:t>(K)时，反应物和生成物的压力（或浓度）均为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标准压力</a:t>
                </a:r>
                <a:r>
                  <a:rPr lang="zh-CN" altLang="en-US" sz="2400" dirty="0"/>
                  <a:t>（或标准浓度）时的Gibbs自由能变。</a:t>
                </a:r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2925000"/>
                <a:ext cx="8534400" cy="1152000"/>
              </a:xfrm>
              <a:blipFill>
                <a:blip r:embed="rId2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1485000"/>
                <a:ext cx="8581854" cy="1162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lnSpc>
                    <a:spcPct val="2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θ</m:t>
                          </m:r>
                        </m:sup>
                      </m:sSubSup>
                      <m:r>
                        <a:rPr lang="en-US" altLang="zh-CN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−2.30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𝑅𝑇</m:t>
                      </m:r>
                      <m:r>
                        <m:rPr>
                          <m:sty m:val="p"/>
                        </m:rPr>
                        <a:rPr lang="en-US" altLang="zh-CN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lg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CN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1485000"/>
                <a:ext cx="8581854" cy="11626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45" y="45000"/>
            <a:ext cx="8605581" cy="431800"/>
          </a:xfrm>
        </p:spPr>
        <p:txBody>
          <a:bodyPr/>
          <a:lstStyle/>
          <a:p>
            <a:pPr algn="l" eaLnBrk="1" hangingPunct="1"/>
            <a:r>
              <a:rPr lang="en-US" altLang="zh-CN" sz="3200" dirty="0"/>
              <a:t>4.2.2 </a:t>
            </a:r>
            <a:r>
              <a:rPr lang="zh-CN" altLang="en-US" sz="3200" dirty="0"/>
              <a:t>平衡常数与</a:t>
            </a:r>
            <a:r>
              <a:rPr lang="en-US" altLang="zh-CN" sz="3200" dirty="0"/>
              <a:t>Gibbs</a:t>
            </a:r>
            <a:r>
              <a:rPr lang="zh-CN" altLang="en-US" sz="3200" dirty="0"/>
              <a:t>自由能变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4149000"/>
                <a:ext cx="8581854" cy="890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algn="ctr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可由标准Gibbs生成自由能（查表）计算。</a:t>
                </a:r>
              </a:p>
              <a:p>
                <a:pPr marL="0" indent="0" algn="ctr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可由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+mn-lt"/>
                    <a:ea typeface="+mn-ea"/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en-US" altLang="zh-CN" sz="2400" i="1" dirty="0">
                    <a:solidFill>
                      <a:srgbClr val="FF0000"/>
                    </a:solidFill>
                    <a:latin typeface="+mn-lt"/>
                    <a:ea typeface="+mn-ea"/>
                  </a:rPr>
                  <a:t>T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 公式计算。</a:t>
                </a:r>
              </a:p>
            </p:txBody>
          </p:sp>
        </mc:Choice>
        <mc:Fallback xmlns="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4149000"/>
                <a:ext cx="8581854" cy="890244"/>
              </a:xfrm>
              <a:prstGeom prst="rect">
                <a:avLst/>
              </a:prstGeom>
              <a:blipFill>
                <a:blip r:embed="rId4"/>
                <a:stretch>
                  <a:fillRect t="-6164" b="-150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909000"/>
                <a:ext cx="8581854" cy="477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如何用热力学数据求算平衡常数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?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909000"/>
                <a:ext cx="8581854" cy="477888"/>
              </a:xfrm>
              <a:prstGeom prst="rect">
                <a:avLst/>
              </a:prstGeom>
              <a:blipFill>
                <a:blip r:embed="rId5"/>
                <a:stretch>
                  <a:fillRect l="-1065" t="-11392" b="-2784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295173A-789C-4A94-892E-398C4CA2704A}"/>
                  </a:ext>
                </a:extLst>
              </p:cNvPr>
              <p:cNvSpPr txBox="1"/>
              <p:nvPr/>
            </p:nvSpPr>
            <p:spPr>
              <a:xfrm>
                <a:off x="5652000" y="785180"/>
                <a:ext cx="4587240" cy="493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∗</m:t>
                        </m:r>
                        <m:r>
                          <a:rPr lang="zh-CN" alt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 简写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T</m:t>
                    </m:r>
                    <m: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∗</m:t>
                    </m:r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∗</m:t>
                    </m:r>
                    <m: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295173A-789C-4A94-892E-398C4CA27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000" y="785180"/>
                <a:ext cx="4587240" cy="493597"/>
              </a:xfrm>
              <a:prstGeom prst="rect">
                <a:avLst/>
              </a:prstGeom>
              <a:blipFill>
                <a:blip r:embed="rId6"/>
                <a:stretch>
                  <a:fillRect t="-8642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09BFE1F-AB60-443B-98D4-63776334D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13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25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04800" y="3645000"/>
                <a:ext cx="8534400" cy="2160000"/>
              </a:xfrm>
            </p:spPr>
            <p:txBody>
              <a:bodyPr/>
              <a:lstStyle/>
              <a:p>
                <a:pPr marL="0" indent="0" latinLnBrk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298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θ</m:t>
                          </m:r>
                        </m:sup>
                      </m:sSubSup>
                      <m:r>
                        <a:rPr lang="en-US" altLang="zh-CN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−2.30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𝑅𝑇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lg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p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θ</m:t>
                          </m:r>
                        </m:sup>
                      </m:sSubSup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  <a:cs typeface="Cambria Math" panose="02040503050406030204" pitchFamily="18" charset="0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endParaRPr lang="en-US" altLang="zh-CN" sz="2400" dirty="0">
                  <a:solidFill>
                    <a:srgbClr val="FF0000"/>
                  </a:solidFill>
                  <a:cs typeface="Cambria Math" panose="02040503050406030204" pitchFamily="18" charset="0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00FF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lg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zh-CN" sz="24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298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bSup>
                      </m:num>
                      <m:den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2.30</m:t>
                        </m:r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RT</m:t>
                        </m:r>
                      </m:den>
                    </m:f>
                    <m:r>
                      <a:rPr lang="en-US" altLang="zh-CN" sz="24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33 </m:t>
                        </m:r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× 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2.30 </m:t>
                        </m:r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× 8.31 ×298</m:t>
                        </m:r>
                      </m:den>
                    </m:f>
                    <m:r>
                      <a:rPr lang="en-US" altLang="zh-CN" sz="24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5.786</m:t>
                    </m:r>
                  </m:oMath>
                </a14:m>
                <a:endParaRPr lang="en-US" altLang="zh-CN" sz="2400" dirty="0">
                  <a:solidFill>
                    <a:srgbClr val="0066FF"/>
                  </a:solidFill>
                  <a:cs typeface="Cambria Math" panose="02040503050406030204" pitchFamily="18" charset="0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  <a:cs typeface="Cambria Math" panose="02040503050406030204" pitchFamily="18" charset="0"/>
                  </a:rPr>
                  <a:t>	</a:t>
                </a: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  <a:cs typeface="Cambria Math" panose="02040503050406030204" pitchFamily="18" charset="0"/>
                  </a:rPr>
                  <a:t>           </a:t>
                </a:r>
                <a:r>
                  <a:rPr lang="zh-CN" altLang="en-US" sz="2400" dirty="0">
                    <a:solidFill>
                      <a:srgbClr val="0066FF"/>
                    </a:solidFill>
                    <a:cs typeface="Cambria Math" panose="02040503050406030204" pitchFamily="18" charset="0"/>
                  </a:rPr>
                  <a:t>则：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6.11 </m:t>
                    </m:r>
                    <m:r>
                      <a:rPr lang="en-US" altLang="zh-CN" sz="24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×</m:t>
                    </m:r>
                    <m:r>
                      <a:rPr lang="en-US" altLang="zh-CN" sz="24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zh-CN" altLang="en-US" sz="2400" dirty="0">
                  <a:solidFill>
                    <a:srgbClr val="0000FF"/>
                  </a:solidFill>
                </a:endParaRPr>
              </a:p>
              <a:p>
                <a:pPr>
                  <a:spcBef>
                    <a:spcPts val="0"/>
                  </a:spcBef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3645000"/>
                <a:ext cx="8534400" cy="2160000"/>
              </a:xfrm>
              <a:blipFill>
                <a:blip r:embed="rId2"/>
                <a:stretch>
                  <a:fillRect b="-93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2277000"/>
                <a:ext cx="8581854" cy="1234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解：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298K时：</a:t>
                </a: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00FF"/>
                    </a:solidFill>
                    <a:latin typeface="+mn-lt"/>
                    <a:ea typeface="+mn-ea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2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f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NH</m:t>
                        </m:r>
                      </m:e>
                      <m:sub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)) − 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f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)) − 3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f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	              = </a:t>
                </a:r>
                <a14:m>
                  <m:oMath xmlns:m="http://schemas.openxmlformats.org/officeDocument/2006/math"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2 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× (−16.5) − 0 − 0 = −33.0 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kJ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mol</m:t>
                    </m:r>
                  </m:oMath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2277000"/>
                <a:ext cx="8581854" cy="1234249"/>
              </a:xfrm>
              <a:prstGeom prst="rect">
                <a:avLst/>
              </a:prstGeom>
              <a:blipFill>
                <a:blip r:embed="rId3"/>
                <a:stretch>
                  <a:fillRect l="-1065" t="-5446" b="-118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1197000"/>
                <a:ext cx="8581854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例题：分别计算在298 K和673K时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⇄ 2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NH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反应的平衡常数。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1197000"/>
                <a:ext cx="8581854" cy="830997"/>
              </a:xfrm>
              <a:prstGeom prst="rect">
                <a:avLst/>
              </a:prstGeom>
              <a:blipFill>
                <a:blip r:embed="rId4"/>
                <a:stretch>
                  <a:fillRect l="-1065" t="-8029" r="-213" b="-131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>
            <a:extLst>
              <a:ext uri="{FF2B5EF4-FFF2-40B4-BE49-F238E27FC236}">
                <a16:creationId xmlns:a16="http://schemas.microsoft.com/office/drawing/2014/main" id="{121C1D48-C6AF-42B3-8599-264CF7CDF887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4.2.2 </a:t>
            </a:r>
            <a:r>
              <a:rPr lang="zh-CN" altLang="en-US" kern="0"/>
              <a:t>平衡常数与</a:t>
            </a:r>
            <a:r>
              <a:rPr lang="en-US" altLang="zh-CN" kern="0"/>
              <a:t>Gibbs</a:t>
            </a:r>
            <a:r>
              <a:rPr lang="zh-CN" altLang="en-US" kern="0"/>
              <a:t>自由能变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9FB95E-9500-4B16-9F02-2344D7EB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14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54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04800" y="3436938"/>
                <a:ext cx="8534400" cy="1224000"/>
              </a:xfrm>
            </p:spPr>
            <p:txBody>
              <a:bodyPr/>
              <a:lstStyle/>
              <a:p>
                <a:pPr marL="0" indent="0" latinLnBrk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𝑆</m:t>
                        </m:r>
                      </m:e>
                      <m:sub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 = 2× 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p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</m:t>
                    </m:r>
                  </m:oMath>
                </a14:m>
                <a:r>
                  <a:rPr lang="zh-CN" altLang="en-US" sz="2400" dirty="0">
                    <a:cs typeface="Cambria Math" panose="02040503050406030204" pitchFamily="18" charset="0"/>
                    <a:sym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NH</m:t>
                        </m:r>
                      </m:e>
                      <m:sub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3</m:t>
                        </m:r>
                      </m:sub>
                    </m:sSub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 − 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p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，(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N</m:t>
                        </m:r>
                      </m:e>
                      <m:sub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 − 3 × 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p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，(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H</m:t>
                        </m:r>
                      </m:e>
                      <m:sub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</m:t>
                    </m:r>
                  </m:oMath>
                </a14:m>
                <a:endParaRPr lang="en-US" altLang="zh-CN" sz="2400" dirty="0">
                  <a:cs typeface="Cambria Math" panose="02040503050406030204" pitchFamily="18" charset="0"/>
                  <a:sym typeface="+mn-ea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cs typeface="Cambria Math" panose="02040503050406030204" pitchFamily="18" charset="0"/>
                    <a:sym typeface="+mn-ea"/>
                  </a:rPr>
                  <a:t>                 =  </a:t>
                </a:r>
                <a14:m>
                  <m:oMath xmlns:m="http://schemas.openxmlformats.org/officeDocument/2006/math"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2×192.51 − 191.49 − 3 × 130.6</m:t>
                    </m:r>
                  </m:oMath>
                </a14:m>
                <a:endParaRPr lang="en-US" altLang="zh-CN" sz="2400" dirty="0">
                  <a:cs typeface="Cambria Math" panose="02040503050406030204" pitchFamily="18" charset="0"/>
                  <a:sym typeface="+mn-ea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cs typeface="Cambria Math" panose="02040503050406030204" pitchFamily="18" charset="0"/>
                    <a:sym typeface="+mn-ea"/>
                  </a:rPr>
                  <a:t>                 =  </a:t>
                </a:r>
                <a14:m>
                  <m:oMath xmlns:m="http://schemas.openxmlformats.org/officeDocument/2006/math"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−198.3 </m:t>
                    </m:r>
                    <m:r>
                      <m:rPr>
                        <m:sty m:val="p"/>
                      </m:rP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J</m:t>
                    </m:r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•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mol</m:t>
                        </m:r>
                      </m:e>
                      <m:sup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−1</m:t>
                        </m:r>
                      </m:sup>
                    </m:sSup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•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K</m:t>
                        </m:r>
                      </m:e>
                      <m:sup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3436938"/>
                <a:ext cx="8534400" cy="1224000"/>
              </a:xfrm>
              <a:blipFill>
                <a:blip r:embed="rId2"/>
                <a:stretch>
                  <a:fillRect t="-3483" b="-10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2173066"/>
                <a:ext cx="8581854" cy="12638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解：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sym typeface="+mn-ea"/>
                  </a:rPr>
                  <a:t>673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sym typeface="+mn-ea"/>
                  </a:rPr>
                  <a:t>K时：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+mn-lt"/>
                    <a:ea typeface="+mn-ea"/>
                    <a:sym typeface="+mn-ea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𝐻</m:t>
                        </m:r>
                      </m:e>
                      <m:sub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− 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𝑇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𝑆</m:t>
                        </m:r>
                      </m:e>
                      <m:sub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rgbClr val="0000FF"/>
                    </a:solidFill>
                    <a:latin typeface="+mn-lt"/>
                    <a:ea typeface="+mn-ea"/>
                    <a:sym typeface="+mn-ea"/>
                  </a:rPr>
                  <a:t>	</a:t>
                </a: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𝐻</m:t>
                        </m:r>
                      </m:e>
                      <m:sub>
                        <m: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2× 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f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NH</m:t>
                            </m:r>
                          </m:e>
                          <m:sub>
                            <m:r>
                              <a:rPr lang="en-US" altLang="zh-CN" sz="2400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24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− 0 − 0 = 2 × </m:t>
                    </m:r>
                    <m:d>
                      <m:d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−46.1</m:t>
                        </m:r>
                      </m:e>
                    </m:d>
                    <m:r>
                      <a:rPr lang="en-US" altLang="zh-CN" sz="24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= −92.2</m:t>
                    </m:r>
                    <m:r>
                      <m:rPr>
                        <m:sty m:val="p"/>
                      </m:rPr>
                      <a:rPr lang="en-US" altLang="zh-CN" sz="24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kJ</m:t>
                    </m:r>
                    <m:r>
                      <a:rPr lang="en-US" altLang="zh-CN" sz="24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mol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2173066"/>
                <a:ext cx="8581854" cy="1263872"/>
              </a:xfrm>
              <a:prstGeom prst="rect">
                <a:avLst/>
              </a:prstGeom>
              <a:blipFill>
                <a:blip r:embed="rId3"/>
                <a:stretch>
                  <a:fillRect l="-1065" t="-3365" b="-72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1197000"/>
                <a:ext cx="8581854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例题：分别计算在298 K和673K时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⇄ 2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NH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反应的平衡常数。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1197000"/>
                <a:ext cx="8581854" cy="830997"/>
              </a:xfrm>
              <a:prstGeom prst="rect">
                <a:avLst/>
              </a:prstGeom>
              <a:blipFill>
                <a:blip r:embed="rId4"/>
                <a:stretch>
                  <a:fillRect l="-1065" t="-8029" r="-213" b="-131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F72303AD-CA86-4C60-8E89-9E9463DAF7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4725000"/>
                <a:ext cx="8534400" cy="1368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673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= −92.2 − </m:t>
                    </m:r>
                    <m:r>
                      <a:rPr lang="en-US" altLang="zh-CN" sz="24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673 </m:t>
                    </m:r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× (−198.3) × 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10</m:t>
                        </m:r>
                      </m:e>
                      <m:sup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−3</m:t>
                        </m:r>
                      </m:sup>
                    </m:sSup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= 41.3</m:t>
                    </m:r>
                    <m:r>
                      <m:rPr>
                        <m:sty m:val="p"/>
                      </m:rP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kJ</m:t>
                    </m:r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mol</m:t>
                    </m:r>
                  </m:oMath>
                </a14:m>
                <a:endParaRPr lang="en-US" altLang="zh-CN" sz="2400" dirty="0">
                  <a:cs typeface="Cambria Math" panose="02040503050406030204" pitchFamily="18" charset="0"/>
                  <a:sym typeface="+mn-ea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i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lg</m:t>
                      </m:r>
                      <m:sSubSup>
                        <m:sSubSupPr>
                          <m:ctrlPr>
                            <a:rPr lang="en-US" altLang="zh-CN" sz="2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p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200" i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θ</m:t>
                          </m:r>
                        </m:sup>
                      </m:sSubSup>
                      <m:r>
                        <a:rPr lang="en-US" altLang="zh-CN" sz="2200" i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zh-CN" sz="2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22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zh-CN" sz="22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2200" i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673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θ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200" i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2.30</m:t>
                          </m:r>
                          <m:r>
                            <m:rPr>
                              <m:sty m:val="p"/>
                            </m:rPr>
                            <a:rPr lang="en-US" altLang="zh-CN" sz="2200" i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RT</m:t>
                          </m:r>
                        </m:den>
                      </m:f>
                      <m:r>
                        <a:rPr lang="en-US" altLang="zh-CN" sz="2200" i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zh-CN" sz="22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−41.3 × </m:t>
                          </m:r>
                          <m:sSup>
                            <m:sSupPr>
                              <m:ctrlPr>
                                <a:rPr lang="en-US" altLang="zh-CN" sz="22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2200" i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200" i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2.30 × 8.31 ×673</m:t>
                          </m:r>
                        </m:den>
                      </m:f>
                      <m:r>
                        <a:rPr lang="en-US" altLang="zh-CN" sz="2200" i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−3.211</m:t>
                      </m:r>
                    </m:oMath>
                  </m:oMathPara>
                </a14:m>
                <a:endParaRPr lang="en-US" altLang="zh-CN" sz="2200" dirty="0">
                  <a:solidFill>
                    <a:srgbClr val="0066FF"/>
                  </a:solidFill>
                  <a:cs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2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	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2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          </a:t>
                </a:r>
                <a:r>
                  <a:rPr lang="zh-CN" altLang="en-US" sz="22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则</a:t>
                </a:r>
                <a14:m>
                  <m:oMath xmlns:m="http://schemas.openxmlformats.org/officeDocument/2006/math">
                    <m:r>
                      <a:rPr lang="zh-CN" altLang="en-US" sz="220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：</m:t>
                    </m:r>
                    <m:sSubSup>
                      <m:sSubSupPr>
                        <m:ctrlPr>
                          <a:rPr lang="en-US" altLang="zh-CN" sz="22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2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6.15 × </m:t>
                    </m:r>
                    <m:sSup>
                      <m:sSupPr>
                        <m:ctrlPr>
                          <a:rPr lang="en-US" altLang="zh-CN" sz="22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zh-CN" altLang="en-US" sz="2200" kern="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F72303AD-CA86-4C60-8E89-9E9463DAF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725000"/>
                <a:ext cx="8534400" cy="1368000"/>
              </a:xfrm>
              <a:prstGeom prst="rect">
                <a:avLst/>
              </a:prstGeom>
              <a:blipFill>
                <a:blip r:embed="rId5"/>
                <a:stretch>
                  <a:fillRect b="-44000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2">
            <a:extLst>
              <a:ext uri="{FF2B5EF4-FFF2-40B4-BE49-F238E27FC236}">
                <a16:creationId xmlns:a16="http://schemas.microsoft.com/office/drawing/2014/main" id="{3C900BF0-2C08-4CAA-9D51-75DEA1A058C8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4.2.2 </a:t>
            </a:r>
            <a:r>
              <a:rPr lang="zh-CN" altLang="en-US" kern="0"/>
              <a:t>平衡常数与</a:t>
            </a:r>
            <a:r>
              <a:rPr lang="en-US" altLang="zh-CN" kern="0"/>
              <a:t>Gibbs</a:t>
            </a:r>
            <a:r>
              <a:rPr lang="zh-CN" altLang="en-US" kern="0"/>
              <a:t>自由能变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E448BC5-DE1D-40BE-8923-A5582A4A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15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40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4509000"/>
                <a:ext cx="8581854" cy="1913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            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如：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+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⇄ 2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NH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3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ea typeface="+mn-ea"/>
                    <a:cs typeface="Cambria Math" panose="02040503050406030204" pitchFamily="18" charset="0"/>
                  </a:rPr>
                  <a:t>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NH</m:t>
                                    </m:r>
                                  </m:e>
                                  <m:sub>
                                    <m:r>
                                      <a:rPr lang="en-US" altLang="zh-CN" sz="2400" i="0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2400" i="0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•[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	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NH</m:t>
                                    </m:r>
                                  </m:e>
                                  <m:sub>
                                    <m:r>
                                      <a:rPr lang="en-US" altLang="zh-CN" sz="2400" i="0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2400" i="0"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•(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		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b="1" dirty="0">
                    <a:latin typeface="+mn-lt"/>
                    <a:ea typeface="+mn-ea"/>
                    <a:cs typeface="Cambria Math" panose="02040503050406030204" pitchFamily="18" charset="0"/>
                  </a:rPr>
                  <a:t>                   [  ]</a:t>
                </a:r>
                <a:r>
                  <a:rPr lang="zh-CN" altLang="en-US" sz="2400" b="1" dirty="0">
                    <a:latin typeface="+mn-lt"/>
                    <a:ea typeface="+mn-ea"/>
                    <a:cs typeface="Cambria Math" panose="02040503050406030204" pitchFamily="18" charset="0"/>
                  </a:rPr>
                  <a:t>表示平衡浓度，</a:t>
                </a:r>
                <a:r>
                  <a:rPr lang="en-US" altLang="zh-CN" sz="2400" b="1" dirty="0">
                    <a:latin typeface="+mn-lt"/>
                    <a:ea typeface="+mn-ea"/>
                    <a:cs typeface="Cambria Math" panose="02040503050406030204" pitchFamily="18" charset="0"/>
                  </a:rPr>
                  <a:t>(  )</a:t>
                </a:r>
                <a:r>
                  <a:rPr lang="zh-CN" altLang="en-US" sz="2400" b="1" dirty="0">
                    <a:latin typeface="+mn-lt"/>
                    <a:ea typeface="+mn-ea"/>
                    <a:cs typeface="Cambria Math" panose="02040503050406030204" pitchFamily="18" charset="0"/>
                  </a:rPr>
                  <a:t>表示起始浓度</a:t>
                </a:r>
                <a:endParaRPr lang="zh-CN" altLang="en-US" sz="2400" b="1" dirty="0"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4509000"/>
                <a:ext cx="8581854" cy="1913665"/>
              </a:xfrm>
              <a:prstGeom prst="rect">
                <a:avLst/>
              </a:prstGeom>
              <a:blipFill>
                <a:blip r:embed="rId3"/>
                <a:stretch>
                  <a:fillRect t="-3503" b="-66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909000"/>
                <a:ext cx="8581854" cy="8606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CN" sz="24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）</m:t>
                    </m:r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zh-CN" altLang="en-US" sz="24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可查表得到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；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2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𝐻</m:t>
                        </m:r>
                      </m:e>
                      <m:sub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− 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𝑇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𝑆</m:t>
                        </m:r>
                      </m:e>
                      <m:sub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	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均为标态条件下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909000"/>
                <a:ext cx="8581854" cy="860620"/>
              </a:xfrm>
              <a:prstGeom prst="rect">
                <a:avLst/>
              </a:prstGeom>
              <a:blipFill>
                <a:blip r:embed="rId4"/>
                <a:stretch>
                  <a:fillRect l="-1065" t="-4965" b="-134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223" y="1944402"/>
                <a:ext cx="8451778" cy="25503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非标准状态下的化学反应的方向：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实际情况下，往往反应物与生成物的浓度（或压力）不是标准状态。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Van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’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t Hof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f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等温式：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00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sub>
                    </m:sSub>
                    <m:r>
                      <a:rPr lang="en-US" altLang="zh-CN" sz="24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+ </m:t>
                    </m:r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2.30</a:t>
                </a:r>
                <a:r>
                  <a:rPr lang="en-US" altLang="zh-CN" sz="2400" i="1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RT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lg</a:t>
                </a:r>
                <a:r>
                  <a:rPr lang="en-US" altLang="zh-CN" sz="2400" i="1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Q</a:t>
                </a:r>
              </a:p>
              <a:p>
                <a:pPr>
                  <a:spcBef>
                    <a:spcPts val="0"/>
                  </a:spcBef>
                  <a:buNone/>
                </a:pPr>
                <a:endParaRPr lang="en-US" altLang="zh-CN" sz="1200" i="1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         </a:t>
                </a:r>
                <a:r>
                  <a:rPr lang="en-US" altLang="zh-CN" sz="2400" i="1" dirty="0">
                    <a:solidFill>
                      <a:srgbClr val="FF0000"/>
                    </a:solidFill>
                    <a:latin typeface="+mn-lt"/>
                    <a:ea typeface="+mn-ea"/>
                    <a:cs typeface="黑体" panose="02010609060101010101" pitchFamily="49" charset="-122"/>
                    <a:sym typeface="+mn-ea"/>
                  </a:rPr>
                  <a:t>Q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lt"/>
                    <a:ea typeface="+mn-ea"/>
                    <a:cs typeface="黑体" panose="02010609060101010101" pitchFamily="49" charset="-122"/>
                    <a:sym typeface="+mn-ea"/>
                  </a:rPr>
                  <a:t>：反应商。可分为起始分压商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p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，或起始浓度商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sub>
                    </m:sSub>
                  </m:oMath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223" y="1944402"/>
                <a:ext cx="8451778" cy="2550378"/>
              </a:xfrm>
              <a:prstGeom prst="rect">
                <a:avLst/>
              </a:prstGeom>
              <a:blipFill>
                <a:blip r:embed="rId5"/>
                <a:stretch>
                  <a:fillRect l="-1154" t="-2632" r="-649" b="-35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>
            <a:extLst>
              <a:ext uri="{FF2B5EF4-FFF2-40B4-BE49-F238E27FC236}">
                <a16:creationId xmlns:a16="http://schemas.microsoft.com/office/drawing/2014/main" id="{46F95C8C-02E3-4CAE-8BC0-39E6549AEDD7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4.2.2 </a:t>
            </a:r>
            <a:r>
              <a:rPr lang="zh-CN" altLang="en-US" kern="0"/>
              <a:t>平衡常数与</a:t>
            </a:r>
            <a:r>
              <a:rPr lang="en-US" altLang="zh-CN" kern="0"/>
              <a:t>Gibbs</a:t>
            </a:r>
            <a:r>
              <a:rPr lang="zh-CN" altLang="en-US" kern="0"/>
              <a:t>自由能变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DFECE6-2C2D-4EDB-9CCF-010A9553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16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922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00000" y="4869000"/>
                <a:ext cx="8581854" cy="1618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chemeClr val="tx1"/>
                    </a:solidFill>
                    <a:ea typeface="+mn-ea"/>
                    <a:cs typeface="Cambria Math" panose="02040503050406030204" pitchFamily="18" charset="0"/>
                  </a:rPr>
                  <a:t>	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在非标态、指定温度下：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𝑄</m:t>
                    </m:r>
                    <m:r>
                      <a:rPr lang="en-US" altLang="zh-CN" sz="240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40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&lt; 1 ， 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&lt; 0  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，正向自发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𝑄</m:t>
                    </m:r>
                    <m:r>
                      <a:rPr lang="en-US" altLang="zh-CN" sz="240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40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&gt; 1 ， 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&gt; 0  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，正向非自发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𝑄</m:t>
                    </m:r>
                    <m:r>
                      <a:rPr lang="en-US" altLang="zh-CN" sz="240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40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1 ， 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0  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，处于平衡</a:t>
                </a:r>
              </a:p>
            </p:txBody>
          </p:sp>
        </mc:Choice>
        <mc:Fallback xmlns="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D1BE6C0D-0D72-4C77-A621-5B769D389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000" y="4869000"/>
                <a:ext cx="8581854" cy="1618328"/>
              </a:xfrm>
              <a:prstGeom prst="rect">
                <a:avLst/>
              </a:prstGeom>
              <a:blipFill>
                <a:blip r:embed="rId3"/>
                <a:stretch>
                  <a:fillRect t="-4528" b="-67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909000"/>
                <a:ext cx="8581854" cy="493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 =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0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时，体系处于平衡状态， 有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−2.30</m:t>
                    </m:r>
                    <m:r>
                      <a:rPr lang="en-US" altLang="zh-CN" sz="2400" i="1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𝑅𝑇</m:t>
                    </m:r>
                    <m:r>
                      <m:rPr>
                        <m:sty m:val="p"/>
                      </m:rPr>
                      <a:rPr lang="en-US" altLang="zh-CN" sz="24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endParaRPr lang="zh-CN" altLang="en-US" sz="2400" dirty="0">
                  <a:solidFill>
                    <a:srgbClr val="0066FF"/>
                  </a:solidFill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909000"/>
                <a:ext cx="8581854" cy="493597"/>
              </a:xfrm>
              <a:prstGeom prst="rect">
                <a:avLst/>
              </a:prstGeom>
              <a:blipFill>
                <a:blip r:embed="rId4"/>
                <a:stretch>
                  <a:fillRect l="-1065" t="-8642" b="-2716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5454" y="1431999"/>
                <a:ext cx="8581854" cy="27899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a:rPr lang="en-US" altLang="zh-CN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𝜃</m:t>
                        </m:r>
                      </m:sup>
                    </m:sSubSup>
                    <m:r>
                      <a:rPr lang="en-US" altLang="zh-CN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+ 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2.30RTlgQ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−2.30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RTlg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𝜃</m:t>
                        </m:r>
                      </m:sup>
                    </m:sSup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+ </m:t>
                    </m:r>
                    <m:r>
                      <a:rPr lang="en-US" altLang="zh-CN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2.30</m:t>
                    </m:r>
                    <m:r>
                      <m:rPr>
                        <m:sty m:val="p"/>
                      </m:rPr>
                      <a:rPr lang="en-US" altLang="zh-CN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RTlgQ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endParaRPr lang="en-US" altLang="zh-CN" sz="2400" dirty="0">
                  <a:solidFill>
                    <a:schemeClr val="tx1"/>
                  </a:solidFill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 marL="0" indent="0" algn="l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8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8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2.30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𝑅𝑇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r>
                      <a:rPr lang="en-US" altLang="zh-CN" sz="28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𝑄</m:t>
                    </m:r>
                    <m:r>
                      <a:rPr lang="en-US" altLang="zh-CN" sz="28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8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srgbClr val="FF0000"/>
                  </a:solidFill>
                  <a:latin typeface="+mn-ea"/>
                  <a:ea typeface="+mn-ea"/>
                  <a:cs typeface="Cambria Math" panose="02040503050406030204" pitchFamily="18" charset="0"/>
                </a:endParaRPr>
              </a:p>
              <a:p>
                <a:pPr marL="0" indent="0" algn="l" latinLnBrk="0">
                  <a:spcBef>
                    <a:spcPts val="0"/>
                  </a:spcBef>
                  <a:buNone/>
                </a:pPr>
                <a:endParaRPr lang="en-US" altLang="zh-CN" sz="1050" dirty="0">
                  <a:solidFill>
                    <a:srgbClr val="FF0000"/>
                  </a:solidFill>
                  <a:latin typeface="+mn-ea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+mn-ea"/>
                    <a:ea typeface="+mn-ea"/>
                    <a:cs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zh-CN" sz="240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  <m:r>
                              <a:rPr lang="en-US" altLang="zh-CN" sz="240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en-US" altLang="zh-CN" sz="240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B</m:t>
                                </m:r>
                              </m:sub>
                            </m:sSub>
                            <m:r>
                              <a:rPr lang="en-US" altLang="zh-CN" sz="240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+mn-ea"/>
                    <a:ea typeface="+mn-ea"/>
                    <a:cs typeface="Cambria Math" panose="02040503050406030204" pitchFamily="18" charset="0"/>
                  </a:rPr>
                  <a:t>   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  <a:cs typeface="Cambria Math" panose="02040503050406030204" pitchFamily="18" charset="0"/>
                  </a:rPr>
                  <a:t>标态</a:t>
                </a:r>
                <a:endParaRPr lang="en-US" altLang="zh-CN" sz="2400" dirty="0">
                  <a:solidFill>
                    <a:srgbClr val="FF0000"/>
                  </a:solidFill>
                  <a:latin typeface="+mn-ea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+mn-ea"/>
                    <a:ea typeface="+mn-ea"/>
                    <a:cs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zh-CN" sz="240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  <m:r>
                              <a:rPr lang="en-US" altLang="zh-CN" sz="240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en-US" altLang="zh-CN" sz="240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B</m:t>
                                </m:r>
                              </m:sub>
                            </m:sSub>
                            <m:r>
                              <a:rPr lang="en-US" altLang="zh-CN" sz="240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+mn-ea"/>
                    <a:ea typeface="+mn-ea"/>
                    <a:cs typeface="Cambria Math" panose="02040503050406030204" pitchFamily="18" charset="0"/>
                  </a:rPr>
                  <a:t>  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  <a:cs typeface="Cambria Math" panose="02040503050406030204" pitchFamily="18" charset="0"/>
                  </a:rPr>
                  <a:t>任意态</a:t>
                </a:r>
                <a:endParaRPr lang="en-US" altLang="zh-CN" sz="2400" dirty="0">
                  <a:latin typeface="+mn-ea"/>
                  <a:ea typeface="+mn-ea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454" y="1431999"/>
                <a:ext cx="8581854" cy="2789931"/>
              </a:xfrm>
              <a:prstGeom prst="rect">
                <a:avLst/>
              </a:prstGeom>
              <a:blipFill>
                <a:blip r:embed="rId5"/>
                <a:stretch>
                  <a:fillRect l="-1065" t="-15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>
            <a:extLst>
              <a:ext uri="{FF2B5EF4-FFF2-40B4-BE49-F238E27FC236}">
                <a16:creationId xmlns:a16="http://schemas.microsoft.com/office/drawing/2014/main" id="{48271682-52F7-4C24-8FEA-F92B4D4139E8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4.2.2 </a:t>
            </a:r>
            <a:r>
              <a:rPr lang="zh-CN" altLang="en-US" kern="0"/>
              <a:t>平衡常数与</a:t>
            </a:r>
            <a:r>
              <a:rPr lang="en-US" altLang="zh-CN" kern="0"/>
              <a:t>Gibbs</a:t>
            </a:r>
            <a:r>
              <a:rPr lang="zh-CN" altLang="en-US" kern="0"/>
              <a:t>自由能变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FE92528-7F55-4D9B-AF46-AEC2F231C704}"/>
                  </a:ext>
                </a:extLst>
              </p:cNvPr>
              <p:cNvSpPr txBox="1"/>
              <p:nvPr/>
            </p:nvSpPr>
            <p:spPr>
              <a:xfrm>
                <a:off x="257345" y="4185197"/>
                <a:ext cx="86780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zh-CN" altLang="en-US" sz="2000" dirty="0">
                    <a:latin typeface="+mj-ea"/>
                    <a:ea typeface="+mj-ea"/>
                  </a:rPr>
                  <a:t>注意：浓度的标准平衡常数亦是如此（前提是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  <a:sym typeface="+mn-ea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sym typeface="+mn-ea"/>
                      </a:rPr>
                      <m:t>G</m:t>
                    </m:r>
                    <m:r>
                      <a:rPr lang="zh-CN" altLang="en-US" sz="2000" dirty="0">
                        <a:latin typeface="Cambria Math" panose="02040503050406030204" pitchFamily="18" charset="0"/>
                        <a:ea typeface="+mj-ea"/>
                        <a:sym typeface="+mn-ea"/>
                      </a:rPr>
                      <m:t>值是溶液数据</m:t>
                    </m:r>
                    <m:r>
                      <m:rPr>
                        <m:nor/>
                      </m:rPr>
                      <a:rPr lang="zh-CN" altLang="en-US" sz="2000" dirty="0">
                        <a:latin typeface="+mj-ea"/>
                        <a:ea typeface="+mj-ea"/>
                      </a:rPr>
                      <m:t>）</m:t>
                    </m:r>
                  </m:oMath>
                </a14:m>
                <a:endParaRPr lang="zh-CN" altLang="en-US" sz="20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FE92528-7F55-4D9B-AF46-AEC2F231C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45" y="4185197"/>
                <a:ext cx="8678072" cy="400110"/>
              </a:xfrm>
              <a:prstGeom prst="rect">
                <a:avLst/>
              </a:prstGeom>
              <a:blipFill>
                <a:blip r:embed="rId6"/>
                <a:stretch>
                  <a:fillRect l="-702" t="-12308" b="-2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01C32BC-0627-424E-97DF-57D821C8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17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41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>
            <a:extLst>
              <a:ext uri="{FF2B5EF4-FFF2-40B4-BE49-F238E27FC236}">
                <a16:creationId xmlns:a16="http://schemas.microsoft.com/office/drawing/2014/main" id="{8895DA8C-CBBC-46BF-9C57-93BCF75A1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909000"/>
            <a:ext cx="8581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altLang="zh-CN" sz="2400" i="1" dirty="0">
                <a:solidFill>
                  <a:srgbClr val="0066FF"/>
                </a:solidFill>
                <a:latin typeface="+mn-lt"/>
                <a:ea typeface="+mn-ea"/>
              </a:rPr>
              <a:t>Q</a:t>
            </a: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与</a:t>
            </a: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</a:rPr>
              <a:t> </a:t>
            </a:r>
            <a:r>
              <a:rPr lang="en-US" altLang="zh-CN" sz="2400" i="1" dirty="0">
                <a:solidFill>
                  <a:srgbClr val="0066FF"/>
                </a:solidFill>
                <a:latin typeface="+mn-lt"/>
                <a:ea typeface="+mn-ea"/>
              </a:rPr>
              <a:t>K</a:t>
            </a: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的关系与反应的方向</a:t>
            </a:r>
            <a:endParaRPr lang="zh-CN" altLang="en-US" sz="2400" dirty="0">
              <a:solidFill>
                <a:srgbClr val="0066FF"/>
              </a:solidFill>
              <a:latin typeface="+mn-lt"/>
              <a:ea typeface="+mn-ea"/>
              <a:cs typeface="Cambria Math" panose="02040503050406030204" pitchFamily="18" charset="0"/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AE59F1-F561-468B-938F-6F236EA142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726" y="1480930"/>
            <a:ext cx="5657634" cy="504407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14208380-D573-43B4-A7A1-CC5E2DB61FC0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4.2.2 </a:t>
            </a:r>
            <a:r>
              <a:rPr lang="zh-CN" altLang="en-US" kern="0"/>
              <a:t>平衡常数与</a:t>
            </a:r>
            <a:r>
              <a:rPr lang="en-US" altLang="zh-CN" kern="0"/>
              <a:t>Gibbs</a:t>
            </a:r>
            <a:r>
              <a:rPr lang="zh-CN" altLang="en-US" kern="0"/>
              <a:t>自由能变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00B71F-8F0C-4E29-980E-239592851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18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602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981000"/>
                <a:ext cx="8581854" cy="12609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例题：</a:t>
                </a:r>
                <a:r>
                  <a:rPr lang="en-US" altLang="zh-CN" sz="2400" dirty="0">
                    <a:latin typeface="+mn-lt"/>
                    <a:ea typeface="+mn-ea"/>
                  </a:rPr>
                  <a:t>2000℃</a:t>
                </a:r>
                <a:r>
                  <a:rPr lang="zh-CN" altLang="en-US" sz="2400" dirty="0">
                    <a:latin typeface="+mn-lt"/>
                    <a:ea typeface="+mn-ea"/>
                  </a:rPr>
                  <a:t>时，反应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+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⇄ 2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NO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9.8 × 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，判断在下列条件下（压力单位为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kPa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）反应进行的方向：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981000"/>
                <a:ext cx="8581854" cy="1260986"/>
              </a:xfrm>
              <a:prstGeom prst="rect">
                <a:avLst/>
              </a:prstGeom>
              <a:blipFill>
                <a:blip r:embed="rId2"/>
                <a:stretch>
                  <a:fillRect l="-1065" t="-4348" b="-86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3861000"/>
                <a:ext cx="8581854" cy="2531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buNone/>
                </a:pPr>
                <a:r>
                  <a:rPr lang="zh-CN" altLang="en-US" sz="2200" dirty="0">
                    <a:latin typeface="+mn-lt"/>
                    <a:ea typeface="+mn-ea"/>
                    <a:cs typeface="Cambria Math" panose="02040503050406030204" pitchFamily="18" charset="0"/>
                  </a:rPr>
                  <a:t>解：①</a:t>
                </a:r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NO</m:t>
                                </m:r>
                              </m:sub>
                            </m:sSub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en-US" altLang="zh-CN" sz="22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)•(</m:t>
                        </m:r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en-US" altLang="zh-CN" sz="22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(0.0100)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/(0.821)•(0.821) </m:t>
                    </m:r>
                  </m:oMath>
                </a14:m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</a:rPr>
                  <a:t> 	   </a:t>
                </a:r>
                <a14:m>
                  <m:oMath xmlns:m="http://schemas.openxmlformats.org/officeDocument/2006/math"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1.48 </m:t>
                    </m:r>
                    <m:r>
                      <a:rPr lang="en-US" altLang="zh-CN" sz="220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× </m:t>
                    </m:r>
                    <m:sSup>
                      <m:sSup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20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10</m:t>
                        </m:r>
                      </m:e>
                      <m:sup>
                        <m:r>
                          <a:rPr lang="en-US" altLang="zh-CN" sz="220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−4</m:t>
                        </m:r>
                      </m:sup>
                    </m:sSup>
                  </m:oMath>
                </a14:m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>
                  <a:buNone/>
                </a:pPr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p</m:t>
                        </m:r>
                      </m:sub>
                    </m:sSub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/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(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1.48 </m:t>
                    </m:r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× </m:t>
                    </m:r>
                    <m:sSup>
                      <m:sSup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10</m:t>
                        </m:r>
                      </m:e>
                      <m:sup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−4</m:t>
                        </m:r>
                      </m:sup>
                    </m:sSup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)/(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9.8 × 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 </m:t>
                    </m:r>
                    <m:r>
                      <a:rPr lang="en-US" altLang="zh-CN" sz="220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&lt; 1  </m:t>
                    </m:r>
                  </m:oMath>
                </a14:m>
                <a:r>
                  <a:rPr lang="en-US" altLang="zh-CN" sz="22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  </a:t>
                </a:r>
                <a:r>
                  <a:rPr lang="zh-CN" altLang="en-US" sz="22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正向自发</a:t>
                </a:r>
                <a:endParaRPr lang="zh-CN" altLang="en-US" sz="22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</a:rPr>
                  <a:t>       </a:t>
                </a:r>
                <a:r>
                  <a:rPr lang="zh-CN" altLang="en-US" sz="2200" dirty="0">
                    <a:latin typeface="+mn-lt"/>
                    <a:ea typeface="+mn-ea"/>
                    <a:cs typeface="Cambria Math" panose="02040503050406030204" pitchFamily="18" charset="0"/>
                  </a:rPr>
                  <a:t>②</a:t>
                </a:r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9.8 × 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            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 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   </m:t>
                        </m:r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p</m:t>
                        </m:r>
                      </m:sub>
                    </m:sSub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/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</m:t>
                    </m:r>
                    <m:r>
                      <a:rPr lang="en-US" altLang="zh-CN" sz="2200" i="0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= 1</m:t>
                    </m:r>
                  </m:oMath>
                </a14:m>
                <a:r>
                  <a:rPr lang="en-US" altLang="zh-CN" sz="22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   </a:t>
                </a:r>
                <a:r>
                  <a:rPr lang="zh-CN" altLang="en-US" sz="22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平衡</a:t>
                </a:r>
                <a:endParaRPr lang="zh-CN" altLang="en-US" sz="22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</a:rPr>
                  <a:t>       </a:t>
                </a:r>
                <a:r>
                  <a:rPr lang="zh-CN" altLang="en-US" sz="2200" dirty="0">
                    <a:latin typeface="+mn-lt"/>
                    <a:ea typeface="+mn-ea"/>
                    <a:cs typeface="Cambria Math" panose="02040503050406030204" pitchFamily="18" charset="0"/>
                  </a:rPr>
                  <a:t>③</a:t>
                </a:r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</a:rPr>
                  <a:t>  1.6</a:t>
                </a:r>
                <a14:m>
                  <m:oMath xmlns:m="http://schemas.openxmlformats.org/officeDocument/2006/math"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     </m:t>
                    </m:r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p</m:t>
                        </m:r>
                      </m:sub>
                    </m:sSub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/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1.6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</m:t>
                    </m:r>
                    <m:r>
                      <a:rPr lang="en-US" altLang="zh-CN" sz="220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9.8 × 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</m:t>
                    </m:r>
                    <m:r>
                      <a:rPr lang="en-US" altLang="zh-CN" sz="220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&gt; 1</m:t>
                    </m:r>
                  </m:oMath>
                </a14:m>
                <a:r>
                  <a:rPr lang="en-US" altLang="zh-CN" sz="22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   </a:t>
                </a:r>
                <a:r>
                  <a:rPr lang="zh-CN" altLang="en-US" sz="22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正向非自发</a:t>
                </a:r>
              </a:p>
            </p:txBody>
          </p:sp>
        </mc:Choice>
        <mc:Fallback xmlns="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3861000"/>
                <a:ext cx="8581854" cy="2531399"/>
              </a:xfrm>
              <a:prstGeom prst="rect">
                <a:avLst/>
              </a:prstGeom>
              <a:blipFill>
                <a:blip r:embed="rId3"/>
                <a:stretch>
                  <a:fillRect l="-923" b="-28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F7940F0F-8C41-4750-BC0E-48BF63D1F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843" y="1989000"/>
            <a:ext cx="5008313" cy="1733187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3FC0D1B9-5E53-465F-A7F2-5383C9D9AC9A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4.2.2 </a:t>
            </a:r>
            <a:r>
              <a:rPr lang="zh-CN" altLang="en-US" kern="0"/>
              <a:t>平衡常数与</a:t>
            </a:r>
            <a:r>
              <a:rPr lang="en-US" altLang="zh-CN" kern="0"/>
              <a:t>Gibbs</a:t>
            </a:r>
            <a:r>
              <a:rPr lang="zh-CN" altLang="en-US" kern="0"/>
              <a:t>自由能变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F11242-4598-49AD-8057-B6B0C2317EEA}"/>
              </a:ext>
            </a:extLst>
          </p:cNvPr>
          <p:cNvSpPr/>
          <p:nvPr/>
        </p:nvSpPr>
        <p:spPr bwMode="auto">
          <a:xfrm>
            <a:off x="-2223084" y="7461000"/>
            <a:ext cx="8581853" cy="2808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3E916C2-3769-4C22-9E6D-8492C3F6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19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25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981000"/>
                <a:ext cx="8581854" cy="1180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例题：由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MnO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和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HCl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制备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Cl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反应的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f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kJ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mol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MnO</m:t>
                        </m:r>
                      </m:e>
                      <m:sub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)+4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aq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)+2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Cl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aq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)⇄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Mn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2+</m:t>
                        </m:r>
                      </m:sup>
                    </m:s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aq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Cl</m:t>
                        </m:r>
                      </m:e>
                      <m:sub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)+2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O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−465.2             0             −131.3        −228.0            0          −237.2</m:t>
                    </m:r>
                  </m:oMath>
                </a14:m>
                <a:r>
                  <a:rPr lang="en-US" altLang="zh-CN" sz="2200" dirty="0">
                    <a:latin typeface="+mn-lt"/>
                    <a:ea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981000"/>
                <a:ext cx="8581854" cy="1180388"/>
              </a:xfrm>
              <a:prstGeom prst="rect">
                <a:avLst/>
              </a:prstGeom>
              <a:blipFill>
                <a:blip r:embed="rId2"/>
                <a:stretch>
                  <a:fillRect l="-1065" t="-309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3861000"/>
                <a:ext cx="8581854" cy="2150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解：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①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=−[228.0+2×(−237.2)]−[(−465.2)+2×(−131.3)]</m:t>
                    </m:r>
                  </m:oMath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	             =25.4(kJ/mol) &gt; 0</a:t>
                </a:r>
              </a:p>
              <a:p>
                <a:pPr>
                  <a:spcBef>
                    <a:spcPts val="0"/>
                  </a:spcBef>
                  <a:buNone/>
                </a:pPr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			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反应非自发</a:t>
                </a:r>
                <a:endParaRPr lang="zh-CN" altLang="en-US" sz="2200" dirty="0">
                  <a:solidFill>
                    <a:srgbClr val="FF0000"/>
                  </a:solidFill>
                  <a:latin typeface="+mn-lt"/>
                  <a:ea typeface="+mn-ea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3861000"/>
                <a:ext cx="8581854" cy="2150460"/>
              </a:xfrm>
              <a:prstGeom prst="rect">
                <a:avLst/>
              </a:prstGeom>
              <a:blipFill>
                <a:blip r:embed="rId3"/>
                <a:stretch>
                  <a:fillRect l="-1065" b="-48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AD078886-A621-4079-83B0-14CC2FEC02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2349000"/>
                <a:ext cx="8581854" cy="1208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问：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①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标态下，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298K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时，反应能否自发？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      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②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若用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12.0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mol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/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dm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的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HCl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，其他物质仍为标态，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298K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时，反应能否自发？</a:t>
                </a:r>
                <a:endParaRPr lang="zh-CN" altLang="en-US" sz="28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AD078886-A621-4079-83B0-14CC2FEC0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2349000"/>
                <a:ext cx="8581854" cy="1208664"/>
              </a:xfrm>
              <a:prstGeom prst="rect">
                <a:avLst/>
              </a:prstGeom>
              <a:blipFill>
                <a:blip r:embed="rId4"/>
                <a:stretch>
                  <a:fillRect l="-1065" t="-5528" b="-90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A37CFC01-F67E-45E3-8FF7-A8E66C3E7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0000" y="4005000"/>
            <a:ext cx="5814340" cy="437417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4129432B-E8FD-4DCB-BDA7-45BC3F0B81F5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4.2.2 </a:t>
            </a:r>
            <a:r>
              <a:rPr lang="zh-CN" altLang="en-US" kern="0"/>
              <a:t>平衡常数与</a:t>
            </a:r>
            <a:r>
              <a:rPr lang="en-US" altLang="zh-CN" kern="0"/>
              <a:t>Gibbs</a:t>
            </a:r>
            <a:r>
              <a:rPr lang="zh-CN" altLang="en-US" kern="0"/>
              <a:t>自由能变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3738BE-010B-44E8-A989-69A1D8D1D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20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085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981000"/>
                <a:ext cx="8581854" cy="1180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例题：由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MnO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和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HCl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制备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Cl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反应的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f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kJ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mol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MnO</m:t>
                        </m:r>
                      </m:e>
                      <m:sub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)+4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aq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)+2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Cl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aq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)⇄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Mn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2+</m:t>
                        </m:r>
                      </m:sup>
                    </m:s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aq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Cl</m:t>
                        </m:r>
                      </m:e>
                      <m:sub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)+2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O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−465.2             0             −131.3        −228.0            0          −237.2</m:t>
                    </m:r>
                  </m:oMath>
                </a14:m>
                <a:r>
                  <a:rPr lang="en-US" altLang="zh-CN" sz="2200" dirty="0">
                    <a:latin typeface="+mn-lt"/>
                    <a:ea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981000"/>
                <a:ext cx="8581854" cy="1180388"/>
              </a:xfrm>
              <a:prstGeom prst="rect">
                <a:avLst/>
              </a:prstGeom>
              <a:blipFill>
                <a:blip r:embed="rId2"/>
                <a:stretch>
                  <a:fillRect l="-1065" t="-36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3501000"/>
                <a:ext cx="8581854" cy="1541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解：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②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𝑄</m:t>
                    </m:r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Cl</m:t>
                                </m:r>
                              </m:e>
                              <m:sub>
                                <m:r>
                                  <a:rPr lang="en-US" altLang="zh-CN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)•((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Mn</m:t>
                            </m:r>
                          </m:e>
                          <m: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2+</m:t>
                            </m:r>
                          </m:sup>
                        </m:sSup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)/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((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zh-CN" sz="2400" i="0"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)/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((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Cl</m:t>
                                </m:r>
                              </m:e>
                              <m:sup>
                                <m:r>
                                  <a:rPr lang="en-US" altLang="zh-CN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)/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(100/100)•(1.0/1.0)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(12.0/1.0)</m:t>
                            </m:r>
                          </m:e>
                          <m:sup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(12.0/1.0)</m:t>
                            </m:r>
                          </m:e>
                          <m:sup>
                            <m:r>
                              <a:rPr lang="en-US" altLang="zh-CN" sz="2400" i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i="0" dirty="0">
                  <a:solidFill>
                    <a:srgbClr val="0066FF"/>
                  </a:solidFill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  <a:ea typeface="+mn-ea"/>
                    <a:cs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altLang="zh-CN" sz="240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3.35×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endParaRPr lang="en-US" altLang="zh-CN" sz="2400" dirty="0">
                  <a:solidFill>
                    <a:srgbClr val="0000FF"/>
                  </a:solidFill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根据：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4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+ </m:t>
                    </m:r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2.30</a:t>
                </a:r>
                <a:r>
                  <a:rPr lang="en-US" altLang="zh-CN" sz="2400" i="1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RT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lg</a:t>
                </a:r>
                <a:r>
                  <a:rPr lang="en-US" altLang="zh-CN" sz="2400" i="1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Q</a:t>
                </a:r>
                <a:endParaRPr lang="zh-CN" altLang="en-US" sz="2400" i="1" dirty="0">
                  <a:solidFill>
                    <a:srgbClr val="FF0000"/>
                  </a:solidFill>
                  <a:latin typeface="+mn-lt"/>
                  <a:ea typeface="+mn-ea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3501000"/>
                <a:ext cx="8581854" cy="1541448"/>
              </a:xfrm>
              <a:prstGeom prst="rect">
                <a:avLst/>
              </a:prstGeom>
              <a:blipFill>
                <a:blip r:embed="rId3"/>
                <a:stretch>
                  <a:fillRect l="-1065" b="-790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AD078886-A621-4079-83B0-14CC2FEC02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2349000"/>
                <a:ext cx="8581854" cy="1208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问：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①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标态下，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298K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时，反应能否自发？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      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②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若用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12.0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mol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/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dm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的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HCl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，其他物质仍为标态，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298K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时，反应能否自发？</a:t>
                </a:r>
                <a:endParaRPr lang="zh-CN" altLang="en-US" sz="28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TextBox 1">
                <a:extLst>
                  <a:ext uri="{FF2B5EF4-FFF2-40B4-BE49-F238E27FC236}">
                    <a16:creationId xmlns:a16="http://schemas.microsoft.com/office/drawing/2014/main" id="{AD078886-A621-4079-83B0-14CC2FEC0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2349000"/>
                <a:ext cx="8581854" cy="1208664"/>
              </a:xfrm>
              <a:prstGeom prst="rect">
                <a:avLst/>
              </a:prstGeom>
              <a:blipFill>
                <a:blip r:embed="rId4"/>
                <a:stretch>
                  <a:fillRect l="-1065" t="-5528" b="-90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5085000"/>
                <a:ext cx="8581854" cy="1508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2400" dirty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∆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T</m:t>
                          </m:r>
                        </m:sub>
                      </m:sSub>
                      <m:r>
                        <a:rPr lang="en-US" altLang="zh-CN" sz="2400" dirty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  <a:sym typeface="+mn-ea"/>
                        </a:rPr>
                        <m:t> = 25.4+2.30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×</m:t>
                      </m:r>
                      <m:r>
                        <a:rPr lang="en-US" altLang="zh-CN" sz="2400" dirty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  <a:sym typeface="+mn-ea"/>
                        </a:rPr>
                        <m:t>8.31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altLang="zh-CN" sz="240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×298×</m:t>
                      </m:r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lg</m:t>
                      </m:r>
                      <m:r>
                        <a:rPr lang="en-US" altLang="zh-CN" sz="240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(3.35×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40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  <m:r>
                        <a:rPr lang="en-US" altLang="zh-CN" sz="240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=</m:t>
                    </m:r>
                    <m:r>
                      <a:rPr lang="en-US" altLang="zh-CN" sz="2400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−11.5(</m:t>
                    </m:r>
                    <m:r>
                      <m:rPr>
                        <m:sty m:val="p"/>
                      </m:rPr>
                      <a:rPr lang="en-US" altLang="zh-CN" sz="2400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kJ</m:t>
                    </m:r>
                    <m:r>
                      <a:rPr lang="en-US" altLang="zh-CN" sz="2400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mol</m:t>
                    </m:r>
                    <m:r>
                      <a:rPr lang="en-US" altLang="zh-CN" sz="2400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) &lt; 0</m:t>
                    </m:r>
                  </m:oMath>
                </a14:m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   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	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反应自发</a:t>
                </a:r>
                <a:endParaRPr lang="en-US" altLang="zh-CN" sz="2400" dirty="0">
                  <a:solidFill>
                    <a:srgbClr val="FF0000"/>
                  </a:solidFill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endParaRPr lang="zh-CN" altLang="en-US" sz="2000" dirty="0">
                  <a:solidFill>
                    <a:srgbClr val="FF0000"/>
                  </a:solidFill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一些反应在标态下不能进行，但在非标态下可以进行</a:t>
                </a:r>
              </a:p>
            </p:txBody>
          </p:sp>
        </mc:Choice>
        <mc:Fallback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5085000"/>
                <a:ext cx="8581854" cy="1508105"/>
              </a:xfrm>
              <a:prstGeom prst="rect">
                <a:avLst/>
              </a:prstGeom>
              <a:blipFill>
                <a:blip r:embed="rId5"/>
                <a:stretch>
                  <a:fillRect l="-142" b="-68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>
            <a:extLst>
              <a:ext uri="{FF2B5EF4-FFF2-40B4-BE49-F238E27FC236}">
                <a16:creationId xmlns:a16="http://schemas.microsoft.com/office/drawing/2014/main" id="{078B4095-D8B9-4451-9B98-0B685DED3762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4.2.2 </a:t>
            </a:r>
            <a:r>
              <a:rPr lang="zh-CN" altLang="en-US" kern="0"/>
              <a:t>平衡常数与</a:t>
            </a:r>
            <a:r>
              <a:rPr lang="en-US" altLang="zh-CN" kern="0"/>
              <a:t>Gibbs</a:t>
            </a:r>
            <a:r>
              <a:rPr lang="zh-CN" altLang="en-US" kern="0"/>
              <a:t>自由能变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C23AE9-C5CC-47AE-B3CA-92C2A9CD0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21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456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981000"/>
                <a:ext cx="8581854" cy="12264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能否用标态下的数据来判断非标态下的反应?（即用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 来代替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)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根据实践经验，一般认为：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981000"/>
                <a:ext cx="8581854" cy="1226426"/>
              </a:xfrm>
              <a:prstGeom prst="rect">
                <a:avLst/>
              </a:prstGeom>
              <a:blipFill>
                <a:blip r:embed="rId2"/>
                <a:stretch>
                  <a:fillRect l="-1065" t="-3980" b="-89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3645000"/>
                <a:ext cx="8581854" cy="16654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</a:rPr>
                  <a:t>    </a:t>
                </a:r>
                <a:r>
                  <a:rPr lang="zh-CN" altLang="en-US" sz="2400" dirty="0">
                    <a:latin typeface="+mn-lt"/>
                    <a:ea typeface="+mn-ea"/>
                  </a:rPr>
                  <a:t>①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≤ -</a:t>
                </a:r>
                <a:r>
                  <a:rPr lang="zh-CN" altLang="en-US" sz="2400" dirty="0">
                    <a:latin typeface="+mn-lt"/>
                    <a:ea typeface="+mn-ea"/>
                  </a:rPr>
                  <a:t>40 kJ/mol</a:t>
                </a:r>
                <a:r>
                  <a:rPr lang="en-US" altLang="zh-CN" sz="2400" dirty="0">
                    <a:latin typeface="+mn-lt"/>
                    <a:ea typeface="+mn-ea"/>
                  </a:rPr>
                  <a:t>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+7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+mn-lt"/>
                    <a:ea typeface="+mn-ea"/>
                  </a:rPr>
                  <a:t>           </a:t>
                </a:r>
                <a:r>
                  <a:rPr lang="zh-CN" altLang="en-US" sz="2400" dirty="0">
                    <a:latin typeface="+mn-lt"/>
                    <a:ea typeface="+mn-ea"/>
                  </a:rPr>
                  <a:t>反应自发、完全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    ②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+mn-lt"/>
                    <a:ea typeface="+mn-ea"/>
                    <a:sym typeface="+mn-ea"/>
                  </a:rPr>
                  <a:t> 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≥ +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40 kJ/mol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rgbClr val="0000FF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	     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反应几乎不发生</a:t>
                </a:r>
                <a:endParaRPr lang="en-US" altLang="zh-CN" sz="2400" dirty="0">
                  <a:solidFill>
                    <a:srgbClr val="0000FF"/>
                  </a:solidFill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    ③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sym typeface="+mn-ea"/>
                      </a:rPr>
                      <m:t>−40&lt;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&lt; +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40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&lt;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&lt;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+7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  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可通过改变条件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					                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来促进反应进行</a:t>
                </a:r>
              </a:p>
            </p:txBody>
          </p:sp>
        </mc:Choice>
        <mc:Fallback xmlns="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3645000"/>
                <a:ext cx="8581854" cy="1665456"/>
              </a:xfrm>
              <a:prstGeom prst="rect">
                <a:avLst/>
              </a:prstGeom>
              <a:blipFill>
                <a:blip r:embed="rId3"/>
                <a:stretch>
                  <a:fillRect t="-2564" b="-659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1">
            <a:extLst>
              <a:ext uri="{FF2B5EF4-FFF2-40B4-BE49-F238E27FC236}">
                <a16:creationId xmlns:a16="http://schemas.microsoft.com/office/drawing/2014/main" id="{AD078886-A621-4079-83B0-14CC2FEC0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2637000"/>
            <a:ext cx="8581854" cy="57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algn="ctr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  <a:ea typeface="+mn-ea"/>
              </a:rPr>
              <a:t>对于可逆反应：</a:t>
            </a:r>
            <a:r>
              <a:rPr lang="zh-CN" altLang="en-US" sz="2400" i="1" dirty="0">
                <a:latin typeface="+mn-lt"/>
                <a:ea typeface="+mn-ea"/>
                <a:cs typeface="+mn-lt"/>
                <a:sym typeface="+mn-ea"/>
              </a:rPr>
              <a:t>a</a:t>
            </a:r>
            <a:r>
              <a:rPr lang="zh-CN" altLang="en-US" sz="2400" dirty="0">
                <a:latin typeface="+mn-lt"/>
                <a:ea typeface="+mn-ea"/>
                <a:sym typeface="+mn-ea"/>
              </a:rPr>
              <a:t>A</a:t>
            </a:r>
            <a:r>
              <a:rPr lang="en-US" altLang="zh-CN" sz="2400" dirty="0">
                <a:latin typeface="+mn-lt"/>
                <a:ea typeface="+mn-ea"/>
                <a:sym typeface="+mn-ea"/>
              </a:rPr>
              <a:t> </a:t>
            </a:r>
            <a:r>
              <a:rPr lang="zh-CN" altLang="en-US" sz="2400" dirty="0">
                <a:latin typeface="+mn-lt"/>
                <a:ea typeface="+mn-ea"/>
                <a:sym typeface="+mn-ea"/>
              </a:rPr>
              <a:t>+ </a:t>
            </a:r>
            <a:r>
              <a:rPr lang="zh-CN" altLang="en-US" sz="2400" i="1" dirty="0">
                <a:latin typeface="+mn-lt"/>
                <a:ea typeface="+mn-ea"/>
                <a:cs typeface="+mn-lt"/>
                <a:sym typeface="+mn-ea"/>
              </a:rPr>
              <a:t>b</a:t>
            </a:r>
            <a:r>
              <a:rPr lang="zh-CN" altLang="en-US" sz="2400" dirty="0">
                <a:latin typeface="+mn-lt"/>
                <a:ea typeface="+mn-ea"/>
                <a:sym typeface="+mn-ea"/>
              </a:rPr>
              <a:t>B </a:t>
            </a:r>
            <a:r>
              <a:rPr lang="en-US" altLang="zh-CN" sz="2400" dirty="0">
                <a:latin typeface="+mn-lt"/>
                <a:ea typeface="+mn-ea"/>
                <a:sym typeface="+mn-ea"/>
              </a:rPr>
              <a:t> ⇄</a:t>
            </a:r>
            <a:r>
              <a:rPr lang="zh-CN" altLang="en-US" sz="2400" dirty="0">
                <a:latin typeface="+mn-lt"/>
                <a:ea typeface="+mn-ea"/>
                <a:sym typeface="+mn-ea"/>
              </a:rPr>
              <a:t> </a:t>
            </a:r>
            <a:r>
              <a:rPr lang="zh-CN" altLang="en-US" sz="2400" i="1" dirty="0">
                <a:latin typeface="+mn-lt"/>
                <a:ea typeface="+mn-ea"/>
                <a:cs typeface="+mn-lt"/>
                <a:sym typeface="+mn-ea"/>
              </a:rPr>
              <a:t>c</a:t>
            </a:r>
            <a:r>
              <a:rPr lang="zh-CN" altLang="en-US" sz="2400" dirty="0">
                <a:latin typeface="+mn-lt"/>
                <a:ea typeface="+mn-ea"/>
                <a:sym typeface="+mn-ea"/>
              </a:rPr>
              <a:t>C +</a:t>
            </a:r>
            <a:r>
              <a:rPr lang="en-US" altLang="zh-CN" sz="2400" dirty="0">
                <a:latin typeface="+mn-lt"/>
                <a:ea typeface="+mn-ea"/>
                <a:sym typeface="+mn-ea"/>
              </a:rPr>
              <a:t> </a:t>
            </a:r>
            <a:r>
              <a:rPr lang="zh-CN" altLang="en-US" sz="2400" i="1" dirty="0">
                <a:latin typeface="+mn-lt"/>
                <a:ea typeface="+mn-ea"/>
                <a:cs typeface="+mn-lt"/>
                <a:sym typeface="+mn-ea"/>
              </a:rPr>
              <a:t>d</a:t>
            </a:r>
            <a:r>
              <a:rPr lang="zh-CN" altLang="en-US" sz="2400" dirty="0">
                <a:latin typeface="+mn-lt"/>
                <a:ea typeface="+mn-ea"/>
                <a:sym typeface="+mn-ea"/>
              </a:rPr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000" y="5455134"/>
                <a:ext cx="8581854" cy="493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+ 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2.30</a:t>
                </a:r>
                <a:r>
                  <a:rPr lang="en-US" altLang="zh-CN" sz="2400" i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RT</a:t>
                </a:r>
                <a:r>
                  <a:rPr lang="en-US" altLang="zh-CN" sz="24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lg</a:t>
                </a:r>
                <a:r>
                  <a:rPr lang="en-US" altLang="zh-CN" sz="2400" i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Q</a:t>
                </a:r>
                <a:endParaRPr lang="en-US" altLang="zh-CN" sz="2400" i="1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000" y="5455134"/>
                <a:ext cx="8581854" cy="493597"/>
              </a:xfrm>
              <a:prstGeom prst="rect">
                <a:avLst/>
              </a:prstGeom>
              <a:blipFill>
                <a:blip r:embed="rId4"/>
                <a:stretch>
                  <a:fillRect t="-4938" b="-259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>
            <a:extLst>
              <a:ext uri="{FF2B5EF4-FFF2-40B4-BE49-F238E27FC236}">
                <a16:creationId xmlns:a16="http://schemas.microsoft.com/office/drawing/2014/main" id="{FD2C7228-43DC-4FAD-9378-31366E49BD7A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4.2.2 </a:t>
            </a:r>
            <a:r>
              <a:rPr lang="zh-CN" altLang="en-US" kern="0"/>
              <a:t>平衡常数与</a:t>
            </a:r>
            <a:r>
              <a:rPr lang="en-US" altLang="zh-CN" kern="0"/>
              <a:t>Gibbs</a:t>
            </a:r>
            <a:r>
              <a:rPr lang="zh-CN" altLang="en-US" kern="0"/>
              <a:t>自由能变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D28A45-36E3-4060-A5E4-149F1256E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22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563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981000"/>
                <a:ext cx="8581854" cy="16599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例题:某反应 A(s)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⇄</a:t>
                </a:r>
                <a:r>
                  <a:rPr lang="zh-CN" altLang="en-US" sz="2400" dirty="0">
                    <a:latin typeface="+mn-lt"/>
                    <a:ea typeface="+mn-ea"/>
                  </a:rPr>
                  <a:t>B(g)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+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C(s) 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G</m:t>
                        </m:r>
                      </m:e>
                      <m:sub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=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40.</a:t>
                </a:r>
                <a:r>
                  <a:rPr lang="en-US" altLang="zh-CN" sz="2400" dirty="0">
                    <a:latin typeface="+mn-lt"/>
                    <a:ea typeface="+mn-ea"/>
                  </a:rPr>
                  <a:t>0</a:t>
                </a:r>
                <a:r>
                  <a:rPr lang="zh-CN" altLang="en-US" sz="2400" dirty="0">
                    <a:latin typeface="+mn-lt"/>
                    <a:ea typeface="+mn-ea"/>
                  </a:rPr>
                  <a:t> kJ</a:t>
                </a:r>
                <a:r>
                  <a:rPr lang="en-US" altLang="zh-CN" sz="2400" dirty="0">
                    <a:latin typeface="+mn-lt"/>
                    <a:ea typeface="+mn-ea"/>
                  </a:rPr>
                  <a:t>/</a:t>
                </a:r>
                <a:r>
                  <a:rPr lang="zh-CN" altLang="en-US" sz="2400" dirty="0">
                    <a:latin typeface="+mn-lt"/>
                    <a:ea typeface="+mn-ea"/>
                  </a:rPr>
                  <a:t>mol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</a:rPr>
                  <a:t>	</a:t>
                </a:r>
                <a:r>
                  <a:rPr lang="zh-CN" altLang="en-US" sz="2400" dirty="0">
                    <a:latin typeface="+mn-lt"/>
                    <a:ea typeface="+mn-ea"/>
                  </a:rPr>
                  <a:t>(1)计算该反应在298K下的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；</m:t>
                    </m:r>
                  </m:oMath>
                </a14:m>
                <a:endParaRPr lang="zh-CN" altLang="en-US" sz="2400" dirty="0">
                  <a:latin typeface="+mn-lt"/>
                  <a:ea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</a:rPr>
                  <a:t>	</a:t>
                </a:r>
                <a:r>
                  <a:rPr lang="zh-CN" altLang="en-US" sz="2400" dirty="0">
                    <a:latin typeface="+mn-lt"/>
                    <a:ea typeface="+mn-ea"/>
                  </a:rPr>
                  <a:t>(2)当B的分压降为1.00×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 kPa 时，正向反应能否自发进行？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981000"/>
                <a:ext cx="8581854" cy="1659942"/>
              </a:xfrm>
              <a:prstGeom prst="rect">
                <a:avLst/>
              </a:prstGeom>
              <a:blipFill>
                <a:blip r:embed="rId2"/>
                <a:stretch>
                  <a:fillRect l="-1065" t="-2941" b="-66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2925000"/>
                <a:ext cx="8581854" cy="16337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解：(1)</a:t>
                </a:r>
                <a:r>
                  <a:rPr lang="en-US" altLang="zh-CN" sz="2400" dirty="0">
                    <a:latin typeface="+mn-lt"/>
                    <a:ea typeface="+mn-ea"/>
                  </a:rPr>
                  <a:t>	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=−2.30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𝑅𝑇</m:t>
                    </m:r>
                    <m:r>
                      <m:rPr>
                        <m:sty m:val="p"/>
                      </m:rPr>
                      <a:rPr lang="en-US" altLang="zh-CN" sz="24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endParaRPr lang="zh-CN" altLang="en-US" sz="2400" dirty="0">
                  <a:latin typeface="+mn-lt"/>
                  <a:ea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	 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/(−2.30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𝑅𝑇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	           </a:t>
                </a:r>
                <a14:m>
                  <m:oMath xmlns:m="http://schemas.openxmlformats.org/officeDocument/2006/math"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−40.0/(2.30</m:t>
                    </m:r>
                    <m:r>
                      <a:rPr lang="zh-CN" altLang="en-US" sz="2400" i="0">
                        <a:latin typeface="Cambria Math" panose="02040503050406030204" pitchFamily="18" charset="0"/>
                        <a:ea typeface="+mn-ea"/>
                        <a:sym typeface="+mn-ea"/>
                      </a:rPr>
                      <m:t>×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sym typeface="+mn-ea"/>
                      </a:rPr>
                      <m:t>8.31</m:t>
                    </m:r>
                    <m:r>
                      <a:rPr lang="zh-CN" altLang="en-US" sz="2400" i="0">
                        <a:latin typeface="Cambria Math" panose="02040503050406030204" pitchFamily="18" charset="0"/>
                        <a:ea typeface="+mn-ea"/>
                        <a:sym typeface="+mn-ea"/>
                      </a:rPr>
                      <m:t>×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10</m:t>
                        </m:r>
                      </m:e>
                      <m: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−3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  <a:ea typeface="+mn-ea"/>
                        <a:sym typeface="+mn-ea"/>
                      </a:rPr>
                      <m:t>×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sym typeface="+mn-ea"/>
                      </a:rPr>
                      <m:t>298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	           </a:t>
                </a:r>
                <a14:m>
                  <m:oMath xmlns:m="http://schemas.openxmlformats.org/officeDocument/2006/math"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−7.023</m:t>
                    </m:r>
                  </m:oMath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2925000"/>
                <a:ext cx="8581854" cy="1633717"/>
              </a:xfrm>
              <a:prstGeom prst="rect">
                <a:avLst/>
              </a:prstGeom>
              <a:blipFill>
                <a:blip r:embed="rId3"/>
                <a:stretch>
                  <a:fillRect l="-1065" t="-26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4725000"/>
                <a:ext cx="8581854" cy="1196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p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θ</m:t>
                          </m:r>
                        </m:sup>
                      </m:sSubSup>
                      <m:r>
                        <a:rPr lang="en-US" altLang="zh-CN" sz="2400" i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 = 9.48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  <a:ea typeface="+mn-ea"/>
                          <a:sym typeface="+mn-ea"/>
                        </a:rPr>
                        <m:t>×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sz="24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4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−8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endParaRPr lang="en-US" altLang="zh-CN" sz="20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 algn="ctr">
                  <a:spcBef>
                    <a:spcPts val="0"/>
                  </a:spcBef>
                  <a:buNone/>
                </a:pPr>
                <a:r>
                  <a:rPr lang="zh-CN" altLang="en-US" sz="2400" i="1" dirty="0">
                    <a:latin typeface="+mn-lt"/>
                    <a:ea typeface="+mn-ea"/>
                  </a:rPr>
                  <a:t>K</a:t>
                </a:r>
                <a:r>
                  <a:rPr lang="zh-CN" altLang="en-US" sz="2400" dirty="0">
                    <a:latin typeface="+mn-lt"/>
                    <a:ea typeface="+mn-ea"/>
                  </a:rPr>
                  <a:t>值很小，在标态下该反应正向非自发</a:t>
                </a:r>
              </a:p>
            </p:txBody>
          </p:sp>
        </mc:Choice>
        <mc:Fallback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4725000"/>
                <a:ext cx="8581854" cy="1196418"/>
              </a:xfrm>
              <a:prstGeom prst="rect">
                <a:avLst/>
              </a:prstGeom>
              <a:blipFill>
                <a:blip r:embed="rId4"/>
                <a:stretch>
                  <a:fillRect b="-117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>
            <a:extLst>
              <a:ext uri="{FF2B5EF4-FFF2-40B4-BE49-F238E27FC236}">
                <a16:creationId xmlns:a16="http://schemas.microsoft.com/office/drawing/2014/main" id="{724B75D0-F9CE-4475-9A16-BE06B31AEAB3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 dirty="0"/>
              <a:t>4.2.2 </a:t>
            </a:r>
            <a:r>
              <a:rPr lang="zh-CN" altLang="en-US" kern="0" dirty="0"/>
              <a:t>平衡常数与</a:t>
            </a:r>
            <a:r>
              <a:rPr lang="en-US" altLang="zh-CN" kern="0" dirty="0"/>
              <a:t>Gibbs</a:t>
            </a:r>
            <a:r>
              <a:rPr lang="zh-CN" altLang="en-US" kern="0" dirty="0"/>
              <a:t>自由能变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370740-EC61-4D2A-8F00-ACC55F26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23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113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981000"/>
                <a:ext cx="8581854" cy="16599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例题:某反应 A(s)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⇄</a:t>
                </a:r>
                <a:r>
                  <a:rPr lang="zh-CN" altLang="en-US" sz="2400" dirty="0">
                    <a:latin typeface="+mn-lt"/>
                    <a:ea typeface="+mn-ea"/>
                  </a:rPr>
                  <a:t>B(g)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+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C(s) 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=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40.</a:t>
                </a:r>
                <a:r>
                  <a:rPr lang="en-US" altLang="zh-CN" sz="2400" dirty="0">
                    <a:latin typeface="+mn-lt"/>
                    <a:ea typeface="+mn-ea"/>
                  </a:rPr>
                  <a:t>0</a:t>
                </a:r>
                <a:r>
                  <a:rPr lang="zh-CN" altLang="en-US" sz="2400" dirty="0">
                    <a:latin typeface="+mn-lt"/>
                    <a:ea typeface="+mn-ea"/>
                  </a:rPr>
                  <a:t> kJ</a:t>
                </a:r>
                <a:r>
                  <a:rPr lang="en-US" altLang="zh-CN" sz="2400" dirty="0">
                    <a:latin typeface="+mn-lt"/>
                    <a:ea typeface="+mn-ea"/>
                  </a:rPr>
                  <a:t>/</a:t>
                </a:r>
                <a:r>
                  <a:rPr lang="zh-CN" altLang="en-US" sz="2400" dirty="0">
                    <a:latin typeface="+mn-lt"/>
                    <a:ea typeface="+mn-ea"/>
                  </a:rPr>
                  <a:t>mol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</a:rPr>
                  <a:t>	</a:t>
                </a:r>
                <a:r>
                  <a:rPr lang="zh-CN" altLang="en-US" sz="2400" dirty="0">
                    <a:latin typeface="+mn-lt"/>
                    <a:ea typeface="+mn-ea"/>
                  </a:rPr>
                  <a:t>（</a:t>
                </a:r>
                <a:r>
                  <a:rPr lang="en-US" altLang="zh-CN" sz="2400" dirty="0">
                    <a:latin typeface="+mn-lt"/>
                    <a:ea typeface="+mn-ea"/>
                  </a:rPr>
                  <a:t>1</a:t>
                </a:r>
                <a:r>
                  <a:rPr lang="zh-CN" altLang="en-US" sz="2400" dirty="0">
                    <a:latin typeface="+mn-lt"/>
                    <a:ea typeface="+mn-ea"/>
                  </a:rPr>
                  <a:t>）计算该反应在298K下的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；</m:t>
                    </m:r>
                  </m:oMath>
                </a14:m>
                <a:endParaRPr lang="zh-CN" altLang="en-US" sz="2400" dirty="0">
                  <a:latin typeface="+mn-lt"/>
                  <a:ea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</a:rPr>
                  <a:t>	</a:t>
                </a:r>
                <a:r>
                  <a:rPr lang="zh-CN" altLang="en-US" sz="2400" dirty="0">
                    <a:latin typeface="+mn-lt"/>
                    <a:ea typeface="+mn-ea"/>
                  </a:rPr>
                  <a:t>（</a:t>
                </a:r>
                <a:r>
                  <a:rPr lang="en-US" altLang="zh-CN" sz="2400" dirty="0">
                    <a:latin typeface="+mn-lt"/>
                    <a:ea typeface="+mn-ea"/>
                  </a:rPr>
                  <a:t>2</a:t>
                </a:r>
                <a:r>
                  <a:rPr lang="zh-CN" altLang="en-US" sz="2400" dirty="0">
                    <a:latin typeface="+mn-lt"/>
                    <a:ea typeface="+mn-ea"/>
                  </a:rPr>
                  <a:t>）当B的分压降为1.00×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 kPa 时，正向反应能否自发进行？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981000"/>
                <a:ext cx="8581854" cy="1659942"/>
              </a:xfrm>
              <a:prstGeom prst="rect">
                <a:avLst/>
              </a:prstGeom>
              <a:blipFill>
                <a:blip r:embed="rId2"/>
                <a:stretch>
                  <a:fillRect l="-1065" t="-2574" r="-1065" b="-625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2997000"/>
                <a:ext cx="8581854" cy="15869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解：（</a:t>
                </a:r>
                <a:r>
                  <a:rPr lang="en-US" altLang="zh-CN" sz="2400" dirty="0">
                    <a:latin typeface="+mn-lt"/>
                    <a:ea typeface="+mn-ea"/>
                  </a:rPr>
                  <a:t>2</a:t>
                </a:r>
                <a:r>
                  <a:rPr lang="zh-CN" altLang="en-US" sz="2400" dirty="0">
                    <a:latin typeface="+mn-lt"/>
                    <a:ea typeface="+mn-ea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(1.00</m:t>
                    </m:r>
                    <m:r>
                      <a:rPr lang="zh-CN" altLang="en-US" sz="2200" i="0">
                        <a:latin typeface="Cambria Math" panose="02040503050406030204" pitchFamily="18" charset="0"/>
                        <a:ea typeface="+mn-ea"/>
                        <a:sym typeface="+mn-ea"/>
                      </a:rPr>
                      <m:t>×</m:t>
                    </m:r>
                    <m:sSup>
                      <m:sSupPr>
                        <m:ctrlPr>
                          <a:rPr lang="zh-CN" altLang="en-US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10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−3</m:t>
                        </m:r>
                      </m:sup>
                    </m:s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)/100 = 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1.00</m:t>
                    </m:r>
                    <m:r>
                      <a:rPr lang="zh-CN" altLang="en-US" sz="2200" i="0">
                        <a:latin typeface="Cambria Math" panose="02040503050406030204" pitchFamily="18" charset="0"/>
                        <a:ea typeface="+mn-ea"/>
                        <a:sym typeface="+mn-ea"/>
                      </a:rPr>
                      <m:t>×</m:t>
                    </m:r>
                    <m:sSup>
                      <m:sSupPr>
                        <m:ctrlPr>
                          <a:rPr lang="zh-CN" altLang="en-US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10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−5</m:t>
                        </m:r>
                      </m:sup>
                    </m:sSup>
                  </m:oMath>
                </a14:m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4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2.30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𝑅𝑇</m:t>
                    </m:r>
                    <m:r>
                      <m:rPr>
                        <m:sty m:val="p"/>
                      </m:rPr>
                      <a:rPr lang="en-US" altLang="zh-CN" sz="24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r>
                      <a:rPr lang="en-US" altLang="zh-CN" sz="24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𝑄</m:t>
                    </m:r>
                    <m:r>
                      <a:rPr lang="en-US" altLang="zh-CN" sz="24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40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rgbClr val="FF0000"/>
                  </a:solidFill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dirty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2200" i="0" dirty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∆</m:t>
                          </m:r>
                          <m:r>
                            <a:rPr lang="en-US" altLang="zh-CN" sz="2200" i="1" dirty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200" i="0" dirty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298</m:t>
                          </m:r>
                        </m:sub>
                      </m:sSub>
                      <m:r>
                        <a:rPr lang="en-US" altLang="zh-CN" sz="2200" i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= 2.3</m:t>
                      </m:r>
                      <m:r>
                        <a:rPr lang="zh-CN" altLang="en-US" sz="2200" i="0">
                          <a:latin typeface="Cambria Math" panose="02040503050406030204" pitchFamily="18" charset="0"/>
                          <a:ea typeface="+mn-ea"/>
                          <a:sym typeface="+mn-ea"/>
                        </a:rPr>
                        <m:t>×</m:t>
                      </m:r>
                      <m:r>
                        <a:rPr lang="en-US" altLang="zh-CN" sz="2200" i="0">
                          <a:latin typeface="Cambria Math" panose="02040503050406030204" pitchFamily="18" charset="0"/>
                          <a:ea typeface="+mn-ea"/>
                          <a:sym typeface="+mn-ea"/>
                        </a:rPr>
                        <m:t>8.31</m:t>
                      </m:r>
                      <m:r>
                        <a:rPr lang="zh-CN" altLang="en-US" sz="2200" i="0">
                          <a:latin typeface="Cambria Math" panose="02040503050406030204" pitchFamily="18" charset="0"/>
                          <a:ea typeface="+mn-ea"/>
                          <a:sym typeface="+mn-ea"/>
                        </a:rPr>
                        <m:t>×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−3</m:t>
                          </m:r>
                        </m:sup>
                      </m:sSup>
                      <m:r>
                        <a:rPr lang="zh-CN" altLang="en-US" sz="2200" i="0">
                          <a:latin typeface="Cambria Math" panose="02040503050406030204" pitchFamily="18" charset="0"/>
                          <a:ea typeface="+mn-ea"/>
                          <a:sym typeface="+mn-ea"/>
                        </a:rPr>
                        <m:t>×</m:t>
                      </m:r>
                      <m:r>
                        <a:rPr lang="en-US" altLang="zh-CN" sz="2200" i="0">
                          <a:latin typeface="Cambria Math" panose="02040503050406030204" pitchFamily="18" charset="0"/>
                          <a:ea typeface="+mn-ea"/>
                          <a:sym typeface="+mn-ea"/>
                        </a:rPr>
                        <m:t>298</m:t>
                      </m:r>
                      <m:r>
                        <a:rPr lang="zh-CN" altLang="en-US" sz="2200" i="0">
                          <a:latin typeface="Cambria Math" panose="02040503050406030204" pitchFamily="18" charset="0"/>
                          <a:ea typeface="+mn-ea"/>
                          <a:sym typeface="+mn-ea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2200" i="0">
                          <a:latin typeface="Cambria Math" panose="02040503050406030204" pitchFamily="18" charset="0"/>
                          <a:ea typeface="+mn-ea"/>
                          <a:sym typeface="+mn-ea"/>
                        </a:rPr>
                        <m:t>lg</m:t>
                      </m:r>
                      <m:r>
                        <a:rPr lang="en-US" altLang="zh-CN" sz="2200" i="0">
                          <a:latin typeface="Cambria Math" panose="02040503050406030204" pitchFamily="18" charset="0"/>
                          <a:ea typeface="+mn-ea"/>
                          <a:sym typeface="+mn-ea"/>
                        </a:rPr>
                        <m:t>(1.00×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−5</m:t>
                          </m:r>
                        </m:sup>
                      </m:sSup>
                      <m:r>
                        <a:rPr lang="en-US" altLang="zh-CN" sz="2200" i="0">
                          <a:latin typeface="Cambria Math" panose="02040503050406030204" pitchFamily="18" charset="0"/>
                          <a:ea typeface="+mn-ea"/>
                          <a:sym typeface="+mn-ea"/>
                        </a:rPr>
                        <m:t>/9.48</m:t>
                      </m:r>
                      <m:r>
                        <a:rPr lang="zh-CN" altLang="en-US" sz="2200" i="0">
                          <a:latin typeface="Cambria Math" panose="02040503050406030204" pitchFamily="18" charset="0"/>
                          <a:ea typeface="+mn-ea"/>
                          <a:sym typeface="+mn-ea"/>
                        </a:rPr>
                        <m:t>×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−8</m:t>
                          </m:r>
                        </m:sup>
                      </m:sSup>
                      <m:r>
                        <a:rPr lang="en-US" altLang="zh-CN" sz="2200" i="0">
                          <a:latin typeface="Cambria Math" panose="02040503050406030204" pitchFamily="18" charset="0"/>
                          <a:ea typeface="+mn-ea"/>
                          <a:sym typeface="+mn-ea"/>
                        </a:rPr>
                        <m:t>)</m:t>
                      </m:r>
                    </m:oMath>
                  </m:oMathPara>
                </a14:m>
                <a:endParaRPr lang="en-US" altLang="zh-CN" sz="2200" dirty="0">
                  <a:latin typeface="+mn-lt"/>
                  <a:ea typeface="+mn-ea"/>
                  <a:sym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200" dirty="0">
                    <a:latin typeface="+mn-lt"/>
                    <a:ea typeface="+mn-ea"/>
                  </a:rPr>
                  <a:t>	 </a:t>
                </a:r>
                <a14:m>
                  <m:oMath xmlns:m="http://schemas.openxmlformats.org/officeDocument/2006/math"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11.5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kJ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mol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&gt; 0</m:t>
                    </m:r>
                  </m:oMath>
                </a14:m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2997000"/>
                <a:ext cx="8581854" cy="1586909"/>
              </a:xfrm>
              <a:prstGeom prst="rect">
                <a:avLst/>
              </a:prstGeom>
              <a:blipFill>
                <a:blip r:embed="rId3"/>
                <a:stretch>
                  <a:fillRect l="-1065" t="-4615" b="-19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">
            <a:extLst>
              <a:ext uri="{FF2B5EF4-FFF2-40B4-BE49-F238E27FC236}">
                <a16:creationId xmlns:a16="http://schemas.microsoft.com/office/drawing/2014/main" id="{B621D12C-EBC2-4453-8922-CBB47B5DE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4797000"/>
            <a:ext cx="858185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反应非自发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66FF"/>
                </a:solidFill>
                <a:latin typeface="+mn-ea"/>
                <a:ea typeface="+mn-ea"/>
              </a:rPr>
              <a:t>  </a:t>
            </a:r>
            <a:r>
              <a:rPr lang="zh-CN" altLang="en-US" sz="2400" dirty="0">
                <a:solidFill>
                  <a:srgbClr val="0066FF"/>
                </a:solidFill>
                <a:latin typeface="+mn-ea"/>
                <a:ea typeface="+mn-ea"/>
              </a:rPr>
              <a:t>反应组分的分压改变了5个数量级，仍不能改变反应的方向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4B440B8-07C4-4786-B8D6-9336190D1B05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4.2.2 </a:t>
            </a:r>
            <a:r>
              <a:rPr lang="zh-CN" altLang="en-US" kern="0"/>
              <a:t>平衡常数与</a:t>
            </a:r>
            <a:r>
              <a:rPr lang="en-US" altLang="zh-CN" kern="0"/>
              <a:t>Gibbs</a:t>
            </a:r>
            <a:r>
              <a:rPr lang="zh-CN" altLang="en-US" kern="0"/>
              <a:t>自由能变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265475-A6BD-4AE6-98BD-3944780A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24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667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981000"/>
                <a:ext cx="8581854" cy="943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buNone/>
                </a:pP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用标准状态下的数据来判断非标态下的反应：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4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+ </m:t>
                    </m:r>
                  </m:oMath>
                </a14:m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2.30</a:t>
                </a:r>
                <a:r>
                  <a:rPr lang="en-US" altLang="zh-CN" sz="2400" i="1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RT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lg</a:t>
                </a:r>
                <a:r>
                  <a:rPr lang="en-US" altLang="zh-CN" sz="2400" i="1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Q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981000"/>
                <a:ext cx="8581854" cy="943207"/>
              </a:xfrm>
              <a:prstGeom prst="rect">
                <a:avLst/>
              </a:prstGeom>
              <a:blipFill>
                <a:blip r:embed="rId2"/>
                <a:stretch>
                  <a:fillRect l="-1065" t="-7097" b="-1354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2133000"/>
                <a:ext cx="8581854" cy="8570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当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 &gt;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40 kJ</a:t>
                </a:r>
                <a:r>
                  <a:rPr lang="en-US" altLang="zh-CN" sz="2400" dirty="0">
                    <a:latin typeface="+mn-lt"/>
                    <a:ea typeface="+mn-ea"/>
                  </a:rPr>
                  <a:t>/</a:t>
                </a:r>
                <a:r>
                  <a:rPr lang="zh-CN" altLang="en-US" sz="2400" dirty="0">
                    <a:latin typeface="+mn-lt"/>
                    <a:ea typeface="+mn-ea"/>
                  </a:rPr>
                  <a:t>mol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时，标态反应非自发，改变反应条件时</a:t>
                </a:r>
                <a:endParaRPr lang="en-US" altLang="zh-CN" sz="2400" dirty="0">
                  <a:latin typeface="+mn-lt"/>
                  <a:ea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（如例题中的分压变化5个数量级），仍然很难使反应自发；</a:t>
                </a:r>
              </a:p>
            </p:txBody>
          </p:sp>
        </mc:Choice>
        <mc:Fallback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2133000"/>
                <a:ext cx="8581854" cy="857094"/>
              </a:xfrm>
              <a:prstGeom prst="rect">
                <a:avLst/>
              </a:prstGeom>
              <a:blipFill>
                <a:blip r:embed="rId3"/>
                <a:stretch>
                  <a:fillRect l="-1065" t="-4965" b="-1560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3213000"/>
                <a:ext cx="8581854" cy="8570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当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+mn-lt"/>
                    <a:ea typeface="+mn-ea"/>
                  </a:rPr>
                  <a:t> &lt; -</a:t>
                </a:r>
                <a:r>
                  <a:rPr lang="zh-CN" altLang="en-US" sz="2400" dirty="0">
                    <a:latin typeface="+mn-lt"/>
                    <a:ea typeface="+mn-ea"/>
                  </a:rPr>
                  <a:t>40 k</a:t>
                </a:r>
                <a:r>
                  <a:rPr lang="en-US" altLang="zh-CN" sz="2400" dirty="0">
                    <a:latin typeface="+mn-lt"/>
                    <a:ea typeface="+mn-ea"/>
                  </a:rPr>
                  <a:t>J</a:t>
                </a:r>
                <a:r>
                  <a:rPr lang="zh-CN" altLang="en-US" sz="2400" dirty="0">
                    <a:latin typeface="+mn-lt"/>
                    <a:ea typeface="+mn-ea"/>
                  </a:rPr>
                  <a:t>/mol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时，标态反应自发，改变反应条件时，反应依旧自发（一般情况下）；</a:t>
                </a:r>
              </a:p>
            </p:txBody>
          </p:sp>
        </mc:Choice>
        <mc:Fallback xmlns="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3213000"/>
                <a:ext cx="8581854" cy="857094"/>
              </a:xfrm>
              <a:prstGeom prst="rect">
                <a:avLst/>
              </a:prstGeom>
              <a:blipFill>
                <a:blip r:embed="rId4"/>
                <a:stretch>
                  <a:fillRect l="-1065" t="-4965" b="-127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4293000"/>
                <a:ext cx="8581854" cy="12961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当 40 kJ/mol &gt;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 &gt;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-40 k</a:t>
                </a:r>
                <a:r>
                  <a:rPr lang="en-US" altLang="zh-CN" sz="2400" dirty="0">
                    <a:latin typeface="+mn-lt"/>
                    <a:ea typeface="+mn-ea"/>
                  </a:rPr>
                  <a:t>J/</a:t>
                </a:r>
                <a:r>
                  <a:rPr lang="zh-CN" altLang="en-US" sz="2400" dirty="0">
                    <a:latin typeface="+mn-lt"/>
                    <a:ea typeface="+mn-ea"/>
                  </a:rPr>
                  <a:t>mol 时，改变反应条件，可能会使反应由自发到非自发间的相互转变。但主要由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来决定。</a:t>
                </a:r>
                <a:r>
                  <a:rPr lang="zh-CN" altLang="en-US" sz="2400" i="1" dirty="0">
                    <a:latin typeface="+mn-lt"/>
                    <a:ea typeface="+mn-ea"/>
                  </a:rPr>
                  <a:t>Q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的变化相对于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来说较小。</a:t>
                </a: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4293000"/>
                <a:ext cx="8581854" cy="1296124"/>
              </a:xfrm>
              <a:prstGeom prst="rect">
                <a:avLst/>
              </a:prstGeom>
              <a:blipFill>
                <a:blip r:embed="rId5"/>
                <a:stretch>
                  <a:fillRect l="-1065" t="-3286" r="-923" b="-657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>
            <a:extLst>
              <a:ext uri="{FF2B5EF4-FFF2-40B4-BE49-F238E27FC236}">
                <a16:creationId xmlns:a16="http://schemas.microsoft.com/office/drawing/2014/main" id="{36292BA1-130D-4D90-A3F1-06DECDEC43CC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4.2.2 </a:t>
            </a:r>
            <a:r>
              <a:rPr lang="zh-CN" altLang="en-US" kern="0"/>
              <a:t>平衡常数与</a:t>
            </a:r>
            <a:r>
              <a:rPr lang="en-US" altLang="zh-CN" kern="0"/>
              <a:t>Gibbs</a:t>
            </a:r>
            <a:r>
              <a:rPr lang="zh-CN" altLang="en-US" kern="0"/>
              <a:t>自由能变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9F8793-8DEE-4AA8-9845-A5A15327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25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447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45" y="45000"/>
            <a:ext cx="8605581" cy="431800"/>
          </a:xfrm>
        </p:spPr>
        <p:txBody>
          <a:bodyPr/>
          <a:lstStyle/>
          <a:p>
            <a:pPr algn="l" eaLnBrk="1" hangingPunct="1"/>
            <a:r>
              <a:rPr lang="en-US" altLang="zh-CN" sz="3200" dirty="0"/>
              <a:t>4.2.3 </a:t>
            </a:r>
            <a:r>
              <a:rPr lang="zh-CN" altLang="en-US" sz="3200" dirty="0"/>
              <a:t>多重平衡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8895DA8C-CBBC-46BF-9C57-93BCF75A1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981000"/>
            <a:ext cx="858185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latin typeface="+mn-lt"/>
                <a:ea typeface="+mn-ea"/>
              </a:rPr>
              <a:t>在一个平衡体系中，有若干个平衡同时存在时，一种物质可同时参与几个平衡，这种现象称多重平衡。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D1BBDA0E-4DDF-4A38-9ECB-922930B49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1917000"/>
            <a:ext cx="8581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dirty="0">
                <a:latin typeface="+mn-lt"/>
                <a:ea typeface="+mn-ea"/>
              </a:rPr>
              <a:t>例： 700 </a:t>
            </a:r>
            <a:r>
              <a:rPr lang="en-US" altLang="zh-CN" sz="2400" dirty="0">
                <a:latin typeface="+mn-lt"/>
                <a:ea typeface="+mn-ea"/>
              </a:rPr>
              <a:t>℃</a:t>
            </a:r>
            <a:r>
              <a:rPr lang="zh-CN" altLang="en-US" sz="2400" dirty="0">
                <a:latin typeface="+mn-lt"/>
                <a:ea typeface="+mn-ea"/>
              </a:rPr>
              <a:t>时：</a:t>
            </a:r>
            <a:endParaRPr lang="en-US" altLang="zh-CN" sz="2400" dirty="0">
              <a:latin typeface="+mn-lt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4005000"/>
                <a:ext cx="8581854" cy="1259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	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反应（3）= 反应（1）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+ 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反应（2）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   </a:t>
                </a:r>
                <a:r>
                  <a:rPr lang="zh-CN" altLang="en-US" sz="2400" i="1" dirty="0">
                    <a:solidFill>
                      <a:srgbClr val="0066FF"/>
                    </a:solidFill>
                    <a:latin typeface="+mn-lt"/>
                    <a:ea typeface="+mn-ea"/>
                    <a:sym typeface="+mn-ea"/>
                  </a:rPr>
                  <a:t>G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sym typeface="+mn-ea"/>
                  </a:rPr>
                  <a:t>是状态函数</a:t>
                </a:r>
                <a:endParaRPr lang="zh-CN" altLang="en-US" sz="2400" dirty="0">
                  <a:solidFill>
                    <a:srgbClr val="0066FF"/>
                  </a:solidFill>
                  <a:latin typeface="+mn-lt"/>
                  <a:ea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0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0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+ 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0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 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即</a:t>
                </a:r>
              </a:p>
              <a:p>
                <a:pPr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0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−2.30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𝑅𝑇</m:t>
                      </m:r>
                      <m:r>
                        <m:rPr>
                          <m:sty m:val="p"/>
                        </m:rPr>
                        <a:rPr lang="en-US" altLang="zh-CN" sz="2400" i="0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lg</m:t>
                      </m:r>
                      <m:r>
                        <a:rPr lang="en-US" altLang="zh-CN" sz="2400" i="0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0" dirty="0" smtClean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0" dirty="0" smtClean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θ</m:t>
                          </m:r>
                        </m:sup>
                      </m:sSubSup>
                      <m:r>
                        <a:rPr lang="en-US" altLang="zh-CN" sz="2400" i="0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) = −2.30</m:t>
                      </m:r>
                      <m:r>
                        <m:rPr>
                          <m:sty m:val="p"/>
                        </m:rPr>
                        <a:rPr lang="en-US" altLang="zh-CN" sz="2400" i="0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RTlg</m:t>
                      </m:r>
                      <m:r>
                        <a:rPr lang="en-US" altLang="zh-CN" sz="2400" i="0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0" dirty="0" smtClean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0" dirty="0" smtClean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θ</m:t>
                          </m:r>
                        </m:sup>
                      </m:sSubSup>
                      <m:r>
                        <a:rPr lang="en-US" altLang="zh-CN" sz="2400" i="0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) + −2.30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𝑅𝑇</m:t>
                      </m:r>
                      <m:r>
                        <m:rPr>
                          <m:sty m:val="p"/>
                        </m:rPr>
                        <a:rPr lang="en-US" altLang="zh-CN" sz="2400" i="0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lg</m:t>
                      </m:r>
                      <m:r>
                        <a:rPr lang="en-US" altLang="zh-CN" sz="2400" i="0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2400" i="1" dirty="0" smtClean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0" dirty="0" smtClean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0" dirty="0" smtClean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θ</m:t>
                          </m:r>
                        </m:sup>
                      </m:sSubSup>
                      <m:r>
                        <a:rPr lang="en-US" altLang="zh-CN" sz="2400" i="0" smtClean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4005000"/>
                <a:ext cx="8581854" cy="1259576"/>
              </a:xfrm>
              <a:prstGeom prst="rect">
                <a:avLst/>
              </a:prstGeom>
              <a:blipFill>
                <a:blip r:embed="rId2"/>
                <a:stretch>
                  <a:fillRect t="-53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322" y="5226902"/>
                <a:ext cx="8581854" cy="1226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24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0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0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θ</m:t>
                          </m:r>
                        </m:sup>
                      </m:sSubSup>
                      <m:r>
                        <a:rPr lang="en-US" altLang="zh-CN" sz="2400" i="0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  <a:sym typeface="+mn-ea"/>
                        </a:rPr>
                        <m:t> = </m:t>
                      </m:r>
                      <m:sSubSup>
                        <m:sSubSupPr>
                          <m:ctrlPr>
                            <a:rPr lang="en-US" altLang="zh-CN" sz="24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24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0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0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θ</m:t>
                          </m:r>
                        </m:sup>
                      </m:sSubSup>
                      <m:r>
                        <a:rPr lang="en-US" altLang="zh-CN" sz="2400" i="0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  <a:sym typeface="+mn-ea"/>
                        </a:rPr>
                        <m:t> × </m:t>
                      </m:r>
                      <m:sSubSup>
                        <m:sSubSupPr>
                          <m:ctrlPr>
                            <a:rPr lang="en-US" altLang="zh-CN" sz="24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SupPr>
                        <m:e>
                          <m:r>
                            <a:rPr lang="en-US" altLang="zh-CN" sz="24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i="0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0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θ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rgbClr val="0066FF"/>
                  </a:solidFill>
                  <a:latin typeface="+mn-lt"/>
                  <a:ea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+mn-lt"/>
                    <a:ea typeface="+mn-ea"/>
                  </a:rPr>
                  <a:t>若干反应方程式相加（减）所得到的反应的平衡常数为这些反应的平衡常数之积（商）。</a:t>
                </a: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322" y="5226902"/>
                <a:ext cx="8581854" cy="1226490"/>
              </a:xfrm>
              <a:prstGeom prst="rect">
                <a:avLst/>
              </a:prstGeom>
              <a:blipFill>
                <a:blip r:embed="rId3"/>
                <a:stretch>
                  <a:fillRect l="-1136" b="-84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D82E65F6-17D3-4A87-A9EB-BCF3349AB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13" y="2421000"/>
            <a:ext cx="7588373" cy="151200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03D19A3-0E21-42F1-9487-CC59A86A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26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525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981000"/>
                <a:ext cx="8581854" cy="16691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例题：反应（</a:t>
                </a:r>
                <a:r>
                  <a:rPr lang="en-US" altLang="zh-CN" sz="2400" dirty="0">
                    <a:latin typeface="+mn-lt"/>
                    <a:ea typeface="+mn-ea"/>
                  </a:rPr>
                  <a:t>1</a:t>
                </a:r>
                <a:r>
                  <a:rPr lang="zh-CN" altLang="en-US" sz="2400" dirty="0">
                    <a:latin typeface="+mn-lt"/>
                    <a:ea typeface="+mn-ea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CO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)⇄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CO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O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=0.14(823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K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，反应（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2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CoO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)⇄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Co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O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=67(823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K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，试求在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823K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，反应（</a:t>
                </a:r>
                <a:r>
                  <a:rPr lang="en-US" altLang="zh-CN" sz="2400" dirty="0">
                    <a:latin typeface="+mn-lt"/>
                    <a:ea typeface="+mn-ea"/>
                    <a:cs typeface="Cambria Math" panose="02040503050406030204" pitchFamily="18" charset="0"/>
                  </a:rPr>
                  <a:t>3</a:t>
                </a:r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CoO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CO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)⇄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Co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CO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的平衡常数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981000"/>
                <a:ext cx="8581854" cy="1669111"/>
              </a:xfrm>
              <a:prstGeom prst="rect">
                <a:avLst/>
              </a:prstGeom>
              <a:blipFill>
                <a:blip r:embed="rId3"/>
                <a:stretch>
                  <a:fillRect l="-1065" t="-4015" b="-40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">
            <a:extLst>
              <a:ext uri="{FF2B5EF4-FFF2-40B4-BE49-F238E27FC236}">
                <a16:creationId xmlns:a16="http://schemas.microsoft.com/office/drawing/2014/main" id="{D1BBDA0E-4DDF-4A38-9ECB-922930B49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2925000"/>
            <a:ext cx="8581854" cy="57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  <a:ea typeface="+mn-ea"/>
                <a:cs typeface="Cambria Math" panose="02040503050406030204" pitchFamily="18" charset="0"/>
              </a:rPr>
              <a:t>解：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反应（3）= 反应（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-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反应（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  <a:sym typeface="+mn-ea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3789000"/>
                <a:ext cx="8581854" cy="10979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	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所以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  <a:sym typeface="+mn-ea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  <a:sym typeface="+mn-ea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  <a:sym typeface="+mn-ea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  <a:sym typeface="+mn-ea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den>
                    </m:f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/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  <a:sym typeface="+mn-ea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  <a:sym typeface="+mn-ea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O</m:t>
                            </m:r>
                          </m:sub>
                        </m:s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CO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𝑝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  <a:sym typeface="+mn-ea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  <a:sym typeface="+mn-ea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•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C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den>
                    </m:f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C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CO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400" dirty="0">
                  <a:solidFill>
                    <a:schemeClr val="tx1"/>
                  </a:solidFill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	= 67/0.14 = 4.8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  <a:ea typeface="+mn-ea"/>
                        <a:sym typeface="+mn-ea"/>
                      </a:rPr>
                      <m:t>×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10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3789000"/>
                <a:ext cx="8581854" cy="1097929"/>
              </a:xfrm>
              <a:prstGeom prst="rect">
                <a:avLst/>
              </a:prstGeom>
              <a:blipFill>
                <a:blip r:embed="rId4"/>
                <a:stretch>
                  <a:fillRect t="-556" b="-94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5301000"/>
                <a:ext cx="8581854" cy="4945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240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，用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CO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还原剂更</a:t>
                </a:r>
                <a:r>
                  <a:rPr lang="zh-CN" altLang="en-US" sz="2400" strike="sngStrike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容易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彻底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反应（热力学上更有利）</a:t>
                </a:r>
                <a:endParaRPr lang="zh-CN" altLang="en-US" sz="2400" dirty="0">
                  <a:solidFill>
                    <a:srgbClr val="0066FF"/>
                  </a:solidFill>
                  <a:latin typeface="+mn-lt"/>
                  <a:ea typeface="+mn-ea"/>
                </a:endParaRPr>
              </a:p>
            </p:txBody>
          </p:sp>
        </mc:Choice>
        <mc:Fallback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5301000"/>
                <a:ext cx="8581854" cy="494559"/>
              </a:xfrm>
              <a:prstGeom prst="rect">
                <a:avLst/>
              </a:prstGeom>
              <a:blipFill>
                <a:blip r:embed="rId5"/>
                <a:stretch>
                  <a:fillRect t="-13580" b="-222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>
            <a:extLst>
              <a:ext uri="{FF2B5EF4-FFF2-40B4-BE49-F238E27FC236}">
                <a16:creationId xmlns:a16="http://schemas.microsoft.com/office/drawing/2014/main" id="{D3083ED7-1B27-4DAF-BC97-5F868E4483C1}"/>
              </a:ext>
            </a:extLst>
          </p:cNvPr>
          <p:cNvSpPr txBox="1">
            <a:spLocks/>
          </p:cNvSpPr>
          <p:nvPr/>
        </p:nvSpPr>
        <p:spPr>
          <a:xfrm>
            <a:off x="257345" y="45000"/>
            <a:ext cx="8605581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/>
              <a:t>4.2.3 </a:t>
            </a:r>
            <a:r>
              <a:rPr lang="zh-CN" altLang="en-US" kern="0"/>
              <a:t>多重平衡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0674F7-F50C-4D47-A8F8-FD3269BA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27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527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E49B3F3-5298-43DE-9D7F-5EF6DB351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5200"/>
            <a:ext cx="8640000" cy="4318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化学反应的限度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内容占位符 6">
            <a:extLst>
              <a:ext uri="{FF2B5EF4-FFF2-40B4-BE49-F238E27FC236}">
                <a16:creationId xmlns:a16="http://schemas.microsoft.com/office/drawing/2014/main" id="{99691E94-4B8A-4972-90F2-07111A867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6129" y="1269000"/>
            <a:ext cx="4176000" cy="483638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00" dirty="0">
                <a:solidFill>
                  <a:schemeClr val="bg1">
                    <a:lumMod val="65000"/>
                  </a:schemeClr>
                </a:solidFill>
              </a:rPr>
              <a:t>4.0 </a:t>
            </a:r>
            <a:r>
              <a:rPr lang="zh-CN" altLang="en-US" sz="2600" dirty="0">
                <a:solidFill>
                  <a:schemeClr val="bg1">
                    <a:lumMod val="65000"/>
                  </a:schemeClr>
                </a:solidFill>
              </a:rPr>
              <a:t>引言</a:t>
            </a:r>
            <a:endParaRPr lang="en-US" altLang="zh-CN" sz="26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chemeClr val="bg1">
                    <a:lumMod val="65000"/>
                  </a:schemeClr>
                </a:solidFill>
              </a:rPr>
              <a:t>4</a:t>
            </a:r>
            <a:r>
              <a:rPr lang="zh-CN" altLang="en-US" sz="2600" dirty="0">
                <a:solidFill>
                  <a:schemeClr val="bg1">
                    <a:lumMod val="65000"/>
                  </a:schemeClr>
                </a:solidFill>
              </a:rPr>
              <a:t>.1</a:t>
            </a:r>
            <a:r>
              <a:rPr lang="en-US" altLang="zh-CN" sz="2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zh-CN" altLang="en-US" sz="2600" dirty="0">
                <a:solidFill>
                  <a:schemeClr val="bg1">
                    <a:lumMod val="65000"/>
                  </a:schemeClr>
                </a:solidFill>
              </a:rPr>
              <a:t>化学平衡及其特点</a:t>
            </a:r>
          </a:p>
          <a:p>
            <a:pPr marL="0" indent="0">
              <a:buNone/>
            </a:pPr>
            <a:r>
              <a:rPr lang="en-US" altLang="zh-CN" sz="2600" dirty="0">
                <a:solidFill>
                  <a:schemeClr val="bg1">
                    <a:lumMod val="65000"/>
                  </a:schemeClr>
                </a:solidFill>
              </a:rPr>
              <a:t>4</a:t>
            </a:r>
            <a:r>
              <a:rPr lang="zh-CN" altLang="en-US" sz="2600" dirty="0">
                <a:solidFill>
                  <a:schemeClr val="bg1">
                    <a:lumMod val="65000"/>
                  </a:schemeClr>
                </a:solidFill>
              </a:rPr>
              <a:t>.2</a:t>
            </a:r>
            <a:r>
              <a:rPr lang="en-US" altLang="zh-CN" sz="2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zh-CN" altLang="en-US" sz="2600" dirty="0">
                <a:solidFill>
                  <a:schemeClr val="bg1">
                    <a:lumMod val="65000"/>
                  </a:schemeClr>
                </a:solidFill>
              </a:rPr>
              <a:t>平衡常数与反应的限度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     4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.2.1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平衡常数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zh-CN" altLang="en-US" sz="2200" dirty="0">
                <a:solidFill>
                  <a:schemeClr val="bg1">
                    <a:lumMod val="65000"/>
                  </a:schemeClr>
                </a:solidFill>
              </a:rPr>
              <a:t>1）实验平衡常数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zh-CN" altLang="en-US" sz="2200" dirty="0">
                <a:solidFill>
                  <a:schemeClr val="bg1">
                    <a:lumMod val="65000"/>
                  </a:schemeClr>
                </a:solidFill>
              </a:rPr>
              <a:t>2）标准平衡常数</a:t>
            </a:r>
          </a:p>
          <a:p>
            <a:pPr marL="0" indent="0">
              <a:buNone/>
            </a:pPr>
            <a:r>
              <a:rPr lang="en-US" altLang="zh-CN" sz="2200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zh-CN" altLang="en-US" sz="2200" dirty="0">
                <a:solidFill>
                  <a:schemeClr val="bg1">
                    <a:lumMod val="65000"/>
                  </a:schemeClr>
                </a:solidFill>
              </a:rPr>
              <a:t>3）书写平衡常数时要注意的事项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      4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.2.2 平衡常数与Gibbs自由能变</a:t>
            </a:r>
            <a:endParaRPr lang="en-US" altLang="zh-CN" sz="24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      1）用热力学数据求算K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     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endParaRPr lang="zh-CN" altLang="en-US" sz="2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196" name="内容占位符 7">
            <a:extLst>
              <a:ext uri="{FF2B5EF4-FFF2-40B4-BE49-F238E27FC236}">
                <a16:creationId xmlns:a16="http://schemas.microsoft.com/office/drawing/2014/main" id="{1CF51499-1C55-4347-B9F9-783F2E082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28000" y="1926010"/>
            <a:ext cx="4464000" cy="4032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           2）Q的引入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3）化学反应方向的判断</a:t>
            </a:r>
            <a:endParaRPr lang="en-US" altLang="zh-CN" sz="24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	4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）化学反应限度的判断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     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     4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.2.3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多重平衡</a:t>
            </a:r>
            <a:endParaRPr lang="en-US" altLang="zh-CN" sz="24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600" dirty="0">
                <a:solidFill>
                  <a:srgbClr val="0066FF"/>
                </a:solidFill>
              </a:rPr>
              <a:t>4</a:t>
            </a:r>
            <a:r>
              <a:rPr lang="zh-CN" altLang="en-US" sz="2600" dirty="0">
                <a:solidFill>
                  <a:srgbClr val="0066FF"/>
                </a:solidFill>
              </a:rPr>
              <a:t>.3</a:t>
            </a:r>
            <a:r>
              <a:rPr lang="en-US" altLang="zh-CN" sz="2600" dirty="0">
                <a:solidFill>
                  <a:srgbClr val="0066FF"/>
                </a:solidFill>
              </a:rPr>
              <a:t> </a:t>
            </a:r>
            <a:r>
              <a:rPr lang="zh-CN" altLang="en-US" sz="2600" dirty="0">
                <a:solidFill>
                  <a:srgbClr val="0066FF"/>
                </a:solidFill>
              </a:rPr>
              <a:t>化学平衡的移动</a:t>
            </a:r>
            <a:endParaRPr lang="en-US" altLang="zh-CN" sz="2600" dirty="0">
              <a:solidFill>
                <a:srgbClr val="0066FF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.3.1 浓度对化学平衡的影响</a:t>
            </a: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.3.2</a:t>
            </a:r>
            <a:r>
              <a:rPr lang="en-US" altLang="zh-CN" sz="2400" dirty="0"/>
              <a:t> </a:t>
            </a:r>
            <a:r>
              <a:rPr lang="zh-CN" altLang="en-US" sz="2400" dirty="0"/>
              <a:t>压力对化学平衡的影响</a:t>
            </a:r>
          </a:p>
          <a:p>
            <a:pPr marL="0" indent="0">
              <a:buNone/>
            </a:pPr>
            <a:r>
              <a:rPr lang="en-US" altLang="zh-CN" sz="2400" dirty="0"/>
              <a:t>     4</a:t>
            </a:r>
            <a:r>
              <a:rPr lang="zh-CN" altLang="en-US" sz="2400" dirty="0"/>
              <a:t>.3.3</a:t>
            </a:r>
            <a:r>
              <a:rPr lang="en-US" altLang="zh-CN" sz="2400" dirty="0"/>
              <a:t> </a:t>
            </a:r>
            <a:r>
              <a:rPr lang="zh-CN" altLang="en-US" sz="2400" dirty="0"/>
              <a:t>温度对化学平衡的影响</a:t>
            </a:r>
          </a:p>
          <a:p>
            <a:pPr marL="0" indent="0">
              <a:buNone/>
            </a:pPr>
            <a:r>
              <a:rPr lang="en-US" altLang="zh-CN" sz="2400" dirty="0"/>
              <a:t>     </a:t>
            </a:r>
            <a:r>
              <a:rPr lang="zh-CN" altLang="en-US" sz="2400" dirty="0"/>
              <a:t>4.3.4</a:t>
            </a:r>
            <a:r>
              <a:rPr lang="en-US" altLang="zh-CN" sz="2400" dirty="0"/>
              <a:t> </a:t>
            </a:r>
            <a:r>
              <a:rPr lang="zh-CN" altLang="en-US" sz="2400" dirty="0"/>
              <a:t>化学平衡移动原理</a:t>
            </a:r>
          </a:p>
          <a:p>
            <a:pPr marL="0" indent="0" eaLnBrk="1" hangingPunct="1">
              <a:buFontTx/>
              <a:buNone/>
            </a:pPr>
            <a:endParaRPr lang="zh-CN" altLang="en-US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2AF3E6-3A1A-4A6F-96B1-80ABF071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28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7937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46" y="45000"/>
            <a:ext cx="8634654" cy="431800"/>
          </a:xfrm>
        </p:spPr>
        <p:txBody>
          <a:bodyPr/>
          <a:lstStyle/>
          <a:p>
            <a:pPr algn="l" eaLnBrk="1" hangingPunct="1"/>
            <a:r>
              <a:rPr lang="en-US" altLang="zh-CN" sz="3200" dirty="0">
                <a:sym typeface="+mn-ea"/>
              </a:rPr>
              <a:t>4.3</a:t>
            </a:r>
            <a:r>
              <a:rPr lang="en-US" altLang="zh-CN" dirty="0">
                <a:sym typeface="+mn-ea"/>
              </a:rPr>
              <a:t>.1 </a:t>
            </a:r>
            <a:r>
              <a:rPr lang="zh-CN" altLang="en-US" dirty="0">
                <a:sym typeface="+mn-ea"/>
              </a:rPr>
              <a:t>浓度对</a:t>
            </a:r>
            <a:r>
              <a:rPr lang="zh-CN" altLang="en-US" sz="3200" dirty="0">
                <a:sym typeface="+mn-ea"/>
              </a:rPr>
              <a:t>化学平衡的影响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8895DA8C-CBBC-46BF-9C57-93BCF75A1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981000"/>
            <a:ext cx="858185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化学平衡的移动：</a:t>
            </a:r>
            <a:r>
              <a:rPr lang="zh-CN" altLang="en-US" sz="2400" dirty="0">
                <a:latin typeface="+mn-lt"/>
                <a:ea typeface="+mn-ea"/>
              </a:rPr>
              <a:t>外界条件改变时，体系从一个平衡状态变化到另外一个平衡状态的过程。 外界条件包括浓度、压力和温度等。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D1BBDA0E-4DDF-4A38-9ECB-922930B49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2421000"/>
            <a:ext cx="8581854" cy="57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</a:rPr>
              <a:t>4.3.1 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浓度对化学平衡的影响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2997000"/>
                <a:ext cx="8581854" cy="67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	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8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8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2.30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𝑅𝑇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lg</m:t>
                    </m:r>
                    <m:r>
                      <a:rPr lang="en-US" altLang="zh-CN" sz="28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𝑄</m:t>
                    </m:r>
                    <m:r>
                      <a:rPr lang="en-US" altLang="zh-CN" sz="28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8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2997000"/>
                <a:ext cx="8581854" cy="6797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3933000"/>
                <a:ext cx="8581854" cy="2421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</a:rPr>
                  <a:t>	</a:t>
                </a:r>
                <a:r>
                  <a:rPr lang="zh-CN" altLang="en-US" sz="2400" dirty="0">
                    <a:latin typeface="+mn-lt"/>
                    <a:ea typeface="+mn-ea"/>
                  </a:rPr>
                  <a:t>在一定温度下，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是定值，浓度变化即是</a:t>
                </a:r>
                <a:r>
                  <a:rPr lang="zh-CN" altLang="en-US" sz="2400" i="1" dirty="0">
                    <a:latin typeface="+mn-lt"/>
                    <a:ea typeface="+mn-ea"/>
                  </a:rPr>
                  <a:t>Q</a:t>
                </a:r>
                <a:r>
                  <a:rPr lang="zh-CN" altLang="en-US" sz="2400" dirty="0">
                    <a:latin typeface="+mn-lt"/>
                    <a:ea typeface="+mn-ea"/>
                  </a:rPr>
                  <a:t>的变化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</a:rPr>
                  <a:t>        </a:t>
                </a:r>
                <a:r>
                  <a:rPr lang="zh-CN" altLang="en-US" sz="2400" dirty="0">
                    <a:latin typeface="+mn-lt"/>
                    <a:ea typeface="+mn-ea"/>
                  </a:rPr>
                  <a:t>例如：反应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+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4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⇄ 2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HI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在713K时，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50.3</m:t>
                    </m:r>
                  </m:oMath>
                </a14:m>
                <a:endParaRPr lang="zh-CN" altLang="en-US" sz="2400" dirty="0">
                  <a:solidFill>
                    <a:srgbClr val="FF0000"/>
                  </a:solidFill>
                  <a:latin typeface="+mn-lt"/>
                  <a:ea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200" i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((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HI</m:t>
                              </m:r>
                              <m: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)/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 i="0"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200" i="0"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  <m: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((</m:t>
                          </m:r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)/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c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θ</m:t>
                              </m:r>
                            </m:sup>
                          </m:sSup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)•((</m:t>
                          </m:r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)/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c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θ</m:t>
                              </m:r>
                            </m:sup>
                          </m:sSup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200" i="0"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HI</m:t>
                              </m:r>
                              <m: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)•(</m:t>
                          </m:r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en-US" altLang="zh-CN" sz="2200" i="0"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200" i="0"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200" dirty="0">
                  <a:latin typeface="+mn-lt"/>
                  <a:ea typeface="+mn-ea"/>
                </a:endParaRPr>
              </a:p>
              <a:p>
                <a:pPr algn="ctr">
                  <a:spcBef>
                    <a:spcPts val="0"/>
                  </a:spcBef>
                  <a:buNone/>
                </a:pPr>
                <a:endParaRPr lang="zh-CN" altLang="en-US" sz="2400" dirty="0">
                  <a:solidFill>
                    <a:srgbClr val="0066FF"/>
                  </a:solidFill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3933000"/>
                <a:ext cx="8581854" cy="2421625"/>
              </a:xfrm>
              <a:prstGeom prst="rect">
                <a:avLst/>
              </a:prstGeom>
              <a:blipFill>
                <a:blip r:embed="rId3"/>
                <a:stretch>
                  <a:fillRect t="-22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4E439F-9C24-4123-91B4-D577461D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29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8519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346" y="693000"/>
                <a:ext cx="8634654" cy="1053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sz="2200" dirty="0">
                    <a:ea typeface="+mn-ea"/>
                    <a:cs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+ 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⇄ 2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HI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2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    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                         </m:t>
                    </m:r>
                    <m:sSub>
                      <m:sSub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=2.30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𝑅𝑇</m:t>
                    </m:r>
                    <m:r>
                      <m:rPr>
                        <m:sty m:val="p"/>
                      </m:rP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𝑄</m:t>
                    </m:r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  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sz="22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CN" sz="2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HI</m:t>
                            </m:r>
                            <m:r>
                              <a:rPr lang="en-US" altLang="zh-CN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)•(</m:t>
                        </m:r>
                        <m:sSub>
                          <m:sSubPr>
                            <m:ctrlPr>
                              <a:rPr lang="en-US" altLang="zh-CN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en-US" altLang="zh-CN" sz="2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                                                </m:t>
                    </m:r>
                    <m:sSubSup>
                      <m:sSubSup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2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=</m:t>
                    </m:r>
                    <m:sSubSup>
                      <m:sSubSup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2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=50.3</m:t>
                    </m:r>
                  </m:oMath>
                </a14:m>
                <a:endParaRPr lang="en-US" altLang="zh-CN" sz="2200" dirty="0">
                  <a:solidFill>
                    <a:srgbClr val="FF0000"/>
                  </a:solidFill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346" y="693000"/>
                <a:ext cx="8634654" cy="10536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">
            <a:extLst>
              <a:ext uri="{FF2B5EF4-FFF2-40B4-BE49-F238E27FC236}">
                <a16:creationId xmlns:a16="http://schemas.microsoft.com/office/drawing/2014/main" id="{D1BBDA0E-4DDF-4A38-9ECB-922930B49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146" y="5027350"/>
            <a:ext cx="85818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zh-CN" sz="2000" dirty="0">
                <a:latin typeface="+mn-lt"/>
                <a:ea typeface="+mn-ea"/>
              </a:rPr>
              <a:t> *</a:t>
            </a:r>
            <a:r>
              <a:rPr lang="zh-CN" altLang="en-US" sz="2000" dirty="0">
                <a:latin typeface="+mn-lt"/>
                <a:ea typeface="+mn-ea"/>
              </a:rPr>
              <a:t>转化率(</a:t>
            </a:r>
            <a:r>
              <a:rPr lang="en-US" altLang="zh-CN" sz="2000" dirty="0">
                <a:latin typeface="+mn-lt"/>
                <a:ea typeface="+mn-ea"/>
              </a:rPr>
              <a:t>α</a:t>
            </a:r>
            <a:r>
              <a:rPr lang="zh-CN" altLang="en-US" sz="2000" dirty="0">
                <a:latin typeface="+mn-lt"/>
                <a:ea typeface="+mn-ea"/>
              </a:rPr>
              <a:t>)=（反应掉的量/起始量）× 100 %</a:t>
            </a:r>
            <a:endParaRPr lang="zh-CN" altLang="en-US" sz="2000" dirty="0">
              <a:solidFill>
                <a:srgbClr val="0066FF"/>
              </a:solidFill>
              <a:latin typeface="+mn-lt"/>
              <a:ea typeface="+mn-ea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8CDD4296-B241-4625-AA59-4A51D9ECC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5445000"/>
            <a:ext cx="8581854" cy="1243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200" dirty="0">
                <a:latin typeface="+mn-lt"/>
                <a:ea typeface="+mn-ea"/>
              </a:rPr>
              <a:t>结论：</a:t>
            </a:r>
            <a:r>
              <a:rPr lang="en-US" altLang="zh-CN" sz="2200" dirty="0">
                <a:latin typeface="+mn-lt"/>
                <a:ea typeface="+mn-ea"/>
              </a:rPr>
              <a:t>	</a:t>
            </a:r>
            <a:r>
              <a:rPr lang="zh-CN" altLang="en-US" sz="2200" dirty="0">
                <a:latin typeface="+mn-lt"/>
                <a:ea typeface="+mn-ea"/>
              </a:rPr>
              <a:t>1</a:t>
            </a:r>
            <a:r>
              <a:rPr lang="en-US" altLang="zh-CN" sz="2200" dirty="0">
                <a:latin typeface="+mn-lt"/>
                <a:ea typeface="+mn-ea"/>
              </a:rPr>
              <a:t>. </a:t>
            </a:r>
            <a:r>
              <a:rPr lang="zh-CN" altLang="en-US" sz="2200" i="1" dirty="0">
                <a:latin typeface="+mn-lt"/>
                <a:ea typeface="+mn-ea"/>
              </a:rPr>
              <a:t>Q</a:t>
            </a:r>
            <a:r>
              <a:rPr lang="en-US" altLang="zh-CN" sz="2200" dirty="0">
                <a:latin typeface="+mn-lt"/>
                <a:ea typeface="+mn-ea"/>
              </a:rPr>
              <a:t>/</a:t>
            </a:r>
            <a:r>
              <a:rPr lang="zh-CN" altLang="en-US" sz="2200" dirty="0">
                <a:latin typeface="+mn-lt"/>
                <a:ea typeface="+mn-ea"/>
              </a:rPr>
              <a:t>K 的比值，决定反应进行的方向；</a:t>
            </a:r>
          </a:p>
          <a:p>
            <a:pPr>
              <a:buNone/>
            </a:pPr>
            <a:r>
              <a:rPr lang="zh-CN" altLang="en-US" sz="2200" dirty="0">
                <a:latin typeface="+mn-lt"/>
                <a:ea typeface="+mn-ea"/>
              </a:rPr>
              <a:t> </a:t>
            </a:r>
            <a:r>
              <a:rPr lang="en-US" altLang="zh-CN" sz="2200" dirty="0">
                <a:latin typeface="+mn-lt"/>
                <a:ea typeface="+mn-ea"/>
              </a:rPr>
              <a:t>	</a:t>
            </a:r>
            <a:r>
              <a:rPr lang="zh-CN" altLang="en-US" sz="2200" dirty="0">
                <a:latin typeface="+mn-lt"/>
                <a:ea typeface="+mn-ea"/>
              </a:rPr>
              <a:t>2</a:t>
            </a:r>
            <a:r>
              <a:rPr lang="en-US" altLang="zh-CN" sz="2200" dirty="0">
                <a:latin typeface="+mn-lt"/>
                <a:ea typeface="+mn-ea"/>
              </a:rPr>
              <a:t>. </a:t>
            </a:r>
            <a:r>
              <a:rPr lang="zh-CN" altLang="en-US" sz="2200" i="1" dirty="0">
                <a:latin typeface="+mn-lt"/>
                <a:ea typeface="+mn-ea"/>
              </a:rPr>
              <a:t>Q</a:t>
            </a:r>
            <a:r>
              <a:rPr lang="en-US" altLang="zh-CN" sz="2200" dirty="0">
                <a:latin typeface="+mn-lt"/>
                <a:ea typeface="+mn-ea"/>
              </a:rPr>
              <a:t> </a:t>
            </a:r>
            <a:r>
              <a:rPr lang="zh-CN" altLang="en-US" sz="2200" dirty="0">
                <a:latin typeface="+mn-lt"/>
                <a:ea typeface="+mn-ea"/>
              </a:rPr>
              <a:t>与</a:t>
            </a:r>
            <a:r>
              <a:rPr lang="en-US" altLang="zh-CN" sz="2200" dirty="0">
                <a:latin typeface="+mn-lt"/>
                <a:ea typeface="+mn-ea"/>
              </a:rPr>
              <a:t> </a:t>
            </a:r>
            <a:r>
              <a:rPr lang="zh-CN" altLang="en-US" sz="2200" i="1" dirty="0">
                <a:latin typeface="+mn-lt"/>
                <a:ea typeface="+mn-ea"/>
              </a:rPr>
              <a:t>K</a:t>
            </a:r>
            <a:r>
              <a:rPr lang="en-US" altLang="zh-CN" sz="2200" dirty="0">
                <a:latin typeface="+mn-lt"/>
                <a:ea typeface="+mn-ea"/>
              </a:rPr>
              <a:t> </a:t>
            </a:r>
            <a:r>
              <a:rPr lang="zh-CN" altLang="en-US" sz="2200" dirty="0">
                <a:latin typeface="+mn-lt"/>
                <a:ea typeface="+mn-ea"/>
              </a:rPr>
              <a:t>的差距，预示了平衡移动的多少；</a:t>
            </a:r>
          </a:p>
          <a:p>
            <a:pPr>
              <a:buNone/>
            </a:pPr>
            <a:r>
              <a:rPr lang="en-US" altLang="zh-CN" sz="2200" dirty="0">
                <a:latin typeface="+mn-lt"/>
                <a:ea typeface="+mn-ea"/>
              </a:rPr>
              <a:t>	</a:t>
            </a:r>
            <a:r>
              <a:rPr lang="zh-CN" altLang="en-US" sz="2200" dirty="0">
                <a:latin typeface="+mn-lt"/>
                <a:ea typeface="+mn-ea"/>
              </a:rPr>
              <a:t>3</a:t>
            </a:r>
            <a:r>
              <a:rPr lang="en-US" altLang="zh-CN" sz="2200" dirty="0">
                <a:latin typeface="+mn-lt"/>
                <a:ea typeface="+mn-ea"/>
              </a:rPr>
              <a:t>.</a:t>
            </a:r>
            <a:r>
              <a:rPr lang="zh-CN" altLang="en-US" sz="2200" dirty="0">
                <a:latin typeface="+mn-lt"/>
                <a:ea typeface="+mn-ea"/>
              </a:rPr>
              <a:t> 增加一种反应物的浓度，可提高另一种反应物的转化率。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4EBCFFF7-EB54-43C8-8407-C747CA753C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9828312"/>
                  </p:ext>
                </p:extLst>
              </p:nvPr>
            </p:nvGraphicFramePr>
            <p:xfrm>
              <a:off x="396000" y="1791000"/>
              <a:ext cx="8352000" cy="315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8756">
                      <a:extLst>
                        <a:ext uri="{9D8B030D-6E8A-4147-A177-3AD203B41FA5}">
                          <a16:colId xmlns:a16="http://schemas.microsoft.com/office/drawing/2014/main" val="2826654889"/>
                        </a:ext>
                      </a:extLst>
                    </a:gridCol>
                    <a:gridCol w="2785600">
                      <a:extLst>
                        <a:ext uri="{9D8B030D-6E8A-4147-A177-3AD203B41FA5}">
                          <a16:colId xmlns:a16="http://schemas.microsoft.com/office/drawing/2014/main" val="263246273"/>
                        </a:ext>
                      </a:extLst>
                    </a:gridCol>
                    <a:gridCol w="1315422">
                      <a:extLst>
                        <a:ext uri="{9D8B030D-6E8A-4147-A177-3AD203B41FA5}">
                          <a16:colId xmlns:a16="http://schemas.microsoft.com/office/drawing/2014/main" val="2592711474"/>
                        </a:ext>
                      </a:extLst>
                    </a:gridCol>
                    <a:gridCol w="928533">
                      <a:extLst>
                        <a:ext uri="{9D8B030D-6E8A-4147-A177-3AD203B41FA5}">
                          <a16:colId xmlns:a16="http://schemas.microsoft.com/office/drawing/2014/main" val="2300619493"/>
                        </a:ext>
                      </a:extLst>
                    </a:gridCol>
                    <a:gridCol w="1005911">
                      <a:extLst>
                        <a:ext uri="{9D8B030D-6E8A-4147-A177-3AD203B41FA5}">
                          <a16:colId xmlns:a16="http://schemas.microsoft.com/office/drawing/2014/main" val="839914601"/>
                        </a:ext>
                      </a:extLst>
                    </a:gridCol>
                    <a:gridCol w="1467778">
                      <a:extLst>
                        <a:ext uri="{9D8B030D-6E8A-4147-A177-3AD203B41FA5}">
                          <a16:colId xmlns:a16="http://schemas.microsoft.com/office/drawing/2014/main" val="204146436"/>
                        </a:ext>
                      </a:extLst>
                    </a:gridCol>
                  </a:tblGrid>
                  <a:tr h="86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i="0" dirty="0">
                              <a:solidFill>
                                <a:schemeClr val="tx1"/>
                              </a:solidFill>
                            </a:rPr>
                            <a:t>状态</a:t>
                          </a:r>
                        </a:p>
                      </a:txBody>
                      <a:tcPr anchor="ctr"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i="0" dirty="0">
                              <a:solidFill>
                                <a:schemeClr val="tx1"/>
                              </a:solidFill>
                            </a:rPr>
                            <a:t>  起始浓度（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mol</m:t>
                              </m:r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dm</m:t>
                                  </m:r>
                                </m:e>
                                <m:sup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000" b="0" i="0" dirty="0">
                              <a:solidFill>
                                <a:schemeClr val="tx1"/>
                              </a:solidFill>
                            </a:rPr>
                            <a:t>）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US" altLang="zh-CN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      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  [</m:t>
                                  </m:r>
                                  <m:sSub>
                                    <m:sSubPr>
                                      <m:ctrlPr>
                                        <a:rPr lang="en-US" altLang="zh-CN" sz="20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en-US" altLang="zh-CN" sz="2000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    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   [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HI</m:t>
                                  </m:r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zh-CN" altLang="en-US" sz="20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r>
                            <a:rPr lang="zh-CN" altLang="en-US" sz="2000" b="0" i="0" dirty="0">
                              <a:solidFill>
                                <a:schemeClr val="tx1"/>
                              </a:solidFill>
                            </a:rPr>
                            <a:t>与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endParaRPr lang="zh-CN" altLang="en-US" sz="20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i="0" dirty="0">
                              <a:solidFill>
                                <a:schemeClr val="tx1"/>
                              </a:solidFill>
                            </a:rPr>
                            <a:t>自发反应方向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i="0" dirty="0">
                              <a:solidFill>
                                <a:schemeClr val="tx1"/>
                              </a:solidFill>
                            </a:rPr>
                            <a:t>转化率</a:t>
                          </a:r>
                          <a:r>
                            <a:rPr lang="en-US" altLang="zh-CN" sz="2000" b="0" i="0" dirty="0">
                              <a:solidFill>
                                <a:schemeClr val="tx1"/>
                              </a:solidFill>
                            </a:rPr>
                            <a:t>(%)*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b="0" i="0" dirty="0">
                              <a:solidFill>
                                <a:schemeClr val="tx1"/>
                              </a:solidFill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92353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（</a:t>
                          </a:r>
                          <a:r>
                            <a:rPr lang="en-US" altLang="zh-CN" sz="2000" i="0" dirty="0"/>
                            <a:t>1</a:t>
                          </a:r>
                          <a:r>
                            <a:rPr lang="zh-CN" altLang="en-US" sz="2000" i="0" dirty="0"/>
                            <a:t>）</a:t>
                          </a:r>
                        </a:p>
                      </a:txBody>
                      <a:tcPr anchor="ctr"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0066FF"/>
                              </a:solidFill>
                            </a:rPr>
                            <a:t>1.00       1.00       1.00</a:t>
                          </a:r>
                          <a:endParaRPr lang="zh-CN" altLang="en-US" sz="2000" i="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FF0000"/>
                              </a:solidFill>
                            </a:rPr>
                            <a:t>1.00</a:t>
                          </a:r>
                          <a:endParaRPr lang="zh-CN" altLang="en-US" sz="200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zh-CN" altLang="en-US" sz="20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正向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/>
                            <a:t>67       67</a:t>
                          </a:r>
                          <a:endParaRPr lang="zh-CN" altLang="en-US" sz="2000" i="0" dirty="0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67176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（</a:t>
                          </a:r>
                          <a:r>
                            <a:rPr lang="en-US" altLang="zh-CN" sz="2000" i="0" dirty="0"/>
                            <a:t>2</a:t>
                          </a:r>
                          <a:r>
                            <a:rPr lang="zh-CN" altLang="en-US" sz="2000" i="0" dirty="0"/>
                            <a:t>）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0066FF"/>
                              </a:solidFill>
                            </a:rPr>
                            <a:t>1.00       1.00      0.001</a:t>
                          </a:r>
                          <a:endParaRPr lang="zh-CN" altLang="en-US" sz="2000" i="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a:t>1.0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2000" i="0" smtClean="0">
                                  <a:latin typeface="Cambria Math" panose="02040503050406030204" pitchFamily="18" charset="0"/>
                                  <a:sym typeface="+mn-ea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zh-CN" altLang="en-US" sz="20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0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sz="2000" b="0" i="0" smtClean="0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−6</m:t>
                                  </m:r>
                                </m:sup>
                              </m:sSup>
                            </m:oMath>
                          </a14:m>
                          <a:endParaRPr lang="zh-CN" altLang="en-US" sz="2000" i="0" dirty="0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oMath>
                            </m:oMathPara>
                          </a14:m>
                          <a:endParaRPr lang="zh-CN" altLang="en-US" sz="2000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正向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/>
                            <a:t>78       78</a:t>
                          </a:r>
                          <a:endParaRPr lang="zh-CN" altLang="en-US" sz="2000" i="0" dirty="0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686097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>
                              <a:solidFill>
                                <a:srgbClr val="FF0000"/>
                              </a:solidFill>
                            </a:rPr>
                            <a:t>（</a:t>
                          </a:r>
                          <a:r>
                            <a:rPr lang="en-US" altLang="zh-CN" sz="2000" i="0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r>
                            <a:rPr lang="zh-CN" altLang="en-US" sz="2000" i="0" dirty="0">
                              <a:solidFill>
                                <a:srgbClr val="FF0000"/>
                              </a:solidFill>
                            </a:rPr>
                            <a:t>）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FF0000"/>
                              </a:solidFill>
                            </a:rPr>
                            <a:t>0.22       0.22       1.56</a:t>
                          </a:r>
                          <a:endParaRPr lang="zh-CN" altLang="en-US" sz="200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FF0000"/>
                              </a:solidFill>
                            </a:rPr>
                            <a:t>50.3</a:t>
                          </a:r>
                          <a:endParaRPr lang="zh-CN" altLang="en-US" sz="200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0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zh-CN" altLang="en-US" sz="2000" b="0" i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>
                              <a:solidFill>
                                <a:srgbClr val="FF0000"/>
                              </a:solidFill>
                            </a:rPr>
                            <a:t>平衡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FF0000"/>
                              </a:solidFill>
                            </a:rPr>
                            <a:t>0        0</a:t>
                          </a:r>
                          <a:endParaRPr lang="zh-CN" altLang="en-US" sz="200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572233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（</a:t>
                          </a:r>
                          <a:r>
                            <a:rPr lang="en-US" altLang="zh-CN" sz="2000" i="0" dirty="0"/>
                            <a:t>4</a:t>
                          </a:r>
                          <a:r>
                            <a:rPr lang="zh-CN" altLang="en-US" sz="2000" i="0" dirty="0"/>
                            <a:t>）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/>
                            <a:t>0.22       0.22       </a:t>
                          </a:r>
                          <a:r>
                            <a:rPr lang="en-US" altLang="zh-CN" sz="2000" i="0" dirty="0">
                              <a:solidFill>
                                <a:srgbClr val="FF0000"/>
                              </a:solidFill>
                            </a:rPr>
                            <a:t>2.56</a:t>
                          </a:r>
                          <a:endParaRPr lang="zh-CN" altLang="en-US" sz="200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/>
                            <a:t>135</a:t>
                          </a:r>
                          <a:endParaRPr lang="zh-CN" altLang="en-US" sz="2000" i="0" dirty="0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zh-CN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zh-CN" altLang="en-US" sz="20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逆向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 ？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477772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（</a:t>
                          </a:r>
                          <a:r>
                            <a:rPr lang="en-US" altLang="zh-CN" sz="2000" i="0" dirty="0"/>
                            <a:t>5</a:t>
                          </a:r>
                          <a:r>
                            <a:rPr lang="zh-CN" altLang="en-US" sz="2000" i="0" dirty="0"/>
                            <a:t>）</a:t>
                          </a:r>
                        </a:p>
                      </a:txBody>
                      <a:tcPr anchor="ctr"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0066FF"/>
                              </a:solidFill>
                            </a:rPr>
                            <a:t>1.22   </a:t>
                          </a:r>
                          <a:r>
                            <a:rPr lang="en-US" altLang="zh-CN" sz="2000" i="0" dirty="0"/>
                            <a:t>    0.22       1.56</a:t>
                          </a:r>
                          <a:endParaRPr lang="zh-CN" altLang="en-US" sz="2000" i="0" dirty="0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/>
                            <a:t>9.07</a:t>
                          </a:r>
                          <a:endParaRPr lang="zh-CN" altLang="en-US" sz="2000" i="0" dirty="0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zh-CN" altLang="en-US" sz="2000" b="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正向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0066FF"/>
                              </a:solidFill>
                            </a:rPr>
                            <a:t>13       73</a:t>
                          </a:r>
                          <a:endParaRPr lang="zh-CN" altLang="en-US" sz="2000" i="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58391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4EBCFFF7-EB54-43C8-8407-C747CA753C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9828312"/>
                  </p:ext>
                </p:extLst>
              </p:nvPr>
            </p:nvGraphicFramePr>
            <p:xfrm>
              <a:off x="396000" y="1791000"/>
              <a:ext cx="8352000" cy="315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8756">
                      <a:extLst>
                        <a:ext uri="{9D8B030D-6E8A-4147-A177-3AD203B41FA5}">
                          <a16:colId xmlns:a16="http://schemas.microsoft.com/office/drawing/2014/main" val="2826654889"/>
                        </a:ext>
                      </a:extLst>
                    </a:gridCol>
                    <a:gridCol w="2785600">
                      <a:extLst>
                        <a:ext uri="{9D8B030D-6E8A-4147-A177-3AD203B41FA5}">
                          <a16:colId xmlns:a16="http://schemas.microsoft.com/office/drawing/2014/main" val="263246273"/>
                        </a:ext>
                      </a:extLst>
                    </a:gridCol>
                    <a:gridCol w="1315422">
                      <a:extLst>
                        <a:ext uri="{9D8B030D-6E8A-4147-A177-3AD203B41FA5}">
                          <a16:colId xmlns:a16="http://schemas.microsoft.com/office/drawing/2014/main" val="2592711474"/>
                        </a:ext>
                      </a:extLst>
                    </a:gridCol>
                    <a:gridCol w="928533">
                      <a:extLst>
                        <a:ext uri="{9D8B030D-6E8A-4147-A177-3AD203B41FA5}">
                          <a16:colId xmlns:a16="http://schemas.microsoft.com/office/drawing/2014/main" val="2300619493"/>
                        </a:ext>
                      </a:extLst>
                    </a:gridCol>
                    <a:gridCol w="1005911">
                      <a:extLst>
                        <a:ext uri="{9D8B030D-6E8A-4147-A177-3AD203B41FA5}">
                          <a16:colId xmlns:a16="http://schemas.microsoft.com/office/drawing/2014/main" val="839914601"/>
                        </a:ext>
                      </a:extLst>
                    </a:gridCol>
                    <a:gridCol w="1467778">
                      <a:extLst>
                        <a:ext uri="{9D8B030D-6E8A-4147-A177-3AD203B41FA5}">
                          <a16:colId xmlns:a16="http://schemas.microsoft.com/office/drawing/2014/main" val="204146436"/>
                        </a:ext>
                      </a:extLst>
                    </a:gridCol>
                  </a:tblGrid>
                  <a:tr h="86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i="0" dirty="0">
                              <a:solidFill>
                                <a:schemeClr val="tx1"/>
                              </a:solidFill>
                            </a:rPr>
                            <a:t>状态</a:t>
                          </a:r>
                        </a:p>
                      </a:txBody>
                      <a:tcPr anchor="ctr"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568" t="-704" r="-169651" b="-2746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6852" t="-704" r="-259722" b="-2746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32026" t="-704" r="-266667" b="-2746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0" i="0" dirty="0">
                              <a:solidFill>
                                <a:schemeClr val="tx1"/>
                              </a:solidFill>
                            </a:rPr>
                            <a:t>自发反应方向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69710" t="-704" r="-830" b="-2746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923533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（</a:t>
                          </a:r>
                          <a:r>
                            <a:rPr lang="en-US" altLang="zh-CN" sz="2000" i="0" dirty="0"/>
                            <a:t>1</a:t>
                          </a:r>
                          <a:r>
                            <a:rPr lang="zh-CN" altLang="en-US" sz="2000" i="0" dirty="0"/>
                            <a:t>）</a:t>
                          </a:r>
                        </a:p>
                      </a:txBody>
                      <a:tcPr anchor="ctr"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0066FF"/>
                              </a:solidFill>
                            </a:rPr>
                            <a:t>1.00       1.00       1.00</a:t>
                          </a:r>
                          <a:endParaRPr lang="zh-CN" altLang="en-US" sz="2000" i="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FF0000"/>
                              </a:solidFill>
                            </a:rPr>
                            <a:t>1.00</a:t>
                          </a:r>
                          <a:endParaRPr lang="zh-CN" altLang="en-US" sz="200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32026" t="-190667" r="-266667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正向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/>
                            <a:t>67       67</a:t>
                          </a:r>
                          <a:endParaRPr lang="zh-CN" altLang="en-US" sz="2000" i="0" dirty="0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67176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（</a:t>
                          </a:r>
                          <a:r>
                            <a:rPr lang="en-US" altLang="zh-CN" sz="2000" i="0" dirty="0"/>
                            <a:t>2</a:t>
                          </a:r>
                          <a:r>
                            <a:rPr lang="zh-CN" altLang="en-US" sz="2000" i="0" dirty="0"/>
                            <a:t>）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0066FF"/>
                              </a:solidFill>
                            </a:rPr>
                            <a:t>1.00       1.00      0.001</a:t>
                          </a:r>
                          <a:endParaRPr lang="zh-CN" altLang="en-US" sz="2000" i="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6852" t="-290667" r="-259722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32026" t="-290667" r="-266667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正向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/>
                            <a:t>78       78</a:t>
                          </a:r>
                          <a:endParaRPr lang="zh-CN" altLang="en-US" sz="2000" i="0" dirty="0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686097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>
                              <a:solidFill>
                                <a:srgbClr val="FF0000"/>
                              </a:solidFill>
                            </a:rPr>
                            <a:t>（</a:t>
                          </a:r>
                          <a:r>
                            <a:rPr lang="en-US" altLang="zh-CN" sz="2000" i="0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r>
                            <a:rPr lang="zh-CN" altLang="en-US" sz="2000" i="0" dirty="0">
                              <a:solidFill>
                                <a:srgbClr val="FF0000"/>
                              </a:solidFill>
                            </a:rPr>
                            <a:t>）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FF0000"/>
                              </a:solidFill>
                            </a:rPr>
                            <a:t>0.22       0.22       1.56</a:t>
                          </a:r>
                          <a:endParaRPr lang="zh-CN" altLang="en-US" sz="200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FF0000"/>
                              </a:solidFill>
                            </a:rPr>
                            <a:t>50.3</a:t>
                          </a:r>
                          <a:endParaRPr lang="zh-CN" altLang="en-US" sz="200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32026" t="-385526" r="-266667" b="-2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>
                              <a:solidFill>
                                <a:srgbClr val="FF0000"/>
                              </a:solidFill>
                            </a:rPr>
                            <a:t>平衡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FF0000"/>
                              </a:solidFill>
                            </a:rPr>
                            <a:t>0        0</a:t>
                          </a:r>
                          <a:endParaRPr lang="zh-CN" altLang="en-US" sz="200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572233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（</a:t>
                          </a:r>
                          <a:r>
                            <a:rPr lang="en-US" altLang="zh-CN" sz="2000" i="0" dirty="0"/>
                            <a:t>4</a:t>
                          </a:r>
                          <a:r>
                            <a:rPr lang="zh-CN" altLang="en-US" sz="2000" i="0" dirty="0"/>
                            <a:t>）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/>
                            <a:t>0.22       0.22       </a:t>
                          </a:r>
                          <a:r>
                            <a:rPr lang="en-US" altLang="zh-CN" sz="2000" i="0" dirty="0">
                              <a:solidFill>
                                <a:srgbClr val="FF0000"/>
                              </a:solidFill>
                            </a:rPr>
                            <a:t>2.56</a:t>
                          </a:r>
                          <a:endParaRPr lang="zh-CN" altLang="en-US" sz="2000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/>
                            <a:t>135</a:t>
                          </a:r>
                          <a:endParaRPr lang="zh-CN" altLang="en-US" sz="2000" i="0" dirty="0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32026" t="-492000" r="-266667" b="-1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逆向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 ？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477772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（</a:t>
                          </a:r>
                          <a:r>
                            <a:rPr lang="en-US" altLang="zh-CN" sz="2000" i="0" dirty="0"/>
                            <a:t>5</a:t>
                          </a:r>
                          <a:r>
                            <a:rPr lang="zh-CN" altLang="en-US" sz="2000" i="0" dirty="0"/>
                            <a:t>）</a:t>
                          </a:r>
                        </a:p>
                      </a:txBody>
                      <a:tcPr anchor="ctr"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0066FF"/>
                              </a:solidFill>
                            </a:rPr>
                            <a:t>1.22   </a:t>
                          </a:r>
                          <a:r>
                            <a:rPr lang="en-US" altLang="zh-CN" sz="2000" i="0" dirty="0"/>
                            <a:t>    0.22       1.56</a:t>
                          </a:r>
                          <a:endParaRPr lang="zh-CN" altLang="en-US" sz="2000" i="0" dirty="0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/>
                            <a:t>9.07</a:t>
                          </a:r>
                          <a:endParaRPr lang="zh-CN" altLang="en-US" sz="2000" i="0" dirty="0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32026" t="-592000" r="-266667" b="-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i="0" dirty="0"/>
                            <a:t>正向</a:t>
                          </a: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rgbClr val="0066FF"/>
                              </a:solidFill>
                            </a:rPr>
                            <a:t>13       73</a:t>
                          </a:r>
                          <a:endParaRPr lang="zh-CN" altLang="en-US" sz="2000" i="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58391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2">
            <a:extLst>
              <a:ext uri="{FF2B5EF4-FFF2-40B4-BE49-F238E27FC236}">
                <a16:creationId xmlns:a16="http://schemas.microsoft.com/office/drawing/2014/main" id="{BCF38528-301E-476C-9635-C68E8FC8702F}"/>
              </a:ext>
            </a:extLst>
          </p:cNvPr>
          <p:cNvSpPr txBox="1">
            <a:spLocks/>
          </p:cNvSpPr>
          <p:nvPr/>
        </p:nvSpPr>
        <p:spPr>
          <a:xfrm>
            <a:off x="257346" y="45000"/>
            <a:ext cx="8634654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>
                <a:sym typeface="+mn-ea"/>
              </a:rPr>
              <a:t>4.3.1 </a:t>
            </a:r>
            <a:r>
              <a:rPr lang="zh-CN" altLang="en-US" kern="0">
                <a:sym typeface="+mn-ea"/>
              </a:rPr>
              <a:t>浓度对化学平衡的影响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4CAE8A-7F13-4E34-9689-0738209B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30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377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46" y="45000"/>
            <a:ext cx="8634654" cy="431800"/>
          </a:xfrm>
        </p:spPr>
        <p:txBody>
          <a:bodyPr/>
          <a:lstStyle/>
          <a:p>
            <a:pPr algn="l" eaLnBrk="1" hangingPunct="1"/>
            <a:r>
              <a:rPr lang="en-US" altLang="zh-CN" sz="3200" dirty="0">
                <a:sym typeface="+mn-ea"/>
              </a:rPr>
              <a:t>4.3</a:t>
            </a:r>
            <a:r>
              <a:rPr lang="en-US" altLang="zh-CN" dirty="0">
                <a:sym typeface="+mn-ea"/>
              </a:rPr>
              <a:t>.2 </a:t>
            </a:r>
            <a:r>
              <a:rPr lang="zh-CN" altLang="en-US" dirty="0">
                <a:sym typeface="+mn-ea"/>
              </a:rPr>
              <a:t>压力对</a:t>
            </a:r>
            <a:r>
              <a:rPr lang="zh-CN" altLang="en-US" sz="3200" dirty="0">
                <a:sym typeface="+mn-ea"/>
              </a:rPr>
              <a:t>化学平衡的影响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8895DA8C-CBBC-46BF-9C57-93BCF75A1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837000"/>
            <a:ext cx="8581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200" dirty="0">
                <a:ea typeface="+mn-ea"/>
                <a:cs typeface="Cambria Math" panose="02040503050406030204" pitchFamily="18" charset="0"/>
              </a:rPr>
              <a:t> </a:t>
            </a: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</a:rPr>
              <a:t>4.3.2 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压力对化学平衡的影响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5085000"/>
                <a:ext cx="8581854" cy="12741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压力对反应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+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⇄ 2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HI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无影响</a:t>
                </a:r>
              </a:p>
              <a:p>
                <a:pPr marL="0" indent="0">
                  <a:buNone/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对于反应如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 ⇄ 2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NO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+mn-lt"/>
                    <a:ea typeface="+mn-ea"/>
                  </a:rPr>
                  <a:t>增加压力，平衡向气体计量系数减小的方向移动。</a:t>
                </a:r>
                <a:endParaRPr lang="zh-CN" altLang="en-US" sz="2400" dirty="0">
                  <a:solidFill>
                    <a:srgbClr val="0000FF"/>
                  </a:solidFill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5085000"/>
                <a:ext cx="8581854" cy="1274195"/>
              </a:xfrm>
              <a:prstGeom prst="rect">
                <a:avLst/>
              </a:prstGeom>
              <a:blipFill>
                <a:blip r:embed="rId2"/>
                <a:stretch>
                  <a:fillRect l="-1065" t="-5263" b="-86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7CF0A70-96E0-4D7F-A8D5-6B2F78D67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620573"/>
              </p:ext>
            </p:extLst>
          </p:nvPr>
        </p:nvGraphicFramePr>
        <p:xfrm>
          <a:off x="457200" y="1629000"/>
          <a:ext cx="8229600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462">
                  <a:extLst>
                    <a:ext uri="{9D8B030D-6E8A-4147-A177-3AD203B41FA5}">
                      <a16:colId xmlns:a16="http://schemas.microsoft.com/office/drawing/2014/main" val="4132559263"/>
                    </a:ext>
                  </a:extLst>
                </a:gridCol>
                <a:gridCol w="3353938">
                  <a:extLst>
                    <a:ext uri="{9D8B030D-6E8A-4147-A177-3AD203B41FA5}">
                      <a16:colId xmlns:a16="http://schemas.microsoft.com/office/drawing/2014/main" val="120121975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78613707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物质的状态</a:t>
                      </a:r>
                      <a:endParaRPr lang="en-US" altLang="zh-CN" sz="20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及其反应前后量的变化</a:t>
                      </a:r>
                    </a:p>
                  </a:txBody>
                  <a:tcPr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</a:rPr>
                        <a:t>压力的影响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07691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固相</a:t>
                      </a:r>
                    </a:p>
                  </a:txBody>
                  <a:tcPr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可忽略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930724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液相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可忽略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186329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气相</a:t>
                      </a:r>
                      <a:r>
                        <a:rPr lang="en-US" altLang="zh-CN" sz="2000" dirty="0"/>
                        <a:t>/</a:t>
                      </a:r>
                      <a:r>
                        <a:rPr lang="zh-CN" altLang="en-US" sz="2000" dirty="0">
                          <a:solidFill>
                            <a:srgbClr val="0066FF"/>
                          </a:solidFill>
                        </a:rPr>
                        <a:t>改变分压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>
                        <a:alpha val="5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同改变浓度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76736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气相</a:t>
                      </a:r>
                      <a:r>
                        <a:rPr lang="en-US" altLang="zh-CN" sz="2000" dirty="0"/>
                        <a:t>/</a:t>
                      </a:r>
                      <a:r>
                        <a:rPr lang="zh-CN" altLang="en-US" sz="2000" dirty="0">
                          <a:solidFill>
                            <a:srgbClr val="0066FF"/>
                          </a:solidFill>
                        </a:rPr>
                        <a:t>改变总压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反应前后计量系数</a:t>
                      </a:r>
                      <a:r>
                        <a:rPr lang="zh-CN" altLang="en-US" sz="2000" dirty="0">
                          <a:solidFill>
                            <a:srgbClr val="0066FF"/>
                          </a:solidFill>
                        </a:rPr>
                        <a:t>相同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无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612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气相</a:t>
                      </a:r>
                      <a:r>
                        <a:rPr lang="en-US" altLang="zh-CN" sz="2000" dirty="0"/>
                        <a:t>/</a:t>
                      </a:r>
                      <a:r>
                        <a:rPr lang="zh-CN" altLang="en-US" sz="2000" dirty="0">
                          <a:solidFill>
                            <a:srgbClr val="0066FF"/>
                          </a:solidFill>
                        </a:rPr>
                        <a:t>改变总压</a:t>
                      </a:r>
                    </a:p>
                  </a:txBody>
                  <a:tcPr anchor="ctr"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反应前后计量系数</a:t>
                      </a:r>
                      <a:r>
                        <a:rPr lang="zh-CN" altLang="en-US" sz="2000" dirty="0">
                          <a:solidFill>
                            <a:srgbClr val="0066FF"/>
                          </a:solidFill>
                        </a:rPr>
                        <a:t>不相同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rgbClr val="0066FF"/>
                          </a:solidFill>
                        </a:rPr>
                        <a:t>有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05467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4007DC-D93D-40E4-871D-56517A88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31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4667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837000"/>
                <a:ext cx="8581854" cy="1200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例题：已知 325K、100 kPa时，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  ⇄ 2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NO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反应中，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的摩尔分解率为50.2%。若保持温度不变，压力增加为1000 kPa时，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的摩尔分解率为多少？</a:t>
                </a:r>
              </a:p>
            </p:txBody>
          </p:sp>
        </mc:Choice>
        <mc:Fallback xmlns="">
          <p:sp>
            <p:nvSpPr>
              <p:cNvPr id="8" name="TextBox 1">
                <a:extLst>
                  <a:ext uri="{FF2B5EF4-FFF2-40B4-BE49-F238E27FC236}">
                    <a16:creationId xmlns:a16="http://schemas.microsoft.com/office/drawing/2014/main" id="{8895DA8C-CBBC-46BF-9C57-93BCF75A1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837000"/>
                <a:ext cx="8581854" cy="1200329"/>
              </a:xfrm>
              <a:prstGeom prst="rect">
                <a:avLst/>
              </a:prstGeom>
              <a:blipFill>
                <a:blip r:embed="rId2"/>
                <a:stretch>
                  <a:fillRect l="-1065" t="-5584" b="-1116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2061000"/>
                <a:ext cx="8581854" cy="15819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2200" dirty="0">
                    <a:latin typeface="+mn-lt"/>
                    <a:ea typeface="+mn-ea"/>
                  </a:rPr>
                  <a:t>解：设有 1.00 mol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altLang="zh-CN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2200" dirty="0">
                    <a:solidFill>
                      <a:schemeClr val="tx1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，</a:t>
                </a:r>
                <a:r>
                  <a:rPr lang="zh-CN" altLang="en-US" sz="2200" dirty="0">
                    <a:latin typeface="+mn-lt"/>
                    <a:ea typeface="+mn-ea"/>
                  </a:rPr>
                  <a:t>它的分解率为</a:t>
                </a:r>
                <a:r>
                  <a:rPr lang="en-US" altLang="zh-CN" sz="2200" dirty="0">
                    <a:latin typeface="+mn-lt"/>
                    <a:ea typeface="+mn-ea"/>
                  </a:rPr>
                  <a:t> </a:t>
                </a:r>
                <a:r>
                  <a:rPr lang="en-US" altLang="zh-CN" sz="2200" i="1" dirty="0">
                    <a:latin typeface="+mn-lt"/>
                    <a:ea typeface="+mn-ea"/>
                  </a:rPr>
                  <a:t>α</a:t>
                </a:r>
                <a:r>
                  <a:rPr lang="en-US" altLang="zh-CN" sz="2200" dirty="0">
                    <a:latin typeface="+mn-lt"/>
                    <a:ea typeface="+mn-ea"/>
                  </a:rPr>
                  <a:t> </a:t>
                </a:r>
                <a:r>
                  <a:rPr lang="zh-CN" altLang="en-US" sz="2200" dirty="0">
                    <a:latin typeface="+mn-lt"/>
                    <a:ea typeface="+mn-ea"/>
                  </a:rPr>
                  <a:t>，则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altLang="zh-CN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en-US" altLang="zh-CN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g</m:t>
                      </m:r>
                      <m:r>
                        <a:rPr lang="en-US" altLang="zh-CN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)  ⇄ 2</m:t>
                      </m:r>
                      <m:sSub>
                        <m:sSubPr>
                          <m:ctrlPr>
                            <a:rPr lang="en-US" altLang="zh-CN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NO</m:t>
                          </m:r>
                        </m:e>
                        <m:sub>
                          <m:r>
                            <a:rPr lang="en-US" altLang="zh-CN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Cambria Math" panose="02040503050406030204" pitchFamily="18" charset="0"/>
                              <a:sym typeface="+mn-ea"/>
                            </a:rPr>
                            <m:t>2</m:t>
                          </m:r>
                        </m:sub>
                      </m:sSub>
                      <m:r>
                        <a:rPr lang="en-US" altLang="zh-CN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g</m:t>
                      </m:r>
                      <m:r>
                        <a:rPr lang="en-US" altLang="zh-CN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200" dirty="0">
                  <a:solidFill>
                    <a:schemeClr val="tx1"/>
                  </a:solidFill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200" dirty="0">
                    <a:latin typeface="+mn-lt"/>
                    <a:ea typeface="+mn-ea"/>
                  </a:rPr>
                  <a:t>	</a:t>
                </a:r>
                <a:r>
                  <a:rPr lang="zh-CN" altLang="en-US" sz="2200" dirty="0">
                    <a:latin typeface="+mn-lt"/>
                    <a:ea typeface="+mn-ea"/>
                  </a:rPr>
                  <a:t>起始</a:t>
                </a:r>
                <a:r>
                  <a:rPr lang="en-US" altLang="zh-CN" sz="2200" dirty="0">
                    <a:latin typeface="+mn-lt"/>
                    <a:ea typeface="+mn-ea"/>
                  </a:rPr>
                  <a:t>    </a:t>
                </a:r>
                <a:r>
                  <a:rPr lang="en-US" altLang="zh-CN" sz="2200" i="1" dirty="0">
                    <a:latin typeface="+mn-lt"/>
                    <a:ea typeface="+mn-ea"/>
                  </a:rPr>
                  <a:t>n</a:t>
                </a:r>
                <a:r>
                  <a:rPr lang="en-US" altLang="zh-CN" sz="2200" dirty="0">
                    <a:latin typeface="+mn-lt"/>
                    <a:ea typeface="+mn-ea"/>
                  </a:rPr>
                  <a:t>	   1.00	              0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latin typeface="+mn-lt"/>
                    <a:ea typeface="+mn-ea"/>
                  </a:rPr>
                  <a:t>	</a:t>
                </a:r>
                <a:r>
                  <a:rPr lang="zh-CN" altLang="en-US" sz="2200" dirty="0">
                    <a:latin typeface="+mn-lt"/>
                    <a:ea typeface="+mn-ea"/>
                  </a:rPr>
                  <a:t>平衡</a:t>
                </a:r>
                <a:r>
                  <a:rPr lang="en-US" altLang="zh-CN" sz="2200" dirty="0">
                    <a:latin typeface="+mn-lt"/>
                    <a:ea typeface="+mn-ea"/>
                  </a:rPr>
                  <a:t>    </a:t>
                </a:r>
                <a:r>
                  <a:rPr lang="en-US" altLang="zh-CN" sz="2200" i="1" dirty="0">
                    <a:latin typeface="+mn-lt"/>
                    <a:ea typeface="+mn-ea"/>
                  </a:rPr>
                  <a:t>n</a:t>
                </a:r>
                <a:r>
                  <a:rPr lang="en-US" altLang="zh-CN" sz="2200" dirty="0">
                    <a:latin typeface="+mn-lt"/>
                    <a:ea typeface="+mn-ea"/>
                  </a:rPr>
                  <a:t>	  1.00-</a:t>
                </a:r>
                <a:r>
                  <a:rPr lang="en-US" altLang="zh-CN" sz="2200" i="1" dirty="0">
                    <a:latin typeface="+mn-lt"/>
                    <a:ea typeface="+mn-ea"/>
                  </a:rPr>
                  <a:t>α</a:t>
                </a:r>
                <a:r>
                  <a:rPr lang="en-US" altLang="zh-CN" sz="2200" dirty="0">
                    <a:latin typeface="+mn-lt"/>
                    <a:ea typeface="+mn-ea"/>
                  </a:rPr>
                  <a:t> 	  2</a:t>
                </a:r>
                <a:r>
                  <a:rPr lang="en-US" altLang="zh-CN" sz="2200" i="1" dirty="0">
                    <a:latin typeface="+mn-lt"/>
                    <a:ea typeface="+mn-ea"/>
                  </a:rPr>
                  <a:t>α</a:t>
                </a:r>
              </a:p>
            </p:txBody>
          </p:sp>
        </mc:Choice>
        <mc:Fallback xmlns="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2061000"/>
                <a:ext cx="8581854" cy="1581972"/>
              </a:xfrm>
              <a:prstGeom prst="rect">
                <a:avLst/>
              </a:prstGeom>
              <a:blipFill>
                <a:blip r:embed="rId3"/>
                <a:stretch>
                  <a:fillRect l="-923" t="-3846" b="-73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3573000"/>
                <a:ext cx="8581854" cy="2129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buNone/>
                </a:pPr>
                <a:r>
                  <a:rPr lang="en-US" altLang="zh-CN" sz="2200" dirty="0" err="1">
                    <a:latin typeface="+mn-lt"/>
                    <a:ea typeface="+mn-ea"/>
                  </a:rPr>
                  <a:t>平衡时</a:t>
                </a:r>
                <a:r>
                  <a:rPr lang="en-US" altLang="zh-CN" sz="2200" dirty="0"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total</m:t>
                        </m:r>
                      </m:sub>
                    </m:sSub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=(1.00−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𝛼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)+2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𝛼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=1.00+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2200" dirty="0">
                    <a:latin typeface="+mn-lt"/>
                    <a:ea typeface="+mn-ea"/>
                    <a:cs typeface="Cambria Math" panose="02040503050406030204" pitchFamily="18" charset="0"/>
                  </a:rPr>
                  <a:t>，</a:t>
                </a:r>
                <a:r>
                  <a:rPr lang="en-US" altLang="zh-CN" sz="2200" dirty="0" err="1">
                    <a:latin typeface="+mn-lt"/>
                    <a:ea typeface="+mn-ea"/>
                  </a:rPr>
                  <a:t>设平衡时总压力为</a:t>
                </a:r>
                <a:r>
                  <a:rPr lang="en-US" altLang="zh-CN" sz="2200" dirty="0">
                    <a:latin typeface="+mn-lt"/>
                    <a:ea typeface="+mn-ea"/>
                  </a:rPr>
                  <a:t> </a:t>
                </a:r>
                <a:r>
                  <a:rPr lang="en-US" altLang="zh-CN" sz="2200" i="1" dirty="0">
                    <a:latin typeface="+mn-lt"/>
                    <a:ea typeface="+mn-ea"/>
                  </a:rPr>
                  <a:t>p</a:t>
                </a:r>
                <a:r>
                  <a:rPr lang="zh-CN" altLang="en-US" sz="2200" dirty="0">
                    <a:latin typeface="+mn-lt"/>
                    <a:ea typeface="+mn-ea"/>
                  </a:rPr>
                  <a:t>，</a:t>
                </a:r>
                <a:r>
                  <a:rPr lang="en-US" altLang="zh-CN" sz="2200" dirty="0" err="1">
                    <a:latin typeface="+mn-lt"/>
                    <a:ea typeface="+mn-ea"/>
                  </a:rPr>
                  <a:t>那么</a:t>
                </a:r>
                <a:endParaRPr lang="en-US" altLang="zh-CN" sz="2200" dirty="0">
                  <a:latin typeface="+mn-lt"/>
                  <a:ea typeface="+mn-ea"/>
                </a:endParaRPr>
              </a:p>
              <a:p>
                <a:pPr>
                  <a:buNone/>
                </a:pPr>
                <a:r>
                  <a:rPr lang="en-US" altLang="zh-CN" sz="2200" dirty="0">
                    <a:latin typeface="+mn-lt"/>
                    <a:ea typeface="+mn-ea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𝑝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1.00− </m:t>
                        </m:r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1.00+ </m:t>
                        </m:r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           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NO</m:t>
                            </m:r>
                          </m:e>
                          <m:sub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𝑝</m:t>
                    </m:r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1.00+ </m:t>
                        </m:r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NO</m:t>
                                    </m:r>
                                  </m:e>
                                  <m:sub>
                                    <m:r>
                                      <a:rPr lang="en-US" altLang="zh-CN" sz="2200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en-US" altLang="zh-CN" sz="22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num>
                      <m:den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den>
                    </m:f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1.00−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3573000"/>
                <a:ext cx="8581854" cy="2129494"/>
              </a:xfrm>
              <a:prstGeom prst="rect">
                <a:avLst/>
              </a:prstGeom>
              <a:blipFill>
                <a:blip r:embed="rId4"/>
                <a:stretch>
                  <a:fillRect l="-923" t="-28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5733000"/>
                <a:ext cx="8581854" cy="953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buNone/>
                </a:pPr>
                <a:r>
                  <a:rPr lang="zh-CN" altLang="en-US" sz="2200" dirty="0">
                    <a:latin typeface="+mn-lt"/>
                    <a:ea typeface="+mn-ea"/>
                  </a:rPr>
                  <a:t>当</a:t>
                </a:r>
                <a:r>
                  <a:rPr lang="en-US" altLang="zh-CN" sz="2200" i="1" dirty="0">
                    <a:latin typeface="+mn-lt"/>
                    <a:ea typeface="+mn-ea"/>
                  </a:rPr>
                  <a:t>p</a:t>
                </a:r>
                <a:r>
                  <a:rPr lang="en-US" altLang="zh-CN" sz="2200" dirty="0">
                    <a:latin typeface="+mn-lt"/>
                    <a:ea typeface="+mn-ea"/>
                  </a:rPr>
                  <a:t> = 100kPa </a:t>
                </a:r>
                <a:r>
                  <a:rPr lang="zh-CN" altLang="en-US" sz="2200" dirty="0">
                    <a:latin typeface="+mn-lt"/>
                    <a:ea typeface="+mn-ea"/>
                  </a:rPr>
                  <a:t>时，</a:t>
                </a:r>
                <a:r>
                  <a:rPr lang="en-US" altLang="zh-CN" sz="2200" i="1" dirty="0">
                    <a:latin typeface="+mn-lt"/>
                    <a:ea typeface="+mn-ea"/>
                  </a:rPr>
                  <a:t>p</a:t>
                </a:r>
                <a:r>
                  <a:rPr lang="en-US" altLang="zh-CN" sz="2200" dirty="0">
                    <a:latin typeface="+mn-lt"/>
                    <a:ea typeface="+mn-ea"/>
                  </a:rPr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1.00</m:t>
                    </m:r>
                  </m:oMath>
                </a14:m>
                <a:r>
                  <a:rPr lang="zh-CN" altLang="en-US" sz="2200" dirty="0">
                    <a:latin typeface="+mn-lt"/>
                    <a:ea typeface="+mn-ea"/>
                    <a:cs typeface="Cambria Math" panose="02040503050406030204" pitchFamily="18" charset="0"/>
                  </a:rPr>
                  <a:t>，</a:t>
                </a:r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</a:rPr>
                  <a:t>α = 0.502</a:t>
                </a:r>
                <a:r>
                  <a:rPr lang="en-US" altLang="zh-CN" sz="2200" dirty="0">
                    <a:latin typeface="+mn-lt"/>
                    <a:ea typeface="+mn-ea"/>
                  </a:rPr>
                  <a:t>       ⇒	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1.35</m:t>
                    </m:r>
                  </m:oMath>
                </a14:m>
                <a:endParaRPr lang="en-US" altLang="zh-CN" sz="2200" dirty="0">
                  <a:solidFill>
                    <a:srgbClr val="FF0000"/>
                  </a:solidFill>
                  <a:latin typeface="+mn-lt"/>
                  <a:ea typeface="+mn-ea"/>
                  <a:cs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zh-CN" altLang="en-US" sz="2200" dirty="0">
                    <a:latin typeface="+mn-lt"/>
                    <a:ea typeface="+mn-ea"/>
                    <a:sym typeface="+mn-ea"/>
                  </a:rPr>
                  <a:t>当</a:t>
                </a:r>
                <a:r>
                  <a:rPr lang="en-US" altLang="zh-CN" sz="2200" i="1" dirty="0">
                    <a:latin typeface="+mn-lt"/>
                    <a:ea typeface="+mn-ea"/>
                    <a:sym typeface="+mn-ea"/>
                  </a:rPr>
                  <a:t>p</a:t>
                </a:r>
                <a:r>
                  <a:rPr lang="en-US" altLang="zh-CN" sz="2200" dirty="0">
                    <a:latin typeface="+mn-lt"/>
                    <a:ea typeface="+mn-ea"/>
                    <a:sym typeface="+mn-ea"/>
                  </a:rPr>
                  <a:t> = 1000kPa </a:t>
                </a:r>
                <a:r>
                  <a:rPr lang="zh-CN" altLang="en-US" sz="2200" dirty="0">
                    <a:latin typeface="+mn-lt"/>
                    <a:ea typeface="+mn-ea"/>
                    <a:sym typeface="+mn-ea"/>
                  </a:rPr>
                  <a:t>时，</a:t>
                </a:r>
                <a:r>
                  <a:rPr lang="en-US" altLang="zh-CN" sz="2200" i="1" dirty="0">
                    <a:latin typeface="+mn-lt"/>
                    <a:ea typeface="+mn-ea"/>
                    <a:sym typeface="+mn-ea"/>
                  </a:rPr>
                  <a:t>p</a:t>
                </a:r>
                <a:r>
                  <a:rPr lang="en-US" altLang="zh-CN" sz="2200" dirty="0">
                    <a:latin typeface="+mn-lt"/>
                    <a:ea typeface="+mn-ea"/>
                    <a:sym typeface="+mn-ea"/>
                  </a:rPr>
                  <a:t>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10.00</m:t>
                    </m:r>
                  </m:oMath>
                </a14:m>
                <a:r>
                  <a:rPr lang="zh-CN" altLang="en-US" sz="22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2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= 1.35</m:t>
                    </m:r>
                  </m:oMath>
                </a14:m>
                <a:r>
                  <a:rPr lang="en-US" altLang="zh-CN" sz="2200" dirty="0">
                    <a:solidFill>
                      <a:srgbClr val="0066FF"/>
                    </a:solidFill>
                    <a:latin typeface="+mn-lt"/>
                    <a:ea typeface="+mn-ea"/>
                    <a:sym typeface="+mn-ea"/>
                  </a:rPr>
                  <a:t>  </a:t>
                </a:r>
                <a:r>
                  <a:rPr lang="en-US" altLang="zh-CN" sz="2200" dirty="0">
                    <a:latin typeface="+mn-lt"/>
                    <a:ea typeface="+mn-ea"/>
                    <a:sym typeface="+mn-ea"/>
                  </a:rPr>
                  <a:t>⇒  </a:t>
                </a:r>
                <a:r>
                  <a:rPr lang="en-US" altLang="zh-CN" sz="2200" i="1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α</a:t>
                </a:r>
                <a:r>
                  <a:rPr lang="en-US" altLang="zh-CN" sz="22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=0.181</a:t>
                </a:r>
                <a:r>
                  <a:rPr lang="en-US" altLang="zh-CN" sz="22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&lt; 0.502</a:t>
                </a:r>
                <a:endParaRPr lang="en-US" altLang="zh-CN" sz="2200" dirty="0">
                  <a:solidFill>
                    <a:srgbClr val="0066FF"/>
                  </a:solidFill>
                  <a:latin typeface="+mn-lt"/>
                  <a:ea typeface="+mn-ea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5733000"/>
                <a:ext cx="8581854" cy="953531"/>
              </a:xfrm>
              <a:prstGeom prst="rect">
                <a:avLst/>
              </a:prstGeom>
              <a:blipFill>
                <a:blip r:embed="rId5"/>
                <a:stretch>
                  <a:fillRect l="-923" t="-4459" r="-497" b="-828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2">
            <a:extLst>
              <a:ext uri="{FF2B5EF4-FFF2-40B4-BE49-F238E27FC236}">
                <a16:creationId xmlns:a16="http://schemas.microsoft.com/office/drawing/2014/main" id="{4DA8AC17-9C94-4961-B366-C510F70A6920}"/>
              </a:ext>
            </a:extLst>
          </p:cNvPr>
          <p:cNvSpPr txBox="1">
            <a:spLocks/>
          </p:cNvSpPr>
          <p:nvPr/>
        </p:nvSpPr>
        <p:spPr>
          <a:xfrm>
            <a:off x="257346" y="45000"/>
            <a:ext cx="8634654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kern="0">
                <a:sym typeface="+mn-ea"/>
              </a:rPr>
              <a:t>4.3.2 </a:t>
            </a:r>
            <a:r>
              <a:rPr lang="zh-CN" altLang="en-US" kern="0">
                <a:sym typeface="+mn-ea"/>
              </a:rPr>
              <a:t>压力对化学平衡的影响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D202870-F2D6-480D-8048-C1D47394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32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31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46" y="45000"/>
            <a:ext cx="8634654" cy="431800"/>
          </a:xfrm>
        </p:spPr>
        <p:txBody>
          <a:bodyPr/>
          <a:lstStyle/>
          <a:p>
            <a:pPr algn="l" eaLnBrk="1" hangingPunct="1"/>
            <a:r>
              <a:rPr lang="en-US" altLang="zh-CN" sz="3200" dirty="0">
                <a:sym typeface="+mn-ea"/>
              </a:rPr>
              <a:t>4.3</a:t>
            </a:r>
            <a:r>
              <a:rPr lang="en-US" altLang="zh-CN" dirty="0">
                <a:sym typeface="+mn-ea"/>
              </a:rPr>
              <a:t>.3 </a:t>
            </a:r>
            <a:r>
              <a:rPr lang="zh-CN" altLang="en-US" dirty="0">
                <a:sym typeface="+mn-ea"/>
              </a:rPr>
              <a:t>温度对</a:t>
            </a:r>
            <a:r>
              <a:rPr lang="zh-CN" altLang="en-US" sz="3200" dirty="0">
                <a:sym typeface="+mn-ea"/>
              </a:rPr>
              <a:t>化学平衡的影响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8895DA8C-CBBC-46BF-9C57-93BCF75A1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346" y="765000"/>
            <a:ext cx="8634654" cy="57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</a:rPr>
              <a:t>4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.3.3 温度对化学平衡的影响</a:t>
            </a:r>
            <a:endParaRPr lang="zh-CN" altLang="en-US" sz="2000" dirty="0">
              <a:solidFill>
                <a:srgbClr val="0066FF"/>
              </a:solidFill>
              <a:latin typeface="+mn-lt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346" y="1341000"/>
                <a:ext cx="8634654" cy="1910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200" dirty="0">
                    <a:latin typeface="+mn-lt"/>
                    <a:ea typeface="+mn-ea"/>
                  </a:rPr>
                  <a:t>浓度、压力变化，平衡常数 </a:t>
                </a:r>
                <a:r>
                  <a:rPr lang="zh-CN" altLang="en-US" sz="2200" i="1" dirty="0">
                    <a:latin typeface="+mn-lt"/>
                    <a:ea typeface="+mn-ea"/>
                  </a:rPr>
                  <a:t>K</a:t>
                </a:r>
                <a:r>
                  <a:rPr lang="zh-CN" altLang="en-US" sz="2200" dirty="0">
                    <a:latin typeface="+mn-lt"/>
                    <a:ea typeface="+mn-ea"/>
                  </a:rPr>
                  <a:t>不变；温度变化，</a:t>
                </a:r>
                <a:r>
                  <a:rPr lang="zh-CN" altLang="en-US" sz="2200" i="1" dirty="0">
                    <a:latin typeface="+mn-lt"/>
                    <a:ea typeface="+mn-ea"/>
                  </a:rPr>
                  <a:t>K</a:t>
                </a:r>
                <a:r>
                  <a:rPr lang="zh-CN" altLang="en-US" sz="2200" dirty="0">
                    <a:latin typeface="+mn-lt"/>
                    <a:ea typeface="+mn-ea"/>
                  </a:rPr>
                  <a:t> 改变。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200" dirty="0">
                    <a:solidFill>
                      <a:srgbClr val="FF0000"/>
                    </a:solidFill>
                    <a:latin typeface="+mn-lt"/>
                    <a:ea typeface="+mn-ea"/>
                    <a:cs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20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−2.30</m:t>
                    </m:r>
                    <m:r>
                      <a:rPr lang="en-US" altLang="zh-CN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𝑅𝑇</m:t>
                    </m:r>
                    <m:r>
                      <m:rPr>
                        <m:sty m:val="p"/>
                      </m:rPr>
                      <a:rPr lang="en-US" altLang="zh-CN" sz="220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sSup>
                      <m:sSup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altLang="zh-CN" sz="2200" dirty="0">
                    <a:latin typeface="+mn-lt"/>
                    <a:ea typeface="+mn-ea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sSup>
                      <m:sSup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20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SupPr>
                          <m:e>
                            <m:r>
                              <a:rPr lang="en-US" altLang="zh-CN" sz="220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∆</m:t>
                            </m:r>
                            <m:r>
                              <a:rPr lang="en-US" altLang="zh-CN" sz="22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𝐺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T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CN" sz="2200" i="0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bSup>
                      </m:num>
                      <m:den>
                        <m:r>
                          <a:rPr lang="en-US" altLang="zh-CN" sz="22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−2.30</m:t>
                        </m:r>
                        <m:r>
                          <m:rPr>
                            <m:sty m:val="p"/>
                          </m:rPr>
                          <a:rPr lang="en-US" altLang="zh-CN" sz="22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RT</m:t>
                        </m:r>
                      </m:den>
                    </m:f>
                  </m:oMath>
                </a14:m>
                <a:endParaRPr lang="zh-CN" altLang="en-US" sz="2200" dirty="0">
                  <a:latin typeface="+mn-lt"/>
                  <a:ea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200" dirty="0">
                    <a:latin typeface="+mn-lt"/>
                    <a:ea typeface="+mn-ea"/>
                  </a:rPr>
                  <a:t>	</a:t>
                </a:r>
                <a:r>
                  <a:rPr lang="zh-CN" altLang="en-US" sz="2200" dirty="0">
                    <a:latin typeface="+mn-lt"/>
                    <a:ea typeface="+mn-ea"/>
                  </a:rPr>
                  <a:t>将 </a:t>
                </a:r>
                <a:r>
                  <a:rPr lang="zh-CN" altLang="en-US" sz="2200" dirty="0">
                    <a:solidFill>
                      <a:srgbClr val="FF0000"/>
                    </a:solidFill>
                    <a:latin typeface="+mn-lt"/>
                    <a:ea typeface="+mn-ea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2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</m:t>
                    </m:r>
                    <m:sSup>
                      <m:sSup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2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𝐻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p>
                    <m:r>
                      <a:rPr lang="en-US" altLang="zh-CN" sz="22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− </m:t>
                    </m:r>
                    <m:r>
                      <a:rPr lang="en-US" altLang="zh-CN" sz="2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𝑇</m:t>
                    </m:r>
                    <m:sSup>
                      <m:sSup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2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200" dirty="0">
                    <a:latin typeface="+mn-lt"/>
                    <a:ea typeface="+mn-ea"/>
                  </a:rPr>
                  <a:t> 代入上面右式, 得：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200" dirty="0">
                    <a:latin typeface="+mn-lt"/>
                    <a:ea typeface="+mn-ea"/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20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2200" i="0" dirty="0" smtClean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∆</m:t>
                            </m:r>
                            <m:r>
                              <a:rPr lang="en-US" altLang="zh-CN" sz="2200" i="1" dirty="0" smtClean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𝐻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 dirty="0" smtClean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2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 − </m:t>
                        </m:r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  <m:sSup>
                          <m:sSup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2200" i="0" dirty="0" smtClean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∆</m:t>
                            </m:r>
                            <m:r>
                              <a:rPr lang="en-US" altLang="zh-CN" sz="2200" i="1" dirty="0" smtClean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 dirty="0" smtClean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p>
                      </m:num>
                      <m:den>
                        <m:r>
                          <a:rPr lang="en-US" altLang="zh-CN" sz="22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−2.30</m:t>
                        </m:r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𝑅𝑇</m:t>
                        </m:r>
                      </m:den>
                    </m:f>
                    <m:r>
                      <a:rPr lang="en-US" altLang="zh-CN" sz="2200" i="0" dirty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2200" i="0" dirty="0" smtClean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∆</m:t>
                            </m:r>
                            <m:r>
                              <a:rPr lang="en-US" altLang="zh-CN" sz="2200" i="1" dirty="0" smtClean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𝐻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 dirty="0" smtClean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2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 </m:t>
                        </m:r>
                      </m:num>
                      <m:den>
                        <m:r>
                          <a:rPr lang="en-US" altLang="zh-CN" sz="22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−2.30</m:t>
                        </m:r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𝑅𝑇</m:t>
                        </m:r>
                      </m:den>
                    </m:f>
                    <m:r>
                      <a:rPr lang="en-US" altLang="zh-CN" sz="2200" i="0" dirty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+ </m:t>
                    </m:r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2200" i="0" dirty="0" smtClean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∆</m:t>
                            </m:r>
                            <m:r>
                              <a:rPr lang="en-US" altLang="zh-CN" sz="2200" i="1" dirty="0" smtClean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 dirty="0" smtClean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p>
                      </m:num>
                      <m:den>
                        <m:r>
                          <a:rPr lang="en-US" altLang="zh-CN" sz="22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2.30</m:t>
                        </m:r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𝑅</m:t>
                        </m:r>
                      </m:den>
                    </m:f>
                  </m:oMath>
                </a14:m>
                <a:endParaRPr lang="en-US" altLang="zh-CN" sz="2200" dirty="0"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346" y="1341000"/>
                <a:ext cx="8634654" cy="1910075"/>
              </a:xfrm>
              <a:prstGeom prst="rect">
                <a:avLst/>
              </a:prstGeom>
              <a:blipFill>
                <a:blip r:embed="rId2"/>
                <a:stretch>
                  <a:fillRect l="-917" t="-31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346" y="3357000"/>
                <a:ext cx="8634654" cy="18529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200" dirty="0">
                    <a:latin typeface="+mn-lt"/>
                    <a:ea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e>
                      <m:sub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200" dirty="0">
                    <a:latin typeface="+mn-lt"/>
                    <a:ea typeface="+mn-ea"/>
                  </a:rPr>
                  <a:t>时的平衡常数为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200" dirty="0">
                    <a:latin typeface="+mn-lt"/>
                    <a:ea typeface="+mn-ea"/>
                    <a:sym typeface="+mn-ea"/>
                  </a:rPr>
                  <a:t> 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e>
                      <m:sub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200" dirty="0">
                    <a:latin typeface="+mn-lt"/>
                    <a:ea typeface="+mn-ea"/>
                  </a:rPr>
                  <a:t>时的平衡常数为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2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，有</a:t>
                </a:r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>
                  <a:buNone/>
                </a:pPr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sSubSup>
                      <m:sSubSup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∆</m:t>
                            </m:r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𝐻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 </m:t>
                        </m:r>
                      </m:num>
                      <m:den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−2.30</m:t>
                        </m:r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𝑅</m:t>
                        </m:r>
                        <m:sSub>
                          <m:sSub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+ </m:t>
                    </m:r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∆</m:t>
                            </m:r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p>
                      </m:num>
                      <m:den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2.30</m:t>
                        </m:r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𝑅</m:t>
                        </m:r>
                      </m:den>
                    </m:f>
                  </m:oMath>
                </a14:m>
                <a:endParaRPr lang="zh-CN" altLang="en-US" sz="22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>
                  <a:buNone/>
                </a:pPr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	       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sSubSup>
                      <m:sSubSup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K</m:t>
                        </m:r>
                      </m:e>
                      <m:sub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∆</m:t>
                            </m:r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𝐻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 </m:t>
                        </m:r>
                      </m:num>
                      <m:den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−2.30</m:t>
                        </m:r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𝑅</m:t>
                        </m:r>
                        <m:sSub>
                          <m:sSub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+ </m:t>
                    </m:r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∆</m:t>
                            </m:r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𝑆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p>
                      </m:num>
                      <m:den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2.30</m:t>
                        </m:r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𝑅</m:t>
                        </m:r>
                      </m:den>
                    </m:f>
                  </m:oMath>
                </a14:m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346" y="3357000"/>
                <a:ext cx="8634654" cy="1852943"/>
              </a:xfrm>
              <a:prstGeom prst="rect">
                <a:avLst/>
              </a:prstGeom>
              <a:blipFill>
                <a:blip r:embed="rId3"/>
                <a:stretch>
                  <a:fillRect l="-917" t="-230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5229000"/>
                <a:ext cx="8581854" cy="14186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buNone/>
                </a:pPr>
                <a:r>
                  <a:rPr lang="zh-CN" altLang="en-US" sz="22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两式相减，得</a:t>
                </a:r>
                <a:r>
                  <a:rPr lang="en-US" altLang="zh-CN" sz="22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sSubSup>
                      <m:sSubSup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− </m:t>
                    </m:r>
                    <m:r>
                      <m:rPr>
                        <m:sty m:val="p"/>
                      </m:rPr>
                      <a:rPr lang="en-US" altLang="zh-CN" sz="2200" i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lg</m:t>
                    </m:r>
                    <m:sSubSup>
                      <m:sSubSup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∆</m:t>
                            </m:r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𝐻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 </m:t>
                        </m:r>
                      </m:num>
                      <m:den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2.30</m:t>
                        </m:r>
                        <m: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𝑅</m:t>
                        </m:r>
                      </m:den>
                    </m:f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−</m:t>
                    </m:r>
                    <m:f>
                      <m:f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22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2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2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)</m:t>
                    </m:r>
                  </m:oMath>
                </a14:m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>
                  <a:buNone/>
                </a:pPr>
                <a:r>
                  <a:rPr lang="en-US" altLang="zh-CN" sz="2200" dirty="0">
                    <a:latin typeface="+mn-lt"/>
                    <a:ea typeface="+mn-ea"/>
                  </a:rPr>
                  <a:t>	      </a:t>
                </a:r>
                <a:r>
                  <a:rPr lang="zh-CN" altLang="en-US" sz="2200" dirty="0">
                    <a:latin typeface="+mn-lt"/>
                    <a:ea typeface="+mn-ea"/>
                  </a:rPr>
                  <a:t>或</a:t>
                </a:r>
                <a:r>
                  <a:rPr lang="en-US" altLang="zh-CN" sz="2200" dirty="0">
                    <a:latin typeface="+mn-lt"/>
                    <a:ea typeface="+mn-ea"/>
                  </a:rPr>
                  <a:t>	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lg</m:t>
                    </m:r>
                    <m:r>
                      <a:rPr lang="en-US" altLang="zh-CN" sz="22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f>
                      <m:f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Sup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2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CN" sz="22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Sup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2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CN" sz="22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bSup>
                      </m:den>
                    </m:f>
                    <m:r>
                      <a:rPr lang="en-US" altLang="zh-CN" sz="22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) = </m:t>
                    </m:r>
                    <m:f>
                      <m:f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num>
                      <m:den>
                        <m: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2.30</m:t>
                        </m:r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𝑅</m:t>
                        </m:r>
                      </m:den>
                    </m:f>
                    <m:r>
                      <a:rPr lang="en-US" altLang="zh-CN" sz="22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f>
                      <m:f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2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2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2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2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2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) </m:t>
                    </m:r>
                  </m:oMath>
                </a14:m>
                <a:r>
                  <a:rPr lang="en-US" altLang="zh-CN" sz="2200" dirty="0">
                    <a:latin typeface="+mn-lt"/>
                    <a:ea typeface="+mn-ea"/>
                  </a:rPr>
                  <a:t>	      </a:t>
                </a:r>
                <a:r>
                  <a:rPr lang="zh-CN" altLang="en-US" sz="22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Van't</a:t>
                </a:r>
                <a:r>
                  <a:rPr lang="en-US" altLang="zh-CN" sz="22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22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Hof</a:t>
                </a:r>
                <a:r>
                  <a:rPr lang="en-US" altLang="zh-CN" sz="22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f </a:t>
                </a:r>
                <a:r>
                  <a:rPr lang="zh-CN" altLang="en-US" sz="2200" dirty="0">
                    <a:solidFill>
                      <a:srgbClr val="0066FF"/>
                    </a:solidFill>
                    <a:latin typeface="+mn-lt"/>
                    <a:ea typeface="+mn-ea"/>
                    <a:sym typeface="+mn-ea"/>
                  </a:rPr>
                  <a:t>方程式</a:t>
                </a:r>
                <a:endParaRPr lang="zh-CN" altLang="en-US" sz="2200" dirty="0">
                  <a:solidFill>
                    <a:srgbClr val="0066FF"/>
                  </a:solidFill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5229000"/>
                <a:ext cx="8581854" cy="1418658"/>
              </a:xfrm>
              <a:prstGeom prst="rect">
                <a:avLst/>
              </a:prstGeom>
              <a:blipFill>
                <a:blip r:embed="rId4"/>
                <a:stretch>
                  <a:fillRect l="-9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B1C129-DA57-48CE-B723-04786A77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33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995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45" y="45000"/>
            <a:ext cx="8605581" cy="431800"/>
          </a:xfrm>
        </p:spPr>
        <p:txBody>
          <a:bodyPr/>
          <a:lstStyle/>
          <a:p>
            <a:pPr algn="l" eaLnBrk="1" hangingPunct="1"/>
            <a:r>
              <a:rPr lang="en-US" altLang="zh-CN" sz="3200" dirty="0">
                <a:sym typeface="+mn-ea"/>
              </a:rPr>
              <a:t>4.3</a:t>
            </a:r>
            <a:r>
              <a:rPr lang="en-US" altLang="zh-CN" dirty="0">
                <a:sym typeface="+mn-ea"/>
              </a:rPr>
              <a:t>.3 </a:t>
            </a:r>
            <a:r>
              <a:rPr lang="zh-CN" altLang="en-US" dirty="0">
                <a:sym typeface="+mn-ea"/>
              </a:rPr>
              <a:t>温度对</a:t>
            </a:r>
            <a:r>
              <a:rPr lang="zh-CN" altLang="en-US" sz="3200" dirty="0">
                <a:sym typeface="+mn-ea"/>
              </a:rPr>
              <a:t>化学平衡的影响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8895DA8C-CBBC-46BF-9C57-93BCF75A1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837000"/>
            <a:ext cx="8581854" cy="57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对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  <a:cs typeface="Cambria Math" panose="02040503050406030204" pitchFamily="18" charset="0"/>
                <a:sym typeface="+mn-ea"/>
              </a:rPr>
              <a:t>Van't</a:t>
            </a: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  <a:cs typeface="Cambria Math" panose="02040503050406030204" pitchFamily="18" charset="0"/>
                <a:sym typeface="+mn-ea"/>
              </a:rPr>
              <a:t> 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  <a:cs typeface="Cambria Math" panose="02040503050406030204" pitchFamily="18" charset="0"/>
                <a:sym typeface="+mn-ea"/>
              </a:rPr>
              <a:t>Hof</a:t>
            </a: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  <a:cs typeface="Cambria Math" panose="02040503050406030204" pitchFamily="18" charset="0"/>
                <a:sym typeface="+mn-ea"/>
              </a:rPr>
              <a:t>f 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方程式的讨论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1413000"/>
                <a:ext cx="8581854" cy="966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  <a:sym typeface="+mn-ea"/>
                        </a:rPr>
                        <m:t>lg</m:t>
                      </m:r>
                      <m:r>
                        <a:rPr lang="en-US" altLang="zh-CN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  <a:sym typeface="+mn-ea"/>
                        </a:rPr>
                        <m:t>(</m:t>
                      </m:r>
                      <m:f>
                        <m:f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4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θ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4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4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θ</m:t>
                              </m:r>
                            </m:sup>
                          </m:sSubSup>
                        </m:den>
                      </m:f>
                      <m:r>
                        <a:rPr lang="en-US" altLang="zh-CN" sz="2400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  <a:sym typeface="+mn-ea"/>
                        </a:rPr>
                        <m:t>) = </m:t>
                      </m:r>
                      <m:f>
                        <m:f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4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θ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2.30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𝑅</m:t>
                          </m:r>
                        </m:den>
                      </m:f>
                      <m:r>
                        <a:rPr lang="en-US" altLang="zh-CN" sz="2400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  <a:sym typeface="+mn-ea"/>
                        </a:rPr>
                        <m:t>(</m:t>
                      </m:r>
                      <m:f>
                        <m:f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4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4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4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4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  <a:sym typeface="+mn-ea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  <a:sym typeface="+mn-ea"/>
                        </a:rPr>
                        <m:t>) </m:t>
                      </m:r>
                    </m:oMath>
                  </m:oMathPara>
                </a14:m>
                <a:endParaRPr lang="zh-CN" alt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D1BBDA0E-4DDF-4A38-9ECB-922930B4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1413000"/>
                <a:ext cx="8581854" cy="9662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2421000"/>
                <a:ext cx="8581854" cy="24010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判断：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（</a:t>
                </a:r>
                <a:r>
                  <a:rPr lang="en-US" altLang="zh-CN" sz="2400" dirty="0">
                    <a:latin typeface="+mn-lt"/>
                    <a:ea typeface="+mn-ea"/>
                  </a:rPr>
                  <a:t>1</a:t>
                </a:r>
                <a:r>
                  <a:rPr lang="zh-CN" altLang="en-US" sz="2400" dirty="0">
                    <a:latin typeface="+mn-lt"/>
                    <a:ea typeface="+mn-ea"/>
                  </a:rPr>
                  <a:t>） 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40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（放热反应），</a:t>
                </a:r>
                <a:r>
                  <a:rPr lang="zh-CN" altLang="en-US" sz="2400" i="1" dirty="0">
                    <a:latin typeface="+mn-lt"/>
                    <a:ea typeface="+mn-ea"/>
                  </a:rPr>
                  <a:t>T</a:t>
                </a:r>
                <a:r>
                  <a:rPr lang="en-US" altLang="zh-CN" sz="2400" dirty="0">
                    <a:latin typeface="+mn-lt"/>
                    <a:ea typeface="+mn-ea"/>
                  </a:rPr>
                  <a:t>↑</a:t>
                </a:r>
                <a:r>
                  <a:rPr lang="zh-CN" altLang="en-US" sz="2400" dirty="0">
                    <a:latin typeface="+mn-lt"/>
                    <a:ea typeface="+mn-ea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e>
                      <m:sub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&gt;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e>
                      <m:sub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），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&lt;</m:t>
                    </m:r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（</a:t>
                </a:r>
                <a:r>
                  <a:rPr lang="en-US" altLang="zh-CN" sz="2400" dirty="0">
                    <a:latin typeface="+mn-lt"/>
                    <a:ea typeface="+mn-ea"/>
                  </a:rPr>
                  <a:t>2</a:t>
                </a:r>
                <a:r>
                  <a:rPr lang="zh-CN" altLang="en-US" sz="2400" dirty="0">
                    <a:latin typeface="+mn-lt"/>
                    <a:ea typeface="+mn-ea"/>
                  </a:rPr>
                  <a:t>） 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400" i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（吸热反应），</a:t>
                </a:r>
                <a:r>
                  <a:rPr lang="zh-CN" altLang="en-US" sz="2400" i="1" dirty="0">
                    <a:latin typeface="+mn-lt"/>
                    <a:ea typeface="+mn-ea"/>
                    <a:sym typeface="+mn-ea"/>
                  </a:rPr>
                  <a:t>T</a:t>
                </a:r>
                <a:r>
                  <a:rPr lang="en-US" altLang="zh-CN" sz="2400" dirty="0">
                    <a:latin typeface="+mn-lt"/>
                    <a:ea typeface="+mn-ea"/>
                    <a:sym typeface="+mn-ea"/>
                  </a:rPr>
                  <a:t>↑</a:t>
                </a:r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e>
                      <m:sub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</m:sSub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&gt;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e>
                      <m:sub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+mn-lt"/>
                    <a:ea typeface="+mn-ea"/>
                    <a:sym typeface="+mn-ea"/>
                  </a:rPr>
                  <a:t>），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&gt;</m:t>
                    </m:r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endParaRPr lang="zh-CN" altLang="en-US" sz="2400" dirty="0">
                  <a:latin typeface="+mn-lt"/>
                  <a:ea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latin typeface="+mn-lt"/>
                    <a:ea typeface="+mn-ea"/>
                  </a:rPr>
                  <a:t>	</a:t>
                </a:r>
                <a:r>
                  <a:rPr lang="zh-CN" altLang="en-US" sz="2400" dirty="0">
                    <a:latin typeface="+mn-lt"/>
                    <a:ea typeface="+mn-ea"/>
                  </a:rPr>
                  <a:t>即：</a:t>
                </a:r>
                <a:r>
                  <a:rPr lang="en-US" altLang="zh-CN" sz="2400" dirty="0">
                    <a:latin typeface="+mn-lt"/>
                    <a:ea typeface="+mn-ea"/>
                  </a:rPr>
                  <a:t>	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升高温度，平衡向吸热方向移动</a:t>
                </a: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		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降低温度，平衡向放热方向移动</a:t>
                </a:r>
              </a:p>
              <a:p>
                <a:pPr>
                  <a:buNone/>
                </a:pPr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2421000"/>
                <a:ext cx="8581854" cy="2401042"/>
              </a:xfrm>
              <a:prstGeom prst="rect">
                <a:avLst/>
              </a:prstGeom>
              <a:blipFill>
                <a:blip r:embed="rId3"/>
                <a:stretch>
                  <a:fillRect l="-1065" t="-27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4581000"/>
                <a:ext cx="8581854" cy="12408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利用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Van't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Hof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f 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sym typeface="+mn-ea"/>
                  </a:rPr>
                  <a:t>方程式：</a:t>
                </a:r>
                <a:endParaRPr lang="zh-CN" altLang="en-US" sz="2400" dirty="0">
                  <a:solidFill>
                    <a:srgbClr val="0066FF"/>
                  </a:solidFill>
                  <a:latin typeface="+mn-lt"/>
                  <a:ea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（1） 已知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时，从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e>
                      <m:sub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、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 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e>
                      <m:sub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时的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𝐾</m:t>
                        </m:r>
                      </m:e>
                      <m:sub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；</a:t>
                </a:r>
                <a:endParaRPr lang="en-US" altLang="zh-CN" sz="24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（</a:t>
                </a:r>
                <a:r>
                  <a:rPr lang="en-US" altLang="zh-CN" sz="2400" dirty="0">
                    <a:latin typeface="+mn-lt"/>
                    <a:ea typeface="+mn-ea"/>
                  </a:rPr>
                  <a:t>2</a:t>
                </a:r>
                <a:r>
                  <a:rPr lang="zh-CN" altLang="en-US" sz="2400" dirty="0">
                    <a:latin typeface="+mn-lt"/>
                    <a:ea typeface="+mn-ea"/>
                  </a:rPr>
                  <a:t>）</a:t>
                </a:r>
                <a:r>
                  <a:rPr lang="en-US" altLang="zh-CN" sz="2400" dirty="0"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latin typeface="+mn-lt"/>
                    <a:ea typeface="+mn-ea"/>
                  </a:rPr>
                  <a:t>求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（当已知不同温度下的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+mn-lt"/>
                    <a:ea typeface="+mn-ea"/>
                  </a:rPr>
                  <a:t>值时）</a:t>
                </a: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8CDD4296-B241-4625-AA59-4A51D9ECC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4581000"/>
                <a:ext cx="8581854" cy="1240853"/>
              </a:xfrm>
              <a:prstGeom prst="rect">
                <a:avLst/>
              </a:prstGeom>
              <a:blipFill>
                <a:blip r:embed="rId4"/>
                <a:stretch>
                  <a:fillRect l="-1065" t="-5392" b="-102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00C53F-8866-4CFF-AD55-04E24D10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34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953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45" y="45000"/>
            <a:ext cx="8605581" cy="431800"/>
          </a:xfrm>
        </p:spPr>
        <p:txBody>
          <a:bodyPr/>
          <a:lstStyle/>
          <a:p>
            <a:pPr algn="l" eaLnBrk="1" hangingPunct="1"/>
            <a:r>
              <a:rPr lang="en-US" altLang="zh-CN" sz="3200" dirty="0">
                <a:sym typeface="+mn-ea"/>
              </a:rPr>
              <a:t>4.3</a:t>
            </a:r>
            <a:r>
              <a:rPr lang="en-US" altLang="zh-CN" dirty="0">
                <a:sym typeface="+mn-ea"/>
              </a:rPr>
              <a:t>.4 </a:t>
            </a:r>
            <a:r>
              <a:rPr lang="zh-CN" altLang="en-US" dirty="0">
                <a:sym typeface="+mn-ea"/>
              </a:rPr>
              <a:t>化学平衡移动原理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8895DA8C-CBBC-46BF-9C57-93BCF75A1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837000"/>
            <a:ext cx="85818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latinLnBrk="0"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</a:rPr>
              <a:t>4.3.4 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  <a:cs typeface="Cambria Math" panose="02040503050406030204" pitchFamily="18" charset="0"/>
                <a:sym typeface="+mn-ea"/>
              </a:rPr>
              <a:t>Van't Hof</a:t>
            </a: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  <a:cs typeface="Cambria Math" panose="02040503050406030204" pitchFamily="18" charset="0"/>
                <a:sym typeface="+mn-ea"/>
              </a:rPr>
              <a:t>f </a:t>
            </a:r>
            <a:r>
              <a:rPr lang="en-US" altLang="zh-CN" sz="2400" dirty="0" err="1">
                <a:solidFill>
                  <a:srgbClr val="0066FF"/>
                </a:solidFill>
                <a:latin typeface="+mn-lt"/>
                <a:ea typeface="+mn-ea"/>
              </a:rPr>
              <a:t>和勒·夏特里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（</a:t>
            </a:r>
            <a:r>
              <a:rPr lang="en-US" altLang="zh-CN" sz="2400" dirty="0" err="1">
                <a:solidFill>
                  <a:srgbClr val="0066FF"/>
                </a:solidFill>
                <a:latin typeface="+mn-lt"/>
                <a:ea typeface="+mn-ea"/>
              </a:rPr>
              <a:t>LeChatelier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）</a:t>
            </a:r>
            <a:r>
              <a:rPr lang="en-US" altLang="zh-CN" sz="2400" dirty="0" err="1">
                <a:solidFill>
                  <a:srgbClr val="0066FF"/>
                </a:solidFill>
                <a:latin typeface="+mn-lt"/>
                <a:ea typeface="+mn-ea"/>
              </a:rPr>
              <a:t>原理</a:t>
            </a:r>
            <a:endParaRPr lang="en-US" altLang="zh-CN" sz="2000" dirty="0">
              <a:solidFill>
                <a:srgbClr val="0066FF"/>
              </a:solidFill>
              <a:latin typeface="+mn-lt"/>
              <a:ea typeface="+mn-ea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D1BBDA0E-4DDF-4A38-9ECB-922930B49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73" y="1485000"/>
            <a:ext cx="858185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  <a:ea typeface="+mn-ea"/>
              </a:rPr>
              <a:t>改变平衡体系的外界条件时，平衡向着削弱这一改变的方向有移动。（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</a:rPr>
              <a:t>又称为化学平衡移动原理</a:t>
            </a:r>
            <a:r>
              <a:rPr lang="zh-CN" altLang="en-US" sz="2400" dirty="0">
                <a:latin typeface="+mn-lt"/>
                <a:ea typeface="+mn-ea"/>
              </a:rPr>
              <a:t>）。</a:t>
            </a:r>
            <a:endParaRPr lang="en-US" altLang="zh-CN" sz="2400" dirty="0">
              <a:latin typeface="+mn-lt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073" y="2637000"/>
                <a:ext cx="8581854" cy="37260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 err="1">
                    <a:solidFill>
                      <a:srgbClr val="0066FF"/>
                    </a:solidFill>
                    <a:latin typeface="+mn-ea"/>
                    <a:ea typeface="+mn-ea"/>
                  </a:rPr>
                  <a:t>浓度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ea"/>
                    <a:ea typeface="+mn-ea"/>
                  </a:rPr>
                  <a:t>：</a:t>
                </a:r>
                <a:r>
                  <a:rPr lang="en-US" altLang="zh-CN" sz="2400" dirty="0" err="1">
                    <a:latin typeface="+mn-ea"/>
                    <a:ea typeface="+mn-ea"/>
                  </a:rPr>
                  <a:t>增加反应物浓度，平衡向生成物方向移动（即反应物浓度减少</a:t>
                </a:r>
                <a:r>
                  <a:rPr lang="en-US" altLang="zh-CN" sz="2400" dirty="0">
                    <a:latin typeface="+mn-ea"/>
                    <a:ea typeface="+mn-ea"/>
                  </a:rPr>
                  <a:t>）</a:t>
                </a:r>
                <a:r>
                  <a:rPr lang="zh-CN" altLang="en-US" sz="2400" dirty="0">
                    <a:latin typeface="+mn-ea"/>
                    <a:ea typeface="+mn-ea"/>
                  </a:rPr>
                  <a:t>；</a:t>
                </a:r>
                <a:endParaRPr lang="en-US" altLang="zh-CN" sz="2400" dirty="0">
                  <a:latin typeface="+mn-ea"/>
                  <a:ea typeface="+mn-ea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endParaRPr lang="en-US" altLang="zh-CN" sz="2400" dirty="0">
                  <a:latin typeface="+mn-ea"/>
                  <a:ea typeface="+mn-ea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 err="1">
                    <a:solidFill>
                      <a:srgbClr val="0066FF"/>
                    </a:solidFill>
                    <a:latin typeface="+mn-ea"/>
                    <a:ea typeface="+mn-ea"/>
                  </a:rPr>
                  <a:t>压力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ea"/>
                    <a:ea typeface="+mn-ea"/>
                  </a:rPr>
                  <a:t>：</a:t>
                </a:r>
                <a:r>
                  <a:rPr lang="en-US" altLang="zh-CN" sz="2400" dirty="0" err="1">
                    <a:latin typeface="+mn-ea"/>
                    <a:ea typeface="+mn-ea"/>
                  </a:rPr>
                  <a:t>增加压力，平衡向气体计量系数减小方向移动（即减小体系压力</a:t>
                </a:r>
                <a:r>
                  <a:rPr lang="en-US" altLang="zh-CN" sz="2400" dirty="0">
                    <a:latin typeface="+mn-ea"/>
                    <a:ea typeface="+mn-ea"/>
                  </a:rPr>
                  <a:t>）</a:t>
                </a:r>
                <a:r>
                  <a:rPr lang="zh-CN" altLang="en-US" sz="2400" dirty="0">
                    <a:latin typeface="+mn-ea"/>
                    <a:ea typeface="+mn-ea"/>
                  </a:rPr>
                  <a:t>；</a:t>
                </a:r>
                <a:endParaRPr lang="en-US" altLang="zh-CN" sz="2400" dirty="0">
                  <a:latin typeface="+mn-ea"/>
                  <a:ea typeface="+mn-ea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endParaRPr lang="zh-CN" altLang="en-US" sz="2400" dirty="0">
                  <a:latin typeface="+mn-ea"/>
                  <a:ea typeface="+mn-ea"/>
                </a:endParaRPr>
              </a:p>
              <a:p>
                <a:pPr>
                  <a:spcBef>
                    <a:spcPts val="0"/>
                  </a:spcBef>
                  <a:buNone/>
                </a:pPr>
                <a:r>
                  <a:rPr lang="en-US" altLang="zh-CN" sz="2400" dirty="0" err="1">
                    <a:solidFill>
                      <a:srgbClr val="0066FF"/>
                    </a:solidFill>
                    <a:latin typeface="+mn-ea"/>
                    <a:ea typeface="+mn-ea"/>
                  </a:rPr>
                  <a:t>温度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ea"/>
                    <a:ea typeface="+mn-ea"/>
                  </a:rPr>
                  <a:t>：</a:t>
                </a:r>
                <a:r>
                  <a:rPr lang="en-US" altLang="zh-CN" sz="2400" dirty="0" err="1">
                    <a:latin typeface="+mn-ea"/>
                    <a:ea typeface="+mn-ea"/>
                  </a:rPr>
                  <a:t>升高温度，平衡向吸热方向移动</a:t>
                </a:r>
                <a:r>
                  <a:rPr lang="en-US" altLang="zh-CN" sz="2400" dirty="0">
                    <a:latin typeface="+mn-ea"/>
                    <a:ea typeface="+mn-ea"/>
                  </a:rPr>
                  <a:t>（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Van‘t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Hof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f 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sym typeface="+mn-ea"/>
                  </a:rPr>
                  <a:t>方程式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sz="24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∆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𝐻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 </m:t>
                        </m:r>
                      </m:num>
                      <m:den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2.30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𝑅</m:t>
                        </m:r>
                      </m:den>
                    </m:f>
                    <m:r>
                      <a:rPr lang="en-US" altLang="zh-CN" sz="24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−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sz="2400" i="0" dirty="0"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i="0" dirty="0">
                                <a:latin typeface="Cambria Math" panose="02040503050406030204" pitchFamily="18" charset="0"/>
                                <a:ea typeface="+mn-ea"/>
                                <a:cs typeface="Cambria Math" panose="02040503050406030204" pitchFamily="18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i="0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)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的</m:t>
                    </m:r>
                  </m:oMath>
                </a14:m>
                <a:r>
                  <a:rPr lang="zh-CN" altLang="en-US" sz="2400" dirty="0"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大小变化，决定平衡常数变化</a:t>
                </a:r>
                <a:r>
                  <a:rPr lang="en-US" altLang="zh-CN" sz="2400" dirty="0">
                    <a:latin typeface="+mn-ea"/>
                    <a:ea typeface="+mn-ea"/>
                  </a:rPr>
                  <a:t>）</a:t>
                </a:r>
              </a:p>
              <a:p>
                <a:pPr>
                  <a:buNone/>
                </a:pPr>
                <a:endParaRPr lang="en-US" altLang="zh-CN" sz="2200" dirty="0"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>
          <p:sp>
            <p:nvSpPr>
              <p:cNvPr id="11" name="TextBox 1">
                <a:extLst>
                  <a:ext uri="{FF2B5EF4-FFF2-40B4-BE49-F238E27FC236}">
                    <a16:creationId xmlns:a16="http://schemas.microsoft.com/office/drawing/2014/main" id="{B621D12C-EBC2-4453-8922-CBB47B5DE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073" y="2637000"/>
                <a:ext cx="8581854" cy="3726020"/>
              </a:xfrm>
              <a:prstGeom prst="rect">
                <a:avLst/>
              </a:prstGeom>
              <a:blipFill>
                <a:blip r:embed="rId2"/>
                <a:stretch>
                  <a:fillRect l="-1065" t="-13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FB8561-5C88-461D-A48B-0FC4EC19B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35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2272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04800" y="2637000"/>
                <a:ext cx="8534400" cy="1080000"/>
              </a:xfrm>
            </p:spPr>
            <p:txBody>
              <a:bodyPr/>
              <a:lstStyle/>
              <a:p>
                <a:pPr marL="0" indent="0" latinLnBrk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sz="2400" dirty="0">
                    <a:solidFill>
                      <a:srgbClr val="0000FF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1.</a:t>
                </a:r>
                <a:r>
                  <a:rPr lang="en-US" altLang="zh-CN" sz="2400" dirty="0">
                    <a:solidFill>
                      <a:srgbClr val="0066FF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实验/经验平衡是常数(K)和标准平衡常数(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66FF"/>
                    </a:solidFill>
                  </a:rPr>
                  <a:t>)：</a:t>
                </a:r>
              </a:p>
              <a:p>
                <a:pPr marL="0" indent="0" latinLnBrk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0000FF"/>
                    </a:solidFill>
                  </a:rPr>
                  <a:t>		</a:t>
                </a:r>
                <a:r>
                  <a:rPr lang="zh-CN" altLang="en-US" sz="2400" dirty="0">
                    <a:sym typeface="+mn-ea"/>
                  </a:rPr>
                  <a:t>对于可逆反应：</a:t>
                </a:r>
                <a:r>
                  <a:rPr lang="zh-CN" altLang="en-US" sz="2400" dirty="0">
                    <a:cs typeface="+mn-lt"/>
                    <a:sym typeface="+mn-ea"/>
                  </a:rPr>
                  <a:t>a</a:t>
                </a:r>
                <a:r>
                  <a:rPr lang="zh-CN" altLang="en-US" sz="2400" dirty="0">
                    <a:sym typeface="+mn-ea"/>
                  </a:rPr>
                  <a:t>A</a:t>
                </a:r>
                <a:r>
                  <a:rPr lang="en-US" altLang="zh-CN" sz="2400" dirty="0">
                    <a:sym typeface="+mn-ea"/>
                  </a:rPr>
                  <a:t> </a:t>
                </a:r>
                <a:r>
                  <a:rPr lang="zh-CN" altLang="en-US" sz="2400" dirty="0">
                    <a:sym typeface="+mn-ea"/>
                  </a:rPr>
                  <a:t>+ </a:t>
                </a:r>
                <a:r>
                  <a:rPr lang="zh-CN" altLang="en-US" sz="2400" dirty="0">
                    <a:cs typeface="+mn-lt"/>
                    <a:sym typeface="+mn-ea"/>
                  </a:rPr>
                  <a:t>b</a:t>
                </a:r>
                <a:r>
                  <a:rPr lang="zh-CN" altLang="en-US" sz="2400" dirty="0">
                    <a:sym typeface="+mn-ea"/>
                  </a:rPr>
                  <a:t>B </a:t>
                </a:r>
                <a:r>
                  <a:rPr lang="en-US" altLang="zh-CN" sz="2400" dirty="0">
                    <a:sym typeface="+mn-ea"/>
                  </a:rPr>
                  <a:t> ⇄</a:t>
                </a:r>
                <a:r>
                  <a:rPr lang="zh-CN" altLang="en-US" sz="2400" dirty="0">
                    <a:sym typeface="+mn-ea"/>
                  </a:rPr>
                  <a:t> </a:t>
                </a:r>
                <a:r>
                  <a:rPr lang="zh-CN" altLang="en-US" sz="2400" dirty="0">
                    <a:cs typeface="+mn-lt"/>
                    <a:sym typeface="+mn-ea"/>
                  </a:rPr>
                  <a:t>c</a:t>
                </a:r>
                <a:r>
                  <a:rPr lang="zh-CN" altLang="en-US" sz="2400" dirty="0">
                    <a:sym typeface="+mn-ea"/>
                  </a:rPr>
                  <a:t>C +</a:t>
                </a:r>
                <a:r>
                  <a:rPr lang="en-US" altLang="zh-CN" sz="2400" dirty="0">
                    <a:sym typeface="+mn-ea"/>
                  </a:rPr>
                  <a:t> </a:t>
                </a:r>
                <a:r>
                  <a:rPr lang="zh-CN" altLang="en-US" sz="2400" dirty="0">
                    <a:cs typeface="+mn-lt"/>
                    <a:sym typeface="+mn-ea"/>
                  </a:rPr>
                  <a:t>d</a:t>
                </a:r>
                <a:r>
                  <a:rPr lang="zh-CN" altLang="en-US" sz="2400" dirty="0">
                    <a:sym typeface="+mn-ea"/>
                  </a:rPr>
                  <a:t>D</a:t>
                </a:r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2637000"/>
                <a:ext cx="8534400" cy="1080000"/>
              </a:xfrm>
              <a:blipFill>
                <a:blip r:embed="rId2"/>
                <a:stretch>
                  <a:fillRect l="-71" b="-18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3" name="TextBox 1">
            <a:extLst>
              <a:ext uri="{FF2B5EF4-FFF2-40B4-BE49-F238E27FC236}">
                <a16:creationId xmlns:a16="http://schemas.microsoft.com/office/drawing/2014/main" id="{AF6997D4-AD20-4FE0-B418-DE8DBD623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25000"/>
            <a:ext cx="8534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中心是平衡常数 K，反映平衡状态时各物种浓度的定量关系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CF31CC7-655B-4BF6-A668-4ADD56BA4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941000"/>
            <a:ext cx="8534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5000"/>
            <a:ext cx="8640000" cy="431800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本章小结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2301644C-FC55-4FD5-B21D-85AF005637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2000" y="3818665"/>
                <a:ext cx="8640000" cy="11223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solidFill>
                      <a:srgbClr val="0066FF"/>
                    </a:solidFill>
                  </a:rPr>
                  <a:t>实验平衡常数：</a:t>
                </a:r>
              </a:p>
              <a:p>
                <a:pPr marL="0" indent="0" algn="ctr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B</m:t>
                                </m:r>
                              </m:sub>
                            </m:sSub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den>
                    </m:f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𝑅𝑇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zh-CN" sz="2400" dirty="0">
                    <a:cs typeface="Cambria Math" panose="02040503050406030204" pitchFamily="18" charset="0"/>
                  </a:rPr>
                  <a:t>   </a:t>
                </a:r>
                <a:r>
                  <a:rPr lang="zh-CN" altLang="en-US" sz="2400" dirty="0">
                    <a:cs typeface="Cambria Math" panose="02040503050406030204" pitchFamily="18" charset="0"/>
                  </a:rPr>
                  <a:t>理想气体</a:t>
                </a:r>
              </a:p>
              <a:p>
                <a:pPr marL="0" indent="0">
                  <a:buFontTx/>
                  <a:buNone/>
                </a:pPr>
                <a:endParaRPr lang="zh-CN" altLang="en-US" sz="2400" kern="0" dirty="0"/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2301644C-FC55-4FD5-B21D-85AF00563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00" y="3818665"/>
                <a:ext cx="8640000" cy="1122335"/>
              </a:xfrm>
              <a:prstGeom prst="rect">
                <a:avLst/>
              </a:prstGeom>
              <a:blipFill>
                <a:blip r:embed="rId3"/>
                <a:stretch>
                  <a:fillRect l="-1058" t="-594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64332EA1-D7E5-498A-8A3E-8D8D24F491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5157000"/>
                <a:ext cx="8534400" cy="1080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sz="2400" dirty="0">
                    <a:solidFill>
                      <a:srgbClr val="0066FF"/>
                    </a:solidFill>
                    <a:cs typeface="Cambria Math" panose="02040503050406030204" pitchFamily="18" charset="0"/>
                  </a:rPr>
                  <a:t>标准平衡常数（实验法）：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cs typeface="Cambria Math" panose="02040503050406030204" pitchFamily="18" charset="0"/>
                  </a:rPr>
                  <a:t>	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B</m:t>
                                </m:r>
                              </m:sub>
                            </m:sSub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den>
                    </m:f>
                    <m:r>
                      <a:rPr lang="en-US" altLang="zh-CN" sz="24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CN" sz="24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  <m: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4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b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2400" kern="0" dirty="0"/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64332EA1-D7E5-498A-8A3E-8D8D24F49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157000"/>
                <a:ext cx="8534400" cy="1080000"/>
              </a:xfrm>
              <a:prstGeom prst="rect">
                <a:avLst/>
              </a:prstGeom>
              <a:blipFill>
                <a:blip r:embed="rId4"/>
                <a:stretch>
                  <a:fillRect l="-1071" t="-6215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内容占位符 4">
            <a:extLst>
              <a:ext uri="{FF2B5EF4-FFF2-40B4-BE49-F238E27FC236}">
                <a16:creationId xmlns:a16="http://schemas.microsoft.com/office/drawing/2014/main" id="{95A8FFB6-8862-4206-B1AD-2133ACBBA1E8}"/>
              </a:ext>
            </a:extLst>
          </p:cNvPr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8000" y="1740808"/>
            <a:ext cx="2034785" cy="9097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06DB2C9-DA22-4DA2-9068-42AC77573E04}"/>
              </a:ext>
            </a:extLst>
          </p:cNvPr>
          <p:cNvSpPr txBox="1"/>
          <p:nvPr/>
        </p:nvSpPr>
        <p:spPr>
          <a:xfrm>
            <a:off x="5436000" y="1917000"/>
            <a:ext cx="1584000" cy="461665"/>
          </a:xfrm>
          <a:prstGeom prst="rect">
            <a:avLst/>
          </a:prstGeom>
          <a:ln>
            <a:noFill/>
          </a:ln>
          <a:effectLst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n>
                  <a:noFill/>
                </a:ln>
                <a:solidFill>
                  <a:srgbClr val="0000FF"/>
                </a:solidFill>
              </a:rPr>
              <a:t>动态平衡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9E87562-3A7B-48DA-A7C2-BCAE3CAD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36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056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52000" y="2133000"/>
                <a:ext cx="8892000" cy="1080000"/>
              </a:xfrm>
            </p:spPr>
            <p:txBody>
              <a:bodyPr/>
              <a:lstStyle/>
              <a:p>
                <a:pPr marL="0" indent="0" latinLnBrk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200" dirty="0"/>
                  <a:t>可由标准Gibbs生成自由能获得，从而计算298K下反应的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200" dirty="0"/>
                  <a:t>。</a:t>
                </a:r>
              </a:p>
              <a:p>
                <a:pPr marL="0" indent="0" latinLnBrk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200" dirty="0"/>
                  <a:t> 可由</a:t>
                </a:r>
                <a:r>
                  <a:rPr lang="zh-CN" altLang="en-US" sz="2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2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𝐻</m:t>
                        </m:r>
                      </m:e>
                      <m:sub>
                        <m: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2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− </m:t>
                    </m:r>
                    <m:r>
                      <a:rPr lang="en-US" altLang="zh-CN" sz="22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𝑇</m:t>
                    </m:r>
                    <m:sSubSup>
                      <m:sSubSup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𝑆</m:t>
                        </m:r>
                      </m:e>
                      <m:sub>
                        <m: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zh-CN" altLang="en-US" sz="2200" dirty="0"/>
                  <a:t>计算， 从而获得不同温度下的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200" dirty="0"/>
                  <a:t>。</a:t>
                </a:r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2000" y="2133000"/>
                <a:ext cx="8892000" cy="1080000"/>
              </a:xfrm>
              <a:blipFill>
                <a:blip r:embed="rId2"/>
                <a:stretch>
                  <a:fillRect l="-69" b="-118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2000" y="981000"/>
                <a:ext cx="8640000" cy="11208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sz="2400" dirty="0">
                    <a:solidFill>
                      <a:srgbClr val="0066FF"/>
                    </a:solidFill>
                    <a:latin typeface="+mj-ea"/>
                    <a:ea typeface="+mj-ea"/>
                  </a:rPr>
                  <a:t>标准平衡常数（热力学数据）：</a:t>
                </a:r>
              </a:p>
              <a:p>
                <a:pPr marL="0" indent="0" latinLnBrk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  <a:cs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  <a:cs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  <a:cs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  <a:cs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  <a:cs typeface="Cambria Math" panose="02040503050406030204" pitchFamily="18" charset="0"/>
                            </a:rPr>
                            <m:t>θ</m:t>
                          </m:r>
                        </m:sup>
                      </m:sSubSup>
                      <m:r>
                        <a:rPr lang="en-US" altLang="zh-CN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  <a:cs typeface="Cambria Math" panose="02040503050406030204" pitchFamily="18" charset="0"/>
                        </a:rPr>
                        <m:t>=−2.30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  <a:cs typeface="Cambria Math" panose="02040503050406030204" pitchFamily="18" charset="0"/>
                        </a:rPr>
                        <m:t>𝑅𝑇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j-ea"/>
                          <a:cs typeface="Cambria Math" panose="02040503050406030204" pitchFamily="18" charset="0"/>
                        </a:rPr>
                        <m:t>lg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j-ea"/>
                              <a:cs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  <a:latin typeface="+mj-ea"/>
                  <a:ea typeface="+mj-ea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000" y="981000"/>
                <a:ext cx="8640000" cy="1120820"/>
              </a:xfrm>
              <a:prstGeom prst="rect">
                <a:avLst/>
              </a:prstGeom>
              <a:blipFill>
                <a:blip r:embed="rId3"/>
                <a:stretch>
                  <a:fillRect l="-10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>
            <a:extLst>
              <a:ext uri="{FF2B5EF4-FFF2-40B4-BE49-F238E27FC236}">
                <a16:creationId xmlns:a16="http://schemas.microsoft.com/office/drawing/2014/main" id="{7CF31CC7-655B-4BF6-A668-4ADD56BA4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00" y="4005000"/>
            <a:ext cx="8534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5000"/>
            <a:ext cx="8640000" cy="431800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本章小结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301644C-FC55-4FD5-B21D-85AF00563741}"/>
              </a:ext>
            </a:extLst>
          </p:cNvPr>
          <p:cNvSpPr txBox="1">
            <a:spLocks/>
          </p:cNvSpPr>
          <p:nvPr/>
        </p:nvSpPr>
        <p:spPr>
          <a:xfrm>
            <a:off x="252000" y="3429000"/>
            <a:ext cx="8640000" cy="43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66FF"/>
                </a:solidFill>
              </a:rPr>
              <a:t>2.</a:t>
            </a:r>
            <a:r>
              <a:rPr lang="en-US" altLang="zh-CN" sz="2400" dirty="0">
                <a:solidFill>
                  <a:srgbClr val="0066FF"/>
                </a:solidFill>
              </a:rPr>
              <a:t> </a:t>
            </a:r>
            <a:r>
              <a:rPr lang="zh-CN" altLang="en-US" sz="2400" dirty="0">
                <a:solidFill>
                  <a:srgbClr val="0066FF"/>
                </a:solidFill>
              </a:rPr>
              <a:t>平衡常数与化学反应的限度：</a:t>
            </a:r>
            <a:endParaRPr lang="zh-CN" altLang="en-US" sz="2000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64332EA1-D7E5-498A-8A3E-8D8D24F491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2000" y="3933000"/>
                <a:ext cx="8640000" cy="2520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sz="2200" i="1" dirty="0"/>
                  <a:t>K</a:t>
                </a:r>
                <a:r>
                  <a:rPr lang="zh-CN" altLang="en-US" sz="2200" dirty="0"/>
                  <a:t>反映了在给定温度下反应的限度。</a:t>
                </a:r>
                <a:r>
                  <a:rPr lang="zh-CN" altLang="en-US" sz="2200" i="1" dirty="0"/>
                  <a:t>K</a:t>
                </a:r>
                <a:r>
                  <a:rPr lang="zh-CN" altLang="en-US" sz="2200" dirty="0"/>
                  <a:t>值大，反应容易进行。一般认为：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200" dirty="0">
                    <a:solidFill>
                      <a:srgbClr val="0000FF"/>
                    </a:solidFill>
                    <a:sym typeface="+mn-ea"/>
                  </a:rPr>
                  <a:t>	</a:t>
                </a:r>
                <a:r>
                  <a:rPr lang="zh-CN" altLang="en-US" sz="2200" dirty="0">
                    <a:sym typeface="+mn-ea"/>
                  </a:rPr>
                  <a:t>（1）</a:t>
                </a:r>
                <a:r>
                  <a:rPr lang="zh-CN" altLang="en-US" sz="2200" i="1" dirty="0">
                    <a:sym typeface="+mn-ea"/>
                  </a:rPr>
                  <a:t>K</a:t>
                </a:r>
                <a:r>
                  <a:rPr lang="en-US" altLang="zh-CN" sz="2200" dirty="0">
                    <a:sym typeface="+mn-ea"/>
                  </a:rPr>
                  <a:t> 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+7</m:t>
                        </m:r>
                      </m:sup>
                    </m:sSup>
                  </m:oMath>
                </a14:m>
                <a:r>
                  <a:rPr lang="en-US" altLang="zh-CN" sz="2200" dirty="0">
                    <a:sym typeface="+mn-ea"/>
                  </a:rPr>
                  <a:t> 		</a:t>
                </a:r>
                <a:r>
                  <a:rPr lang="zh-CN" altLang="en-US" sz="2200" dirty="0">
                    <a:sym typeface="+mn-ea"/>
                  </a:rPr>
                  <a:t>自发，反应彻底</a:t>
                </a:r>
                <a:endParaRPr lang="zh-CN" altLang="en-US" sz="22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200" dirty="0">
                    <a:sym typeface="+mn-ea"/>
                  </a:rPr>
                  <a:t>	</a:t>
                </a:r>
                <a:r>
                  <a:rPr lang="zh-CN" altLang="en-US" sz="2200" dirty="0">
                    <a:sym typeface="+mn-ea"/>
                  </a:rPr>
                  <a:t>（</a:t>
                </a:r>
                <a:r>
                  <a:rPr lang="en-US" altLang="zh-CN" sz="2200" dirty="0">
                    <a:sym typeface="+mn-ea"/>
                  </a:rPr>
                  <a:t>2</a:t>
                </a:r>
                <a:r>
                  <a:rPr lang="zh-CN" altLang="en-US" sz="2200" dirty="0">
                    <a:sym typeface="+mn-ea"/>
                  </a:rPr>
                  <a:t>）</a:t>
                </a:r>
                <a:r>
                  <a:rPr lang="zh-CN" altLang="en-US" sz="2200" i="1" dirty="0">
                    <a:sym typeface="+mn-ea"/>
                  </a:rPr>
                  <a:t>K</a:t>
                </a:r>
                <a:r>
                  <a:rPr lang="zh-CN" altLang="en-US" sz="2200" dirty="0">
                    <a:sym typeface="+mn-ea"/>
                  </a:rPr>
                  <a:t> </a:t>
                </a:r>
                <a:r>
                  <a:rPr lang="en-US" altLang="zh-CN" sz="2200" dirty="0">
                    <a:sym typeface="+mn-ea"/>
                  </a:rPr>
                  <a:t>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altLang="zh-CN" sz="2200" dirty="0">
                    <a:cs typeface="Cambria Math" panose="02040503050406030204" pitchFamily="18" charset="0"/>
                    <a:sym typeface="+mn-ea"/>
                  </a:rPr>
                  <a:t>			</a:t>
                </a:r>
                <a:r>
                  <a:rPr lang="zh-CN" altLang="en-US" sz="2200" dirty="0">
                    <a:sym typeface="+mn-ea"/>
                  </a:rPr>
                  <a:t>非自发，不能进行</a:t>
                </a:r>
                <a:endParaRPr lang="en-US" altLang="zh-CN" sz="2200" dirty="0">
                  <a:cs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200" dirty="0">
                    <a:sym typeface="+mn-ea"/>
                  </a:rPr>
                  <a:t>	</a:t>
                </a:r>
                <a:r>
                  <a:rPr lang="zh-CN" altLang="en-US" sz="2200" dirty="0">
                    <a:sym typeface="+mn-ea"/>
                  </a:rPr>
                  <a:t>（3）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+7</m:t>
                        </m:r>
                      </m:sup>
                    </m:sSup>
                  </m:oMath>
                </a14:m>
                <a:r>
                  <a:rPr lang="en-US" altLang="zh-CN" sz="2200" dirty="0">
                    <a:sym typeface="+mn-ea"/>
                  </a:rPr>
                  <a:t> </a:t>
                </a:r>
                <a:r>
                  <a:rPr lang="zh-CN" altLang="en-US" sz="2200" dirty="0">
                    <a:sym typeface="+mn-ea"/>
                  </a:rPr>
                  <a:t>&gt;</a:t>
                </a:r>
                <a:r>
                  <a:rPr lang="en-US" altLang="zh-CN" sz="2200" dirty="0">
                    <a:sym typeface="+mn-ea"/>
                  </a:rPr>
                  <a:t> </a:t>
                </a:r>
                <a:r>
                  <a:rPr lang="zh-CN" altLang="en-US" sz="2200" i="1" dirty="0">
                    <a:sym typeface="+mn-ea"/>
                  </a:rPr>
                  <a:t>K</a:t>
                </a:r>
                <a:r>
                  <a:rPr lang="en-US" altLang="zh-CN" sz="2200" dirty="0">
                    <a:sym typeface="+mn-ea"/>
                  </a:rPr>
                  <a:t> </a:t>
                </a:r>
                <a:r>
                  <a:rPr lang="zh-CN" altLang="en-US" sz="2200" dirty="0">
                    <a:sym typeface="+mn-ea"/>
                  </a:rPr>
                  <a:t>&gt;</a:t>
                </a:r>
                <a:r>
                  <a:rPr lang="en-US" altLang="zh-CN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altLang="zh-CN" sz="2200" dirty="0">
                    <a:sym typeface="+mn-ea"/>
                  </a:rPr>
                  <a:t>		</a:t>
                </a:r>
                <a:r>
                  <a:rPr lang="zh-CN" altLang="en-US" sz="2200" dirty="0">
                    <a:sym typeface="+mn-ea"/>
                  </a:rPr>
                  <a:t>一定程度进行</a:t>
                </a:r>
                <a:endParaRPr lang="en-US" altLang="zh-CN" sz="2200" dirty="0">
                  <a:sym typeface="+mn-ea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zh-CN" altLang="en-US" sz="22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sz="2200" dirty="0"/>
                  <a:t>注：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+7</m:t>
                        </m:r>
                      </m:sup>
                    </m:sSup>
                  </m:oMath>
                </a14:m>
                <a:r>
                  <a:rPr lang="zh-CN" altLang="en-US" sz="2200" dirty="0"/>
                  <a:t>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zh-CN" altLang="en-US" sz="2200" dirty="0"/>
                  <a:t>数值的确定与反应类型相关，为半定量描述。</a:t>
                </a:r>
                <a:endParaRPr lang="zh-CN" altLang="en-US" sz="2200" kern="0" dirty="0"/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64332EA1-D7E5-498A-8A3E-8D8D24F49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00" y="3933000"/>
                <a:ext cx="8640000" cy="2520000"/>
              </a:xfrm>
              <a:prstGeom prst="rect">
                <a:avLst/>
              </a:prstGeom>
              <a:blipFill>
                <a:blip r:embed="rId4"/>
                <a:stretch>
                  <a:fillRect l="-917" t="-2415" b="-96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0FE656-97A8-4578-946D-96BA1E69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37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4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52000" y="2133000"/>
                <a:ext cx="8639998" cy="1080000"/>
              </a:xfrm>
            </p:spPr>
            <p:txBody>
              <a:bodyPr/>
              <a:lstStyle/>
              <a:p>
                <a:pPr marL="0" indent="0" latinLnBrk="0">
                  <a:buNone/>
                </a:pPr>
                <a:r>
                  <a:rPr lang="zh-CN" altLang="en-US" sz="24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Van't</a:t>
                </a:r>
                <a:r>
                  <a:rPr lang="en-US" altLang="zh-CN" sz="24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24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Hof</a:t>
                </a:r>
                <a:r>
                  <a:rPr lang="en-US" altLang="zh-CN" sz="24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f 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等温式：</a:t>
                </a:r>
              </a:p>
              <a:p>
                <a:pPr marL="0" indent="0" latinLnBrk="0">
                  <a:buNone/>
                </a:pPr>
                <a:r>
                  <a:rPr lang="en-US" altLang="zh-CN" sz="2400" dirty="0">
                    <a:cs typeface="Cambria Math" panose="02040503050406030204" pitchFamily="18" charset="0"/>
                    <a:sym typeface="+mn-ea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+ 2.30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𝑅𝑇</m:t>
                    </m:r>
                    <m:r>
                      <m:rPr>
                        <m:sty m:val="p"/>
                      </m:rP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lg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𝑄</m:t>
                    </m:r>
                    <m:r>
                      <a:rPr lang="en-US" altLang="zh-CN" sz="24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= 2.30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𝑅𝑇</m:t>
                    </m:r>
                    <m:r>
                      <m:rPr>
                        <m:sty m:val="p"/>
                      </m:rPr>
                      <a:rPr lang="en-US" altLang="zh-CN" sz="24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lg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𝑄</m:t>
                    </m:r>
                    <m:r>
                      <a:rPr lang="en-US" altLang="zh-CN" sz="24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4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cs typeface="Cambria Math" panose="02040503050406030204" pitchFamily="18" charset="0"/>
                </a:endParaRPr>
              </a:p>
              <a:p>
                <a:pPr marL="0" indent="0" latinLnBrk="0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		</a:t>
                </a:r>
                <a:r>
                  <a:rPr lang="zh-CN" altLang="en-US" sz="2200" i="1" dirty="0"/>
                  <a:t>Q</a:t>
                </a:r>
                <a:r>
                  <a:rPr lang="zh-CN" altLang="en-US" sz="2200" dirty="0"/>
                  <a:t>：起始分压商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zh-CN" altLang="en-US" sz="2200" dirty="0"/>
                  <a:t>，或起始浓度商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CN" altLang="en-US" sz="2200" dirty="0"/>
                  <a:t>。</a:t>
                </a:r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2000" y="2133000"/>
                <a:ext cx="8639998" cy="1080000"/>
              </a:xfrm>
              <a:blipFill>
                <a:blip r:embed="rId3"/>
                <a:stretch>
                  <a:fillRect l="-1058" t="-6215" b="-48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2000" y="837000"/>
                <a:ext cx="8639998" cy="1688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indent="0" latinLnBrk="0">
                  <a:buNone/>
                </a:pP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3.</a:t>
                </a: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 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</a:rPr>
                  <a:t>非标态下化学反应的方向：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+mn-lt"/>
                    <a:ea typeface="+mn-ea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𝑇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𝐻</m:t>
                        </m:r>
                      </m:e>
                      <m:sub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 − 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Cambria Math" panose="02040503050406030204" pitchFamily="18" charset="0"/>
                        <a:sym typeface="+mn-ea"/>
                      </a:rPr>
                      <m:t>𝑇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𝑆</m:t>
                        </m:r>
                      </m:e>
                      <m:sub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298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endParaRPr lang="zh-CN" altLang="en-US" sz="2400" dirty="0">
                  <a:latin typeface="+mn-lt"/>
                  <a:ea typeface="+mn-ea"/>
                </a:endParaRPr>
              </a:p>
              <a:p>
                <a:pPr marL="0" indent="0" latinLnBrk="0">
                  <a:buNone/>
                </a:pPr>
                <a:r>
                  <a:rPr lang="zh-CN" altLang="en-US" sz="2400" dirty="0">
                    <a:latin typeface="+mn-lt"/>
                    <a:ea typeface="+mn-ea"/>
                  </a:rPr>
                  <a:t>实际情况下，往往反应物与生成物的浓度（或压力）不是标准状态。</a:t>
                </a:r>
              </a:p>
              <a:p>
                <a:pPr marL="0" indent="0" latinLnBrk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altLang="zh-CN" sz="2400" dirty="0">
                  <a:solidFill>
                    <a:srgbClr val="FF0000"/>
                  </a:solidFill>
                  <a:latin typeface="+mj-ea"/>
                  <a:ea typeface="+mj-ea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000" y="837000"/>
                <a:ext cx="8639998" cy="1688154"/>
              </a:xfrm>
              <a:prstGeom prst="rect">
                <a:avLst/>
              </a:prstGeom>
              <a:blipFill>
                <a:blip r:embed="rId4"/>
                <a:stretch>
                  <a:fillRect l="-1058" t="-25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>
            <a:extLst>
              <a:ext uri="{FF2B5EF4-FFF2-40B4-BE49-F238E27FC236}">
                <a16:creationId xmlns:a16="http://schemas.microsoft.com/office/drawing/2014/main" id="{7CF31CC7-655B-4BF6-A668-4ADD56BA4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00" y="4005000"/>
            <a:ext cx="8534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5000"/>
            <a:ext cx="8640000" cy="431800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本章小结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2301644C-FC55-4FD5-B21D-85AF005637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999" y="3717000"/>
                <a:ext cx="8639999" cy="1584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200" dirty="0">
                    <a:cs typeface="Cambria Math" panose="02040503050406030204" pitchFamily="18" charset="0"/>
                    <a:sym typeface="+mn-ea"/>
                  </a:rPr>
                  <a:t>		</a:t>
                </a:r>
                <a:r>
                  <a:rPr lang="zh-CN" altLang="en-US" sz="2200" dirty="0">
                    <a:cs typeface="Cambria Math" panose="02040503050406030204" pitchFamily="18" charset="0"/>
                    <a:sym typeface="+mn-ea"/>
                  </a:rPr>
                  <a:t>如：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2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 + 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2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 ⇄ 2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NH</m:t>
                        </m:r>
                      </m:e>
                      <m:sub>
                        <m:r>
                          <a:rPr lang="en-US" altLang="zh-CN" sz="220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3</m:t>
                        </m:r>
                      </m:sub>
                    </m:sSub>
                    <m:r>
                      <a:rPr lang="en-US" altLang="zh-CN" sz="22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2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g</m:t>
                    </m:r>
                    <m:r>
                      <a:rPr lang="en-US" altLang="zh-CN" sz="220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>
                  <a:cs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200" dirty="0">
                    <a:cs typeface="Cambria Math" panose="02040503050406030204" pitchFamily="18" charset="0"/>
                    <a:sym typeface="+mn-ea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2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i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NH</m:t>
                                    </m:r>
                                  </m:e>
                                  <m:sub>
                                    <m:r>
                                      <a:rPr lang="en-US" altLang="zh-CN" sz="2200" i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i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2200" i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•[</m:t>
                        </m:r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altLang="zh-CN" sz="2200" dirty="0">
                    <a:cs typeface="Cambria Math" panose="02040503050406030204" pitchFamily="18" charset="0"/>
                    <a:sym typeface="+mn-ea"/>
                  </a:rPr>
                  <a:t> 	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bSup>
                    <m:r>
                      <a:rPr lang="en-US" altLang="zh-CN" sz="2200" i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i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NH</m:t>
                                    </m:r>
                                  </m:e>
                                  <m:sub>
                                    <m:r>
                                      <a:rPr lang="en-US" altLang="zh-CN" sz="2200" i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i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CN" sz="2200" i="0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•(</m:t>
                        </m:r>
                        <m:sSub>
                          <m:sSub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200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en-US" altLang="zh-CN" sz="2200" i="0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200" i="0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200" dirty="0">
                  <a:cs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sz="2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		[  ]</a:t>
                </a:r>
                <a:r>
                  <a:rPr lang="zh-CN" altLang="en-US" sz="2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表示平衡浓度，</a:t>
                </a:r>
                <a:r>
                  <a:rPr lang="en-US" altLang="zh-CN" sz="2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(  )</a:t>
                </a:r>
                <a:r>
                  <a:rPr lang="zh-CN" altLang="en-US" sz="22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表示起始浓度</a:t>
                </a:r>
                <a:endParaRPr lang="en-US" altLang="zh-CN" sz="2200" dirty="0">
                  <a:latin typeface="Cambria Math" panose="02040503050406030204" pitchFamily="18" charset="0"/>
                  <a:ea typeface="黑体" panose="02010609060101010101" pitchFamily="49" charset="-122"/>
                  <a:cs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2301644C-FC55-4FD5-B21D-85AF00563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99" y="3717000"/>
                <a:ext cx="8639999" cy="1584000"/>
              </a:xfrm>
              <a:prstGeom prst="rect">
                <a:avLst/>
              </a:prstGeom>
              <a:blipFill>
                <a:blip r:embed="rId5"/>
                <a:stretch>
                  <a:fillRect t="-3846" b="-3077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64332EA1-D7E5-498A-8A3E-8D8D24F491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2000" y="5373000"/>
                <a:ext cx="8640000" cy="10800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2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在非标态、指定温度下</a:t>
                </a:r>
                <a:r>
                  <a:rPr lang="zh-CN" altLang="en-US" sz="22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𝑄</m:t>
                    </m:r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&lt; 1</m:t>
                    </m:r>
                  </m:oMath>
                </a14:m>
                <a:r>
                  <a:rPr lang="en-US" altLang="zh-CN" sz="2200" dirty="0">
                    <a:cs typeface="Cambria Math" panose="02040503050406030204" pitchFamily="18" charset="0"/>
                    <a:sym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2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2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&lt; 0</m:t>
                    </m:r>
                  </m:oMath>
                </a14:m>
                <a:r>
                  <a:rPr lang="en-US" altLang="zh-CN" sz="2200" dirty="0">
                    <a:cs typeface="Cambria Math" panose="02040503050406030204" pitchFamily="18" charset="0"/>
                    <a:sym typeface="+mn-ea"/>
                  </a:rPr>
                  <a:t>，正向自发</a:t>
                </a:r>
                <a:r>
                  <a:rPr lang="zh-CN" altLang="en-US" sz="2200" dirty="0">
                    <a:cs typeface="Cambria Math" panose="02040503050406030204" pitchFamily="18" charset="0"/>
                    <a:sym typeface="+mn-ea"/>
                  </a:rPr>
                  <a:t>；</a:t>
                </a:r>
                <a:endParaRPr lang="en-US" altLang="zh-CN" sz="2200" dirty="0">
                  <a:cs typeface="Cambria Math" panose="02040503050406030204" pitchFamily="18" charset="0"/>
                  <a:sym typeface="+mn-ea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200" dirty="0">
                    <a:cs typeface="Cambria Math" panose="02040503050406030204" pitchFamily="18" charset="0"/>
                    <a:sym typeface="+mn-ea"/>
                  </a:rPr>
                  <a:t>		             </a:t>
                </a:r>
                <a14:m>
                  <m:oMath xmlns:m="http://schemas.openxmlformats.org/officeDocument/2006/math">
                    <m:r>
                      <a:rPr lang="en-US" altLang="zh-CN" sz="22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</m:t>
                    </m:r>
                    <m:r>
                      <a:rPr lang="en-US" altLang="zh-CN" sz="22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  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𝑄</m:t>
                    </m:r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&gt; 1</m:t>
                    </m:r>
                  </m:oMath>
                </a14:m>
                <a:r>
                  <a:rPr lang="zh-CN" altLang="en-US" sz="2200" dirty="0">
                    <a:cs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2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2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&gt; 0</m:t>
                    </m:r>
                  </m:oMath>
                </a14:m>
                <a:r>
                  <a:rPr lang="zh-CN" altLang="en-US" sz="2200" dirty="0">
                    <a:cs typeface="Cambria Math" panose="02040503050406030204" pitchFamily="18" charset="0"/>
                    <a:sym typeface="+mn-ea"/>
                  </a:rPr>
                  <a:t>，</a:t>
                </a:r>
                <a:r>
                  <a:rPr lang="en-US" altLang="zh-CN" sz="2200" dirty="0">
                    <a:cs typeface="Cambria Math" panose="02040503050406030204" pitchFamily="18" charset="0"/>
                    <a:sym typeface="+mn-ea"/>
                  </a:rPr>
                  <a:t>正向非自发</a:t>
                </a:r>
                <a:r>
                  <a:rPr lang="zh-CN" altLang="en-US" sz="2200" dirty="0">
                    <a:cs typeface="Cambria Math" panose="02040503050406030204" pitchFamily="18" charset="0"/>
                    <a:sym typeface="+mn-ea"/>
                  </a:rPr>
                  <a:t>；</a:t>
                </a:r>
                <a:endParaRPr lang="en-US" altLang="zh-CN" sz="2200" dirty="0">
                  <a:cs typeface="Cambria Math" panose="02040503050406030204" pitchFamily="18" charset="0"/>
                  <a:sym typeface="+mn-ea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200" dirty="0">
                    <a:cs typeface="Cambria Math" panose="02040503050406030204" pitchFamily="18" charset="0"/>
                    <a:sym typeface="+mn-ea"/>
                  </a:rPr>
                  <a:t>		              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  </m:t>
                    </m:r>
                    <m:r>
                      <a:rPr lang="en-US" altLang="zh-CN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𝑄</m:t>
                    </m:r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altLang="zh-CN" sz="22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altLang="zh-CN" sz="2200" dirty="0">
                    <a:cs typeface="Cambria Math" panose="02040503050406030204" pitchFamily="18" charset="0"/>
                    <a:sym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2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200" i="0" dirty="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= 0</m:t>
                    </m:r>
                  </m:oMath>
                </a14:m>
                <a:r>
                  <a:rPr lang="en-US" altLang="zh-CN" sz="2200" dirty="0">
                    <a:cs typeface="Cambria Math" panose="02040503050406030204" pitchFamily="18" charset="0"/>
                    <a:sym typeface="+mn-ea"/>
                  </a:rPr>
                  <a:t>，处于平衡。</a:t>
                </a: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64332EA1-D7E5-498A-8A3E-8D8D24F49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00" y="5373000"/>
                <a:ext cx="8640000" cy="1080000"/>
              </a:xfrm>
              <a:prstGeom prst="rect">
                <a:avLst/>
              </a:prstGeom>
              <a:blipFill>
                <a:blip r:embed="rId6"/>
                <a:stretch>
                  <a:fillRect l="-917" t="-3933" b="-15169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2160FB0-1AAD-4C13-9F60-E05456E66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38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92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52000" y="2421000"/>
                <a:ext cx="8640000" cy="1656000"/>
              </a:xfrm>
            </p:spPr>
            <p:txBody>
              <a:bodyPr/>
              <a:lstStyle/>
              <a:p>
                <a:pPr marL="0" indent="0" latinLnBrk="0">
                  <a:buNone/>
                </a:pPr>
                <a:r>
                  <a:rPr lang="en-US" altLang="zh-CN" sz="2200" dirty="0">
                    <a:sym typeface="+mn-ea"/>
                  </a:rPr>
                  <a:t>	</a:t>
                </a:r>
                <a:r>
                  <a:rPr lang="zh-CN" altLang="en-US" sz="2200" dirty="0">
                    <a:sym typeface="+mn-ea"/>
                  </a:rPr>
                  <a:t>①</a:t>
                </a:r>
                <a:r>
                  <a:rPr lang="en-US" altLang="zh-CN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200" dirty="0">
                    <a:sym typeface="+mn-ea"/>
                  </a:rPr>
                  <a:t> ≤ - </a:t>
                </a:r>
                <a:r>
                  <a:rPr lang="zh-CN" altLang="en-US" sz="2200" dirty="0">
                    <a:sym typeface="+mn-ea"/>
                  </a:rPr>
                  <a:t>40 kJ/mol</a:t>
                </a:r>
                <a:r>
                  <a:rPr lang="en-US" altLang="zh-CN" sz="2200" dirty="0">
                    <a:sym typeface="+mn-ea"/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altLang="zh-CN" sz="2200" dirty="0">
                    <a:sym typeface="+mn-ea"/>
                  </a:rPr>
                  <a:t> ≥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+7</m:t>
                        </m:r>
                      </m:sup>
                    </m:sSup>
                  </m:oMath>
                </a14:m>
                <a:r>
                  <a:rPr lang="en-US" altLang="zh-CN" sz="2200" dirty="0">
                    <a:sym typeface="+mn-ea"/>
                  </a:rPr>
                  <a:t>            </a:t>
                </a:r>
                <a:r>
                  <a:rPr lang="zh-CN" altLang="en-US" sz="2200" dirty="0">
                    <a:sym typeface="+mn-ea"/>
                  </a:rPr>
                  <a:t>反应自发、完全</a:t>
                </a:r>
                <a:endParaRPr lang="zh-CN" altLang="en-US" sz="2200" dirty="0"/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200" dirty="0">
                    <a:sym typeface="+mn-ea"/>
                  </a:rPr>
                  <a:t>	</a:t>
                </a:r>
                <a:r>
                  <a:rPr lang="zh-CN" altLang="en-US" sz="2200" dirty="0">
                    <a:sym typeface="+mn-ea"/>
                  </a:rPr>
                  <a:t>②</a:t>
                </a:r>
                <a:r>
                  <a:rPr lang="en-US" altLang="zh-CN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200" dirty="0">
                    <a:solidFill>
                      <a:srgbClr val="FF0000"/>
                    </a:solidFill>
                    <a:sym typeface="+mn-ea"/>
                  </a:rPr>
                  <a:t> </a:t>
                </a:r>
                <a:r>
                  <a:rPr lang="en-US" altLang="zh-CN" sz="2200" dirty="0">
                    <a:sym typeface="+mn-ea"/>
                  </a:rPr>
                  <a:t>≥ +</a:t>
                </a:r>
                <a:r>
                  <a:rPr lang="zh-CN" altLang="en-US" sz="2200" dirty="0">
                    <a:sym typeface="+mn-ea"/>
                  </a:rPr>
                  <a:t>40 kJ/mol</a:t>
                </a:r>
                <a:r>
                  <a:rPr lang="en-US" altLang="zh-CN" sz="2200" dirty="0">
                    <a:sym typeface="+mn-ea"/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altLang="zh-CN" sz="2200" dirty="0">
                    <a:sym typeface="+mn-ea"/>
                  </a:rPr>
                  <a:t> 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altLang="zh-CN" sz="2200" dirty="0">
                    <a:solidFill>
                      <a:srgbClr val="0000FF"/>
                    </a:solidFill>
                    <a:cs typeface="Cambria Math" panose="02040503050406030204" pitchFamily="18" charset="0"/>
                    <a:sym typeface="+mn-ea"/>
                  </a:rPr>
                  <a:t>	        </a:t>
                </a:r>
                <a:r>
                  <a:rPr lang="zh-CN" altLang="en-US" sz="2200" dirty="0">
                    <a:cs typeface="Cambria Math" panose="02040503050406030204" pitchFamily="18" charset="0"/>
                    <a:sym typeface="+mn-ea"/>
                  </a:rPr>
                  <a:t>反应不可能</a:t>
                </a:r>
                <a:endParaRPr lang="en-US" altLang="zh-CN" sz="2200" dirty="0">
                  <a:solidFill>
                    <a:srgbClr val="0000FF"/>
                  </a:solidFill>
                  <a:cs typeface="Cambria Math" panose="02040503050406030204" pitchFamily="18" charset="0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200" dirty="0">
                    <a:sym typeface="+mn-ea"/>
                  </a:rPr>
                  <a:t>	</a:t>
                </a:r>
                <a:r>
                  <a:rPr lang="zh-CN" altLang="en-US" sz="2200" dirty="0">
                    <a:sym typeface="+mn-ea"/>
                  </a:rPr>
                  <a:t>③</a:t>
                </a:r>
                <a:r>
                  <a:rPr lang="en-US" altLang="zh-CN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0">
                        <a:latin typeface="Cambria Math" panose="02040503050406030204" pitchFamily="18" charset="0"/>
                        <a:sym typeface="+mn-ea"/>
                      </a:rPr>
                      <m:t>−40&lt;</m:t>
                    </m:r>
                    <m:sSubSup>
                      <m:sSubSupPr>
                        <m:ctrlP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2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</m:oMath>
                </a14:m>
                <a:r>
                  <a:rPr lang="en-US" altLang="zh-CN" sz="2200" dirty="0">
                    <a:sym typeface="+mn-ea"/>
                  </a:rPr>
                  <a:t> &lt; +</a:t>
                </a:r>
                <a:r>
                  <a:rPr lang="zh-CN" altLang="en-US" sz="2200" dirty="0">
                    <a:sym typeface="+mn-ea"/>
                  </a:rPr>
                  <a:t>40</a:t>
                </a:r>
                <a:r>
                  <a:rPr lang="en-US" altLang="zh-CN" sz="2200" dirty="0">
                    <a:sym typeface="+mn-ea"/>
                  </a:rPr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altLang="zh-CN" sz="2200" dirty="0">
                    <a:sym typeface="+mn-ea"/>
                  </a:rPr>
                  <a:t> &lt;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altLang="zh-CN" sz="2200" dirty="0">
                    <a:sym typeface="+mn-ea"/>
                  </a:rPr>
                  <a:t> &lt;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2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+7</m:t>
                        </m:r>
                      </m:sup>
                    </m:sSup>
                  </m:oMath>
                </a14:m>
                <a:r>
                  <a:rPr lang="en-US" altLang="zh-CN" sz="2200" dirty="0">
                    <a:sym typeface="+mn-ea"/>
                  </a:rPr>
                  <a:t>   </a:t>
                </a:r>
                <a:r>
                  <a:rPr lang="zh-CN" altLang="en-US" sz="2200" dirty="0">
                    <a:sym typeface="+mn-ea"/>
                  </a:rPr>
                  <a:t>可通过改变条件</a:t>
                </a: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ym typeface="+mn-ea"/>
                  </a:rPr>
                  <a:t>					                  </a:t>
                </a:r>
                <a:r>
                  <a:rPr lang="zh-CN" altLang="en-US" sz="2200" dirty="0">
                    <a:sym typeface="+mn-ea"/>
                  </a:rPr>
                  <a:t>来促进反应进行</a:t>
                </a:r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2000" y="2421000"/>
                <a:ext cx="8640000" cy="1656000"/>
              </a:xfrm>
              <a:blipFill>
                <a:blip r:embed="rId3"/>
                <a:stretch>
                  <a:fillRect t="-2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2000" y="909000"/>
                <a:ext cx="8640000" cy="13125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lnSpc>
                    <a:spcPct val="200000"/>
                  </a:lnSpc>
                  <a:buNone/>
                </a:pPr>
                <a:r>
                  <a:rPr lang="en-US" altLang="zh-CN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4. </a:t>
                </a:r>
                <a:r>
                  <a:rPr lang="en-US" altLang="zh-CN" sz="2400" dirty="0" err="1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标态吉布斯自由能与化学反应的限度</a:t>
                </a:r>
                <a:r>
                  <a:rPr lang="zh-CN" altLang="en-US" sz="2400" dirty="0">
                    <a:solidFill>
                      <a:srgbClr val="0066FF"/>
                    </a:solidFill>
                    <a:latin typeface="+mn-lt"/>
                    <a:ea typeface="+mn-ea"/>
                    <a:cs typeface="Cambria Math" panose="02040503050406030204" pitchFamily="18" charset="0"/>
                    <a:sym typeface="+mn-ea"/>
                  </a:rPr>
                  <a:t>：</a:t>
                </a:r>
                <a:endParaRPr lang="en-US" altLang="zh-CN" sz="2400" dirty="0">
                  <a:solidFill>
                    <a:srgbClr val="0066FF"/>
                  </a:solidFill>
                  <a:latin typeface="+mn-lt"/>
                  <a:ea typeface="+mn-ea"/>
                  <a:cs typeface="Cambria Math" panose="02040503050406030204" pitchFamily="18" charset="0"/>
                  <a:sym typeface="+mn-ea"/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  <m:r>
                      <a:rPr lang="en-US" altLang="zh-CN" sz="24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= 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SupPr>
                      <m:e>
                        <m: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θ</m:t>
                        </m:r>
                      </m:sup>
                    </m:sSubSup>
                    <m:r>
                      <a:rPr lang="en-US" altLang="zh-CN" sz="24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 + </m:t>
                    </m:r>
                  </m:oMath>
                </a14:m>
                <a:r>
                  <a:rPr lang="en-US" altLang="zh-CN" sz="24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2.30</a:t>
                </a:r>
                <a:r>
                  <a:rPr lang="en-US" altLang="zh-CN" sz="2400" i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RT</a:t>
                </a:r>
                <a:r>
                  <a:rPr lang="en-US" altLang="zh-CN" sz="2400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lg</a:t>
                </a:r>
                <a:r>
                  <a:rPr lang="en-US" altLang="zh-CN" sz="2400" i="1" dirty="0">
                    <a:latin typeface="Cambria Math" panose="02040503050406030204" pitchFamily="18" charset="0"/>
                    <a:cs typeface="Cambria Math" panose="02040503050406030204" pitchFamily="18" charset="0"/>
                    <a:sym typeface="+mn-ea"/>
                  </a:rPr>
                  <a:t>Q</a:t>
                </a:r>
              </a:p>
            </p:txBody>
          </p:sp>
        </mc:Choice>
        <mc:Fallback xmlns="">
          <p:sp>
            <p:nvSpPr>
              <p:cNvPr id="10243" name="TextBox 1">
                <a:extLst>
                  <a:ext uri="{FF2B5EF4-FFF2-40B4-BE49-F238E27FC236}">
                    <a16:creationId xmlns:a16="http://schemas.microsoft.com/office/drawing/2014/main" id="{AF6997D4-AD20-4FE0-B418-DE8DBD623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000" y="909000"/>
                <a:ext cx="8640000" cy="1312539"/>
              </a:xfrm>
              <a:prstGeom prst="rect">
                <a:avLst/>
              </a:prstGeom>
              <a:blipFill>
                <a:blip r:embed="rId4"/>
                <a:stretch>
                  <a:fillRect l="-1058" b="-930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>
            <a:extLst>
              <a:ext uri="{FF2B5EF4-FFF2-40B4-BE49-F238E27FC236}">
                <a16:creationId xmlns:a16="http://schemas.microsoft.com/office/drawing/2014/main" id="{7CF31CC7-655B-4BF6-A668-4ADD56BA4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00" y="4005000"/>
            <a:ext cx="8534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5000"/>
            <a:ext cx="8640000" cy="431800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本章小结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301644C-FC55-4FD5-B21D-85AF00563741}"/>
              </a:ext>
            </a:extLst>
          </p:cNvPr>
          <p:cNvSpPr txBox="1">
            <a:spLocks/>
          </p:cNvSpPr>
          <p:nvPr/>
        </p:nvSpPr>
        <p:spPr>
          <a:xfrm>
            <a:off x="252000" y="4293000"/>
            <a:ext cx="8640000" cy="43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66FF"/>
                </a:solidFill>
                <a:cs typeface="Cambria Math" panose="02040503050406030204" pitchFamily="18" charset="0"/>
                <a:sym typeface="+mn-ea"/>
              </a:rPr>
              <a:t>5. 多重平衡反应的反应常数</a:t>
            </a:r>
            <a:r>
              <a:rPr lang="zh-CN" altLang="en-US" sz="2400" dirty="0">
                <a:solidFill>
                  <a:srgbClr val="0066FF"/>
                </a:solidFill>
                <a:cs typeface="Cambria Math" panose="02040503050406030204" pitchFamily="18" charset="0"/>
                <a:sym typeface="+mn-ea"/>
              </a:rPr>
              <a:t>：</a:t>
            </a:r>
            <a:endParaRPr lang="en-US" altLang="zh-CN" sz="2000" dirty="0">
              <a:solidFill>
                <a:srgbClr val="0066FF"/>
              </a:solidFill>
              <a:cs typeface="Cambria Math" panose="02040503050406030204" pitchFamily="18" charset="0"/>
              <a:sym typeface="+mn-ea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4332EA1-D7E5-498A-8A3E-8D8D24F49141}"/>
              </a:ext>
            </a:extLst>
          </p:cNvPr>
          <p:cNvSpPr txBox="1">
            <a:spLocks/>
          </p:cNvSpPr>
          <p:nvPr/>
        </p:nvSpPr>
        <p:spPr>
          <a:xfrm>
            <a:off x="252000" y="4869000"/>
            <a:ext cx="8640000" cy="1080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2400" dirty="0">
                <a:latin typeface="+mn-ea"/>
                <a:cs typeface="Cambria Math" panose="02040503050406030204" pitchFamily="18" charset="0"/>
                <a:sym typeface="+mn-ea"/>
              </a:rPr>
              <a:t>若干反应方程式相加（减）所得到的反应的平衡常数为这些反应的平衡常数之积（商）。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601C26-86C4-4C8E-AE86-2E4AA789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39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35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52000" y="1701000"/>
                <a:ext cx="8640000" cy="1944000"/>
              </a:xfrm>
            </p:spPr>
            <p:txBody>
              <a:bodyPr/>
              <a:lstStyle/>
              <a:p>
                <a:pPr marL="0" indent="0" latinLnBrk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sz="2400" dirty="0"/>
                  <a:t>1）浓度的影响</a:t>
                </a:r>
              </a:p>
              <a:p>
                <a:pPr marL="0" indent="0" latinLnBrk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sz="2400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∆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  <a:sym typeface="+mn-ea"/>
                            </a:rPr>
                            <m:t>T</m:t>
                          </m:r>
                        </m:sub>
                      </m:sSub>
                      <m:r>
                        <a:rPr lang="en-US" altLang="zh-CN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= 2.30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𝑅𝑇</m:t>
                      </m:r>
                      <m:r>
                        <m:rPr>
                          <m:sty m:val="p"/>
                        </m:rPr>
                        <a:rPr lang="en-US" altLang="zh-CN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lg</m:t>
                      </m:r>
                      <m:r>
                        <a:rPr lang="en-US" altLang="zh-CN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altLang="zh-CN" sz="24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  <a:cs typeface="Cambria Math" panose="02040503050406030204" pitchFamily="18" charset="0"/>
                </a:endParaRP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/>
                  <a:t>在一定温度下，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400" dirty="0"/>
                  <a:t>是定值，浓度变化即是Q的变化，计算浓度变化时对应的</a:t>
                </a:r>
                <a:r>
                  <a:rPr lang="zh-CN" altLang="en-US" sz="2400" i="1" dirty="0"/>
                  <a:t>Q</a:t>
                </a:r>
                <a:r>
                  <a:rPr lang="zh-CN" altLang="en-US" sz="2400" dirty="0"/>
                  <a:t>值，再与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400" dirty="0"/>
                  <a:t>比较，由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∆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 dirty="0"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T</m:t>
                        </m:r>
                      </m:sub>
                    </m:sSub>
                  </m:oMath>
                </a14:m>
                <a:r>
                  <a:rPr lang="zh-CN" altLang="en-US" sz="2400" dirty="0"/>
                  <a:t>的正负号判断反应的方向。</a:t>
                </a:r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2000" y="1701000"/>
                <a:ext cx="8640000" cy="1944000"/>
              </a:xfrm>
              <a:blipFill>
                <a:blip r:embed="rId3"/>
                <a:stretch>
                  <a:fillRect l="-1058" r="-1058" b="-266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3" name="TextBox 1">
            <a:extLst>
              <a:ext uri="{FF2B5EF4-FFF2-40B4-BE49-F238E27FC236}">
                <a16:creationId xmlns:a16="http://schemas.microsoft.com/office/drawing/2014/main" id="{AF6997D4-AD20-4FE0-B418-DE8DBD623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00" y="981000"/>
            <a:ext cx="8640000" cy="57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6.</a:t>
            </a:r>
            <a:r>
              <a:rPr lang="en-US" altLang="zh-CN" sz="2400" dirty="0">
                <a:solidFill>
                  <a:srgbClr val="0066FF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rgbClr val="0066FF"/>
                </a:solidFill>
                <a:latin typeface="+mn-lt"/>
                <a:ea typeface="+mn-ea"/>
              </a:rPr>
              <a:t>化学平衡移动的影响因素（浓度、压力与温度）：</a:t>
            </a:r>
            <a:endParaRPr lang="zh-CN" altLang="en-US" sz="2000" dirty="0">
              <a:solidFill>
                <a:srgbClr val="0066FF"/>
              </a:solidFill>
              <a:latin typeface="+mn-lt"/>
              <a:ea typeface="+mn-ea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CF31CC7-655B-4BF6-A668-4ADD56BA4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0" y="5661000"/>
            <a:ext cx="8534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5000"/>
            <a:ext cx="8640000" cy="431800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本章小结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301644C-FC55-4FD5-B21D-85AF00563741}"/>
              </a:ext>
            </a:extLst>
          </p:cNvPr>
          <p:cNvSpPr txBox="1">
            <a:spLocks/>
          </p:cNvSpPr>
          <p:nvPr/>
        </p:nvSpPr>
        <p:spPr>
          <a:xfrm>
            <a:off x="252000" y="4293000"/>
            <a:ext cx="8640000" cy="2088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）压力的影响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dirty="0"/>
              <a:t>压力对固相、液相影响小，可忽略；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dirty="0"/>
              <a:t>气相时：a）改变分压，参考浓度改变时分析结果；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/>
              <a:t>	    </a:t>
            </a:r>
            <a:r>
              <a:rPr lang="zh-CN" altLang="en-US" sz="2400" dirty="0"/>
              <a:t>b）改变总压，平衡向体积减小的方向移动。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E522152-DAC6-4A1E-A6AD-E5007FFF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40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34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04800" y="1845000"/>
                <a:ext cx="8534400" cy="1944000"/>
              </a:xfrm>
            </p:spPr>
            <p:txBody>
              <a:bodyPr/>
              <a:lstStyle/>
              <a:p>
                <a:pPr marL="0" indent="0" latinLnBrk="0">
                  <a:lnSpc>
                    <a:spcPct val="200000"/>
                  </a:lnSpc>
                  <a:spcBef>
                    <a:spcPts val="0"/>
                  </a:spcBef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  <a:cs typeface="Cambria Math" panose="02040503050406030204" pitchFamily="18" charset="0"/>
                    <a:sym typeface="+mn-ea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lg</m:t>
                    </m:r>
                    <m: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SupPr>
                          <m:e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4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CN" sz="24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SupPr>
                          <m:e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24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zh-CN" sz="24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θ</m:t>
                            </m:r>
                          </m:sup>
                        </m:sSubSup>
                      </m:den>
                    </m:f>
                    <m: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 = 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num>
                      <m:den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2.30</m:t>
                        </m:r>
                        <m:r>
                          <m:rPr>
                            <m:sty m:val="p"/>
                          </m:rP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R</m:t>
                        </m:r>
                      </m:den>
                    </m:f>
                    <m: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(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  <a:sym typeface="+mn-ea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i="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i="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) </m:t>
                    </m:r>
                  </m:oMath>
                </a14:m>
                <a:r>
                  <a:rPr lang="en-US" altLang="zh-CN" sz="2400" dirty="0">
                    <a:solidFill>
                      <a:srgbClr val="0000FF"/>
                    </a:solidFill>
                    <a:cs typeface="Cambria Math" panose="02040503050406030204" pitchFamily="18" charset="0"/>
                    <a:sym typeface="+mn-ea"/>
                  </a:rPr>
                  <a:t>	</a:t>
                </a:r>
                <a:r>
                  <a:rPr lang="zh-CN" altLang="en-US" sz="24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Van't</a:t>
                </a:r>
                <a:r>
                  <a:rPr lang="en-US" altLang="zh-CN" sz="24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 </a:t>
                </a:r>
                <a:r>
                  <a:rPr lang="zh-CN" altLang="en-US" sz="24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Hof</a:t>
                </a:r>
                <a:r>
                  <a:rPr lang="en-US" altLang="zh-CN" sz="2400" dirty="0">
                    <a:solidFill>
                      <a:srgbClr val="0066FF"/>
                    </a:solidFill>
                    <a:cs typeface="Cambria Math" panose="02040503050406030204" pitchFamily="18" charset="0"/>
                    <a:sym typeface="+mn-ea"/>
                  </a:rPr>
                  <a:t>f </a:t>
                </a:r>
                <a:r>
                  <a:rPr lang="zh-CN" altLang="en-US" sz="2400" dirty="0">
                    <a:solidFill>
                      <a:srgbClr val="0066FF"/>
                    </a:solidFill>
                  </a:rPr>
                  <a:t>方程式</a:t>
                </a:r>
                <a:r>
                  <a:rPr lang="en-US" altLang="zh-CN" sz="2400" dirty="0">
                    <a:solidFill>
                      <a:srgbClr val="0066FF"/>
                    </a:solidFill>
                  </a:rPr>
                  <a:t>	</a:t>
                </a:r>
                <a:r>
                  <a:rPr lang="en-US" altLang="zh-CN" sz="2400" dirty="0"/>
                  <a:t> </a:t>
                </a:r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en-US" altLang="zh-CN" sz="2400" dirty="0"/>
                  <a:t>		           </a:t>
                </a:r>
                <a:r>
                  <a:rPr lang="zh-CN" altLang="en-US" sz="2400" dirty="0"/>
                  <a:t>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zh-CN" altLang="en-US" sz="2400" dirty="0"/>
                  <a:t>，不同温度下的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endParaRPr lang="zh-CN" altLang="en-US" sz="2400" dirty="0"/>
              </a:p>
              <a:p>
                <a:pPr marL="0" indent="0" latinLnBrk="0">
                  <a:spcBef>
                    <a:spcPts val="0"/>
                  </a:spcBef>
                  <a:buNone/>
                </a:pPr>
                <a:r>
                  <a:rPr lang="zh-CN" altLang="en-US" sz="2400" dirty="0"/>
                  <a:t>升高温度，平衡向吸热方向移动；降低温度，平衡向放热方向移动。</a:t>
                </a:r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9218" name="Rectangle 3">
                <a:extLst>
                  <a:ext uri="{FF2B5EF4-FFF2-40B4-BE49-F238E27FC236}">
                    <a16:creationId xmlns:a16="http://schemas.microsoft.com/office/drawing/2014/main" id="{DCBA8734-EEDB-4C61-8924-FE33452B12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845000"/>
                <a:ext cx="8534400" cy="1944000"/>
              </a:xfrm>
              <a:blipFill>
                <a:blip r:embed="rId3"/>
                <a:stretch>
                  <a:fillRect l="-1071" b="-36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3" name="TextBox 1">
            <a:extLst>
              <a:ext uri="{FF2B5EF4-FFF2-40B4-BE49-F238E27FC236}">
                <a16:creationId xmlns:a16="http://schemas.microsoft.com/office/drawing/2014/main" id="{AF6997D4-AD20-4FE0-B418-DE8DBD623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97000"/>
            <a:ext cx="8534400" cy="1137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  <a:ea typeface="+mn-ea"/>
              </a:rPr>
              <a:t>3）温度的影响</a:t>
            </a: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  <a:ea typeface="+mn-ea"/>
              </a:rPr>
              <a:t>浓度、压力变化，平衡常数 K 不变；温度变化，K 改变。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CF31CC7-655B-4BF6-A668-4ADD56BA4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0" y="5661000"/>
            <a:ext cx="8534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46" name="Rectangle 2">
            <a:extLst>
              <a:ext uri="{FF2B5EF4-FFF2-40B4-BE49-F238E27FC236}">
                <a16:creationId xmlns:a16="http://schemas.microsoft.com/office/drawing/2014/main" id="{EAE2D167-F64C-4B17-9EC0-D710F0EE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5200"/>
            <a:ext cx="8640000" cy="431800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本章小结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301644C-FC55-4FD5-B21D-85AF00563741}"/>
              </a:ext>
            </a:extLst>
          </p:cNvPr>
          <p:cNvSpPr txBox="1">
            <a:spLocks/>
          </p:cNvSpPr>
          <p:nvPr/>
        </p:nvSpPr>
        <p:spPr>
          <a:xfrm>
            <a:off x="304800" y="4365000"/>
            <a:ext cx="8534400" cy="1296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66FF"/>
                </a:solidFill>
                <a:latin typeface="+mn-ea"/>
              </a:rPr>
              <a:t>7.</a:t>
            </a:r>
            <a:r>
              <a:rPr lang="en-US" altLang="zh-CN" sz="2400" dirty="0">
                <a:solidFill>
                  <a:srgbClr val="0066FF"/>
                </a:solidFill>
                <a:latin typeface="+mn-ea"/>
              </a:rPr>
              <a:t> </a:t>
            </a:r>
            <a:r>
              <a:rPr lang="zh-CN" altLang="en-US" sz="2400" dirty="0">
                <a:solidFill>
                  <a:srgbClr val="0066FF"/>
                </a:solidFill>
                <a:cs typeface="Cambria Math" panose="02040503050406030204" pitchFamily="18" charset="0"/>
                <a:sym typeface="+mn-ea"/>
              </a:rPr>
              <a:t>Van't</a:t>
            </a:r>
            <a:r>
              <a:rPr lang="en-US" altLang="zh-CN" sz="2400" dirty="0">
                <a:solidFill>
                  <a:srgbClr val="0066FF"/>
                </a:solidFill>
                <a:cs typeface="Cambria Math" panose="02040503050406030204" pitchFamily="18" charset="0"/>
                <a:sym typeface="+mn-ea"/>
              </a:rPr>
              <a:t> </a:t>
            </a:r>
            <a:r>
              <a:rPr lang="zh-CN" altLang="en-US" sz="2400" dirty="0">
                <a:solidFill>
                  <a:srgbClr val="0066FF"/>
                </a:solidFill>
                <a:cs typeface="Cambria Math" panose="02040503050406030204" pitchFamily="18" charset="0"/>
                <a:sym typeface="+mn-ea"/>
              </a:rPr>
              <a:t>Hof</a:t>
            </a:r>
            <a:r>
              <a:rPr lang="en-US" altLang="zh-CN" sz="2400" dirty="0">
                <a:solidFill>
                  <a:srgbClr val="0066FF"/>
                </a:solidFill>
                <a:cs typeface="Cambria Math" panose="02040503050406030204" pitchFamily="18" charset="0"/>
                <a:sym typeface="+mn-ea"/>
              </a:rPr>
              <a:t>f </a:t>
            </a:r>
            <a:r>
              <a:rPr lang="zh-CN" altLang="en-US" sz="2400" dirty="0">
                <a:solidFill>
                  <a:srgbClr val="0066FF"/>
                </a:solidFill>
                <a:sym typeface="+mn-ea"/>
              </a:rPr>
              <a:t>方程式</a:t>
            </a:r>
            <a:r>
              <a:rPr lang="zh-CN" altLang="en-US" sz="2400" dirty="0">
                <a:solidFill>
                  <a:srgbClr val="0066FF"/>
                </a:solidFill>
              </a:rPr>
              <a:t>和Le Chatelier原理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dirty="0">
                <a:latin typeface="+mn-ea"/>
              </a:rPr>
              <a:t>改变平衡体系的外界条件时，平衡向着削弱这一改变的方向移动。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065857-4967-4F93-8F7F-3364D1E2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41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67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5DE4B5E4-237A-4D52-823E-EA9ADB585B4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5209646"/>
                  </p:ext>
                </p:extLst>
              </p:nvPr>
            </p:nvGraphicFramePr>
            <p:xfrm>
              <a:off x="396000" y="1701000"/>
              <a:ext cx="8352000" cy="46197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8267">
                      <a:extLst>
                        <a:ext uri="{9D8B030D-6E8A-4147-A177-3AD203B41FA5}">
                          <a16:colId xmlns:a16="http://schemas.microsoft.com/office/drawing/2014/main" val="2917056289"/>
                        </a:ext>
                      </a:extLst>
                    </a:gridCol>
                    <a:gridCol w="4640533">
                      <a:extLst>
                        <a:ext uri="{9D8B030D-6E8A-4147-A177-3AD203B41FA5}">
                          <a16:colId xmlns:a16="http://schemas.microsoft.com/office/drawing/2014/main" val="2401080723"/>
                        </a:ext>
                      </a:extLst>
                    </a:gridCol>
                    <a:gridCol w="2783200">
                      <a:extLst>
                        <a:ext uri="{9D8B030D-6E8A-4147-A177-3AD203B41FA5}">
                          <a16:colId xmlns:a16="http://schemas.microsoft.com/office/drawing/2014/main" val="176054336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 altLang="zh-CN" dirty="0">
                            <a:latin typeface="+mn-lt"/>
                            <a:ea typeface="+mn-ea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∆</m:t>
                                    </m:r>
                                    <m:r>
                                      <a:rPr lang="en-US" altLang="zh-CN" sz="20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zh-CN" sz="20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zh-CN" altLang="en-US" sz="2000" dirty="0">
                            <a:latin typeface="+mn-lt"/>
                            <a:ea typeface="+mn-ea"/>
                          </a:endParaRP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</a:rPr>
                            <a:t>&lt; 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</a:rPr>
                            <a:t>= 0 </a:t>
                          </a: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        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∆</m:t>
                                  </m:r>
                                  <m:r>
                                    <a:rPr lang="en-US" altLang="zh-CN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altLang="zh-CN" sz="20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 = 2.30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𝑅𝑇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lg</m:t>
                              </m:r>
                              <m:r>
                                <a:rPr lang="en-US" altLang="zh-CN" sz="20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altLang="zh-CN" sz="20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  <m:r>
                                <a:rPr lang="en-US" altLang="zh-CN" sz="20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  </a:t>
                          </a:r>
                        </a:p>
                        <a:p>
                          <a:r>
                            <a:rPr lang="en-US" altLang="zh-CN" b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</a:rPr>
                            <a:t>&gt; 0</a:t>
                          </a: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正向自发</a:t>
                          </a:r>
                          <a:endParaRPr lang="en-US" altLang="zh-CN" b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平衡</a:t>
                          </a:r>
                          <a:endParaRPr lang="en-US" altLang="zh-CN" b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正向非自发</a:t>
                          </a: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4493485"/>
                      </a:ext>
                    </a:extLst>
                  </a:tr>
                  <a:tr h="457200">
                    <a:tc gridSpan="3">
                      <a:txBody>
                        <a:bodyPr/>
                        <a:lstStyle/>
                        <a:p>
                          <a:r>
                            <a:rPr lang="zh-CN" altLang="en-US" dirty="0">
                              <a:solidFill>
                                <a:srgbClr val="FF0000"/>
                              </a:solidFill>
                              <a:latin typeface="+mn-lt"/>
                              <a:ea typeface="+mn-ea"/>
                            </a:rPr>
                            <a:t>特例</a:t>
                          </a:r>
                          <a:r>
                            <a:rPr lang="zh-CN" altLang="en-US" dirty="0">
                              <a:latin typeface="+mn-lt"/>
                              <a:ea typeface="+mn-ea"/>
                            </a:rPr>
                            <a:t>：（</a:t>
                          </a:r>
                          <a:r>
                            <a:rPr lang="en-US" altLang="zh-CN" dirty="0">
                              <a:latin typeface="+mn-lt"/>
                              <a:ea typeface="+mn-ea"/>
                            </a:rPr>
                            <a:t>1</a:t>
                          </a:r>
                          <a:r>
                            <a:rPr lang="zh-CN" altLang="en-US" dirty="0">
                              <a:latin typeface="+mn-lt"/>
                              <a:ea typeface="+mn-ea"/>
                            </a:rPr>
                            <a:t>）标态、</a:t>
                          </a:r>
                          <a:r>
                            <a:rPr lang="en-US" altLang="zh-CN" dirty="0">
                              <a:latin typeface="+mn-lt"/>
                              <a:ea typeface="+mn-ea"/>
                            </a:rPr>
                            <a:t>298K</a:t>
                          </a:r>
                          <a:r>
                            <a:rPr lang="zh-CN" altLang="en-US" dirty="0">
                              <a:latin typeface="+mn-lt"/>
                              <a:ea typeface="+mn-ea"/>
                            </a:rPr>
                            <a:t>时，查表计算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∆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000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G</m:t>
                                  </m:r>
                                </m:e>
                                <m:sub>
                                  <m:r>
                                    <a:rPr lang="en-US" altLang="zh-CN" sz="20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298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 i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θ</m:t>
                                  </m:r>
                                </m:sup>
                              </m:sSubSup>
                            </m:oMath>
                          </a14:m>
                          <a:endParaRPr lang="en-US" altLang="zh-CN" sz="2000" i="0" dirty="0"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dirty="0">
                              <a:latin typeface="+mn-lt"/>
                              <a:ea typeface="+mn-ea"/>
                            </a:rPr>
                            <a:t>           （</a:t>
                          </a:r>
                          <a:r>
                            <a:rPr lang="en-US" altLang="zh-CN" dirty="0">
                              <a:latin typeface="+mn-lt"/>
                              <a:ea typeface="+mn-ea"/>
                            </a:rPr>
                            <a:t>2</a:t>
                          </a:r>
                          <a:r>
                            <a:rPr lang="zh-CN" altLang="en-US" dirty="0">
                              <a:latin typeface="+mn-lt"/>
                              <a:ea typeface="+mn-ea"/>
                            </a:rPr>
                            <a:t>）标态、任意指定温度下，计算：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∆</m:t>
                                  </m:r>
                                  <m:r>
                                    <a:rPr lang="en-US" altLang="zh-CN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i="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T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 i="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θ</m:t>
                                  </m:r>
                                </m:sup>
                              </m:sSubSup>
                              <m:r>
                                <a:rPr lang="en-US" altLang="zh-CN" sz="20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  <a:sym typeface="+mn-ea"/>
                                </a:rPr>
                                <m:t> = </m:t>
                              </m:r>
                              <m:sSubSup>
                                <m:sSubSupPr>
                                  <m:ctrlPr>
                                    <a:rPr lang="en-US" altLang="zh-CN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∆</m:t>
                                  </m:r>
                                  <m:r>
                                    <a:rPr lang="en-US" altLang="zh-CN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2000" i="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298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 i="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θ</m:t>
                                  </m:r>
                                </m:sup>
                              </m:sSubSup>
                              <m:r>
                                <a:rPr lang="en-US" altLang="zh-CN" sz="20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  <a:sym typeface="+mn-ea"/>
                                </a:rPr>
                                <m:t> − </m:t>
                              </m:r>
                              <m:r>
                                <a:rPr lang="en-US" altLang="zh-CN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  <a:sym typeface="+mn-ea"/>
                                </a:rPr>
                                <m:t>𝑇</m:t>
                              </m:r>
                              <m:sSubSup>
                                <m:sSubSupPr>
                                  <m:ctrlPr>
                                    <a:rPr lang="en-US" altLang="zh-CN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∆</m:t>
                                  </m:r>
                                  <m:r>
                                    <a:rPr lang="en-US" altLang="zh-CN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000" i="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298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 i="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θ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000" i="0" dirty="0">
                            <a:latin typeface="+mn-lt"/>
                            <a:ea typeface="+mn-ea"/>
                          </a:endParaRP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4754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altLang="zh-CN" i="0" dirty="0">
                            <a:latin typeface="+mn-lt"/>
                            <a:ea typeface="+mn-ea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altLang="zh-CN" sz="200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θ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i="0" dirty="0">
                            <a:latin typeface="+mn-lt"/>
                            <a:ea typeface="+mn-ea"/>
                          </a:endParaRP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b="0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</a:rPr>
                            <a:t>&lt; 1</a:t>
                          </a:r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8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Q</m:t>
                              </m:r>
                              <m:r>
                                <a:rPr lang="en-US" altLang="zh-CN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oMath>
                          </a14:m>
                          <a:endParaRPr lang="en-US" altLang="zh-CN" b="0" i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</a:rPr>
                            <a:t>= 1</a:t>
                          </a:r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8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Q</m:t>
                              </m:r>
                              <m:r>
                                <a:rPr lang="en-US" altLang="zh-CN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∆</m:t>
                                  </m:r>
                                  <m:r>
                                    <a:rPr lang="en-US" altLang="zh-CN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 = 2.30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𝑅𝑇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lg</m:t>
                              </m:r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  </a:t>
                          </a:r>
                        </a:p>
                        <a:p>
                          <a:r>
                            <a:rPr lang="en-US" altLang="zh-CN" b="0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</a:rPr>
                            <a:t>&gt; 1</a:t>
                          </a:r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8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Q</m:t>
                              </m:r>
                              <m:r>
                                <a:rPr lang="en-US" altLang="zh-CN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oMath>
                          </a14:m>
                          <a:endParaRPr lang="en-US" altLang="zh-CN" b="0" i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正向自发</a:t>
                          </a:r>
                          <a:endParaRPr lang="en-US" altLang="zh-CN" b="0" i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平衡</a:t>
                          </a:r>
                          <a:endParaRPr lang="en-US" altLang="zh-CN" b="0" i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正向非自发</a:t>
                          </a: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756074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altLang="zh-CN" i="0" dirty="0">
                            <a:latin typeface="+mn-lt"/>
                            <a:ea typeface="+mn-ea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∆</m:t>
                                    </m:r>
                                    <m:r>
                                      <a:rPr lang="en-US" altLang="zh-CN" sz="20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T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θ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i="0" dirty="0">
                            <a:latin typeface="+mn-lt"/>
                            <a:ea typeface="+mn-ea"/>
                          </a:endParaRP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  <a:sym typeface="+mn-ea"/>
                            </a:rPr>
                            <a:t>≤  -</a:t>
                          </a:r>
                          <a:r>
                            <a:rPr lang="zh-CN" altLang="en-US" sz="1800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  <a:sym typeface="+mn-ea"/>
                            </a:rPr>
                            <a:t>40 kJ/mol</a:t>
                          </a:r>
                          <a:r>
                            <a:rPr lang="en-US" altLang="zh-CN" sz="1800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  <a:sym typeface="+mn-ea"/>
                            </a:rPr>
                            <a:t> </a:t>
                          </a:r>
                        </a:p>
                        <a:p>
                          <a:r>
                            <a:rPr lang="en-US" altLang="zh-CN" sz="1800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  <a:sym typeface="+mn-ea"/>
                            </a:rPr>
                            <a:t>≥ +</a:t>
                          </a:r>
                          <a:r>
                            <a:rPr lang="zh-CN" altLang="en-US" sz="1800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  <a:sym typeface="+mn-ea"/>
                            </a:rPr>
                            <a:t>40 kJ/mol</a:t>
                          </a:r>
                          <a:r>
                            <a:rPr lang="en-US" altLang="zh-CN" sz="1800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  <a:sym typeface="+mn-ea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∆</m:t>
                                  </m:r>
                                  <m:r>
                                    <a:rPr lang="en-US" altLang="zh-CN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 =</m:t>
                              </m:r>
                              <m:sSubSup>
                                <m:sSubSupPr>
                                  <m:ctrlPr>
                                    <a:rPr lang="en-US" altLang="zh-CN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∆</m:t>
                                  </m:r>
                                  <m:r>
                                    <a:rPr lang="en-US" altLang="zh-CN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T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θ</m:t>
                                  </m:r>
                                </m:sup>
                              </m:sSubSup>
                              <m:r>
                                <a:rPr lang="en-US" altLang="zh-CN" sz="20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  <a:sym typeface="+mn-ea"/>
                                </a:rPr>
                                <m:t>+</m:t>
                              </m:r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2.30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𝑅𝑇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lg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r>
                            <a:rPr lang="en-US" altLang="zh-CN" sz="2000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 </a:t>
                          </a:r>
                          <a:endParaRPr lang="en-US" altLang="zh-CN" sz="2000" i="0" dirty="0">
                            <a:solidFill>
                              <a:srgbClr val="0000FF"/>
                            </a:solidFill>
                            <a:latin typeface="+mn-lt"/>
                            <a:ea typeface="+mn-ea"/>
                            <a:sym typeface="+mn-ea"/>
                          </a:endParaRPr>
                        </a:p>
                        <a:p>
                          <a:r>
                            <a:rPr lang="zh-CN" altLang="en-US" sz="1800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  <a:sym typeface="+mn-ea"/>
                            </a:rPr>
                            <a:t>二者之间</a:t>
                          </a:r>
                          <a:endParaRPr lang="zh-CN" altLang="en-US" i="0" dirty="0">
                            <a:solidFill>
                              <a:srgbClr val="0066FF"/>
                            </a:solidFill>
                            <a:latin typeface="+mn-lt"/>
                            <a:ea typeface="+mn-ea"/>
                          </a:endParaRP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正向自发，反应完全</a:t>
                          </a:r>
                          <a:endParaRPr lang="en-US" altLang="zh-CN" b="0" i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正向非自发</a:t>
                          </a:r>
                          <a:endParaRPr lang="en-US" altLang="zh-CN" b="0" i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用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8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∆</m:t>
                                  </m:r>
                                  <m:r>
                                    <a:rPr lang="en-US" altLang="zh-CN" sz="18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80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altLang="zh-CN" sz="18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zh-CN" altLang="en-US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altLang="zh-CN" sz="18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判断</a:t>
                          </a:r>
                          <a:endParaRPr lang="zh-CN" altLang="en-US" i="0" dirty="0">
                            <a:latin typeface="+mn-lt"/>
                            <a:ea typeface="+mn-ea"/>
                          </a:endParaRP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3911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altLang="zh-CN" i="0" dirty="0">
                            <a:latin typeface="+mn-lt"/>
                            <a:ea typeface="+mn-ea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Cambria Math" panose="02040503050406030204" pitchFamily="18" charset="0"/>
                                      </a:rPr>
                                      <m:t>θ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000" i="0" dirty="0">
                            <a:latin typeface="+mn-lt"/>
                            <a:ea typeface="+mn-ea"/>
                          </a:endParaRP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  <a:sym typeface="+mn-ea"/>
                            </a:rPr>
                            <a:t>≥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0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sz="1800" i="0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+7</m:t>
                                  </m:r>
                                </m:sup>
                              </m:sSup>
                            </m:oMath>
                          </a14:m>
                          <a:endParaRPr lang="en-US" altLang="zh-CN" i="0" dirty="0">
                            <a:solidFill>
                              <a:srgbClr val="0066FF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en-US" altLang="zh-CN" sz="1800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  <a:sym typeface="+mn-ea"/>
                            </a:rPr>
                            <a:t>≤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0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zh-CN" sz="1800" i="0" smtClean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</a:rPr>
                            <a:t>    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∆</m:t>
                                  </m:r>
                                  <m:r>
                                    <a:rPr lang="en-US" altLang="zh-CN" sz="20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 = 2.30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𝑅𝑇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lg</m:t>
                              </m:r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000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 </a:t>
                          </a:r>
                          <a:endParaRPr lang="en-US" altLang="zh-CN" sz="2000" i="0" dirty="0">
                            <a:solidFill>
                              <a:srgbClr val="0000FF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i="0" dirty="0">
                              <a:solidFill>
                                <a:srgbClr val="0066FF"/>
                              </a:solidFill>
                              <a:latin typeface="+mn-lt"/>
                              <a:ea typeface="+mn-ea"/>
                            </a:rPr>
                            <a:t>二者之间</a:t>
                          </a: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正向自发，反应完全</a:t>
                          </a:r>
                          <a:endParaRPr lang="en-US" altLang="zh-CN" b="0" i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正向非自发</a:t>
                          </a:r>
                          <a:endParaRPr lang="en-US" altLang="zh-CN" b="0" i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用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8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∆</m:t>
                                  </m:r>
                                  <m:r>
                                    <a:rPr lang="en-US" altLang="zh-CN" sz="18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180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  <a:sym typeface="+mn-ea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altLang="zh-CN" sz="18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zh-CN" altLang="en-US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altLang="zh-CN" sz="18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180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判断</a:t>
                          </a:r>
                          <a:endParaRPr lang="zh-CN" altLang="en-US" i="0" dirty="0">
                            <a:latin typeface="+mn-lt"/>
                            <a:ea typeface="+mn-ea"/>
                          </a:endParaRP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9478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7">
                <a:extLst>
                  <a:ext uri="{FF2B5EF4-FFF2-40B4-BE49-F238E27FC236}">
                    <a16:creationId xmlns:a16="http://schemas.microsoft.com/office/drawing/2014/main" id="{5DE4B5E4-237A-4D52-823E-EA9ADB585B4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5209646"/>
                  </p:ext>
                </p:extLst>
              </p:nvPr>
            </p:nvGraphicFramePr>
            <p:xfrm>
              <a:off x="396000" y="1701000"/>
              <a:ext cx="8352000" cy="46197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8267">
                      <a:extLst>
                        <a:ext uri="{9D8B030D-6E8A-4147-A177-3AD203B41FA5}">
                          <a16:colId xmlns:a16="http://schemas.microsoft.com/office/drawing/2014/main" val="2917056289"/>
                        </a:ext>
                      </a:extLst>
                    </a:gridCol>
                    <a:gridCol w="4640533">
                      <a:extLst>
                        <a:ext uri="{9D8B030D-6E8A-4147-A177-3AD203B41FA5}">
                          <a16:colId xmlns:a16="http://schemas.microsoft.com/office/drawing/2014/main" val="2401080723"/>
                        </a:ext>
                      </a:extLst>
                    </a:gridCol>
                    <a:gridCol w="2783200">
                      <a:extLst>
                        <a:ext uri="{9D8B030D-6E8A-4147-A177-3AD203B41FA5}">
                          <a16:colId xmlns:a16="http://schemas.microsoft.com/office/drawing/2014/main" val="1760543367"/>
                        </a:ext>
                      </a:extLst>
                    </a:gridCol>
                  </a:tblGrid>
                  <a:tr h="9583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459" r="-803289" b="-3917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21" t="-4459" r="-60026" b="-3917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正向自发</a:t>
                          </a:r>
                          <a:endParaRPr lang="en-US" altLang="zh-CN" b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平衡</a:t>
                          </a:r>
                          <a:endParaRPr lang="en-US" altLang="zh-CN" b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b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正向非自发</a:t>
                          </a: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4493485"/>
                      </a:ext>
                    </a:extLst>
                  </a:tr>
                  <a:tr h="749491">
                    <a:tc grid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33333" r="-73" b="-4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475408"/>
                      </a:ext>
                    </a:extLst>
                  </a:tr>
                  <a:tr h="9823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78261" r="-803289" b="-205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21" t="-178261" r="-60026" b="-205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正向自发</a:t>
                          </a:r>
                          <a:endParaRPr lang="en-US" altLang="zh-CN" b="0" i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平衡</a:t>
                          </a:r>
                          <a:endParaRPr lang="en-US" altLang="zh-CN" b="0" i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</a:endParaRPr>
                        </a:p>
                        <a:p>
                          <a:r>
                            <a:rPr lang="zh-CN" altLang="en-US" b="0" i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</a:rPr>
                            <a:t>正向非自发</a:t>
                          </a:r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CE6F2">
                            <a:alpha val="5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7560747"/>
                      </a:ext>
                    </a:extLst>
                  </a:tr>
                  <a:tr h="97123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80000" r="-803289" b="-10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21" t="-280000" r="-60026" b="-10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219" t="-280000" r="-219" b="-106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77391153"/>
                      </a:ext>
                    </a:extLst>
                  </a:tr>
                  <a:tr h="95834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87261" r="-803289" b="-8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21" t="-387261" r="-60026" b="-89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219" t="-387261" r="-219" b="-89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9478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7DB74A2D-86C9-4291-8E2F-8C773C14361B}"/>
              </a:ext>
            </a:extLst>
          </p:cNvPr>
          <p:cNvSpPr txBox="1"/>
          <p:nvPr/>
        </p:nvSpPr>
        <p:spPr>
          <a:xfrm>
            <a:off x="1187624" y="909000"/>
            <a:ext cx="6768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66FF"/>
                </a:solidFill>
                <a:latin typeface="+mn-ea"/>
                <a:ea typeface="+mn-ea"/>
              </a:rPr>
              <a:t>化学反应方向及限度的判据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9262EFC-13D7-445D-A467-6EFB9B76FEE3}"/>
              </a:ext>
            </a:extLst>
          </p:cNvPr>
          <p:cNvSpPr txBox="1">
            <a:spLocks/>
          </p:cNvSpPr>
          <p:nvPr/>
        </p:nvSpPr>
        <p:spPr>
          <a:xfrm>
            <a:off x="252000" y="45200"/>
            <a:ext cx="8640000" cy="431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ker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本章小结</a:t>
            </a:r>
            <a:endParaRPr lang="zh-CN" altLang="en-US" kern="0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91B8A21-53B0-42C2-869D-02FEE8AB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42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3494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252000" y="1341000"/>
            <a:ext cx="8568000" cy="1655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作业四： 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习题：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4.3   4.5   4.9   4.14   4.15   4.18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思考题：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2470150" y="4005000"/>
            <a:ext cx="4203700" cy="1016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6000" dirty="0">
                <a:ea typeface="宋体" panose="02010600030101010101" pitchFamily="2" charset="-122"/>
              </a:rPr>
              <a:t>Thank you !</a:t>
            </a:r>
            <a:endParaRPr lang="zh-CN" altLang="en-US" sz="6000" dirty="0">
              <a:ea typeface="宋体" panose="02010600030101010101" pitchFamily="2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7FA273-8EA0-43D6-9022-AA89141B1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45200"/>
            <a:ext cx="8640000" cy="431800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章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化学反应的限度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D8B0FF-F943-4BDB-938F-E589EE0C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smtClean="0">
                <a:latin typeface="Times New Roman" panose="02020603050405020304" pitchFamily="18" charset="0"/>
              </a:rPr>
              <a:t>43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9*279"/>
  <p:tag name="TABLE_ENDDRAG_RECT" val="73*125*619*279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自定义 1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1404</TotalTime>
  <Words>5389</Words>
  <Application>Microsoft Office PowerPoint</Application>
  <PresentationFormat>全屏显示(4:3)</PresentationFormat>
  <Paragraphs>602</Paragraphs>
  <Slides>43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1" baseType="lpstr">
      <vt:lpstr>-apple-system</vt:lpstr>
      <vt:lpstr>等线</vt:lpstr>
      <vt:lpstr>黑体</vt:lpstr>
      <vt:lpstr>Arial</vt:lpstr>
      <vt:lpstr>Calibri</vt:lpstr>
      <vt:lpstr>Cambria Math</vt:lpstr>
      <vt:lpstr>Times New Roman</vt:lpstr>
      <vt:lpstr>默认设计模板</vt:lpstr>
      <vt:lpstr>第4章 化学反应的限度</vt:lpstr>
      <vt:lpstr>PowerPoint 演示文稿</vt:lpstr>
      <vt:lpstr>第4章 化学反应的限度</vt:lpstr>
      <vt:lpstr>4.1 化学平衡及其特点</vt:lpstr>
      <vt:lpstr>PowerPoint 演示文稿</vt:lpstr>
      <vt:lpstr>第4章 化学反应的限度</vt:lpstr>
      <vt:lpstr>4.2 平衡常数与反应的限度</vt:lpstr>
      <vt:lpstr>4.2.1 平衡常数</vt:lpstr>
      <vt:lpstr>PowerPoint 演示文稿</vt:lpstr>
      <vt:lpstr>PowerPoint 演示文稿</vt:lpstr>
      <vt:lpstr>PowerPoint 演示文稿</vt:lpstr>
      <vt:lpstr>PowerPoint 演示文稿</vt:lpstr>
      <vt:lpstr>4.2.2 平衡常数与Gibbs自由能变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4.2.3 多重平衡</vt:lpstr>
      <vt:lpstr>PowerPoint 演示文稿</vt:lpstr>
      <vt:lpstr>第4章 化学反应的限度</vt:lpstr>
      <vt:lpstr>4.3.1 浓度对化学平衡的影响</vt:lpstr>
      <vt:lpstr>PowerPoint 演示文稿</vt:lpstr>
      <vt:lpstr>4.3.2 压力对化学平衡的影响</vt:lpstr>
      <vt:lpstr>PowerPoint 演示文稿</vt:lpstr>
      <vt:lpstr>4.3.3 温度对化学平衡的影响</vt:lpstr>
      <vt:lpstr>4.3.3 温度对化学平衡的影响</vt:lpstr>
      <vt:lpstr>4.3.4 化学平衡移动原理</vt:lpstr>
      <vt:lpstr>本章小结</vt:lpstr>
      <vt:lpstr>本章小结</vt:lpstr>
      <vt:lpstr>本章小结</vt:lpstr>
      <vt:lpstr>本章小结</vt:lpstr>
      <vt:lpstr>本章小结</vt:lpstr>
      <vt:lpstr>本章小结</vt:lpstr>
      <vt:lpstr>PowerPoint 演示文稿</vt:lpstr>
      <vt:lpstr>第4章 化学反应的限度</vt:lpstr>
    </vt:vector>
  </TitlesOfParts>
  <Company>pku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气体　液体　溶液</dc:title>
  <dc:creator>guohq</dc:creator>
  <cp:lastModifiedBy>chongli hust</cp:lastModifiedBy>
  <cp:revision>1490</cp:revision>
  <cp:lastPrinted>2016-09-28T02:56:00Z</cp:lastPrinted>
  <dcterms:created xsi:type="dcterms:W3CDTF">2001-09-12T13:22:00Z</dcterms:created>
  <dcterms:modified xsi:type="dcterms:W3CDTF">2025-03-12T10:39:34Z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6DCE7D193B7A40E3B09C69360C7E837F</vt:lpwstr>
  </property>
  <property fmtid="{D5CDD505-2E9C-101B-9397-08002B2CF9AE}" pid="3" name="KSOProductBuildVer">
    <vt:lpwstr>2052-11.8.2.10972</vt:lpwstr>
  </property>
</Properties>
</file>