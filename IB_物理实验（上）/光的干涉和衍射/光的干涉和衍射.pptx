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32" r:id="rId2"/>
    <p:sldId id="351" r:id="rId3"/>
    <p:sldId id="258" r:id="rId4"/>
    <p:sldId id="285" r:id="rId5"/>
    <p:sldId id="261" r:id="rId6"/>
    <p:sldId id="352" r:id="rId7"/>
    <p:sldId id="357" r:id="rId8"/>
    <p:sldId id="347" r:id="rId9"/>
    <p:sldId id="358" r:id="rId10"/>
    <p:sldId id="274" r:id="rId11"/>
    <p:sldId id="337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54" r:id="rId20"/>
    <p:sldId id="326" r:id="rId21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FF6600"/>
    <a:srgbClr val="0000FF"/>
    <a:srgbClr val="99CCFF"/>
    <a:srgbClr val="B32F19"/>
    <a:srgbClr val="C4A008"/>
    <a:srgbClr val="FF99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3825" autoAdjust="0"/>
  </p:normalViewPr>
  <p:slideViewPr>
    <p:cSldViewPr>
      <p:cViewPr varScale="1">
        <p:scale>
          <a:sx n="61" d="100"/>
          <a:sy n="61" d="100"/>
        </p:scale>
        <p:origin x="10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F208FF3-F7DD-5E26-B191-825AAF2A4B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F147E64-1ADD-9086-D1FA-AC86D93E9E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A3EFC0F7-5C9D-7824-F293-3098BAACAB8F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C9BC772-7102-FDD0-21A4-51E416BD9B5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C98DFE5-CBD9-8E54-5C31-707D957923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0C838D0-E7AB-89EF-52F6-B8926C4E8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AE7F96AD-BBE2-4817-86FE-303FF1ACAA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0106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7CFA04C1-2DE8-023E-80FE-980FACA322C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0F7301A7-95B6-22A0-72BD-E04257963B8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B7502B17-67A3-E063-154B-C468CDDEB6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E85D2B-AC11-4089-BB09-3A2605A8369C}" type="slidenum">
              <a:rPr altLang="en-US" sz="1800" smtClean="0"/>
              <a:pPr/>
              <a:t>8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826264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95715599-D2D1-5631-206F-0AAC2FB035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95CE3F3C-6762-2FF3-7841-013EBACE1F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6F493013-8009-3902-B1D7-DB230A5E59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AB34097-F02D-446F-8900-A601CAC234C3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2614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717925"/>
            <a:ext cx="6400800" cy="695325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B30AA4F-2D34-389A-7C04-7DAB62D0F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25729DA-1545-4DFB-BC32-3EEC7257D848}" type="datetimeFigureOut">
              <a:rPr lang="zh-CN" altLang="en-US"/>
              <a:pPr>
                <a:defRPr/>
              </a:pPr>
              <a:t>2025/2/19</a:t>
            </a:fld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407CFA8-0A56-33AD-20BF-14CAA76882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7BAE3E-1256-8C7D-B4E6-B214139345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prstTxWarp prst="textNoShape">
              <a:avLst/>
            </a:prstTxWarp>
          </a:bodyPr>
          <a:lstStyle>
            <a:lvl1pPr eaLnBrk="0" hangingPunct="0">
              <a:defRPr/>
            </a:lvl1pPr>
          </a:lstStyle>
          <a:p>
            <a:pPr>
              <a:defRPr/>
            </a:pPr>
            <a:fld id="{BE9C236E-9BE0-4AD3-819E-19F6BF2F6FC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268552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8279F87-B2F1-BDF3-4272-95BF84E7E8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CF021C-461F-509F-50AD-C36D50973F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292F04-2F40-8786-872A-610AAB43AB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55B17C-6E17-48B6-BE32-F69279A26B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380735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5D7D3B-CA40-BE73-6BD7-2EA029B693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6E92D3-9579-7968-8BFE-30D55F4490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2BACC3-035B-CD21-11AD-938BFFD86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92BCAF8-A61D-49DB-AEF8-CB1A3D355C8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820988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6725" y="1773238"/>
            <a:ext cx="4038600" cy="4319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7725" y="1773238"/>
            <a:ext cx="4038600" cy="4319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B5380-189F-C980-C0E9-B02F68D154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659007-4D2F-26F5-6CF7-244B2A77C5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2FAFC-C198-1B1E-4D8F-627CB8039C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C6A59F9-3D27-44C2-A7BB-BFE961865D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50800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EC605B3-E5BB-0389-C8EB-1A4ADA976F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DC50085-78C1-B7AB-61F3-A0616225E1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F53BA62-1CB2-E719-AEA7-FC3EAFA4D6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6AF8335-6CE5-471D-A0F1-A9D1C784CFA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081286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4D125B1-05A9-802E-4E7C-AE2ADD9CC0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D18713E-B66A-ACB1-7DCC-54B4592021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36A021-A9E6-2C5B-4005-E26604A69A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07C00B1-90FC-44F6-A3CA-97D59F95C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028791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DBFF6FD-8819-561C-632E-D529273C46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2022.8.29</a:t>
            </a: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0BB6393-03AE-56E3-4678-D76611204B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F53470A-9BAD-CA7E-676E-28D7D82772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1916315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6A5040-D087-7584-D74A-339579E9A3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DA407-D487-A865-BF67-11D4B85860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C31DA-9EFA-FD88-5B0D-0AE402D5C0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54619A27-0098-42B3-808D-D71402AB68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709157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3CAA9B-F0C8-6B86-4766-A357281676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1AB04D-5426-F6F5-6416-9F85E3C714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67E549-0F70-CA15-C224-E5C7ECC163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5527A4A-2EED-4FBC-B865-31911D266EC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60916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B4507D-2F3B-4ACE-C674-053F837712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9273BF-F552-B7BA-EA0A-F4C45F8D91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E77E0E-A086-13E6-DAA0-9F1662A30E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347823-5E5D-4111-88CD-E9248C37CA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29728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765175"/>
            <a:ext cx="2057400" cy="5327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6725" y="765175"/>
            <a:ext cx="6021388" cy="5327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4A3BC5-6B3C-3B81-A18B-ADE2D76BA6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2C9726-3501-7396-E9BF-23869E2868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A763BB-A8A5-BA46-D3B7-D3EB579137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DA4057B-7A2D-4C33-894B-672406EEED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152943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D13102C-DAD7-EA08-46B1-C94D05B095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68313" y="765175"/>
            <a:ext cx="82296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46799C-A5D4-4807-7F0B-AFFDB6A5310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66725" y="1773238"/>
            <a:ext cx="8229600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8E8CB71-C414-093B-4628-AE2851E431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r>
              <a:rPr lang="en-US" altLang="zh-CN"/>
              <a:t>2022.08.30</a:t>
            </a:r>
          </a:p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E21F643-00D0-436F-6E2E-6B8F5F7429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r>
              <a:rPr lang="en-US" altLang="zh-CN"/>
              <a:t>12345</a:t>
            </a: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D875619-DB2A-4EF9-E9BB-2EEB688F11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r>
              <a:rPr lang="en-US" altLang="zh-CN"/>
              <a:t>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1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7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3.bin"/><Relationship Id="rId4" Type="http://schemas.openxmlformats.org/officeDocument/2006/relationships/image" Target="../media/image14.wmf"/><Relationship Id="rId9" Type="http://schemas.openxmlformats.org/officeDocument/2006/relationships/image" Target="../media/image16.png"/><Relationship Id="rId1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5">
            <a:extLst>
              <a:ext uri="{FF2B5EF4-FFF2-40B4-BE49-F238E27FC236}">
                <a16:creationId xmlns:a16="http://schemas.microsoft.com/office/drawing/2014/main" id="{316210D0-41EC-88E1-4287-6C466EFD9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5559425"/>
            <a:ext cx="5211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物理实验教学中心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图片 3" descr="F:\光学实验相片\IMG_20240126_205222.jpg">
            <a:extLst>
              <a:ext uri="{FF2B5EF4-FFF2-40B4-BE49-F238E27FC236}">
                <a16:creationId xmlns:a16="http://schemas.microsoft.com/office/drawing/2014/main" id="{0915228E-15D2-4276-B8DD-202AB8FDF4E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082" y="2335843"/>
            <a:ext cx="4800474" cy="21335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B97A166-83C8-01F3-DE09-00CB280DFFBB}"/>
              </a:ext>
            </a:extLst>
          </p:cNvPr>
          <p:cNvSpPr txBox="1"/>
          <p:nvPr/>
        </p:nvSpPr>
        <p:spPr>
          <a:xfrm>
            <a:off x="1542941" y="795787"/>
            <a:ext cx="55707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光的干涉和衍射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>
            <a:extLst>
              <a:ext uri="{FF2B5EF4-FFF2-40B4-BE49-F238E27FC236}">
                <a16:creationId xmlns:a16="http://schemas.microsoft.com/office/drawing/2014/main" id="{33B49762-24AD-E392-DBB0-202D92AA4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458200" cy="635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《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物理实验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》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注意事项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endParaRPr lang="zh-CN" altLang="en-US" sz="10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上课期间，不得使用手机</a:t>
            </a:r>
            <a:r>
              <a:rPr lang="zh-CN" altLang="zh-CN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(ipad、笔记本电脑等)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以及任何自带资料，违者第一次扣</a:t>
            </a:r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分，第二次本次实验计</a:t>
            </a:r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分。</a:t>
            </a:r>
            <a:endParaRPr lang="en-US" altLang="zh-CN" sz="2000" b="1" u="sng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手机静音或关机后放在书包里，书包和水杯按要求统一放置在指定位置。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每次课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小时，不得迟到，不得早退。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按要求独立完成实验内容，规范记录实验数据。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实验结束，整理仪器及配件，保持整洁。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实验完成后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周内提交报告。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                                                             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                                                                           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物理实验教学中心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5363" name="矩形 1">
            <a:extLst>
              <a:ext uri="{FF2B5EF4-FFF2-40B4-BE49-F238E27FC236}">
                <a16:creationId xmlns:a16="http://schemas.microsoft.com/office/drawing/2014/main" id="{69F40549-040D-CF93-7827-BE9E072FF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05400"/>
            <a:ext cx="7886700" cy="6619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注意：实验桌上打印的讲义和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ppt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，均不得带走。</a:t>
            </a:r>
          </a:p>
        </p:txBody>
      </p:sp>
      <p:sp>
        <p:nvSpPr>
          <p:cNvPr id="15364" name="TextBox 3">
            <a:extLst>
              <a:ext uri="{FF2B5EF4-FFF2-40B4-BE49-F238E27FC236}">
                <a16:creationId xmlns:a16="http://schemas.microsoft.com/office/drawing/2014/main" id="{DEA9B3E8-99C8-BD2C-AAC3-6FA21FDFD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124200"/>
            <a:ext cx="2089150" cy="17049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桌上仅放：</a:t>
            </a:r>
            <a:endParaRPr lang="en-US" altLang="zh-CN" sz="1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预习报告</a:t>
            </a:r>
            <a:endParaRPr lang="en-US" altLang="zh-CN" sz="18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空白数据记录纸</a:t>
            </a:r>
            <a:endParaRPr lang="en-US" altLang="zh-CN" sz="18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必要文具或计算器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>
            <a:extLst>
              <a:ext uri="{FF2B5EF4-FFF2-40B4-BE49-F238E27FC236}">
                <a16:creationId xmlns:a16="http://schemas.microsoft.com/office/drawing/2014/main" id="{6BB5AB26-60D2-90DD-A196-53D6005E0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363"/>
            <a:ext cx="4679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预备问题</a:t>
            </a: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D02577-CAD8-4980-9CD3-3925A9F6DB5B}"/>
              </a:ext>
            </a:extLst>
          </p:cNvPr>
          <p:cNvSpPr/>
          <p:nvPr/>
        </p:nvSpPr>
        <p:spPr>
          <a:xfrm>
            <a:off x="228714" y="1219258"/>
            <a:ext cx="822938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90550" indent="-457200" algn="just">
              <a:lnSpc>
                <a:spcPct val="125000"/>
              </a:lnSpc>
              <a:spcAft>
                <a:spcPts val="0"/>
              </a:spcAft>
              <a:buAutoNum type="arabicPeriod"/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干涉现象产生的条件？为何用分波前法或分振幅法能</a:t>
            </a:r>
            <a:endParaRPr lang="en-US" altLang="zh-CN" sz="2400" kern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335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获得两个或多个相干光波？ 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6700" indent="-13335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衍射现象是怎样产生的？如何做才能观察到夫琅和费衍</a:t>
            </a: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266700" indent="-13335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射条纹？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13335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</a:t>
            </a: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什么是光程，光程差？</a:t>
            </a:r>
            <a:r>
              <a:rPr lang="zh-CN" altLang="en-US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什么是半波带法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13335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 </a:t>
            </a: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单缝衍射缝宽改变时（增加或减小），衍射花样如何变</a:t>
            </a:r>
            <a:endParaRPr lang="en-US" altLang="zh-CN" sz="2400" kern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13335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化？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13335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 </a:t>
            </a: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本实验过程中，用光电流放大器测量衍射条纹光强时，</a:t>
            </a: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indent="13335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需要考虑环境光的影响吗？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</a:rPr>
              <a:t> </a:t>
            </a:r>
            <a:endParaRPr lang="zh-CN" altLang="zh-CN" kern="1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78D1F3B-128E-8266-660D-CF691BDAF29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516" y="1447800"/>
            <a:ext cx="8838968" cy="3657556"/>
          </a:xfrm>
        </p:spPr>
        <p:txBody>
          <a:bodyPr/>
          <a:lstStyle/>
          <a:p>
            <a:pPr indent="0" algn="just">
              <a:buNone/>
            </a:pPr>
            <a:r>
              <a:rPr lang="en-US" altLang="zh-CN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、理解双缝干涉的原理，观察杨氏双缝干涉现象，</a:t>
            </a:r>
            <a:r>
              <a:rPr lang="en-US" altLang="zh-CN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</a:p>
          <a:p>
            <a:pPr indent="0" algn="just">
              <a:buNone/>
            </a:pPr>
            <a:r>
              <a:rPr lang="en-US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利用杨氏双缝干涉测量双缝间距</a:t>
            </a:r>
            <a:r>
              <a:rPr lang="zh-CN" altLang="en-US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3350" indent="0" algn="just">
              <a:buNone/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2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、观察夫琅和费单缝衍射现象，了解其特点；利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marL="133350" indent="0" algn="just">
              <a:buNone/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单缝衍射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测量单缝宽度，测量夫琅和费单缝衍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133350" indent="0" algn="just">
              <a:buNone/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射相对光强分布。</a:t>
            </a:r>
            <a:endParaRPr lang="en-US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3350" indent="0" algn="just">
              <a:buNone/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3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、观察圆孔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菲涅耳衍射现象，改变衍射屏与接受屏</a:t>
            </a:r>
            <a:endParaRPr lang="en-US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3350" indent="0" algn="just">
              <a:buNone/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距离，观察衍射变化的规律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  <a:buNone/>
              <a:tabLst>
                <a:tab pos="628650" algn="l"/>
              </a:tabLst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7C8B677A-0659-E293-1A7E-5CB8E657E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3352800" cy="6413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>
            <a:extLst>
              <a:ext uri="{FF2B5EF4-FFF2-40B4-BE49-F238E27FC236}">
                <a16:creationId xmlns:a16="http://schemas.microsoft.com/office/drawing/2014/main" id="{3D89E937-AF48-F08C-AC4F-43026CD17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3352800" cy="6413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83217BB0-B48B-3676-CC5E-525F2E530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08" y="824119"/>
            <a:ext cx="8648584" cy="570630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909955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317625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72593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1336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90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3048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505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9624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lnSpc>
                <a:spcPct val="132000"/>
              </a:lnSpc>
              <a:buNone/>
              <a:defRPr/>
            </a:pPr>
            <a:r>
              <a:rPr lang="zh-CN" altLang="en-US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托马斯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杨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1801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年进行了著名的杨氏双缝实验，证明光以波动形式存在，使他成为光的波动说的奠基人之一。</a:t>
            </a:r>
            <a:endParaRPr lang="en-US" altLang="zh-CN" sz="1800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2000"/>
              </a:lnSpc>
              <a:buNone/>
              <a:defRPr/>
            </a:pPr>
            <a:r>
              <a:rPr lang="en-US" altLang="zh-CN" sz="1800" kern="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满足相干条件的两束（或多束）光波相遇叠加，在叠加区域光强明暗形成稳定分布的现象称作光的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干涉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。光波的波振面受到阻碍时，光绕过障碍物偏离直线而进入几何阴影区传播的现象称作光的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衍射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光的干涉和衍射现象是光具有波动性的有力证据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是光的波动的两个基本特征，并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在科学研究和工程技术上有着广泛的应用。</a:t>
            </a:r>
          </a:p>
          <a:p>
            <a:pPr algn="just">
              <a:lnSpc>
                <a:spcPct val="132000"/>
              </a:lnSpc>
              <a:buNone/>
              <a:defRPr/>
            </a:pP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光的频率相同、振动方向相同及相位差恒定是能产生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干涉的必要条件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，满足干涉条件的光波称为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相干光波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。一般通过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分波前法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分振幅法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可获得两个或多个相干光波，典型例子有杨氏双缝干涉和薄膜干涉。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2000"/>
              </a:lnSpc>
              <a:buNone/>
              <a:defRPr/>
            </a:pP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衍射通常分为两类：一类是满足衍射屏离光源或接收屏的距离为有限远的衍射，称为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菲涅耳衍射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；另一类是满足衍射屏与光源和接收屏的距离都是无限远的衍射，称为</a:t>
            </a: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夫琅和费衍射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。菲涅耳衍射解决具体问题时，计算较为复杂。而夫琅和费衍射的特点是，只用简单的计算就可以得出准确的结果</a:t>
            </a:r>
            <a:r>
              <a:rPr lang="zh-CN" altLang="en-US" sz="1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应用更为广泛。研究光的衍射不仅有助于进一步加深对光的波动性的理解，同时还有助于进一步学习近代光学实验技术，如光谱分析、晶体结构分析、全息照相、光信息处理等。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1">
            <a:extLst>
              <a:ext uri="{FF2B5EF4-FFF2-40B4-BE49-F238E27FC236}">
                <a16:creationId xmlns:a16="http://schemas.microsoft.com/office/drawing/2014/main" id="{67C4B57C-ACC3-EFEF-BF6D-DA7D58F2D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41812"/>
            <a:ext cx="3124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886380-431B-94C5-552F-56AB65B18283}"/>
              </a:ext>
            </a:extLst>
          </p:cNvPr>
          <p:cNvSpPr txBox="1"/>
          <p:nvPr/>
        </p:nvSpPr>
        <p:spPr>
          <a:xfrm>
            <a:off x="622466" y="854987"/>
            <a:ext cx="8153186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一、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杨氏双缝干涉</a:t>
            </a: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zh-CN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l"/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如图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所示，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线光源，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是一个遮光屏，其上有两条与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平行的狭缝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，且与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等距离，因此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是相干光源，且相位相同；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之间的距离是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是接受屏，缝屏间的距离是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76B2E4-2B6A-D118-0879-A691D856C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782" y="2611731"/>
            <a:ext cx="3621510" cy="1512891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0AA4F254-BB14-F83F-D85C-99D51D925C8D}"/>
              </a:ext>
            </a:extLst>
          </p:cNvPr>
          <p:cNvGrpSpPr/>
          <p:nvPr/>
        </p:nvGrpSpPr>
        <p:grpSpPr>
          <a:xfrm>
            <a:off x="5785423" y="2625112"/>
            <a:ext cx="1453507" cy="1127152"/>
            <a:chOff x="0" y="0"/>
            <a:chExt cx="1114425" cy="94615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96D580D-ABE2-F926-4A0B-87AA474A091C}"/>
                </a:ext>
              </a:extLst>
            </p:cNvPr>
            <p:cNvGrpSpPr/>
            <p:nvPr/>
          </p:nvGrpSpPr>
          <p:grpSpPr>
            <a:xfrm>
              <a:off x="0" y="0"/>
              <a:ext cx="1114425" cy="695325"/>
              <a:chOff x="0" y="0"/>
              <a:chExt cx="1114425" cy="695325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4B2BB428-72D2-13A3-2521-10F992B74179}"/>
                  </a:ext>
                </a:extLst>
              </p:cNvPr>
              <p:cNvGrpSpPr/>
              <p:nvPr/>
            </p:nvGrpSpPr>
            <p:grpSpPr>
              <a:xfrm>
                <a:off x="523875" y="0"/>
                <a:ext cx="590550" cy="584200"/>
                <a:chOff x="0" y="-514350"/>
                <a:chExt cx="590550" cy="5842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文本框 2">
                      <a:extLst>
                        <a:ext uri="{FF2B5EF4-FFF2-40B4-BE49-F238E27FC236}">
                          <a16:creationId xmlns:a16="http://schemas.microsoft.com/office/drawing/2014/main" id="{7C6FC5F5-74F6-EC9C-3CDA-E045F3A6FBA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0" y="-514350"/>
                      <a:ext cx="412750" cy="2667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algn="just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sz="105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105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宋体" panose="02010600030101010101" pitchFamily="2" charset="-122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05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宋体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文本框 2">
                      <a:extLst>
                        <a:ext uri="{FF2B5EF4-FFF2-40B4-BE49-F238E27FC236}">
                          <a16:creationId xmlns:a16="http://schemas.microsoft.com/office/drawing/2014/main" id="{7C6FC5F5-74F6-EC9C-3CDA-E045F3A6FBA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0" y="-514350"/>
                      <a:ext cx="412750" cy="2667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文本框 2">
                      <a:extLst>
                        <a:ext uri="{FF2B5EF4-FFF2-40B4-BE49-F238E27FC236}">
                          <a16:creationId xmlns:a16="http://schemas.microsoft.com/office/drawing/2014/main" id="{72511848-6100-F225-ABF3-5909BE38FF0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79400" y="-215900"/>
                      <a:ext cx="311150" cy="28575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algn="just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sz="105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105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宋体" panose="02010600030101010101" pitchFamily="2" charset="-122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05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宋体" panose="0201060003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文本框 2">
                      <a:extLst>
                        <a:ext uri="{FF2B5EF4-FFF2-40B4-BE49-F238E27FC236}">
                          <a16:creationId xmlns:a16="http://schemas.microsoft.com/office/drawing/2014/main" id="{72511848-6100-F225-ABF3-5909BE38FF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79400" y="-215900"/>
                      <a:ext cx="311150" cy="28575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2" name="文本框 2">
                <a:extLst>
                  <a:ext uri="{FF2B5EF4-FFF2-40B4-BE49-F238E27FC236}">
                    <a16:creationId xmlns:a16="http://schemas.microsoft.com/office/drawing/2014/main" id="{B947848E-CBD7-8242-327D-F7D6E77514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025" y="438150"/>
                <a:ext cx="307975" cy="2571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/>
                <a:r>
                  <a:rPr lang="en-US" sz="1050" kern="1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θ</a:t>
                </a:r>
                <a:endParaRPr lang="zh-CN" sz="1050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6" name="文本框 2">
                <a:extLst>
                  <a:ext uri="{FF2B5EF4-FFF2-40B4-BE49-F238E27FC236}">
                    <a16:creationId xmlns:a16="http://schemas.microsoft.com/office/drawing/2014/main" id="{1DC9EBA3-D101-FF02-E0FE-E04DA08E42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419100"/>
                <a:ext cx="307975" cy="2571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/>
                <a:r>
                  <a:rPr lang="en-US" sz="1050" kern="1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θ</a:t>
                </a:r>
                <a:endParaRPr lang="zh-CN" sz="1050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7" name="弧形 16">
                <a:extLst>
                  <a:ext uri="{FF2B5EF4-FFF2-40B4-BE49-F238E27FC236}">
                    <a16:creationId xmlns:a16="http://schemas.microsoft.com/office/drawing/2014/main" id="{C25383BA-5129-8CC2-AC75-94AC52713625}"/>
                  </a:ext>
                </a:extLst>
              </p:cNvPr>
              <p:cNvSpPr/>
              <p:nvPr/>
            </p:nvSpPr>
            <p:spPr>
              <a:xfrm rot="7312313">
                <a:off x="64770" y="417195"/>
                <a:ext cx="95250" cy="8318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" name="文本框 2">
              <a:extLst>
                <a:ext uri="{FF2B5EF4-FFF2-40B4-BE49-F238E27FC236}">
                  <a16:creationId xmlns:a16="http://schemas.microsoft.com/office/drawing/2014/main" id="{7E317B84-6289-00B6-7B9E-2C8EF1F413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25" y="647700"/>
              <a:ext cx="2984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/>
              <a:r>
                <a:rPr lang="en-US" sz="900" b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N</a:t>
              </a:r>
              <a:endParaRPr lang="zh-CN" sz="105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975D16AC-9EE2-E5FD-2EA8-2103F8B54D4F}"/>
              </a:ext>
            </a:extLst>
          </p:cNvPr>
          <p:cNvSpPr txBox="1"/>
          <p:nvPr/>
        </p:nvSpPr>
        <p:spPr>
          <a:xfrm>
            <a:off x="618914" y="281939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/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zh-CN" sz="2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点的干涉条纹强度分布为</a:t>
            </a:r>
            <a:r>
              <a:rPr lang="zh-CN" altLang="zh-CN" sz="2400" kern="100" baseline="-25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C970730-4358-4662-D945-6CA96F7AB1A9}"/>
                  </a:ext>
                </a:extLst>
              </p:cNvPr>
              <p:cNvSpPr txBox="1"/>
              <p:nvPr/>
            </p:nvSpPr>
            <p:spPr>
              <a:xfrm>
                <a:off x="304911" y="3204340"/>
                <a:ext cx="5002563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zh-CN" altLang="en-US" sz="20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zh-CN" alt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zh-CN" alt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000" b="0" i="0">
                          <a:latin typeface="Cambria Math" panose="02040503050406030204" pitchFamily="18" charset="0"/>
                        </a:rPr>
                        <m:t>+2</m:t>
                      </m:r>
                      <m:rad>
                        <m:radPr>
                          <m:degHide m:val="on"/>
                          <m:ctrlPr>
                            <a:rPr lang="zh-CN" altLang="en-US" sz="20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zh-CN" altLang="en-US" sz="20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zh-CN" altLang="en-US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zh-CN" alt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func>
                        <m:funcPr>
                          <m:ctrlPr>
                            <a:rPr lang="zh-CN" altLang="en-US" sz="20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func>
                      <m:r>
                        <a:rPr lang="zh-CN" altLang="en-US" sz="2000" b="0" i="0"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zh-CN" altLang="en-US" sz="20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zh-CN" altLang="en-US" sz="2000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zh-CN" altLang="en-US" sz="20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0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b="0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zh-CN" alt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zh-CN" altLang="en-US" sz="20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000" b="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num>
                            <m:den>
                              <m:r>
                                <a:rPr lang="zh-CN" alt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C970730-4358-4662-D945-6CA96F7AB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11" y="3204340"/>
                <a:ext cx="5002563" cy="6751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FE98E08-6605-AF44-D8FF-022F91714B63}"/>
                  </a:ext>
                </a:extLst>
              </p:cNvPr>
              <p:cNvSpPr txBox="1"/>
              <p:nvPr/>
            </p:nvSpPr>
            <p:spPr>
              <a:xfrm>
                <a:off x="685782" y="3752264"/>
                <a:ext cx="4688560" cy="898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相位差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d>
                      <m:d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∆=</m:t>
                    </m:r>
                    <m:f>
                      <m:f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000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r>
                  <a:rPr lang="zh-CN" altLang="zh-CN" sz="2400" b="1" kern="100" dirty="0">
                    <a:effectLst/>
                    <a:cs typeface="Times New Roman" panose="02020603050405020304" pitchFamily="18" charset="0"/>
                  </a:rPr>
                  <a:t>，</a:t>
                </a:r>
                <a:endParaRPr lang="en-US" altLang="zh-CN" sz="2400" b="1" kern="100" dirty="0">
                  <a:effectLst/>
                  <a:cs typeface="Times New Roman" panose="02020603050405020304" pitchFamily="18" charset="0"/>
                </a:endParaRPr>
              </a:p>
              <a:p>
                <a:r>
                  <a:rPr lang="en-US" altLang="zh-CN" sz="24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光程差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FE98E08-6605-AF44-D8FF-022F91714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82" y="3752264"/>
                <a:ext cx="4688560" cy="898579"/>
              </a:xfrm>
              <a:prstGeom prst="rect">
                <a:avLst/>
              </a:prstGeom>
              <a:blipFill>
                <a:blip r:embed="rId6"/>
                <a:stretch>
                  <a:fillRect t="-6803" r="-909" b="-14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FDC4BFB-3DEF-3829-4959-C14A0A5868BB}"/>
                  </a:ext>
                </a:extLst>
              </p:cNvPr>
              <p:cNvSpPr txBox="1"/>
              <p:nvPr/>
            </p:nvSpPr>
            <p:spPr>
              <a:xfrm>
                <a:off x="152516" y="4618638"/>
                <a:ext cx="883896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l"/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zh-CN" altLang="zh-CN" sz="2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zh-CN" sz="2000" kern="100">
                        <a:effectLst/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</a:rPr>
                      <m:t>±1</m:t>
                    </m:r>
                    <m:r>
                      <a:rPr lang="zh-CN" altLang="zh-CN" sz="2000" kern="100">
                        <a:effectLst/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</a:rPr>
                      <m:t>±2</m:t>
                    </m:r>
                    <m:r>
                      <a:rPr lang="en-US" altLang="zh-CN" sz="2000" kern="100">
                        <a:effectLst/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r>
                  <a:rPr lang="zh-CN" altLang="zh-CN" sz="2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en-US" sz="2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点处出现明条纹。</a:t>
                </a:r>
              </a:p>
              <a:p>
                <a:pPr indent="266700" algn="l"/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𝛿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𝑚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+1</m:t>
                        </m:r>
                      </m:e>
                    </m:d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𝜋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 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𝑚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=0</m:t>
                    </m:r>
                    <m:r>
                      <a:rPr lang="zh-CN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±1</m:t>
                    </m:r>
                    <m:r>
                      <a:rPr lang="zh-CN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±2</m:t>
                    </m:r>
                    <m: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,⋯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r>
                  <a:rPr lang="zh-CN" altLang="en-US" kern="100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点处出现暗条纹。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FDC4BFB-3DEF-3829-4959-C14A0A586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16" y="4618638"/>
                <a:ext cx="8838968" cy="830997"/>
              </a:xfrm>
              <a:prstGeom prst="rect">
                <a:avLst/>
              </a:prstGeom>
              <a:blipFill>
                <a:blip r:embed="rId7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57" name="文本框 19456">
                <a:extLst>
                  <a:ext uri="{FF2B5EF4-FFF2-40B4-BE49-F238E27FC236}">
                    <a16:creationId xmlns:a16="http://schemas.microsoft.com/office/drawing/2014/main" id="{C3A00E3D-D104-5B3D-69E9-EEA188429C40}"/>
                  </a:ext>
                </a:extLst>
              </p:cNvPr>
              <p:cNvSpPr txBox="1"/>
              <p:nvPr/>
            </p:nvSpPr>
            <p:spPr>
              <a:xfrm>
                <a:off x="1940317" y="4138003"/>
                <a:ext cx="5095702" cy="533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∆=</m:t>
                    </m:r>
                    <m:d>
                      <m:d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0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𝑑𝑠𝑖𝑛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𝑑𝑡𝑎𝑛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US" altLang="zh-CN" sz="2000" kern="100" dirty="0">
                    <a:effectLst/>
                    <a:latin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9457" name="文本框 19456">
                <a:extLst>
                  <a:ext uri="{FF2B5EF4-FFF2-40B4-BE49-F238E27FC236}">
                    <a16:creationId xmlns:a16="http://schemas.microsoft.com/office/drawing/2014/main" id="{C3A00E3D-D104-5B3D-69E9-EEA188429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317" y="4138003"/>
                <a:ext cx="5095702" cy="5339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2" name="文本框 19461">
                <a:extLst>
                  <a:ext uri="{FF2B5EF4-FFF2-40B4-BE49-F238E27FC236}">
                    <a16:creationId xmlns:a16="http://schemas.microsoft.com/office/drawing/2014/main" id="{4498FDFC-1D56-4DBB-4172-509FAC8D6D0D}"/>
                  </a:ext>
                </a:extLst>
              </p:cNvPr>
              <p:cNvSpPr txBox="1"/>
              <p:nvPr/>
            </p:nvSpPr>
            <p:spPr>
              <a:xfrm>
                <a:off x="457200" y="5421914"/>
                <a:ext cx="822949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</a:t>
                </a:r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每级明纹、暗纹均为两条，相对中央明纹对称分布，相邻两明纹或暗纹间距相等，</a:t>
                </a:r>
                <a:r>
                  <a:rPr lang="zh-CN" altLang="en-US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各间距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均为</a:t>
                </a:r>
                <a:r>
                  <a:rPr lang="zh-CN" altLang="en-US" sz="24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zh-CN" altLang="zh-CN" sz="24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462" name="文本框 19461">
                <a:extLst>
                  <a:ext uri="{FF2B5EF4-FFF2-40B4-BE49-F238E27FC236}">
                    <a16:creationId xmlns:a16="http://schemas.microsoft.com/office/drawing/2014/main" id="{4498FDFC-1D56-4DBB-4172-509FAC8D6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421914"/>
                <a:ext cx="8229492" cy="830997"/>
              </a:xfrm>
              <a:prstGeom prst="rect">
                <a:avLst/>
              </a:prstGeom>
              <a:blipFill>
                <a:blip r:embed="rId9"/>
                <a:stretch>
                  <a:fillRect l="-1111" t="-5839" r="-1111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4" name="文本框 19463">
                <a:extLst>
                  <a:ext uri="{FF2B5EF4-FFF2-40B4-BE49-F238E27FC236}">
                    <a16:creationId xmlns:a16="http://schemas.microsoft.com/office/drawing/2014/main" id="{0B504C88-41E6-BA0C-8D96-20727B089F2D}"/>
                  </a:ext>
                </a:extLst>
              </p:cNvPr>
              <p:cNvSpPr txBox="1"/>
              <p:nvPr/>
            </p:nvSpPr>
            <p:spPr>
              <a:xfrm>
                <a:off x="6160565" y="5796877"/>
                <a:ext cx="1687949" cy="78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9464" name="文本框 19463">
                <a:extLst>
                  <a:ext uri="{FF2B5EF4-FFF2-40B4-BE49-F238E27FC236}">
                    <a16:creationId xmlns:a16="http://schemas.microsoft.com/office/drawing/2014/main" id="{0B504C88-41E6-BA0C-8D96-20727B089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565" y="5796877"/>
                <a:ext cx="1687949" cy="7837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6670CD4F-9698-4554-8209-15FA82B1BE01}"/>
              </a:ext>
            </a:extLst>
          </p:cNvPr>
          <p:cNvSpPr txBox="1"/>
          <p:nvPr/>
        </p:nvSpPr>
        <p:spPr>
          <a:xfrm>
            <a:off x="5754800" y="3933749"/>
            <a:ext cx="2258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杨氏双缝干涉的原理图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C8DF735-0512-C453-BD6F-F01123B856B9}"/>
              </a:ext>
            </a:extLst>
          </p:cNvPr>
          <p:cNvSpPr txBox="1"/>
          <p:nvPr/>
        </p:nvSpPr>
        <p:spPr>
          <a:xfrm>
            <a:off x="381110" y="533476"/>
            <a:ext cx="4572000" cy="33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570"/>
              </a:lnSpc>
            </a:pPr>
            <a:r>
              <a:rPr lang="zh-CN" altLang="zh-CN" sz="2400" b="1" kern="100" dirty="0">
                <a:effectLst/>
                <a:highlight>
                  <a:srgbClr val="D3D3D3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二、</a:t>
            </a:r>
            <a:r>
              <a:rPr lang="zh-CN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夫琅和费单缝衍射</a:t>
            </a:r>
            <a:endParaRPr lang="zh-CN" altLang="zh-CN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2709">
            <a:extLst>
              <a:ext uri="{FF2B5EF4-FFF2-40B4-BE49-F238E27FC236}">
                <a16:creationId xmlns:a16="http://schemas.microsoft.com/office/drawing/2014/main" id="{C248F195-2C06-E59F-0638-B87130242122}"/>
              </a:ext>
            </a:extLst>
          </p:cNvPr>
          <p:cNvGrpSpPr>
            <a:grpSpLocks/>
          </p:cNvGrpSpPr>
          <p:nvPr/>
        </p:nvGrpSpPr>
        <p:grpSpPr bwMode="auto">
          <a:xfrm>
            <a:off x="4267208" y="2413502"/>
            <a:ext cx="4190890" cy="2399985"/>
            <a:chOff x="5471" y="7384"/>
            <a:chExt cx="5295" cy="2098"/>
          </a:xfrm>
        </p:grpSpPr>
        <p:grpSp>
          <p:nvGrpSpPr>
            <p:cNvPr id="4" name="Group 2707">
              <a:extLst>
                <a:ext uri="{FF2B5EF4-FFF2-40B4-BE49-F238E27FC236}">
                  <a16:creationId xmlns:a16="http://schemas.microsoft.com/office/drawing/2014/main" id="{B6C6C8D2-2C42-175B-A380-06396C9409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71" y="7431"/>
              <a:ext cx="5295" cy="2051"/>
              <a:chOff x="5471" y="7481"/>
              <a:chExt cx="5295" cy="2051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622D1868-89E8-3E10-ECE2-277766A27A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1" y="7559"/>
                <a:ext cx="5295" cy="1973"/>
                <a:chOff x="0" y="0"/>
                <a:chExt cx="3362325" cy="1171040"/>
              </a:xfrm>
            </p:grpSpPr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CCF865F5-1CCC-12C6-6903-B8FFC2306B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3362325" cy="1171040"/>
                  <a:chOff x="0" y="0"/>
                  <a:chExt cx="3362325" cy="1171040"/>
                </a:xfrm>
              </p:grpSpPr>
              <p:grpSp>
                <p:nvGrpSpPr>
                  <p:cNvPr id="12" name="组合 11">
                    <a:extLst>
                      <a:ext uri="{FF2B5EF4-FFF2-40B4-BE49-F238E27FC236}">
                        <a16:creationId xmlns:a16="http://schemas.microsoft.com/office/drawing/2014/main" id="{45FF262B-2987-2C63-83C0-D2278CAC783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3362325" cy="1085850"/>
                    <a:chOff x="0" y="0"/>
                    <a:chExt cx="3362325" cy="1085850"/>
                  </a:xfrm>
                </p:grpSpPr>
                <p:grpSp>
                  <p:nvGrpSpPr>
                    <p:cNvPr id="16" name="组合 15">
                      <a:extLst>
                        <a:ext uri="{FF2B5EF4-FFF2-40B4-BE49-F238E27FC236}">
                          <a16:creationId xmlns:a16="http://schemas.microsoft.com/office/drawing/2014/main" id="{7904B0E7-E390-B73F-6E41-F1E70B7A035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3362325" cy="1085850"/>
                      <a:chOff x="0" y="0"/>
                      <a:chExt cx="3362325" cy="1085850"/>
                    </a:xfrm>
                  </p:grpSpPr>
                  <p:pic>
                    <p:nvPicPr>
                      <p:cNvPr id="18" name="图片 17">
                        <a:extLst>
                          <a:ext uri="{FF2B5EF4-FFF2-40B4-BE49-F238E27FC236}">
                            <a16:creationId xmlns:a16="http://schemas.microsoft.com/office/drawing/2014/main" id="{DE68571C-745C-85D4-09C1-F4117850B3B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192780" cy="1081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sp>
                    <p:nvSpPr>
                      <p:cNvPr id="19" name="文本框 2611">
                        <a:extLst>
                          <a:ext uri="{FF2B5EF4-FFF2-40B4-BE49-F238E27FC236}">
                            <a16:creationId xmlns:a16="http://schemas.microsoft.com/office/drawing/2014/main" id="{14291885-0829-D4B4-4CC9-3329EAF26BA1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022600" y="215900"/>
                        <a:ext cx="339725" cy="289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pPr algn="just"/>
                        <a:endPara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0" name="文本框 2">
                        <a:extLst>
                          <a:ext uri="{FF2B5EF4-FFF2-40B4-BE49-F238E27FC236}">
                            <a16:creationId xmlns:a16="http://schemas.microsoft.com/office/drawing/2014/main" id="{35CBC53C-6AAE-5203-6D69-0ADD58FAF0CC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76350" y="838200"/>
                        <a:ext cx="1778000" cy="2476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pPr algn="just"/>
                        <a:r>
                          <a: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 </a:t>
                        </a:r>
                        <a:r>
                          <a:rPr lang="en-US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                 </a:t>
                        </a:r>
                        <a:endParaRPr lang="zh-CN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endParaRPr>
                      </a:p>
                    </p:txBody>
                  </p:sp>
                </p:grpSp>
                <p:cxnSp>
                  <p:nvCxnSpPr>
                    <p:cNvPr id="17" name="直接连接符 16">
                      <a:extLst>
                        <a:ext uri="{FF2B5EF4-FFF2-40B4-BE49-F238E27FC236}">
                          <a16:creationId xmlns:a16="http://schemas.microsoft.com/office/drawing/2014/main" id="{9C217271-EF85-F21D-EF94-01C6162F4073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943100" y="838200"/>
                      <a:ext cx="0" cy="196850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cxnSp>
                <p:nvCxnSpPr>
                  <p:cNvPr id="13" name="直接连接符 12">
                    <a:extLst>
                      <a:ext uri="{FF2B5EF4-FFF2-40B4-BE49-F238E27FC236}">
                        <a16:creationId xmlns:a16="http://schemas.microsoft.com/office/drawing/2014/main" id="{E70727B5-D2BC-695E-5E20-A97FE8B51F46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955800" y="946150"/>
                    <a:ext cx="425450" cy="0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4" name="直接连接符 13">
                    <a:extLst>
                      <a:ext uri="{FF2B5EF4-FFF2-40B4-BE49-F238E27FC236}">
                        <a16:creationId xmlns:a16="http://schemas.microsoft.com/office/drawing/2014/main" id="{A66F7149-876E-02CF-8D8E-6C967855068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2628900" y="946150"/>
                    <a:ext cx="444500" cy="0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5" name="文本框 2">
                    <a:extLst>
                      <a:ext uri="{FF2B5EF4-FFF2-40B4-BE49-F238E27FC236}">
                        <a16:creationId xmlns:a16="http://schemas.microsoft.com/office/drawing/2014/main" id="{250B7EFF-06FD-7E81-4C33-FC4F7EDDB8B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300" y="872590"/>
                    <a:ext cx="273050" cy="2984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algn="just"/>
                    <a:r>
                      <a:rPr lang="en-US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f</a:t>
                    </a:r>
                    <a:endParaRPr lang="zh-CN" sz="1400" kern="100" dirty="0"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9" name="直接连接符 8">
                  <a:extLst>
                    <a:ext uri="{FF2B5EF4-FFF2-40B4-BE49-F238E27FC236}">
                      <a16:creationId xmlns:a16="http://schemas.microsoft.com/office/drawing/2014/main" id="{6989499F-9E2A-05A8-210D-FC0B8B3F58F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1955800" y="215900"/>
                  <a:ext cx="1123950" cy="25400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0" name="文本框 2">
                  <a:extLst>
                    <a:ext uri="{FF2B5EF4-FFF2-40B4-BE49-F238E27FC236}">
                      <a16:creationId xmlns:a16="http://schemas.microsoft.com/office/drawing/2014/main" id="{168F4339-1D53-A69C-841D-D626FA28F9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9000" y="365237"/>
                  <a:ext cx="284378" cy="2281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algn="just"/>
                  <a:r>
                    <a:rPr lang="en-US" sz="1200" b="1" i="1" kern="100" dirty="0">
                      <a:effectLst/>
                      <a:latin typeface="Times New Roman" panose="02020603050405020304" pitchFamily="18" charset="0"/>
                      <a:ea typeface="等线" panose="02010600030101010101" pitchFamily="2" charset="-122"/>
                      <a:cs typeface="宋体" panose="02010600030101010101" pitchFamily="2" charset="-122"/>
                    </a:rPr>
                    <a:t>θ</a:t>
                  </a:r>
                  <a:endParaRPr lang="zh-CN" sz="12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1" name="弧形 11">
                  <a:extLst>
                    <a:ext uri="{FF2B5EF4-FFF2-40B4-BE49-F238E27FC236}">
                      <a16:creationId xmlns:a16="http://schemas.microsoft.com/office/drawing/2014/main" id="{BD979111-43E9-3BC0-7550-53E0FEEBD5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2950" y="425450"/>
                  <a:ext cx="146050" cy="120650"/>
                </a:xfrm>
                <a:custGeom>
                  <a:avLst/>
                  <a:gdLst>
                    <a:gd name="T0" fmla="*/ 67430 w 146050"/>
                    <a:gd name="T1" fmla="*/ 177 h 120650"/>
                    <a:gd name="T2" fmla="*/ 121286 w 146050"/>
                    <a:gd name="T3" fmla="*/ 15051 h 120650"/>
                    <a:gd name="T4" fmla="*/ 144752 w 146050"/>
                    <a:gd name="T5" fmla="*/ 71650 h 12065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6050" h="120650" stroke="0">
                      <a:moveTo>
                        <a:pt x="67430" y="177"/>
                      </a:moveTo>
                      <a:cubicBezTo>
                        <a:pt x="87076" y="-1070"/>
                        <a:pt x="106498" y="4294"/>
                        <a:pt x="121286" y="15051"/>
                      </a:cubicBezTo>
                      <a:cubicBezTo>
                        <a:pt x="140679" y="29159"/>
                        <a:pt x="149603" y="50683"/>
                        <a:pt x="144752" y="71650"/>
                      </a:cubicBezTo>
                      <a:lnTo>
                        <a:pt x="73025" y="60325"/>
                      </a:lnTo>
                      <a:lnTo>
                        <a:pt x="67430" y="177"/>
                      </a:lnTo>
                      <a:close/>
                    </a:path>
                    <a:path w="146050" h="120650" fill="none">
                      <a:moveTo>
                        <a:pt x="67430" y="177"/>
                      </a:moveTo>
                      <a:cubicBezTo>
                        <a:pt x="87076" y="-1070"/>
                        <a:pt x="106498" y="4294"/>
                        <a:pt x="121286" y="15051"/>
                      </a:cubicBezTo>
                      <a:cubicBezTo>
                        <a:pt x="140679" y="29159"/>
                        <a:pt x="149603" y="50683"/>
                        <a:pt x="144752" y="7165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ctr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7" name="文本框 2">
                <a:extLst>
                  <a:ext uri="{FF2B5EF4-FFF2-40B4-BE49-F238E27FC236}">
                    <a16:creationId xmlns:a16="http://schemas.microsoft.com/office/drawing/2014/main" id="{89D2928D-6A2C-F0E9-2612-F95246899B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98" y="7481"/>
                <a:ext cx="516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just"/>
                <a:r>
                  <a:rPr lang="en-US" sz="14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E</a:t>
                </a:r>
                <a:endParaRPr lang="zh-CN" sz="14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  <a:p>
                <a:pPr algn="just"/>
                <a:r>
                  <a:rPr lang="en-US" sz="105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 </a:t>
                </a:r>
                <a:endParaRPr lang="zh-CN" sz="105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5" name="文本框 2">
              <a:extLst>
                <a:ext uri="{FF2B5EF4-FFF2-40B4-BE49-F238E27FC236}">
                  <a16:creationId xmlns:a16="http://schemas.microsoft.com/office/drawing/2014/main" id="{FDACAEAF-2D73-F779-68D8-663DE5646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0" y="7384"/>
              <a:ext cx="416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r>
                <a:rPr lang="en-US" sz="1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K</a:t>
              </a:r>
              <a:endParaRPr 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8474BB32-EE40-B728-07F9-1376E6BD2A5D}"/>
              </a:ext>
            </a:extLst>
          </p:cNvPr>
          <p:cNvSpPr txBox="1"/>
          <p:nvPr/>
        </p:nvSpPr>
        <p:spPr>
          <a:xfrm>
            <a:off x="533506" y="865170"/>
            <a:ext cx="8305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照射到衍射屏上的入射光 （激光）和离开衍射屏的衍射光（缝宽相对于缝到接收屏的距离足够小）都是平行光的衍射，称为夫琅和费衍射，又称为远场衍射。</a:t>
            </a:r>
            <a:endParaRPr lang="zh-CN" altLang="en-US" sz="2400" dirty="0"/>
          </a:p>
        </p:txBody>
      </p:sp>
      <p:pic>
        <p:nvPicPr>
          <p:cNvPr id="23" name="Picture 14">
            <a:extLst>
              <a:ext uri="{FF2B5EF4-FFF2-40B4-BE49-F238E27FC236}">
                <a16:creationId xmlns:a16="http://schemas.microsoft.com/office/drawing/2014/main" id="{B7969ECC-A46A-D707-6164-3351F61ED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16" y="2247617"/>
            <a:ext cx="204787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3">
            <a:extLst>
              <a:ext uri="{FF2B5EF4-FFF2-40B4-BE49-F238E27FC236}">
                <a16:creationId xmlns:a16="http://schemas.microsoft.com/office/drawing/2014/main" id="{DB117190-4997-D931-F1A4-84F8B078A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578" y="5168636"/>
            <a:ext cx="43322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chemeClr val="bg2"/>
                </a:solidFill>
                <a:latin typeface="黑体" panose="02010609060101010101" pitchFamily="49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光源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单缝宽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ɑ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；衍射角</a:t>
            </a:r>
            <a:r>
              <a:rPr lang="el-GR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；缝屏间距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</a:p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         　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2AA115-B541-48B7-84F9-86FABD600D36}"/>
              </a:ext>
            </a:extLst>
          </p:cNvPr>
          <p:cNvSpPr txBox="1"/>
          <p:nvPr/>
        </p:nvSpPr>
        <p:spPr>
          <a:xfrm>
            <a:off x="6141722" y="4650402"/>
            <a:ext cx="1949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夫琅和费单缝衍射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523376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8">
            <a:extLst>
              <a:ext uri="{FF2B5EF4-FFF2-40B4-BE49-F238E27FC236}">
                <a16:creationId xmlns:a16="http://schemas.microsoft.com/office/drawing/2014/main" id="{A095F87D-CB84-E23E-4334-991196A31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0688" y="1522413"/>
          <a:ext cx="14382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61669" imgH="393529" progId="Equation.3">
                  <p:embed/>
                </p:oleObj>
              </mc:Choice>
              <mc:Fallback>
                <p:oleObj r:id="rId3" imgW="761669" imgH="393529" progId="Equation.3">
                  <p:embed/>
                  <p:pic>
                    <p:nvPicPr>
                      <p:cNvPr id="22530" name="Object 8">
                        <a:extLst>
                          <a:ext uri="{FF2B5EF4-FFF2-40B4-BE49-F238E27FC236}">
                            <a16:creationId xmlns:a16="http://schemas.microsoft.com/office/drawing/2014/main" id="{A095F87D-CB84-E23E-4334-991196A31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0688" y="1522413"/>
                        <a:ext cx="1438275" cy="647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矩形 3">
            <a:extLst>
              <a:ext uri="{FF2B5EF4-FFF2-40B4-BE49-F238E27FC236}">
                <a16:creationId xmlns:a16="http://schemas.microsoft.com/office/drawing/2014/main" id="{88DE9D15-9532-60CA-BBD7-9A553E051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13" y="280988"/>
            <a:ext cx="305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单缝夫琅和费衍射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2" name="Rectangle 2">
                <a:extLst>
                  <a:ext uri="{FF2B5EF4-FFF2-40B4-BE49-F238E27FC236}">
                    <a16:creationId xmlns:a16="http://schemas.microsoft.com/office/drawing/2014/main" id="{B0AA4E43-5BE3-CCC4-3E6C-9A931C393E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625" y="968375"/>
                <a:ext cx="8229600" cy="5181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、衍射光强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与衍射角</a:t>
                </a:r>
                <a:r>
                  <a:rPr lang="el-GR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θ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的关系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r>
                  <a:rPr lang="en-US" altLang="zh-CN" sz="2400" dirty="0">
                    <a:ea typeface="宋体" panose="02010600030101010101" pitchFamily="2" charset="-122"/>
                    <a:sym typeface="Arial" panose="020B0604020202020204" pitchFamily="34" charset="0"/>
                  </a:rPr>
                  <a:t>                                             </a:t>
                </a: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r>
                  <a:rPr lang="zh-CN" altLang="en-US" sz="2400" b="0" dirty="0">
                    <a:ea typeface="宋体" panose="02010600030101010101" pitchFamily="2" charset="-122"/>
                    <a:sym typeface="Arial" panose="020B0604020202020204" pitchFamily="34" charset="0"/>
                  </a:rPr>
                  <a:t> </a:t>
                </a:r>
                <a:endParaRPr lang="en-US" altLang="zh-CN" sz="2400" b="0" dirty="0">
                  <a:ea typeface="宋体" panose="02010600030101010101" pitchFamily="2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、 缝宽对于衍射图样的影响： 中央明纹的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半角宽 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∆</a:t>
                </a:r>
                <a:r>
                  <a:rPr lang="el-GR" altLang="zh-CN" sz="2400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θ</a:t>
                </a:r>
                <a:endPara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        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可见，缝宽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越小，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Δθ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越大，衍射图样展开的范围越大；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缝宽越大，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Δθ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越小，衍射图样不明显；</a:t>
                </a:r>
                <a:r>
                  <a:rPr lang="en-US" altLang="zh-CN"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无穷大，则衍射效应忽略。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)</a:t>
                </a:r>
                <a:endPara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endParaRPr lang="zh-CN" altLang="en-US" sz="1600" dirty="0">
                  <a:ea typeface="宋体" panose="02010600030101010101" pitchFamily="2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、各次极明纹与中央明纹光强比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4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、单缝缝宽的测量式</a:t>
                </a:r>
              </a:p>
              <a:p>
                <a:pPr>
                  <a:buClr>
                    <a:schemeClr val="folHlink"/>
                  </a:buClr>
                  <a:buSzPct val="85000"/>
                  <a:buFontTx/>
                  <a:buNone/>
                </a:pPr>
                <a:endParaRPr lang="zh-CN" altLang="en-US" sz="2000" b="0" dirty="0">
                  <a:ea typeface="宋体" panose="02010600030101010101" pitchFamily="2" charset="-122"/>
                  <a:sym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532" name="Rectangle 2">
                <a:extLst>
                  <a:ext uri="{FF2B5EF4-FFF2-40B4-BE49-F238E27FC236}">
                    <a16:creationId xmlns:a16="http://schemas.microsoft.com/office/drawing/2014/main" id="{B0AA4E43-5BE3-CCC4-3E6C-9A931C393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625" y="968375"/>
                <a:ext cx="8229600" cy="5181600"/>
              </a:xfrm>
              <a:prstGeom prst="rect">
                <a:avLst/>
              </a:prstGeom>
              <a:blipFill>
                <a:blip r:embed="rId6"/>
                <a:stretch>
                  <a:fillRect l="-1111" t="-941" b="-32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533" name="Object 16">
            <a:extLst>
              <a:ext uri="{FF2B5EF4-FFF2-40B4-BE49-F238E27FC236}">
                <a16:creationId xmlns:a16="http://schemas.microsoft.com/office/drawing/2014/main" id="{0FFE8A1C-7457-3986-AA85-BAB11B7DB7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0288" y="5073650"/>
          <a:ext cx="17160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250400" imgH="5486400" progId="Equation.3">
                  <p:embed/>
                </p:oleObj>
              </mc:Choice>
              <mc:Fallback>
                <p:oleObj r:id="rId7" imgW="22250400" imgH="5486400" progId="Equation.3">
                  <p:embed/>
                  <p:pic>
                    <p:nvPicPr>
                      <p:cNvPr id="22533" name="Object 16">
                        <a:extLst>
                          <a:ext uri="{FF2B5EF4-FFF2-40B4-BE49-F238E27FC236}">
                            <a16:creationId xmlns:a16="http://schemas.microsoft.com/office/drawing/2014/main" id="{0FFE8A1C-7457-3986-AA85-BAB11B7DB7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0288" y="5073650"/>
                        <a:ext cx="1716087" cy="444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15">
            <a:extLst>
              <a:ext uri="{FF2B5EF4-FFF2-40B4-BE49-F238E27FC236}">
                <a16:creationId xmlns:a16="http://schemas.microsoft.com/office/drawing/2014/main" id="{949E117D-0CB3-46B3-4111-AE4D175A5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5860" y="2959992"/>
            <a:ext cx="294984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9875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 typeface="Calibri" panose="020F0502020204030204" pitchFamily="34" charset="0"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单缝衍射相对光强分布曲线</a:t>
            </a:r>
          </a:p>
        </p:txBody>
      </p:sp>
      <p:pic>
        <p:nvPicPr>
          <p:cNvPr id="22535" name="Picture 20">
            <a:extLst>
              <a:ext uri="{FF2B5EF4-FFF2-40B4-BE49-F238E27FC236}">
                <a16:creationId xmlns:a16="http://schemas.microsoft.com/office/drawing/2014/main" id="{4683BF27-669B-1199-637B-683AC98F2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88" y="363538"/>
            <a:ext cx="2686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Rectangle 19">
            <a:extLst>
              <a:ext uri="{FF2B5EF4-FFF2-40B4-BE49-F238E27FC236}">
                <a16:creationId xmlns:a16="http://schemas.microsoft.com/office/drawing/2014/main" id="{0E0F1505-13E8-C2CB-F259-C21BAA460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Calibri" panose="020F0502020204030204" pitchFamily="34" charset="0"/>
              <a:buNone/>
            </a:pPr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37" name="Object 18">
            <a:extLst>
              <a:ext uri="{FF2B5EF4-FFF2-40B4-BE49-F238E27FC236}">
                <a16:creationId xmlns:a16="http://schemas.microsoft.com/office/drawing/2014/main" id="{D3C3D3BB-ECF4-BB13-25D4-1E94CFD9C5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5963" y="1527175"/>
          <a:ext cx="16891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87400" imgH="419100" progId="Equation.3">
                  <p:embed/>
                </p:oleObj>
              </mc:Choice>
              <mc:Fallback>
                <p:oleObj r:id="rId10" imgW="787400" imgH="419100" progId="Equation.3">
                  <p:embed/>
                  <p:pic>
                    <p:nvPicPr>
                      <p:cNvPr id="22537" name="Object 18">
                        <a:extLst>
                          <a:ext uri="{FF2B5EF4-FFF2-40B4-BE49-F238E27FC236}">
                            <a16:creationId xmlns:a16="http://schemas.microsoft.com/office/drawing/2014/main" id="{D3C3D3BB-ECF4-BB13-25D4-1E94CFD9C5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1527175"/>
                        <a:ext cx="1689100" cy="708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4">
            <a:extLst>
              <a:ext uri="{FF2B5EF4-FFF2-40B4-BE49-F238E27FC236}">
                <a16:creationId xmlns:a16="http://schemas.microsoft.com/office/drawing/2014/main" id="{6405F6C8-F2BD-BFB8-DA40-14368CDBB8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4325" y="5049838"/>
          <a:ext cx="16922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1945600" imgH="5486400" progId="Equation.3">
                  <p:embed/>
                </p:oleObj>
              </mc:Choice>
              <mc:Fallback>
                <p:oleObj r:id="rId12" imgW="21945600" imgH="5486400" progId="Equation.3">
                  <p:embed/>
                  <p:pic>
                    <p:nvPicPr>
                      <p:cNvPr id="22538" name="Object 14">
                        <a:extLst>
                          <a:ext uri="{FF2B5EF4-FFF2-40B4-BE49-F238E27FC236}">
                            <a16:creationId xmlns:a16="http://schemas.microsoft.com/office/drawing/2014/main" id="{6405F6C8-F2BD-BFB8-DA40-14368CDBB8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5049838"/>
                        <a:ext cx="1692275" cy="444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15">
            <a:extLst>
              <a:ext uri="{FF2B5EF4-FFF2-40B4-BE49-F238E27FC236}">
                <a16:creationId xmlns:a16="http://schemas.microsoft.com/office/drawing/2014/main" id="{9555F40D-DBFE-26D9-7C7F-F50BD6B2E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5049838"/>
          <a:ext cx="17160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2250400" imgH="5486400" progId="Equation.3">
                  <p:embed/>
                </p:oleObj>
              </mc:Choice>
              <mc:Fallback>
                <p:oleObj r:id="rId14" imgW="22250400" imgH="5486400" progId="Equation.3">
                  <p:embed/>
                  <p:pic>
                    <p:nvPicPr>
                      <p:cNvPr id="22539" name="Object 15">
                        <a:extLst>
                          <a:ext uri="{FF2B5EF4-FFF2-40B4-BE49-F238E27FC236}">
                            <a16:creationId xmlns:a16="http://schemas.microsoft.com/office/drawing/2014/main" id="{9555F40D-DBFE-26D9-7C7F-F50BD6B2E2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049838"/>
                        <a:ext cx="1716087" cy="444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540" name="Object 9">
                <a:extLst>
                  <a:ext uri="{FF2B5EF4-FFF2-40B4-BE49-F238E27FC236}">
                    <a16:creationId xmlns:a16="http://schemas.microsoft.com/office/drawing/2014/main" id="{586F165A-F3BB-625F-6CF0-EA52E2824F19}"/>
                  </a:ext>
                </a:extLst>
              </p:cNvPr>
              <p:cNvSpPr txBox="1"/>
              <p:nvPr/>
            </p:nvSpPr>
            <p:spPr bwMode="auto">
              <a:xfrm>
                <a:off x="2711450" y="2792413"/>
                <a:ext cx="1171575" cy="68897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540" name="Object 9">
                <a:extLst>
                  <a:ext uri="{FF2B5EF4-FFF2-40B4-BE49-F238E27FC236}">
                    <a16:creationId xmlns:a16="http://schemas.microsoft.com/office/drawing/2014/main" id="{586F165A-F3BB-625F-6CF0-EA52E2824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450" y="2792413"/>
                <a:ext cx="1171575" cy="6889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1" name="Object 7">
                <a:extLst>
                  <a:ext uri="{FF2B5EF4-FFF2-40B4-BE49-F238E27FC236}">
                    <a16:creationId xmlns:a16="http://schemas.microsoft.com/office/drawing/2014/main" id="{32E2673A-7B67-7138-A7A1-22DACE0F49AE}"/>
                  </a:ext>
                </a:extLst>
              </p:cNvPr>
              <p:cNvSpPr txBox="1"/>
              <p:nvPr/>
            </p:nvSpPr>
            <p:spPr bwMode="auto">
              <a:xfrm>
                <a:off x="3451475" y="5591968"/>
                <a:ext cx="1195387" cy="68897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22541" name="Object 7">
                <a:extLst>
                  <a:ext uri="{FF2B5EF4-FFF2-40B4-BE49-F238E27FC236}">
                    <a16:creationId xmlns:a16="http://schemas.microsoft.com/office/drawing/2014/main" id="{32E2673A-7B67-7138-A7A1-22DACE0F4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1475" y="5591968"/>
                <a:ext cx="1195387" cy="6889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9525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BAD130-95BA-4047-A809-5AFB71A95EDC}"/>
              </a:ext>
            </a:extLst>
          </p:cNvPr>
          <p:cNvSpPr/>
          <p:nvPr/>
        </p:nvSpPr>
        <p:spPr>
          <a:xfrm>
            <a:off x="304912" y="228684"/>
            <a:ext cx="4572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三、菲涅耳衍射</a:t>
            </a:r>
            <a:br>
              <a:rPr lang="en-US" altLang="zh-CN" kern="100" dirty="0">
                <a:latin typeface="宋体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37250B5-99A2-4DB1-9CDF-E7B610C4BF1B}"/>
              </a:ext>
            </a:extLst>
          </p:cNvPr>
          <p:cNvGrpSpPr/>
          <p:nvPr/>
        </p:nvGrpSpPr>
        <p:grpSpPr>
          <a:xfrm>
            <a:off x="6238871" y="3478862"/>
            <a:ext cx="2305050" cy="1206500"/>
            <a:chOff x="0" y="0"/>
            <a:chExt cx="2305050" cy="120650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9B3C58D-32A7-4E31-861E-2275A72D4074}"/>
                </a:ext>
              </a:extLst>
            </p:cNvPr>
            <p:cNvGrpSpPr/>
            <p:nvPr/>
          </p:nvGrpSpPr>
          <p:grpSpPr>
            <a:xfrm>
              <a:off x="0" y="0"/>
              <a:ext cx="2305050" cy="1206500"/>
              <a:chOff x="0" y="0"/>
              <a:chExt cx="2305050" cy="1206500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E9E6E115-FEA7-4DE1-ABA3-C150175A2B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303780" cy="1206500"/>
              </a:xfrm>
              <a:prstGeom prst="rect">
                <a:avLst/>
              </a:prstGeom>
            </p:spPr>
          </p:pic>
          <p:sp>
            <p:nvSpPr>
              <p:cNvPr id="7" name="文本框 2">
                <a:extLst>
                  <a:ext uri="{FF2B5EF4-FFF2-40B4-BE49-F238E27FC236}">
                    <a16:creationId xmlns:a16="http://schemas.microsoft.com/office/drawing/2014/main" id="{5CD357C6-7C02-4180-95CF-F43E3A9FE9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7400" y="47625"/>
                <a:ext cx="247650" cy="2984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900" b="1" kern="1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E</a:t>
                </a:r>
                <a:endParaRPr lang="zh-CN" sz="1050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5" name="文本框 2">
              <a:extLst>
                <a:ext uri="{FF2B5EF4-FFF2-40B4-BE49-F238E27FC236}">
                  <a16:creationId xmlns:a16="http://schemas.microsoft.com/office/drawing/2014/main" id="{954AA7D4-4659-42A4-A34B-31CF00C43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750" y="47625"/>
              <a:ext cx="247650" cy="29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900" b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K</a:t>
              </a:r>
              <a:endParaRPr lang="zh-CN" sz="105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D2F9A47E-89AD-4D22-9C1E-E9D0E3296256}"/>
              </a:ext>
            </a:extLst>
          </p:cNvPr>
          <p:cNvSpPr/>
          <p:nvPr/>
        </p:nvSpPr>
        <p:spPr>
          <a:xfrm>
            <a:off x="609704" y="789746"/>
            <a:ext cx="71626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kern="100" dirty="0">
                <a:cs typeface="Times New Roman" panose="02020603050405020304" pitchFamily="18" charset="0"/>
              </a:rPr>
              <a:t>菲涅耳衍射</a:t>
            </a:r>
            <a:r>
              <a:rPr lang="zh-CN" altLang="zh-CN" kern="100" dirty="0">
                <a:cs typeface="Times New Roman" panose="02020603050405020304" pitchFamily="18" charset="0"/>
              </a:rPr>
              <a:t>；满足衍射屏离光源或接收屏的距离为有限远的衍射</a:t>
            </a:r>
            <a:r>
              <a:rPr lang="zh-CN" altLang="en-US" kern="100" dirty="0"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BA9B0B0-944E-47AC-A2FF-47B348B64DC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762" y="1927370"/>
            <a:ext cx="266700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B2F1953-252F-49F9-A5F1-B5BFCD381288}"/>
              </a:ext>
            </a:extLst>
          </p:cNvPr>
          <p:cNvSpPr/>
          <p:nvPr/>
        </p:nvSpPr>
        <p:spPr>
          <a:xfrm>
            <a:off x="251236" y="1227309"/>
            <a:ext cx="85878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</a:rPr>
              <a:t>          </a:t>
            </a:r>
            <a:r>
              <a:rPr lang="zh-CN" altLang="zh-CN" kern="100" dirty="0">
                <a:latin typeface="Times New Roman" panose="02020603050405020304" pitchFamily="18" charset="0"/>
              </a:rPr>
              <a:t>菲涅耳衍射的一般装置如图</a:t>
            </a:r>
            <a:r>
              <a:rPr lang="en-US" altLang="zh-CN" kern="100" dirty="0">
                <a:latin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Times New Roman" panose="02020603050405020304" pitchFamily="18" charset="0"/>
              </a:rPr>
              <a:t>所示，其中</a:t>
            </a:r>
            <a:r>
              <a:rPr lang="en-US" altLang="zh-CN" kern="100" dirty="0">
                <a:latin typeface="Times New Roman" panose="02020603050405020304" pitchFamily="18" charset="0"/>
              </a:rPr>
              <a:t>S</a:t>
            </a:r>
            <a:r>
              <a:rPr lang="zh-CN" altLang="zh-CN" kern="100" dirty="0">
                <a:latin typeface="Times New Roman" panose="02020603050405020304" pitchFamily="18" charset="0"/>
              </a:rPr>
              <a:t>是点光源，</a:t>
            </a:r>
            <a:r>
              <a:rPr lang="en-US" altLang="zh-CN" kern="100" dirty="0">
                <a:latin typeface="Times New Roman" panose="02020603050405020304" pitchFamily="18" charset="0"/>
              </a:rPr>
              <a:t>K</a:t>
            </a:r>
            <a:r>
              <a:rPr lang="zh-CN" altLang="zh-CN" kern="100" dirty="0">
                <a:latin typeface="Times New Roman" panose="02020603050405020304" pitchFamily="18" charset="0"/>
              </a:rPr>
              <a:t>是开有某种形状孔径的衍射屏（或</a:t>
            </a:r>
            <a:r>
              <a:rPr lang="zh-CN" altLang="zh-CN" kern="100" dirty="0">
                <a:cs typeface="Times New Roman" panose="02020603050405020304" pitchFamily="18" charset="0"/>
              </a:rPr>
              <a:t>不透明屏），</a:t>
            </a:r>
            <a:r>
              <a:rPr lang="en-US" altLang="zh-CN" kern="100" dirty="0">
                <a:cs typeface="Times New Roman" panose="02020603050405020304" pitchFamily="18" charset="0"/>
              </a:rPr>
              <a:t>E</a:t>
            </a:r>
            <a:r>
              <a:rPr lang="zh-CN" altLang="zh-CN" kern="100" dirty="0">
                <a:cs typeface="Times New Roman" panose="02020603050405020304" pitchFamily="18" charset="0"/>
              </a:rPr>
              <a:t>是观察屏</a:t>
            </a:r>
            <a:r>
              <a:rPr lang="zh-CN" altLang="en-US" kern="100" dirty="0">
                <a:cs typeface="Times New Roman" panose="02020603050405020304" pitchFamily="18" charset="0"/>
              </a:rPr>
              <a:t>。</a:t>
            </a:r>
            <a:r>
              <a:rPr lang="zh-CN" altLang="zh-CN" dirty="0"/>
              <a:t>如图</a:t>
            </a:r>
            <a:r>
              <a:rPr lang="en-US" altLang="zh-CN" dirty="0"/>
              <a:t>5</a:t>
            </a:r>
            <a:r>
              <a:rPr lang="zh-CN" altLang="zh-CN" dirty="0"/>
              <a:t>以单色平面波垂直照射圆孔衍射屏的情况为例，用半波带法计算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0</a:t>
            </a:r>
            <a:r>
              <a:rPr lang="zh-CN" altLang="zh-CN" dirty="0"/>
              <a:t>点合振幅的大小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C09262D-9C1E-4589-9789-2015476CD9B2}"/>
                  </a:ext>
                </a:extLst>
              </p:cNvPr>
              <p:cNvSpPr/>
              <p:nvPr/>
            </p:nvSpPr>
            <p:spPr>
              <a:xfrm>
                <a:off x="228308" y="2211510"/>
                <a:ext cx="6289818" cy="30569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algn="just">
                  <a:spcAft>
                    <a:spcPts val="0"/>
                  </a:spcAft>
                </a:pPr>
                <a:r>
                  <a:rPr lang="zh-CN" altLang="zh-CN" kern="100" dirty="0">
                    <a:latin typeface="Times New Roman" panose="02020603050405020304" pitchFamily="18" charset="0"/>
                  </a:rPr>
                  <a:t>半波带法计算的结果是</a:t>
                </a:r>
                <a:r>
                  <a:rPr lang="en-US" altLang="zh-CN" i="1" kern="100" dirty="0">
                    <a:latin typeface="Times New Roman" panose="02020603050405020304" pitchFamily="18" charset="0"/>
                  </a:rPr>
                  <a:t>P</a:t>
                </a:r>
                <a:r>
                  <a:rPr lang="en-US" altLang="zh-CN" i="1" kern="100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zh-CN" altLang="zh-CN" kern="100" dirty="0">
                    <a:latin typeface="Times New Roman" panose="02020603050405020304" pitchFamily="18" charset="0"/>
                  </a:rPr>
                  <a:t>点合振幅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zh-CN" kern="100" dirty="0">
                    <a:latin typeface="Times New Roman" panose="02020603050405020304" pitchFamily="18" charset="0"/>
                  </a:rPr>
                  <a:t>为：</a:t>
                </a:r>
              </a:p>
              <a:p>
                <a:pPr indent="266700"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i="1" kern="10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zh-CN" kern="10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zh-CN" kern="100">
                                <a:latin typeface="Cambria Math" panose="02040503050406030204" pitchFamily="18" charset="0"/>
                              </a:rPr>
                              <m:t>为奇数</m:t>
                            </m:r>
                          </m:e>
                          <m:e>
                            <m:f>
                              <m:f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1800" i="1" kern="100"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zh-CN" kern="10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zh-CN" kern="100">
                                <a:latin typeface="Cambria Math" panose="02040503050406030204" pitchFamily="18" charset="0"/>
                              </a:rPr>
                              <m:t>为偶数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kern="100" dirty="0">
                    <a:latin typeface="宋体" panose="02010600030101010101" pitchFamily="2" charset="-122"/>
                  </a:rPr>
                  <a:t>      </a:t>
                </a:r>
                <a:endParaRPr lang="zh-CN" altLang="zh-CN" kern="100" dirty="0">
                  <a:latin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en-US" altLang="zh-CN" kern="100" dirty="0">
                    <a:latin typeface="Times New Roman" panose="02020603050405020304" pitchFamily="18" charset="0"/>
                  </a:rPr>
                  <a:t>       </a:t>
                </a:r>
                <a:r>
                  <a:rPr lang="zh-CN" altLang="zh-CN" kern="100" dirty="0">
                    <a:latin typeface="Times New Roman" panose="02020603050405020304" pitchFamily="18" charset="0"/>
                  </a:rPr>
                  <a:t>由上式可知，对于圆孔轴线</a:t>
                </a:r>
                <a:r>
                  <a:rPr lang="en-US" altLang="zh-CN" i="1" kern="100" dirty="0">
                    <a:latin typeface="Times New Roman" panose="02020603050405020304" pitchFamily="18" charset="0"/>
                  </a:rPr>
                  <a:t>C P</a:t>
                </a:r>
                <a:r>
                  <a:rPr lang="en-US" altLang="zh-CN" i="1" kern="100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zh-CN" altLang="zh-CN" kern="100" dirty="0">
                    <a:latin typeface="Times New Roman" panose="02020603050405020304" pitchFamily="18" charset="0"/>
                  </a:rPr>
                  <a:t>上的不同点所露</a:t>
                </a:r>
                <a:endParaRPr lang="en-US" altLang="zh-CN" kern="100" dirty="0">
                  <a:latin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zh-CN" altLang="zh-CN" kern="100" dirty="0">
                    <a:latin typeface="Times New Roman" panose="02020603050405020304" pitchFamily="18" charset="0"/>
                  </a:rPr>
                  <a:t>出的半波带数目</a:t>
                </a:r>
                <a:r>
                  <a:rPr lang="en-US" altLang="zh-CN" kern="100" dirty="0">
                    <a:latin typeface="Times New Roman" panose="02020603050405020304" pitchFamily="18" charset="0"/>
                  </a:rPr>
                  <a:t>n</a:t>
                </a:r>
                <a:r>
                  <a:rPr lang="zh-CN" altLang="zh-CN" kern="100" dirty="0">
                    <a:latin typeface="Times New Roman" panose="02020603050405020304" pitchFamily="18" charset="0"/>
                  </a:rPr>
                  <a:t>不相同，因而在这条直线上移动观</a:t>
                </a:r>
                <a:endParaRPr lang="en-US" altLang="zh-CN" kern="100" dirty="0">
                  <a:latin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zh-CN" altLang="zh-CN" kern="100" dirty="0">
                    <a:latin typeface="Times New Roman" panose="02020603050405020304" pitchFamily="18" charset="0"/>
                  </a:rPr>
                  <a:t>察屏</a:t>
                </a:r>
                <a:r>
                  <a:rPr lang="en-US" altLang="zh-CN" kern="100" dirty="0">
                    <a:latin typeface="Times New Roman" panose="02020603050405020304" pitchFamily="18" charset="0"/>
                  </a:rPr>
                  <a:t>E</a:t>
                </a:r>
                <a:r>
                  <a:rPr lang="zh-CN" altLang="zh-CN" kern="100" dirty="0">
                    <a:latin typeface="Times New Roman" panose="02020603050405020304" pitchFamily="18" charset="0"/>
                  </a:rPr>
                  <a:t>时会发现，某些点的光强最大，而另一些点</a:t>
                </a:r>
                <a:endParaRPr lang="en-US" altLang="zh-CN" kern="100" dirty="0">
                  <a:latin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zh-CN" altLang="zh-CN" kern="100" dirty="0">
                    <a:latin typeface="Times New Roman" panose="02020603050405020304" pitchFamily="18" charset="0"/>
                  </a:rPr>
                  <a:t>的光强为最小（为什么？）。另一方面，观察屏</a:t>
                </a:r>
                <a:r>
                  <a:rPr lang="en-US" altLang="zh-CN" kern="100" dirty="0">
                    <a:latin typeface="Times New Roman" panose="02020603050405020304" pitchFamily="18" charset="0"/>
                  </a:rPr>
                  <a:t>E</a:t>
                </a:r>
              </a:p>
              <a:p>
                <a:pPr indent="266700" algn="just">
                  <a:spcAft>
                    <a:spcPts val="0"/>
                  </a:spcAft>
                </a:pPr>
                <a:r>
                  <a:rPr lang="zh-CN" altLang="zh-CN" kern="100" dirty="0">
                    <a:latin typeface="Times New Roman" panose="02020603050405020304" pitchFamily="18" charset="0"/>
                  </a:rPr>
                  <a:t>不动，改变圆孔半径也会使∑上的半波带数目</a:t>
                </a:r>
                <a:r>
                  <a:rPr lang="en-US" altLang="zh-CN" kern="100" dirty="0">
                    <a:latin typeface="Times New Roman" panose="02020603050405020304" pitchFamily="18" charset="0"/>
                  </a:rPr>
                  <a:t>n</a:t>
                </a:r>
                <a:r>
                  <a:rPr lang="zh-CN" altLang="zh-CN" kern="100" dirty="0">
                    <a:latin typeface="Times New Roman" panose="02020603050405020304" pitchFamily="18" charset="0"/>
                  </a:rPr>
                  <a:t>不相</a:t>
                </a:r>
                <a:endParaRPr lang="en-US" altLang="zh-CN" kern="100" dirty="0">
                  <a:latin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:r>
                  <a:rPr lang="zh-CN" altLang="zh-CN" kern="100" dirty="0">
                    <a:latin typeface="Times New Roman" panose="02020603050405020304" pitchFamily="18" charset="0"/>
                  </a:rPr>
                  <a:t>同，考察点的光强度也有明暗交替的变化（为什么？）。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C09262D-9C1E-4589-9789-2015476CD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08" y="2211510"/>
                <a:ext cx="6289818" cy="3056991"/>
              </a:xfrm>
              <a:prstGeom prst="rect">
                <a:avLst/>
              </a:prstGeom>
              <a:blipFill>
                <a:blip r:embed="rId4"/>
                <a:stretch>
                  <a:fillRect t="-1597" b="-1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185C2198-15AE-4D52-B664-BC2712D1BF7F}"/>
              </a:ext>
            </a:extLst>
          </p:cNvPr>
          <p:cNvSpPr/>
          <p:nvPr/>
        </p:nvSpPr>
        <p:spPr>
          <a:xfrm>
            <a:off x="6263895" y="3123546"/>
            <a:ext cx="23086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en-US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zh-CN" sz="14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菲涅耳衍射的一般装置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B013758-0619-4C10-8FDA-AFB744E1B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396" y="4786077"/>
            <a:ext cx="19007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 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圆孔菲涅耳衍射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7" name="图片 19">
            <a:extLst>
              <a:ext uri="{FF2B5EF4-FFF2-40B4-BE49-F238E27FC236}">
                <a16:creationId xmlns:a16="http://schemas.microsoft.com/office/drawing/2014/main" id="{032F1405-35A9-47CF-A4A5-080E83809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40005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3317715E-AA5A-4160-9A30-6207FE723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067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8C24C73-CCDB-41DA-A9A5-6CE3156820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00" y="1888053"/>
            <a:ext cx="7924592" cy="3081894"/>
          </a:xfrm>
          <a:prstGeom prst="rect">
            <a:avLst/>
          </a:prstGeom>
        </p:spPr>
      </p:pic>
      <p:sp>
        <p:nvSpPr>
          <p:cNvPr id="14344" name="Text Box 5">
            <a:extLst>
              <a:ext uri="{FF2B5EF4-FFF2-40B4-BE49-F238E27FC236}">
                <a16:creationId xmlns:a16="http://schemas.microsoft.com/office/drawing/2014/main" id="{E58AE1F2-D4B8-96A2-8279-DFAB6523D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3352800" cy="6413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实验仪器</a:t>
            </a: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7" name="对话气泡: 圆角矩形 6">
            <a:extLst>
              <a:ext uri="{FF2B5EF4-FFF2-40B4-BE49-F238E27FC236}">
                <a16:creationId xmlns:a16="http://schemas.microsoft.com/office/drawing/2014/main" id="{6AF67E6E-01C3-C7AE-ECA0-99D31A386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989" y="1306563"/>
            <a:ext cx="1702594" cy="406229"/>
          </a:xfrm>
          <a:prstGeom prst="wedgeRoundRectCallout">
            <a:avLst>
              <a:gd name="adj1" fmla="val 34701"/>
              <a:gd name="adj2" fmla="val 220782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He-Ne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激光器</a:t>
            </a:r>
          </a:p>
        </p:txBody>
      </p:sp>
      <p:sp>
        <p:nvSpPr>
          <p:cNvPr id="23558" name="对话气泡: 圆角矩形 7">
            <a:extLst>
              <a:ext uri="{FF2B5EF4-FFF2-40B4-BE49-F238E27FC236}">
                <a16:creationId xmlns:a16="http://schemas.microsoft.com/office/drawing/2014/main" id="{2EB53875-2045-7BAC-BECF-3F914254D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1921" y="4830826"/>
            <a:ext cx="990574" cy="406228"/>
          </a:xfrm>
          <a:prstGeom prst="wedgeRoundRectCallout">
            <a:avLst>
              <a:gd name="adj1" fmla="val 11955"/>
              <a:gd name="adj2" fmla="val -528791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kern="100" dirty="0">
                <a:latin typeface="Times New Roman" panose="02020603050405020304" pitchFamily="18" charset="0"/>
              </a:rPr>
              <a:t>监视器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9" name="对话气泡: 圆角矩形 8">
            <a:extLst>
              <a:ext uri="{FF2B5EF4-FFF2-40B4-BE49-F238E27FC236}">
                <a16:creationId xmlns:a16="http://schemas.microsoft.com/office/drawing/2014/main" id="{0FC23831-7111-2388-F008-3B8F225F6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544" y="1120352"/>
            <a:ext cx="1216180" cy="406228"/>
          </a:xfrm>
          <a:prstGeom prst="wedgeRoundRectCallout">
            <a:avLst>
              <a:gd name="adj1" fmla="val -5393"/>
              <a:gd name="adj2" fmla="val 244229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kern="100" dirty="0">
                <a:latin typeface="Times New Roman" panose="02020603050405020304" pitchFamily="18" charset="0"/>
              </a:rPr>
              <a:t>CCD</a:t>
            </a:r>
            <a:r>
              <a:rPr lang="zh-CN" altLang="zh-CN" sz="1800" kern="100" dirty="0">
                <a:latin typeface="Times New Roman" panose="02020603050405020304" pitchFamily="18" charset="0"/>
              </a:rPr>
              <a:t>相机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60" name="对话气泡: 圆角矩形 6">
            <a:extLst>
              <a:ext uri="{FF2B5EF4-FFF2-40B4-BE49-F238E27FC236}">
                <a16:creationId xmlns:a16="http://schemas.microsoft.com/office/drawing/2014/main" id="{9BD2CEC1-AAB6-ACB6-F994-A0866A69B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100" y="4738988"/>
            <a:ext cx="1079500" cy="612775"/>
          </a:xfrm>
          <a:prstGeom prst="wedgeRoundRectCallout">
            <a:avLst>
              <a:gd name="adj1" fmla="val 67114"/>
              <a:gd name="adj2" fmla="val -409861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kern="100" dirty="0">
                <a:latin typeface="Times New Roman" panose="02020603050405020304" pitchFamily="18" charset="0"/>
              </a:rPr>
              <a:t>扩束准直</a:t>
            </a:r>
            <a:r>
              <a:rPr lang="zh-CN" altLang="en-US" sz="1800" kern="100" dirty="0">
                <a:latin typeface="Times New Roman" panose="02020603050405020304" pitchFamily="18" charset="0"/>
              </a:rPr>
              <a:t>组件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对话气泡: 圆角矩形 6">
            <a:extLst>
              <a:ext uri="{FF2B5EF4-FFF2-40B4-BE49-F238E27FC236}">
                <a16:creationId xmlns:a16="http://schemas.microsoft.com/office/drawing/2014/main" id="{81E67E8E-AE71-4D91-B668-00CB3497F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5" y="5027965"/>
            <a:ext cx="1079500" cy="375949"/>
          </a:xfrm>
          <a:prstGeom prst="wedgeRoundRectCallout">
            <a:avLst>
              <a:gd name="adj1" fmla="val 93688"/>
              <a:gd name="adj2" fmla="val -700995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kern="100" dirty="0">
                <a:latin typeface="Times New Roman" panose="02020603050405020304" pitchFamily="18" charset="0"/>
              </a:rPr>
              <a:t>衰减器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对话气泡: 圆角矩形 6">
            <a:extLst>
              <a:ext uri="{FF2B5EF4-FFF2-40B4-BE49-F238E27FC236}">
                <a16:creationId xmlns:a16="http://schemas.microsoft.com/office/drawing/2014/main" id="{C977B52F-29AF-47C5-917B-82C44441C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2066" y="1273787"/>
            <a:ext cx="1079500" cy="421712"/>
          </a:xfrm>
          <a:prstGeom prst="wedgeRoundRectCallout">
            <a:avLst>
              <a:gd name="adj1" fmla="val 36387"/>
              <a:gd name="adj2" fmla="val 146934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kern="100" dirty="0">
                <a:latin typeface="Times New Roman" panose="02020603050405020304" pitchFamily="18" charset="0"/>
              </a:rPr>
              <a:t>目标物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对话气泡: 圆角矩形 6">
            <a:extLst>
              <a:ext uri="{FF2B5EF4-FFF2-40B4-BE49-F238E27FC236}">
                <a16:creationId xmlns:a16="http://schemas.microsoft.com/office/drawing/2014/main" id="{94C636A7-42FB-4EDB-A06D-2EECB94C1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386" y="4859590"/>
            <a:ext cx="1216180" cy="377464"/>
          </a:xfrm>
          <a:prstGeom prst="wedgeRoundRectCallout">
            <a:avLst>
              <a:gd name="adj1" fmla="val -15651"/>
              <a:gd name="adj2" fmla="val -722103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kern="100" dirty="0">
                <a:latin typeface="Times New Roman" panose="02020603050405020304" pitchFamily="18" charset="0"/>
              </a:rPr>
              <a:t>变换透镜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对话气泡: 圆角矩形 6">
            <a:extLst>
              <a:ext uri="{FF2B5EF4-FFF2-40B4-BE49-F238E27FC236}">
                <a16:creationId xmlns:a16="http://schemas.microsoft.com/office/drawing/2014/main" id="{7BCC8731-DFC0-494A-A6B0-97EF0DAD2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895" y="1333537"/>
            <a:ext cx="1252051" cy="472842"/>
          </a:xfrm>
          <a:prstGeom prst="wedgeRoundRectCallout">
            <a:avLst>
              <a:gd name="adj1" fmla="val 95161"/>
              <a:gd name="adj2" fmla="val 149452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800" kern="100" dirty="0">
                <a:latin typeface="Times New Roman" panose="02020603050405020304" pitchFamily="18" charset="0"/>
              </a:rPr>
              <a:t>可变光阑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对话气泡: 圆角矩形 6">
            <a:extLst>
              <a:ext uri="{FF2B5EF4-FFF2-40B4-BE49-F238E27FC236}">
                <a16:creationId xmlns:a16="http://schemas.microsoft.com/office/drawing/2014/main" id="{7AAAF9AF-0A4C-426A-A87E-7A53074E0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148" y="4915526"/>
            <a:ext cx="1079500" cy="375949"/>
          </a:xfrm>
          <a:prstGeom prst="wedgeRoundRectCallout">
            <a:avLst>
              <a:gd name="adj1" fmla="val -34201"/>
              <a:gd name="adj2" fmla="val -159701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kern="100" dirty="0">
                <a:latin typeface="Times New Roman" panose="02020603050405020304" pitchFamily="18" charset="0"/>
              </a:rPr>
              <a:t>导轨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A9382B1D-1150-4836-933E-DC26D28C8831}"/>
              </a:ext>
            </a:extLst>
          </p:cNvPr>
          <p:cNvGrpSpPr/>
          <p:nvPr/>
        </p:nvGrpSpPr>
        <p:grpSpPr>
          <a:xfrm>
            <a:off x="298684" y="876300"/>
            <a:ext cx="8138785" cy="5507023"/>
            <a:chOff x="298684" y="876300"/>
            <a:chExt cx="8138785" cy="5507023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4DAF1B69-45DF-4B28-90E5-74F9F52C0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5517" y="1828867"/>
              <a:ext cx="1828499" cy="1383294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23B97E87-B621-4523-B182-4F7E36D72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2206" y="1850371"/>
              <a:ext cx="1964170" cy="1344344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487B5F6E-D3AA-4286-9B24-BEC5711AF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6371" y="3829559"/>
              <a:ext cx="3308006" cy="1994182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7CFECF2E-56B4-42D4-91C2-DCBAFDB51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216" y="3902842"/>
              <a:ext cx="1733711" cy="1828842"/>
            </a:xfrm>
            <a:prstGeom prst="rect">
              <a:avLst/>
            </a:prstGeom>
          </p:spPr>
        </p:pic>
        <p:sp>
          <p:nvSpPr>
            <p:cNvPr id="24591" name="对话气泡: 圆角矩形 10">
              <a:extLst>
                <a:ext uri="{FF2B5EF4-FFF2-40B4-BE49-F238E27FC236}">
                  <a16:creationId xmlns:a16="http://schemas.microsoft.com/office/drawing/2014/main" id="{05D856E0-B112-9A53-179D-8DA804A74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178" y="876300"/>
              <a:ext cx="1716763" cy="612697"/>
            </a:xfrm>
            <a:prstGeom prst="wedgeRoundRectCallout">
              <a:avLst>
                <a:gd name="adj1" fmla="val 47620"/>
                <a:gd name="adj2" fmla="val 190009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ea typeface="宋体" panose="02010600030101010101" pitchFamily="2" charset="-122"/>
                </a:rPr>
                <a:t>光电流放大器及探头</a:t>
              </a:r>
            </a:p>
          </p:txBody>
        </p:sp>
        <p:sp>
          <p:nvSpPr>
            <p:cNvPr id="24592" name="对话气泡: 圆角矩形 11">
              <a:extLst>
                <a:ext uri="{FF2B5EF4-FFF2-40B4-BE49-F238E27FC236}">
                  <a16:creationId xmlns:a16="http://schemas.microsoft.com/office/drawing/2014/main" id="{44553627-8EF6-82FE-87C3-7FB2D5BB1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473" y="3595828"/>
              <a:ext cx="720706" cy="914376"/>
            </a:xfrm>
            <a:prstGeom prst="wedgeRoundRectCallout">
              <a:avLst>
                <a:gd name="adj1" fmla="val 180733"/>
                <a:gd name="adj2" fmla="val 15551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ea typeface="宋体" panose="02010600030101010101" pitchFamily="2" charset="-122"/>
                </a:rPr>
                <a:t>扩束准直组件</a:t>
              </a:r>
            </a:p>
          </p:txBody>
        </p:sp>
        <p:sp>
          <p:nvSpPr>
            <p:cNvPr id="24593" name="对话气泡: 圆角矩形 12">
              <a:extLst>
                <a:ext uri="{FF2B5EF4-FFF2-40B4-BE49-F238E27FC236}">
                  <a16:creationId xmlns:a16="http://schemas.microsoft.com/office/drawing/2014/main" id="{C1B680FC-31FA-DDCD-4D56-64D50117B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831" y="4724618"/>
              <a:ext cx="720706" cy="461963"/>
            </a:xfrm>
            <a:prstGeom prst="wedgeRoundRectCallout">
              <a:avLst>
                <a:gd name="adj1" fmla="val -131188"/>
                <a:gd name="adj2" fmla="val -66146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ea typeface="宋体" panose="02010600030101010101" pitchFamily="2" charset="-122"/>
                </a:rPr>
                <a:t>白屏</a:t>
              </a:r>
            </a:p>
          </p:txBody>
        </p:sp>
        <p:sp>
          <p:nvSpPr>
            <p:cNvPr id="24594" name="对话气泡: 圆角矩形 13">
              <a:extLst>
                <a:ext uri="{FF2B5EF4-FFF2-40B4-BE49-F238E27FC236}">
                  <a16:creationId xmlns:a16="http://schemas.microsoft.com/office/drawing/2014/main" id="{21F99415-8C73-E555-E766-8A2BA7C53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488" y="3374292"/>
              <a:ext cx="914376" cy="373468"/>
            </a:xfrm>
            <a:prstGeom prst="wedgeRoundRectCallout">
              <a:avLst>
                <a:gd name="adj1" fmla="val 3458"/>
                <a:gd name="adj2" fmla="val 222074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ea typeface="宋体" panose="02010600030101010101" pitchFamily="2" charset="-122"/>
                </a:rPr>
                <a:t>目标物</a:t>
              </a:r>
            </a:p>
          </p:txBody>
        </p:sp>
        <p:sp>
          <p:nvSpPr>
            <p:cNvPr id="24595" name="对话气泡: 圆角矩形 14">
              <a:extLst>
                <a:ext uri="{FF2B5EF4-FFF2-40B4-BE49-F238E27FC236}">
                  <a16:creationId xmlns:a16="http://schemas.microsoft.com/office/drawing/2014/main" id="{66427ABE-B7DA-A82A-B7C4-9B921ABCC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8604" y="5979045"/>
              <a:ext cx="810727" cy="373468"/>
            </a:xfrm>
            <a:prstGeom prst="wedgeRoundRectCallout">
              <a:avLst>
                <a:gd name="adj1" fmla="val -90966"/>
                <a:gd name="adj2" fmla="val -263148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ea typeface="宋体" panose="02010600030101010101" pitchFamily="2" charset="-122"/>
                </a:rPr>
                <a:t>托架</a:t>
              </a:r>
            </a:p>
          </p:txBody>
        </p:sp>
        <p:sp>
          <p:nvSpPr>
            <p:cNvPr id="24581" name="对话气泡: 圆角矩形 10">
              <a:extLst>
                <a:ext uri="{FF2B5EF4-FFF2-40B4-BE49-F238E27FC236}">
                  <a16:creationId xmlns:a16="http://schemas.microsoft.com/office/drawing/2014/main" id="{4AC6E9BC-9E0E-B116-D73E-9038FF2E4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118" y="3893939"/>
              <a:ext cx="741351" cy="422135"/>
            </a:xfrm>
            <a:prstGeom prst="wedgeRoundRectCallout">
              <a:avLst>
                <a:gd name="adj1" fmla="val -69320"/>
                <a:gd name="adj2" fmla="val 179532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ea typeface="宋体" panose="02010600030101010101" pitchFamily="2" charset="-122"/>
                </a:rPr>
                <a:t>卷尺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6A77FE1-8186-4F36-A63A-5BE487D14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871" y="1828867"/>
              <a:ext cx="2291219" cy="1349491"/>
            </a:xfrm>
            <a:prstGeom prst="rect">
              <a:avLst/>
            </a:prstGeom>
          </p:spPr>
        </p:pic>
        <p:sp>
          <p:nvSpPr>
            <p:cNvPr id="27" name="对话气泡: 圆角矩形 6">
              <a:extLst>
                <a:ext uri="{FF2B5EF4-FFF2-40B4-BE49-F238E27FC236}">
                  <a16:creationId xmlns:a16="http://schemas.microsoft.com/office/drawing/2014/main" id="{8251606C-DE12-4663-91EC-6E3A717B7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773" y="930075"/>
              <a:ext cx="1702594" cy="612697"/>
            </a:xfrm>
            <a:prstGeom prst="wedgeRoundRectCallout">
              <a:avLst>
                <a:gd name="adj1" fmla="val 13113"/>
                <a:gd name="adj2" fmla="val 178901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He-Ne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激光器及电源</a:t>
              </a:r>
            </a:p>
          </p:txBody>
        </p:sp>
        <p:sp>
          <p:nvSpPr>
            <p:cNvPr id="28" name="对话气泡: 圆角矩形 8">
              <a:extLst>
                <a:ext uri="{FF2B5EF4-FFF2-40B4-BE49-F238E27FC236}">
                  <a16:creationId xmlns:a16="http://schemas.microsoft.com/office/drawing/2014/main" id="{54CDDF6D-8008-4574-BB5C-756825B56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7788" y="892863"/>
              <a:ext cx="1216180" cy="636533"/>
            </a:xfrm>
            <a:prstGeom prst="wedgeRoundRectCallout">
              <a:avLst>
                <a:gd name="adj1" fmla="val 18932"/>
                <a:gd name="adj2" fmla="val 182261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kern="100" dirty="0">
                  <a:latin typeface="Times New Roman" panose="02020603050405020304" pitchFamily="18" charset="0"/>
                </a:rPr>
                <a:t>CCD</a:t>
              </a:r>
              <a:r>
                <a:rPr lang="zh-CN" altLang="zh-CN" sz="1800" kern="100" dirty="0">
                  <a:latin typeface="Times New Roman" panose="02020603050405020304" pitchFamily="18" charset="0"/>
                </a:rPr>
                <a:t>相机</a:t>
              </a:r>
              <a:r>
                <a:rPr lang="zh-CN" altLang="en-US" sz="1800" kern="100" dirty="0">
                  <a:latin typeface="Times New Roman" panose="02020603050405020304" pitchFamily="18" charset="0"/>
                </a:rPr>
                <a:t>及监视器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对话气泡: 圆角矩形 6">
              <a:extLst>
                <a:ext uri="{FF2B5EF4-FFF2-40B4-BE49-F238E27FC236}">
                  <a16:creationId xmlns:a16="http://schemas.microsoft.com/office/drawing/2014/main" id="{D9044FDE-B172-46CE-A46D-FB9B56168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84" y="5148734"/>
              <a:ext cx="1252051" cy="472842"/>
            </a:xfrm>
            <a:prstGeom prst="wedgeRoundRectCallout">
              <a:avLst>
                <a:gd name="adj1" fmla="val 105185"/>
                <a:gd name="adj2" fmla="val -151999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800" kern="100" dirty="0">
                  <a:latin typeface="Times New Roman" panose="02020603050405020304" pitchFamily="18" charset="0"/>
                </a:rPr>
                <a:t>可变光阑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对话气泡: 圆角矩形 6">
              <a:extLst>
                <a:ext uri="{FF2B5EF4-FFF2-40B4-BE49-F238E27FC236}">
                  <a16:creationId xmlns:a16="http://schemas.microsoft.com/office/drawing/2014/main" id="{E73F7CE0-5AE0-48DC-B26C-4046181F6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347" y="5996936"/>
              <a:ext cx="1216180" cy="377464"/>
            </a:xfrm>
            <a:prstGeom prst="wedgeRoundRectCallout">
              <a:avLst>
                <a:gd name="adj1" fmla="val 32262"/>
                <a:gd name="adj2" fmla="val -427605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800" kern="100" dirty="0">
                  <a:latin typeface="Times New Roman" panose="02020603050405020304" pitchFamily="18" charset="0"/>
                </a:rPr>
                <a:t>变换透镜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对话气泡: 圆角矩形 6">
              <a:extLst>
                <a:ext uri="{FF2B5EF4-FFF2-40B4-BE49-F238E27FC236}">
                  <a16:creationId xmlns:a16="http://schemas.microsoft.com/office/drawing/2014/main" id="{D16D7C43-C769-4EAE-9347-C89C9E9F0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038" y="6007374"/>
              <a:ext cx="1079500" cy="375949"/>
            </a:xfrm>
            <a:prstGeom prst="wedgeRoundRectCallout">
              <a:avLst>
                <a:gd name="adj1" fmla="val -50810"/>
                <a:gd name="adj2" fmla="val -414848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800" kern="100" dirty="0">
                  <a:latin typeface="Times New Roman" panose="02020603050405020304" pitchFamily="18" charset="0"/>
                </a:rPr>
                <a:t>衰减器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2ABE49-9FDD-0D59-5EBD-B90B8250B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28" y="1660444"/>
            <a:ext cx="5199285" cy="328362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202D221-0633-2455-1DB9-26889E2A0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79" y="1592919"/>
            <a:ext cx="3018342" cy="33600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F56ED29-D462-FF54-83F3-7353F84CAA37}"/>
              </a:ext>
            </a:extLst>
          </p:cNvPr>
          <p:cNvSpPr txBox="1"/>
          <p:nvPr/>
        </p:nvSpPr>
        <p:spPr>
          <a:xfrm>
            <a:off x="1981268" y="533476"/>
            <a:ext cx="6522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目标物上各形状孔径尺寸</a:t>
            </a:r>
          </a:p>
        </p:txBody>
      </p:sp>
    </p:spTree>
    <p:extLst>
      <p:ext uri="{BB962C8B-B14F-4D97-AF65-F5344CB8AC3E}">
        <p14:creationId xmlns:p14="http://schemas.microsoft.com/office/powerpoint/2010/main" val="285652477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C03F765-9B71-A121-DB3B-01B087121B57}"/>
              </a:ext>
            </a:extLst>
          </p:cNvPr>
          <p:cNvSpPr/>
          <p:nvPr/>
        </p:nvSpPr>
        <p:spPr>
          <a:xfrm>
            <a:off x="0" y="152400"/>
            <a:ext cx="2954338" cy="646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3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C11927-F464-49E6-90B6-0349A798F24E}"/>
              </a:ext>
            </a:extLst>
          </p:cNvPr>
          <p:cNvSpPr/>
          <p:nvPr/>
        </p:nvSpPr>
        <p:spPr>
          <a:xfrm>
            <a:off x="152516" y="798512"/>
            <a:ext cx="880092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测量杨氏干涉双缝间距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观察实验过程中的现象并记录</a:t>
            </a:r>
            <a:endParaRPr lang="zh-CN" altLang="zh-CN" sz="20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7970" algn="just">
              <a:spcAft>
                <a:spcPts val="0"/>
              </a:spcAft>
            </a:pPr>
            <a:r>
              <a:rPr lang="en-US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光路的搭建</a:t>
            </a:r>
            <a:endParaRPr lang="zh-CN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如图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所示，自左向右依次为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激光器、扩束准直组件，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光阑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，目标物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CCD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首先操作第一步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是各器件同轴等高调节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，如下所述：</a:t>
            </a:r>
            <a:endParaRPr lang="zh-CN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激光器水平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借助可变光阑（开孔约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2mm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在导轨上移动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光阑在激光器的近处和远处，分别调节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激光器、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光阑高低和激光夹持器的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左右及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水平俯仰旋钮，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使激光束能通过任意位置的光阑孔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扩束准直组件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在激光器和光阑中间插入扩束准直组件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通过调整位置使物镜出射的光斑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打在光阑中间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；调节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目标物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光阑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后放置目标物，光斑可以覆盖其上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所选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的双缝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缝宽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el-G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，缝间距为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400</a:t>
            </a:r>
            <a:r>
              <a:rPr lang="el-G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；调节</a:t>
            </a:r>
            <a:r>
              <a:rPr lang="en-US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使要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采集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干涉条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                              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纹光斑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射入相机 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                             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摄像孔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682936-B882-F901-75A3-59AB8FA08E1A}"/>
              </a:ext>
            </a:extLst>
          </p:cNvPr>
          <p:cNvSpPr txBox="1"/>
          <p:nvPr/>
        </p:nvSpPr>
        <p:spPr>
          <a:xfrm>
            <a:off x="1752674" y="6344888"/>
            <a:ext cx="4670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杨氏双缝干涉</a:t>
            </a:r>
            <a:r>
              <a:rPr lang="zh-CN" altLang="zh-CN" sz="1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的装置</a:t>
            </a:r>
            <a:r>
              <a:rPr lang="zh-CN" altLang="en-US" sz="1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651639-3A18-579E-080E-5468786443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10" y="3931177"/>
            <a:ext cx="6324434" cy="2405091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4229A6-D9E6-CF62-992E-B9815F92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8262774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63ACD32-D53A-4FB8-A6B1-4B285B1DFE78}"/>
              </a:ext>
            </a:extLst>
          </p:cNvPr>
          <p:cNvSpPr/>
          <p:nvPr/>
        </p:nvSpPr>
        <p:spPr>
          <a:xfrm>
            <a:off x="0" y="569196"/>
            <a:ext cx="876288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  <a:tabLst>
                <a:tab pos="228600" algn="l"/>
                <a:tab pos="266700" algn="l"/>
                <a:tab pos="342900" algn="l"/>
              </a:tabLst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、杨氏双缝干涉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Aft>
                <a:spcPts val="0"/>
              </a:spcAft>
              <a:buFont typeface="+mj-ea"/>
              <a:buAutoNum type="circleNumDbPlain"/>
              <a:tabLst>
                <a:tab pos="228600" algn="l"/>
                <a:tab pos="266700" algn="l"/>
                <a:tab pos="342900" algn="l"/>
              </a:tabLst>
            </a:pP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相机与监视器相连接，并连接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将相机对准日光灯并通过遮挡相机靶面，如果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监视器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有反应，则说明相机正常工作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Aft>
                <a:spcPts val="0"/>
              </a:spcAft>
              <a:buFont typeface="+mj-ea"/>
              <a:buAutoNum type="circleNumDbPlain"/>
              <a:tabLst>
                <a:tab pos="228600" algn="l"/>
                <a:tab pos="266700" algn="l"/>
                <a:tab pos="342900" algn="l"/>
              </a:tabLst>
            </a:pP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将相机沿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轨移动到距目标物合适的位置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（监视器上能看到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个以上条纹为宜），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注意将实验进行过程中观察到的现象（特别异常的现象更要记录）记录到数据记录纸上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Aft>
                <a:spcPts val="0"/>
              </a:spcAft>
              <a:buFont typeface="+mj-ea"/>
              <a:buAutoNum type="circleNumDbPlain"/>
              <a:tabLst>
                <a:tab pos="228600" algn="l"/>
                <a:tab pos="266700" algn="l"/>
                <a:tab pos="3429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所示，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相机下的平移台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丝杆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监视器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上的十字线交点位于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左侧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清晰暗纹居中位置，并记录当前平移台丝杆读数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000" kern="1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；然后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使十字线交点位于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右侧清晰暗纹居中位置（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两侧之间条纹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尽可能多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以减小误差），并记录当前平移台丝杆读数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重复测量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Aft>
                <a:spcPts val="0"/>
              </a:spcAft>
              <a:buFont typeface="+mj-ea"/>
              <a:buAutoNum type="circleNumDbPlain"/>
              <a:tabLst>
                <a:tab pos="228600" algn="l"/>
                <a:tab pos="266700" algn="l"/>
                <a:tab pos="3429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记录缝屏间距离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86B4DF7-E7F4-AAF8-79A8-9FF72EDF8C4C}"/>
              </a:ext>
            </a:extLst>
          </p:cNvPr>
          <p:cNvGrpSpPr/>
          <p:nvPr/>
        </p:nvGrpSpPr>
        <p:grpSpPr>
          <a:xfrm>
            <a:off x="2667050" y="4115597"/>
            <a:ext cx="4319865" cy="1764168"/>
            <a:chOff x="2209862" y="4129147"/>
            <a:chExt cx="3786479" cy="167652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35AE041E-1469-9168-09AD-D6C8DAA973DC}"/>
                </a:ext>
              </a:extLst>
            </p:cNvPr>
            <p:cNvGrpSpPr/>
            <p:nvPr/>
          </p:nvGrpSpPr>
          <p:grpSpPr>
            <a:xfrm>
              <a:off x="2209862" y="4129147"/>
              <a:ext cx="2002561" cy="1666656"/>
              <a:chOff x="1873705" y="4138921"/>
              <a:chExt cx="2002561" cy="1666656"/>
            </a:xfrm>
          </p:grpSpPr>
          <p:pic>
            <p:nvPicPr>
              <p:cNvPr id="7" name="图片 6" descr="f31d978faefbe9fc13e7088dbc714d9">
                <a:extLst>
                  <a:ext uri="{FF2B5EF4-FFF2-40B4-BE49-F238E27FC236}">
                    <a16:creationId xmlns:a16="http://schemas.microsoft.com/office/drawing/2014/main" id="{A12CA0DC-16BE-4786-B0E1-F511D59E516B}"/>
                  </a:ext>
                </a:extLst>
              </p:cNvPr>
              <p:cNvPicPr/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60" t="18376" r="17143" b="15375"/>
              <a:stretch>
                <a:fillRect/>
              </a:stretch>
            </p:blipFill>
            <p:spPr bwMode="auto">
              <a:xfrm>
                <a:off x="1873705" y="4158300"/>
                <a:ext cx="2002561" cy="164727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274048D2-83A3-46AA-8DF1-93822DDD89B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19446" y="4138921"/>
                <a:ext cx="0" cy="164727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39A08B6D-BC2E-4661-8824-5FC0673D6E4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1873705" y="4972259"/>
                <a:ext cx="2002561" cy="2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06F4CBD-2F72-7C01-858F-DAD3EE7704A9}"/>
                </a:ext>
              </a:extLst>
            </p:cNvPr>
            <p:cNvGrpSpPr/>
            <p:nvPr/>
          </p:nvGrpSpPr>
          <p:grpSpPr>
            <a:xfrm>
              <a:off x="3962416" y="4148526"/>
              <a:ext cx="2033925" cy="1657142"/>
              <a:chOff x="4262940" y="4148435"/>
              <a:chExt cx="2033925" cy="1657142"/>
            </a:xfrm>
          </p:grpSpPr>
          <p:pic>
            <p:nvPicPr>
              <p:cNvPr id="8" name="图片 7" descr="20f2640ad9e715d7aa08fb05dd23a25">
                <a:extLst>
                  <a:ext uri="{FF2B5EF4-FFF2-40B4-BE49-F238E27FC236}">
                    <a16:creationId xmlns:a16="http://schemas.microsoft.com/office/drawing/2014/main" id="{08F3E52C-A825-4294-8A2D-50E7D74ACC41}"/>
                  </a:ext>
                </a:extLst>
              </p:cNvPr>
              <p:cNvPicPr/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830" t="12535" r="11649" b="12048"/>
              <a:stretch>
                <a:fillRect/>
              </a:stretch>
            </p:blipFill>
            <p:spPr bwMode="auto">
              <a:xfrm>
                <a:off x="4262940" y="4148435"/>
                <a:ext cx="2033925" cy="162808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E5D6C946-1E0E-4638-ADBD-75706C068596}"/>
                  </a:ext>
                </a:extLst>
              </p:cNvPr>
              <p:cNvCxnSpPr/>
              <p:nvPr/>
            </p:nvCxnSpPr>
            <p:spPr bwMode="auto">
              <a:xfrm>
                <a:off x="5229130" y="4158300"/>
                <a:ext cx="0" cy="164727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7B04543F-C327-47F3-8E1B-F265A748DA6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263879" y="4952960"/>
                <a:ext cx="2002561" cy="2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E743444F-0538-5784-3F6F-592590FF15B1}"/>
              </a:ext>
            </a:extLst>
          </p:cNvPr>
          <p:cNvSpPr txBox="1"/>
          <p:nvPr/>
        </p:nvSpPr>
        <p:spPr>
          <a:xfrm>
            <a:off x="4006683" y="5938492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监视器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615CE488-F690-2EF4-130C-5972D912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2904656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942F72F-C5D5-4780-AADD-14268D815BBB}"/>
              </a:ext>
            </a:extLst>
          </p:cNvPr>
          <p:cNvSpPr/>
          <p:nvPr/>
        </p:nvSpPr>
        <p:spPr>
          <a:xfrm>
            <a:off x="152516" y="381080"/>
            <a:ext cx="8534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：测量单缝夫琅和费衍射相对光强分布以及单缝宽度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014EA7-FA7A-4E22-A7F5-4F9BD5380598}"/>
              </a:ext>
            </a:extLst>
          </p:cNvPr>
          <p:cNvSpPr/>
          <p:nvPr/>
        </p:nvSpPr>
        <p:spPr>
          <a:xfrm>
            <a:off x="34296" y="902090"/>
            <a:ext cx="22874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01320" algn="just">
              <a:spcAft>
                <a:spcPts val="0"/>
              </a:spcAft>
            </a:pPr>
            <a:r>
              <a:rPr lang="en-US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、光路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搭建</a:t>
            </a:r>
            <a:endParaRPr lang="zh-CN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91CD45-706D-4685-8D74-63D6F9D52924}"/>
              </a:ext>
            </a:extLst>
          </p:cNvPr>
          <p:cNvSpPr/>
          <p:nvPr/>
        </p:nvSpPr>
        <p:spPr>
          <a:xfrm>
            <a:off x="200268" y="1349564"/>
            <a:ext cx="861037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</a:rPr>
              <a:t>       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如图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所示，自左向右依次为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氦氖激光器、扩束准直组件、光阑、目标物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变换透镜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CCD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（后期更换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光电流放大器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探头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）。首先是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调节各器件的同轴等高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：调节办法如内容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，若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调好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后没变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在此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可省去其中调整激光器水平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调节扩束准直组件的步骤</a:t>
            </a:r>
            <a:r>
              <a:rPr lang="zh-CN" altLang="en-US" sz="2000" kern="1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kern="10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en-US" sz="2000" kern="100"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zh-CN" sz="2000" kern="100">
                <a:latin typeface="微软雅黑" panose="020B0503020204020204" pitchFamily="34" charset="-122"/>
                <a:ea typeface="微软雅黑" panose="020B0503020204020204" pitchFamily="34" charset="-122"/>
              </a:rPr>
              <a:t>使用衰减器</a:t>
            </a:r>
            <a:r>
              <a:rPr lang="zh-CN" altLang="en-US" sz="2000" kern="100">
                <a:latin typeface="微软雅黑" panose="020B0503020204020204" pitchFamily="34" charset="-122"/>
                <a:ea typeface="微软雅黑" panose="020B0503020204020204" pitchFamily="34" charset="-122"/>
              </a:rPr>
              <a:t>，其置放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位置如图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安装目标物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在扩束准直组件后的光阑后面，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放置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目标物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目标物尽量贴近光阑，平行光入射所选单缝（单缝宽为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el-G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el-G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），同时调整光阑通光孔径大小与单缝匹配合适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安装变换透镜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将（Φ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40, f80.0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）变换透镜放置在目标物后面并贴近目标物，调整透镜位置使入射光斑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通过透镜中心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安装相机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调整相机位置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使要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采集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的衍射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条纹光斑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射入相机摄像孔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kern="100" dirty="0">
              <a:latin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FBD2FC-5C12-438D-9615-9383E4FAFC33}"/>
              </a:ext>
            </a:extLst>
          </p:cNvPr>
          <p:cNvSpPr/>
          <p:nvPr/>
        </p:nvSpPr>
        <p:spPr>
          <a:xfrm>
            <a:off x="152515" y="3388739"/>
            <a:ext cx="87599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04800"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D06AE4-95CD-2500-A569-E55B56B55408}"/>
              </a:ext>
            </a:extLst>
          </p:cNvPr>
          <p:cNvSpPr txBox="1"/>
          <p:nvPr/>
        </p:nvSpPr>
        <p:spPr>
          <a:xfrm>
            <a:off x="2971842" y="6298425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8 </a:t>
            </a:r>
            <a:r>
              <a:rPr lang="zh-CN" altLang="en-US" dirty="0"/>
              <a:t>单缝夫琅和费衍射实验装置图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B05626-5513-AF2C-6BD8-5ABA244D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12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051" y="4267178"/>
            <a:ext cx="3810020" cy="179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09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061834-6D1F-4389-A566-2BFE5FF3C89F}"/>
              </a:ext>
            </a:extLst>
          </p:cNvPr>
          <p:cNvSpPr/>
          <p:nvPr/>
        </p:nvSpPr>
        <p:spPr>
          <a:xfrm>
            <a:off x="-174727" y="228684"/>
            <a:ext cx="3948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7970" algn="just">
              <a:spcAft>
                <a:spcPts val="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、夫朗和费单缝衍射实验步骤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E4A963-613B-43DA-AD76-77A9478B0144}"/>
              </a:ext>
            </a:extLst>
          </p:cNvPr>
          <p:cNvSpPr/>
          <p:nvPr/>
        </p:nvSpPr>
        <p:spPr>
          <a:xfrm>
            <a:off x="152516" y="628794"/>
            <a:ext cx="853417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① 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沿导轨前后移动相机，使得相机靶面移到变换透镜（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f=80mm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）的后焦面处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66700"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（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即衍射频谱面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），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锁紧相机</a:t>
            </a:r>
            <a:r>
              <a:rPr lang="zh-CN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注意将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整个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实验进行过程中观察到的现象（特别异常的现象更要记录）记录到数据记录纸上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66700">
              <a:spcAft>
                <a:spcPts val="0"/>
              </a:spcAft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相机下的平移台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丝杆，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监视器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上的十字线交点位于衍射图样中央亮斑的左侧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第一暗纹中心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，并记录当前平移台丝杆读数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kern="1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所示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然后使十字线交点位于中央亮斑的右侧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暗纹中心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，并记录当前平移台丝杆读数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kern="1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所示，重复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次，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数据记录在表格里，激光波长</a:t>
            </a:r>
            <a:r>
              <a:rPr lang="en-US" altLang="zh-CN" i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λ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632.8nm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，透镜焦距</a:t>
            </a:r>
            <a:r>
              <a:rPr lang="en-US" altLang="zh-CN" i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80mm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6700">
              <a:spcAft>
                <a:spcPts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从导轨上移去透镜，将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相机更换为白屏，并移动到导轨末端，使缝屏间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304800">
              <a:spcAft>
                <a:spcPts val="0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距离尽量拉长，（缝屏间距离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要远远大于单缝宽度，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为什么？），观察衍射条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304800">
              <a:spcAft>
                <a:spcPts val="0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纹，通过前后移动白屏，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使白屏上中央三个条纹总宽度在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5mm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左右，如图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304800">
              <a:spcAft>
                <a:spcPts val="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。然后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白屏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更换为光电流放大器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探头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，通过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旋转探头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下的平移台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丝杆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304800">
              <a:spcAft>
                <a:spcPts val="0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从中央明纹一侧第二个暗纹中心开始记录相对光强数据，并记录当前平移台丝杆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304800">
              <a:spcAft>
                <a:spcPts val="0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读数，每移动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0.1mm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记录相对光强数据，直到中央明纹另一侧第二个暗纹中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304800">
              <a:spcAft>
                <a:spcPts val="0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心。数据记录在表格里。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05DD499-579D-DA7F-27A1-7EF8312A9016}"/>
              </a:ext>
            </a:extLst>
          </p:cNvPr>
          <p:cNvGrpSpPr/>
          <p:nvPr/>
        </p:nvGrpSpPr>
        <p:grpSpPr>
          <a:xfrm>
            <a:off x="661049" y="4952960"/>
            <a:ext cx="3796654" cy="1648511"/>
            <a:chOff x="775346" y="4380533"/>
            <a:chExt cx="3796654" cy="1648511"/>
          </a:xfrm>
        </p:grpSpPr>
        <p:pic>
          <p:nvPicPr>
            <p:cNvPr id="4" name="图片 3" descr="b1da8e15dfca80bc993f726a8a4ad32">
              <a:extLst>
                <a:ext uri="{FF2B5EF4-FFF2-40B4-BE49-F238E27FC236}">
                  <a16:creationId xmlns:a16="http://schemas.microsoft.com/office/drawing/2014/main" id="{6CA0C701-C214-48DF-AB19-86661DFDD065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66" t="4266" r="11484" b="14043"/>
            <a:stretch>
              <a:fillRect/>
            </a:stretch>
          </p:blipFill>
          <p:spPr bwMode="auto">
            <a:xfrm>
              <a:off x="775346" y="4380533"/>
              <a:ext cx="1784350" cy="12928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图片 4" descr="8b6b7c333d2ab4ad01851e2d34b9b8e">
              <a:extLst>
                <a:ext uri="{FF2B5EF4-FFF2-40B4-BE49-F238E27FC236}">
                  <a16:creationId xmlns:a16="http://schemas.microsoft.com/office/drawing/2014/main" id="{CE378D05-095B-4330-8775-7A6C5AF459FD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09" t="11633" r="9648" b="9366"/>
            <a:stretch>
              <a:fillRect/>
            </a:stretch>
          </p:blipFill>
          <p:spPr bwMode="auto">
            <a:xfrm>
              <a:off x="2806700" y="4390693"/>
              <a:ext cx="1765300" cy="128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3F593BE-0FA7-4E9B-95C5-1E3269626C60}"/>
                </a:ext>
              </a:extLst>
            </p:cNvPr>
            <p:cNvSpPr txBox="1"/>
            <p:nvPr/>
          </p:nvSpPr>
          <p:spPr>
            <a:xfrm>
              <a:off x="904331" y="5721267"/>
              <a:ext cx="14205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监视器左侧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DC0534D-E3F9-475E-B845-F5B2E745C347}"/>
                </a:ext>
              </a:extLst>
            </p:cNvPr>
            <p:cNvSpPr txBox="1"/>
            <p:nvPr/>
          </p:nvSpPr>
          <p:spPr>
            <a:xfrm>
              <a:off x="2952610" y="5707805"/>
              <a:ext cx="1473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监视器右侧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429C449-D29B-D056-91E7-885F1A3BB168}"/>
              </a:ext>
            </a:extLst>
          </p:cNvPr>
          <p:cNvGrpSpPr/>
          <p:nvPr/>
        </p:nvGrpSpPr>
        <p:grpSpPr>
          <a:xfrm>
            <a:off x="4840441" y="4800564"/>
            <a:ext cx="3973830" cy="1766313"/>
            <a:chOff x="4876792" y="4555718"/>
            <a:chExt cx="3973830" cy="1766313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38A3E4A-550B-4DE4-A484-983BCF6CE62E}"/>
                </a:ext>
              </a:extLst>
            </p:cNvPr>
            <p:cNvGrpSpPr/>
            <p:nvPr/>
          </p:nvGrpSpPr>
          <p:grpSpPr>
            <a:xfrm>
              <a:off x="6580043" y="4675063"/>
              <a:ext cx="876300" cy="593725"/>
              <a:chOff x="0" y="0"/>
              <a:chExt cx="876300" cy="593725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1B1753B9-5BF7-460E-B872-8B27390756B8}"/>
                  </a:ext>
                </a:extLst>
              </p:cNvPr>
              <p:cNvGrpSpPr/>
              <p:nvPr/>
            </p:nvGrpSpPr>
            <p:grpSpPr>
              <a:xfrm>
                <a:off x="0" y="0"/>
                <a:ext cx="876300" cy="571500"/>
                <a:chOff x="0" y="0"/>
                <a:chExt cx="876300" cy="571500"/>
              </a:xfrm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BECEF6B3-2D7F-4AD0-82F1-E621BE553642}"/>
                    </a:ext>
                  </a:extLst>
                </p:cNvPr>
                <p:cNvCxnSpPr/>
                <p:nvPr/>
              </p:nvCxnSpPr>
              <p:spPr>
                <a:xfrm>
                  <a:off x="0" y="9525"/>
                  <a:ext cx="0" cy="561975"/>
                </a:xfrm>
                <a:prstGeom prst="line">
                  <a:avLst/>
                </a:prstGeom>
                <a:ln w="158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4882D68F-9CFB-44E7-AD0B-4786D061517C}"/>
                    </a:ext>
                  </a:extLst>
                </p:cNvPr>
                <p:cNvCxnSpPr/>
                <p:nvPr/>
              </p:nvCxnSpPr>
              <p:spPr>
                <a:xfrm>
                  <a:off x="876300" y="0"/>
                  <a:ext cx="0" cy="561975"/>
                </a:xfrm>
                <a:prstGeom prst="line">
                  <a:avLst/>
                </a:prstGeom>
                <a:ln w="158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2F5350DF-A3F2-442C-B162-E0E82BD4D82C}"/>
                  </a:ext>
                </a:extLst>
              </p:cNvPr>
              <p:cNvGrpSpPr/>
              <p:nvPr/>
            </p:nvGrpSpPr>
            <p:grpSpPr>
              <a:xfrm>
                <a:off x="0" y="295275"/>
                <a:ext cx="838200" cy="298450"/>
                <a:chOff x="0" y="0"/>
                <a:chExt cx="838200" cy="298450"/>
              </a:xfrm>
            </p:grpSpPr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FF15C5A4-1157-4ECF-81C8-FEEE30C4AE35}"/>
                    </a:ext>
                  </a:extLst>
                </p:cNvPr>
                <p:cNvGrpSpPr/>
                <p:nvPr/>
              </p:nvGrpSpPr>
              <p:grpSpPr>
                <a:xfrm>
                  <a:off x="0" y="133350"/>
                  <a:ext cx="838200" cy="9525"/>
                  <a:chOff x="0" y="0"/>
                  <a:chExt cx="838200" cy="9525"/>
                </a:xfrm>
              </p:grpSpPr>
              <p:cxnSp>
                <p:nvCxnSpPr>
                  <p:cNvPr id="21" name="直接连接符 20">
                    <a:extLst>
                      <a:ext uri="{FF2B5EF4-FFF2-40B4-BE49-F238E27FC236}">
                        <a16:creationId xmlns:a16="http://schemas.microsoft.com/office/drawing/2014/main" id="{9A3DE9A5-EC55-43E8-9967-EEC93C080ABF}"/>
                      </a:ext>
                    </a:extLst>
                  </p:cNvPr>
                  <p:cNvCxnSpPr/>
                  <p:nvPr/>
                </p:nvCxnSpPr>
                <p:spPr>
                  <a:xfrm>
                    <a:off x="0" y="0"/>
                    <a:ext cx="219075" cy="0"/>
                  </a:xfrm>
                  <a:prstGeom prst="line">
                    <a:avLst/>
                  </a:prstGeom>
                  <a:ln w="158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>
                    <a:extLst>
                      <a:ext uri="{FF2B5EF4-FFF2-40B4-BE49-F238E27FC236}">
                        <a16:creationId xmlns:a16="http://schemas.microsoft.com/office/drawing/2014/main" id="{A0A3E2FF-C2A6-4507-977B-999C7178B083}"/>
                      </a:ext>
                    </a:extLst>
                  </p:cNvPr>
                  <p:cNvCxnSpPr/>
                  <p:nvPr/>
                </p:nvCxnSpPr>
                <p:spPr>
                  <a:xfrm>
                    <a:off x="619125" y="9525"/>
                    <a:ext cx="219075" cy="0"/>
                  </a:xfrm>
                  <a:prstGeom prst="line">
                    <a:avLst/>
                  </a:prstGeom>
                  <a:ln w="158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" name="文本框 2">
                  <a:extLst>
                    <a:ext uri="{FF2B5EF4-FFF2-40B4-BE49-F238E27FC236}">
                      <a16:creationId xmlns:a16="http://schemas.microsoft.com/office/drawing/2014/main" id="{592AEE01-982E-4867-AAD5-48F074A889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0500" y="0"/>
                  <a:ext cx="571500" cy="2984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050" kern="100">
                      <a:solidFill>
                        <a:srgbClr val="FFFFFF"/>
                      </a:solidFill>
                      <a:effectLst/>
                      <a:latin typeface="Times New Roman" panose="02020603050405020304" pitchFamily="18" charset="0"/>
                      <a:ea typeface="宋体" panose="02010600030101010101" pitchFamily="2" charset="-122"/>
                      <a:cs typeface="宋体" panose="02010600030101010101" pitchFamily="2" charset="-122"/>
                    </a:rPr>
                    <a:t>5mm</a:t>
                  </a:r>
                  <a:endParaRPr lang="zh-CN" sz="1050" kern="1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27809D9-80BF-0C1A-59B4-B29FCD33558B}"/>
                </a:ext>
              </a:extLst>
            </p:cNvPr>
            <p:cNvGrpSpPr/>
            <p:nvPr/>
          </p:nvGrpSpPr>
          <p:grpSpPr>
            <a:xfrm>
              <a:off x="4876792" y="4801948"/>
              <a:ext cx="3973830" cy="1520083"/>
              <a:chOff x="4819004" y="4464988"/>
              <a:chExt cx="3973830" cy="1520083"/>
            </a:xfrm>
          </p:grpSpPr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DF1F9B11-BE43-4145-89B0-3DA86F870714}"/>
                  </a:ext>
                </a:extLst>
              </p:cNvPr>
              <p:cNvPicPr/>
              <p:nvPr/>
            </p:nvPicPr>
            <p:blipFill>
              <a:blip r:embed="rId4"/>
              <a:srcRect t="18977" r="4482"/>
              <a:stretch>
                <a:fillRect/>
              </a:stretch>
            </p:blipFill>
            <p:spPr>
              <a:xfrm>
                <a:off x="4819004" y="4464988"/>
                <a:ext cx="3973830" cy="112395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</p:pic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A1F4841-A5FC-42CB-8A96-4D106FE40E81}"/>
                  </a:ext>
                </a:extLst>
              </p:cNvPr>
              <p:cNvSpPr txBox="1"/>
              <p:nvPr/>
            </p:nvSpPr>
            <p:spPr>
              <a:xfrm>
                <a:off x="6582217" y="5677294"/>
                <a:ext cx="9877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 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白屏</a:t>
                </a:r>
              </a:p>
            </p:txBody>
          </p:sp>
        </p:grp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54FACDD-CB8F-96FF-8670-1682D850AC6F}"/>
                </a:ext>
              </a:extLst>
            </p:cNvPr>
            <p:cNvCxnSpPr/>
            <p:nvPr/>
          </p:nvCxnSpPr>
          <p:spPr bwMode="auto">
            <a:xfrm>
              <a:off x="6641003" y="4599112"/>
              <a:ext cx="0" cy="156903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54C681F-581E-4F8F-2C51-AB6F6C6E4692}"/>
                </a:ext>
              </a:extLst>
            </p:cNvPr>
            <p:cNvCxnSpPr/>
            <p:nvPr/>
          </p:nvCxnSpPr>
          <p:spPr bwMode="auto">
            <a:xfrm>
              <a:off x="7519338" y="4603097"/>
              <a:ext cx="0" cy="156903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D210FC8-2D18-DD16-CE6D-0776EF15620A}"/>
                </a:ext>
              </a:extLst>
            </p:cNvPr>
            <p:cNvSpPr/>
            <p:nvPr/>
          </p:nvSpPr>
          <p:spPr bwMode="auto">
            <a:xfrm>
              <a:off x="6872447" y="5061028"/>
              <a:ext cx="410768" cy="53631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50B7AB5-6406-CEA5-1EB2-B8D2FF373917}"/>
                </a:ext>
              </a:extLst>
            </p:cNvPr>
            <p:cNvSpPr/>
            <p:nvPr/>
          </p:nvSpPr>
          <p:spPr bwMode="auto">
            <a:xfrm flipH="1">
              <a:off x="6676454" y="5061029"/>
              <a:ext cx="139713" cy="53631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BEB5FAF-6D71-5A06-4C26-5F3C137D6FBB}"/>
                </a:ext>
              </a:extLst>
            </p:cNvPr>
            <p:cNvSpPr/>
            <p:nvPr/>
          </p:nvSpPr>
          <p:spPr bwMode="auto">
            <a:xfrm>
              <a:off x="7336708" y="5061028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DDAD679-3143-E40B-3D2A-51B85FC0D235}"/>
                </a:ext>
              </a:extLst>
            </p:cNvPr>
            <p:cNvSpPr/>
            <p:nvPr/>
          </p:nvSpPr>
          <p:spPr bwMode="auto">
            <a:xfrm>
              <a:off x="7549175" y="5061027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6192B3B-02A9-12AB-32C7-DFC9AD519995}"/>
                </a:ext>
              </a:extLst>
            </p:cNvPr>
            <p:cNvSpPr/>
            <p:nvPr/>
          </p:nvSpPr>
          <p:spPr bwMode="auto">
            <a:xfrm>
              <a:off x="6445675" y="5065042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8839B37-9424-19AD-6834-928DCE0605EF}"/>
                </a:ext>
              </a:extLst>
            </p:cNvPr>
            <p:cNvSpPr/>
            <p:nvPr/>
          </p:nvSpPr>
          <p:spPr bwMode="auto">
            <a:xfrm>
              <a:off x="6245277" y="5065042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34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106923D-3AC4-971F-5A86-6E7B3299C2E6}"/>
                </a:ext>
              </a:extLst>
            </p:cNvPr>
            <p:cNvSpPr/>
            <p:nvPr/>
          </p:nvSpPr>
          <p:spPr bwMode="auto">
            <a:xfrm>
              <a:off x="7754364" y="5061027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34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27A69E5-FA0F-52CB-7327-F03E59ABF4CC}"/>
                </a:ext>
              </a:extLst>
            </p:cNvPr>
            <p:cNvSpPr/>
            <p:nvPr/>
          </p:nvSpPr>
          <p:spPr bwMode="auto">
            <a:xfrm>
              <a:off x="8002349" y="5067737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34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D0576CF-6758-AC2B-A5C4-F35E5881C0B8}"/>
                </a:ext>
              </a:extLst>
            </p:cNvPr>
            <p:cNvSpPr/>
            <p:nvPr/>
          </p:nvSpPr>
          <p:spPr bwMode="auto">
            <a:xfrm>
              <a:off x="8219033" y="5056277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24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C37FF34-D353-DBDD-2942-7F68D0D0621A}"/>
                </a:ext>
              </a:extLst>
            </p:cNvPr>
            <p:cNvSpPr/>
            <p:nvPr/>
          </p:nvSpPr>
          <p:spPr bwMode="auto">
            <a:xfrm>
              <a:off x="8467390" y="5055545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14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556D466-5C4B-E0B4-BA1F-D1F11F138361}"/>
                </a:ext>
              </a:extLst>
            </p:cNvPr>
            <p:cNvSpPr/>
            <p:nvPr/>
          </p:nvSpPr>
          <p:spPr bwMode="auto">
            <a:xfrm>
              <a:off x="8695907" y="5048835"/>
              <a:ext cx="111157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4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59C07A2-ABD8-3465-5F31-A43E7BA52611}"/>
                </a:ext>
              </a:extLst>
            </p:cNvPr>
            <p:cNvSpPr/>
            <p:nvPr/>
          </p:nvSpPr>
          <p:spPr bwMode="auto">
            <a:xfrm>
              <a:off x="6009414" y="5065042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34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F9E58A8-E5A8-7AEE-EB77-B036C14A7574}"/>
                </a:ext>
              </a:extLst>
            </p:cNvPr>
            <p:cNvSpPr/>
            <p:nvPr/>
          </p:nvSpPr>
          <p:spPr bwMode="auto">
            <a:xfrm>
              <a:off x="5796331" y="5048835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24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A006CEF-4B31-AA8B-925E-2A4FE8AC772B}"/>
                </a:ext>
              </a:extLst>
            </p:cNvPr>
            <p:cNvSpPr/>
            <p:nvPr/>
          </p:nvSpPr>
          <p:spPr bwMode="auto">
            <a:xfrm>
              <a:off x="5571443" y="5065042"/>
              <a:ext cx="134873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14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2899279-9987-E9E7-B234-BCEEAE571780}"/>
                </a:ext>
              </a:extLst>
            </p:cNvPr>
            <p:cNvSpPr/>
            <p:nvPr/>
          </p:nvSpPr>
          <p:spPr bwMode="auto">
            <a:xfrm>
              <a:off x="5362167" y="5042728"/>
              <a:ext cx="111157" cy="53631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4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59EAE93-1A96-D7FE-2FFF-C4853EE0AE3B}"/>
                </a:ext>
              </a:extLst>
            </p:cNvPr>
            <p:cNvCxnSpPr/>
            <p:nvPr/>
          </p:nvCxnSpPr>
          <p:spPr bwMode="auto">
            <a:xfrm>
              <a:off x="6676454" y="4684588"/>
              <a:ext cx="27176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7148763-42E2-2126-EF7E-830E561F83E8}"/>
                </a:ext>
              </a:extLst>
            </p:cNvPr>
            <p:cNvCxnSpPr/>
            <p:nvPr/>
          </p:nvCxnSpPr>
          <p:spPr bwMode="auto">
            <a:xfrm>
              <a:off x="7238930" y="4699982"/>
              <a:ext cx="27176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5FE2BC2-1BA2-B63F-D4C4-AC63667E7925}"/>
                </a:ext>
              </a:extLst>
            </p:cNvPr>
            <p:cNvSpPr txBox="1"/>
            <p:nvPr/>
          </p:nvSpPr>
          <p:spPr>
            <a:xfrm>
              <a:off x="6868643" y="4555718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5mm</a:t>
              </a:r>
              <a:endParaRPr lang="zh-CN" altLang="en-US" sz="1200" dirty="0"/>
            </a:p>
          </p:txBody>
        </p:sp>
      </p:grp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1872D4D-5175-47DF-236F-93176592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1866070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DF395B6-9886-4FDC-81DE-437540CF63EE}"/>
              </a:ext>
            </a:extLst>
          </p:cNvPr>
          <p:cNvSpPr/>
          <p:nvPr/>
        </p:nvSpPr>
        <p:spPr>
          <a:xfrm>
            <a:off x="304912" y="224864"/>
            <a:ext cx="34515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：菲涅耳衍射实验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84B334-A489-4AF8-B4C1-F31F750C47F8}"/>
              </a:ext>
            </a:extLst>
          </p:cNvPr>
          <p:cNvSpPr/>
          <p:nvPr/>
        </p:nvSpPr>
        <p:spPr>
          <a:xfrm>
            <a:off x="152516" y="659011"/>
            <a:ext cx="891516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7970" algn="just">
              <a:spcAft>
                <a:spcPts val="0"/>
              </a:spcAft>
            </a:pPr>
            <a:r>
              <a:rPr lang="en-US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、菲涅耳衍射光路搭建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2667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</a:rPr>
              <a:t>      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图所示，自左向右依次为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氦氖激光器、扩束准直组件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变换透镜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26670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Φ</a:t>
            </a:r>
            <a:r>
              <a:rPr lang="en-US" altLang="zh-CN" sz="20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40, f80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目标物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CCD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。首先是调节各器件的同轴等高，如内容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266700" algn="just">
              <a:spcAft>
                <a:spcPts val="0"/>
              </a:spcAft>
            </a:pP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氏干涉实验已调好，可省去其中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调整激光器水平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调节扩束准直组件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的步骤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266700" algn="just">
              <a:spcAft>
                <a:spcPts val="0"/>
              </a:spcAft>
            </a:pP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。可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根据需要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衰减器</a:t>
            </a: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zh-CN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安装变换透镜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，调整聚焦透镜高低使光斑中心与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266700" algn="just">
              <a:spcAft>
                <a:spcPts val="0"/>
              </a:spcAft>
            </a:pP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光阑中心同高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安装目标物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，将目标物放在透镜焦点后方，模拟点光源发出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33400" indent="-266700" algn="just">
              <a:spcAft>
                <a:spcPts val="0"/>
              </a:spcAft>
            </a:pP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的球面波入射所选圆孔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；</a:t>
            </a:r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安装相机，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沿导轨移动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CCD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相机，使入射光打在相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533400" indent="-266700" algn="just">
              <a:spcAft>
                <a:spcPts val="0"/>
              </a:spcAft>
            </a:pP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机靶面中间</a:t>
            </a:r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endParaRPr lang="zh-CN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463BF0-2875-9DF4-99D7-FADB8C5E8F4B}"/>
              </a:ext>
            </a:extLst>
          </p:cNvPr>
          <p:cNvSpPr txBox="1"/>
          <p:nvPr/>
        </p:nvSpPr>
        <p:spPr>
          <a:xfrm>
            <a:off x="3275439" y="5943534"/>
            <a:ext cx="2669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菲涅耳衍射实验装置图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C0E9EDB7-7081-64C5-EAD3-C53B9317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12</a:t>
            </a:r>
          </a:p>
        </p:txBody>
      </p:sp>
      <p:pic>
        <p:nvPicPr>
          <p:cNvPr id="9" name="图片 8" descr="F:\光学实验相片\IMG_20240126_205222.jpg">
            <a:extLst>
              <a:ext uri="{FF2B5EF4-FFF2-40B4-BE49-F238E27FC236}">
                <a16:creationId xmlns:a16="http://schemas.microsoft.com/office/drawing/2014/main" id="{E7AED109-377A-4969-8BA0-8E94048123C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64" y="3352802"/>
            <a:ext cx="5675556" cy="23817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556465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D7FDEDF-895D-A750-74C3-FED47D99409B}"/>
              </a:ext>
            </a:extLst>
          </p:cNvPr>
          <p:cNvSpPr txBox="1"/>
          <p:nvPr/>
        </p:nvSpPr>
        <p:spPr>
          <a:xfrm>
            <a:off x="9154" y="498198"/>
            <a:ext cx="89061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spcAft>
                <a:spcPts val="0"/>
              </a:spcAft>
            </a:pPr>
            <a:r>
              <a:rPr lang="en-US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、菲涅耳衍射实验步骤</a:t>
            </a:r>
            <a:endParaRPr lang="zh-CN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266700"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</a:p>
          <a:p>
            <a:pPr marL="533400" indent="-266700"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 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目标物上可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选择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较大直径的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圆孔作为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衍射孔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，球面波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正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入射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圆孔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即可以在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监视器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上看到菲涅尔衍射图样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注意将实验进行过程中观察到的现象（特别异常的现象更要记录）记录到数据记录纸上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；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前后微微移动目标物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（相机距离目标物较近）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，可以看到中心明暗变化，如图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14</a:t>
            </a:r>
            <a:r>
              <a:rPr lang="zh-CN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所示。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1903ED-05E3-0C5D-ED0C-EF249A265D95}"/>
              </a:ext>
            </a:extLst>
          </p:cNvPr>
          <p:cNvGrpSpPr/>
          <p:nvPr/>
        </p:nvGrpSpPr>
        <p:grpSpPr>
          <a:xfrm>
            <a:off x="2248894" y="3581396"/>
            <a:ext cx="4952870" cy="1828752"/>
            <a:chOff x="4800594" y="4867445"/>
            <a:chExt cx="3609925" cy="1352550"/>
          </a:xfrm>
        </p:grpSpPr>
        <p:pic>
          <p:nvPicPr>
            <p:cNvPr id="5" name="图片 4" descr="e3132e5c1ef856bedb2b0c2f42e8c0c">
              <a:extLst>
                <a:ext uri="{FF2B5EF4-FFF2-40B4-BE49-F238E27FC236}">
                  <a16:creationId xmlns:a16="http://schemas.microsoft.com/office/drawing/2014/main" id="{D6FA779F-EB6F-4D3D-8730-B614CCF7EF50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31" t="15790" r="6259"/>
            <a:stretch>
              <a:fillRect/>
            </a:stretch>
          </p:blipFill>
          <p:spPr bwMode="auto">
            <a:xfrm>
              <a:off x="4800594" y="4867445"/>
              <a:ext cx="1661795" cy="1352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图片 5" descr="3d2ceec83623a065d0c1f8b3482c9a3">
              <a:extLst>
                <a:ext uri="{FF2B5EF4-FFF2-40B4-BE49-F238E27FC236}">
                  <a16:creationId xmlns:a16="http://schemas.microsoft.com/office/drawing/2014/main" id="{C0D5EAEA-4BF4-4597-A21E-6695BC467C2F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87" t="6787" r="8134" b="6561"/>
            <a:stretch>
              <a:fillRect/>
            </a:stretch>
          </p:blipFill>
          <p:spPr bwMode="auto">
            <a:xfrm>
              <a:off x="6705544" y="4870080"/>
              <a:ext cx="1704975" cy="13474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D81B7036-E247-1842-E7FC-B90D14F5D1B9}"/>
              </a:ext>
            </a:extLst>
          </p:cNvPr>
          <p:cNvSpPr txBox="1"/>
          <p:nvPr/>
        </p:nvSpPr>
        <p:spPr>
          <a:xfrm>
            <a:off x="3581426" y="5641367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14</a:t>
            </a:r>
            <a:r>
              <a:rPr lang="zh-CN" altLang="en-US" dirty="0"/>
              <a:t>菲涅耳衍射图样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122B67-54F7-3080-3DF0-515D2A77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0710168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CEAAC7D-3ACE-1418-F1F5-476C55A4C09E}"/>
              </a:ext>
            </a:extLst>
          </p:cNvPr>
          <p:cNvSpPr txBox="1"/>
          <p:nvPr/>
        </p:nvSpPr>
        <p:spPr>
          <a:xfrm>
            <a:off x="228600" y="228600"/>
            <a:ext cx="45720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数据处理</a:t>
            </a:r>
            <a:r>
              <a:rPr lang="en-US" altLang="zh-CN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3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353592-3217-4B94-B6E1-1F6409FB8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6017"/>
            <a:ext cx="909321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一、杨氏双缝干涉实验。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在报告中画出表格，计算双缝间距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d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，同实际双缝间距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400um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作对比，计算百分误差，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分析误差原因，分析解释观察到的现象。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二、夫琅和费单缝衍射实验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26670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1.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在报告中画出表格，计算单缝宽   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，同实际单缝宽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100um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ambria Math" panose="02040503050406030204" pitchFamily="18" charset="0"/>
              </a:rPr>
              <a:t>作对比，计算百分 误差，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分析误差原因。分析解释观察到的现象。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266700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在直角坐标纸上绘制夫琅和费衍射相对光强分布曲线即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I/I</a:t>
            </a:r>
            <a:r>
              <a:rPr lang="en-US" altLang="zh-CN" sz="2400" i="1" baseline="-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zh-CN" altLang="en-US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曲线。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为测量点到中央极大值点的距离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，也可用计算机作图。与理论图形对比分析误差原因。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266700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由图中找出各次极大的位置与相对光强，分别与理论值进行比较，分析误差原因。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266700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三、菲涅耳衍射实验。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266700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分析解释观察到的现象？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C4B4DBD-D39E-4073-9285-9D17BD0046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884605"/>
              </p:ext>
            </p:extLst>
          </p:nvPr>
        </p:nvGraphicFramePr>
        <p:xfrm>
          <a:off x="4114812" y="2057436"/>
          <a:ext cx="228594" cy="246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6835" imgH="139518" progId="Equation.3">
                  <p:embed/>
                </p:oleObj>
              </mc:Choice>
              <mc:Fallback>
                <p:oleObj r:id="rId2" imgW="126835" imgH="139518" progId="Equation.3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F606496-8A0F-4D17-AEAB-41C14A60B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12" y="2057436"/>
                        <a:ext cx="228594" cy="2461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7">
            <a:extLst>
              <a:ext uri="{FF2B5EF4-FFF2-40B4-BE49-F238E27FC236}">
                <a16:creationId xmlns:a16="http://schemas.microsoft.com/office/drawing/2014/main" id="{B26DB60F-C789-58E5-AF5B-568CD3DE2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650"/>
            <a:ext cx="312420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r>
              <a:rPr lang="en-US" altLang="zh-CN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36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82D90C-4060-40E5-91E0-E693BCC897D7}"/>
              </a:ext>
            </a:extLst>
          </p:cNvPr>
          <p:cNvSpPr/>
          <p:nvPr/>
        </p:nvSpPr>
        <p:spPr>
          <a:xfrm>
            <a:off x="381110" y="1322975"/>
            <a:ext cx="8457978" cy="3738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  <a:tabLst>
                <a:tab pos="533400" algn="l"/>
              </a:tabLst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实验时，眼睛不得直视激光！不要随意玩弄激光器，以免产生伤害！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  <a:tabLst>
                <a:tab pos="533400" algn="l"/>
              </a:tabLst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不要用手触摸镜片，目标物，各部件轻拿轻放。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  <a:tabLst>
                <a:tab pos="533400" algn="l"/>
              </a:tabLst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操作动作要轻柔，细心，防止实验装置晃动引起条纹变化。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  <a:tabLst>
                <a:tab pos="533400" algn="l"/>
              </a:tabLst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测量时，只能同方向旋转</a:t>
            </a: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平移台丝杆</a:t>
            </a: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，中途不要改变转动方向，避免空程差。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  <a:tabLst>
                <a:tab pos="533400" algn="l"/>
              </a:tabLst>
            </a:pPr>
            <a:r>
              <a:rPr lang="zh-CN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测量光强前，应检查光电流放大器探头里的狭缝是否垂直。</a:t>
            </a: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+mj-lt"/>
              <a:buAutoNum type="arabicPeriod"/>
              <a:tabLst>
                <a:tab pos="533400" algn="l"/>
              </a:tabLst>
            </a:pPr>
            <a:r>
              <a:rPr lang="zh-CN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实验做完后，要关掉仪器电源，整理好仪器及各部件。</a:t>
            </a:r>
            <a:endParaRPr lang="zh-CN" altLang="zh-CN" sz="24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M1MTNhNzYwZTczYmU3MTc5Y2Y1NGQ5ZjVjZGM1MWEifQ=="/>
</p:tagLst>
</file>

<file path=ppt/theme/theme1.xml><?xml version="1.0" encoding="utf-8"?>
<a:theme xmlns:a="http://schemas.openxmlformats.org/drawingml/2006/main" name="简约绿">
  <a:themeElements>
    <a:clrScheme name="简约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简约绿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简约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约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约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约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约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简约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约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约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约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约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约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简约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2408</TotalTime>
  <Pages>0</Pages>
  <Words>2847</Words>
  <Characters>0</Characters>
  <Application>Microsoft Office PowerPoint</Application>
  <DocSecurity>0</DocSecurity>
  <PresentationFormat>全屏显示(4:3)</PresentationFormat>
  <Lines>0</Lines>
  <Paragraphs>198</Paragraphs>
  <Slides>20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黑体</vt:lpstr>
      <vt:lpstr>宋体</vt:lpstr>
      <vt:lpstr>微软雅黑</vt:lpstr>
      <vt:lpstr>Arial</vt:lpstr>
      <vt:lpstr>Calibri</vt:lpstr>
      <vt:lpstr>Cambria Math</vt:lpstr>
      <vt:lpstr>Tahoma</vt:lpstr>
      <vt:lpstr>Times New Roman</vt:lpstr>
      <vt:lpstr>Wingdings</vt:lpstr>
      <vt:lpstr>简约绿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/>
  <cp:lastModifiedBy>cheng qiu</cp:lastModifiedBy>
  <cp:revision>476</cp:revision>
  <dcterms:created xsi:type="dcterms:W3CDTF">2013-10-08T13:47:43Z</dcterms:created>
  <dcterms:modified xsi:type="dcterms:W3CDTF">2025-02-19T15:02:46Z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2052-11.1.0.12358</vt:lpwstr>
  </property>
  <property fmtid="{D5CDD505-2E9C-101B-9397-08002B2CF9AE}" pid="4" name="ICV">
    <vt:lpwstr>A20ACB1B31054E64A4EAA790B3F47CE8</vt:lpwstr>
  </property>
</Properties>
</file>